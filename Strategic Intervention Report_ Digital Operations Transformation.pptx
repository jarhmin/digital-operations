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9.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Hedvig Letters Sans" pitchFamily="2" charset="77"/>
      <p:regular r:id="rId20"/>
    </p:embeddedFont>
    <p:embeddedFont>
      <p:font typeface="Liter" panose="02000503030000020004" pitchFamily="2" charset="0"/>
      <p:regular r:id="rId21"/>
    </p:embeddedFont>
    <p:embeddedFont>
      <p:font typeface="Quattrocento Sans" panose="020B0502050000020003" pitchFamily="3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111" d="100"/>
          <a:sy n="111"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1007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a:effectLst/>
      </p:bgPr>
    </p:bg>
    <p:spTree>
      <p:nvGrpSpPr>
        <p:cNvPr id="1" name=""/>
        <p:cNvGrpSpPr/>
        <p:nvPr/>
      </p:nvGrpSpPr>
      <p:grpSpPr>
        <a:xfrm>
          <a:off x="0" y="0"/>
          <a:ext cx="0" cy="0"/>
          <a:chOff x="0" y="0"/>
          <a:chExt cx="0" cy="0"/>
        </a:xfrm>
      </p:grpSpPr>
      <p:pic>
        <p:nvPicPr>
          <p:cNvPr id="2" name="Image 0" descr="https://kimi-web-img.moonshot.cn/img/cdn.prod.website-files.com/3aa04cf760939fc39779b921f2b091707a432746.jpeg"/>
          <p:cNvPicPr>
            <a:picLocks noChangeAspect="1"/>
          </p:cNvPicPr>
          <p:nvPr/>
        </p:nvPicPr>
        <p:blipFill>
          <a:blip r:embed="rId3">
            <a:alphaModFix amt="20000"/>
          </a:blip>
          <a:srcRect l="8204" r="8204"/>
          <a:stretch/>
        </p:blipFill>
        <p:spPr>
          <a:xfrm>
            <a:off x="0" y="0"/>
            <a:ext cx="12192000" cy="6858000"/>
          </a:xfrm>
          <a:prstGeom prst="roundRect">
            <a:avLst>
              <a:gd name="adj" fmla="val 0"/>
            </a:avLst>
          </a:prstGeom>
        </p:spPr>
      </p:pic>
      <p:sp>
        <p:nvSpPr>
          <p:cNvPr id="3" name="Shape 0"/>
          <p:cNvSpPr/>
          <p:nvPr/>
        </p:nvSpPr>
        <p:spPr>
          <a:xfrm>
            <a:off x="0" y="307975"/>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003087">
                  <a:alpha val="95000"/>
                </a:srgbClr>
              </a:gs>
              <a:gs pos="50000">
                <a:srgbClr val="003087">
                  <a:alpha val="90000"/>
                </a:srgbClr>
              </a:gs>
              <a:gs pos="100000">
                <a:srgbClr val="FF6B00">
                  <a:alpha val="70000"/>
                </a:srgbClr>
              </a:gs>
            </a:gsLst>
            <a:lin ang="2700000" scaled="1"/>
          </a:gradFill>
          <a:ln/>
        </p:spPr>
      </p:sp>
      <p:sp>
        <p:nvSpPr>
          <p:cNvPr id="6" name="Text 1"/>
          <p:cNvSpPr/>
          <p:nvPr/>
        </p:nvSpPr>
        <p:spPr>
          <a:xfrm>
            <a:off x="9332640" y="381000"/>
            <a:ext cx="2476500" cy="190500"/>
          </a:xfrm>
          <a:prstGeom prst="rect">
            <a:avLst/>
          </a:prstGeom>
          <a:noFill/>
          <a:ln/>
        </p:spPr>
        <p:txBody>
          <a:bodyPr wrap="square" lIns="0" tIns="0" rIns="0" bIns="0" rtlCol="0" anchor="ctr"/>
          <a:lstStyle/>
          <a:p>
            <a:pPr algn="r">
              <a:lnSpc>
                <a:spcPct val="120000"/>
              </a:lnSpc>
            </a:pPr>
            <a:r>
              <a:rPr lang="en-US" sz="1050" b="1" kern="0" spc="53" dirty="0">
                <a:solidFill>
                  <a:srgbClr val="D4AF37"/>
                </a:solidFill>
                <a:latin typeface="Liter" pitchFamily="34" charset="0"/>
                <a:ea typeface="Liter" pitchFamily="34" charset="-122"/>
                <a:cs typeface="Liter" pitchFamily="34" charset="-120"/>
              </a:rPr>
              <a:t>STRATEGIC INTERVENTION REPORT</a:t>
            </a:r>
            <a:endParaRPr lang="en-US" sz="1600" dirty="0"/>
          </a:p>
        </p:txBody>
      </p:sp>
      <p:sp>
        <p:nvSpPr>
          <p:cNvPr id="7" name="Text 2"/>
          <p:cNvSpPr/>
          <p:nvPr/>
        </p:nvSpPr>
        <p:spPr>
          <a:xfrm>
            <a:off x="9342165" y="609600"/>
            <a:ext cx="2466975" cy="152400"/>
          </a:xfrm>
          <a:prstGeom prst="rect">
            <a:avLst/>
          </a:prstGeom>
          <a:noFill/>
          <a:ln/>
        </p:spPr>
        <p:txBody>
          <a:bodyPr wrap="square" lIns="0" tIns="0" rIns="0" bIns="0" rtlCol="0" anchor="ctr"/>
          <a:lstStyle/>
          <a:p>
            <a:pPr algn="r">
              <a:lnSpc>
                <a:spcPct val="110000"/>
              </a:lnSpc>
            </a:pPr>
            <a:r>
              <a:rPr lang="en-US" sz="900" dirty="0">
                <a:solidFill>
                  <a:srgbClr val="FFFFFF">
                    <a:alpha val="70000"/>
                  </a:srgbClr>
                </a:solidFill>
                <a:latin typeface="Quattrocento Sans" pitchFamily="34" charset="0"/>
                <a:ea typeface="Quattrocento Sans" pitchFamily="34" charset="-122"/>
                <a:cs typeface="Quattrocento Sans" pitchFamily="34" charset="-120"/>
              </a:rPr>
              <a:t>March 2026</a:t>
            </a:r>
            <a:endParaRPr lang="en-US" sz="1600" dirty="0"/>
          </a:p>
        </p:txBody>
      </p:sp>
      <p:sp>
        <p:nvSpPr>
          <p:cNvPr id="8" name="Shape 3"/>
          <p:cNvSpPr/>
          <p:nvPr/>
        </p:nvSpPr>
        <p:spPr>
          <a:xfrm>
            <a:off x="381000" y="1524000"/>
            <a:ext cx="2876550" cy="381000"/>
          </a:xfrm>
          <a:custGeom>
            <a:avLst/>
            <a:gdLst/>
            <a:ahLst/>
            <a:cxnLst/>
            <a:rect l="l" t="t" r="r" b="b"/>
            <a:pathLst>
              <a:path w="2876550" h="381000">
                <a:moveTo>
                  <a:pt x="76200" y="0"/>
                </a:moveTo>
                <a:lnTo>
                  <a:pt x="2800350" y="0"/>
                </a:lnTo>
                <a:cubicBezTo>
                  <a:pt x="2842406" y="0"/>
                  <a:pt x="2876550" y="34144"/>
                  <a:pt x="2876550" y="76200"/>
                </a:cubicBezTo>
                <a:lnTo>
                  <a:pt x="2876550" y="304800"/>
                </a:lnTo>
                <a:cubicBezTo>
                  <a:pt x="2876550" y="346856"/>
                  <a:pt x="2842406" y="381000"/>
                  <a:pt x="2800350" y="381000"/>
                </a:cubicBezTo>
                <a:lnTo>
                  <a:pt x="76200" y="381000"/>
                </a:lnTo>
                <a:cubicBezTo>
                  <a:pt x="34144" y="381000"/>
                  <a:pt x="0" y="346856"/>
                  <a:pt x="0" y="304800"/>
                </a:cubicBezTo>
                <a:lnTo>
                  <a:pt x="0" y="76200"/>
                </a:lnTo>
                <a:cubicBezTo>
                  <a:pt x="0" y="34144"/>
                  <a:pt x="34144" y="0"/>
                  <a:pt x="76200" y="0"/>
                </a:cubicBezTo>
                <a:close/>
              </a:path>
            </a:pathLst>
          </a:custGeom>
          <a:solidFill>
            <a:srgbClr val="FF6B00"/>
          </a:solidFill>
          <a:ln/>
        </p:spPr>
      </p:sp>
      <p:sp>
        <p:nvSpPr>
          <p:cNvPr id="9" name="Text 4"/>
          <p:cNvSpPr/>
          <p:nvPr/>
        </p:nvSpPr>
        <p:spPr>
          <a:xfrm>
            <a:off x="533400" y="1619250"/>
            <a:ext cx="2640211" cy="190500"/>
          </a:xfrm>
          <a:prstGeom prst="rect">
            <a:avLst/>
          </a:prstGeom>
          <a:noFill/>
          <a:ln/>
        </p:spPr>
        <p:txBody>
          <a:bodyPr wrap="square" lIns="0" tIns="0" rIns="0" bIns="0" rtlCol="0" anchor="ctr"/>
          <a:lstStyle/>
          <a:p>
            <a:pPr>
              <a:lnSpc>
                <a:spcPct val="120000"/>
              </a:lnSpc>
            </a:pPr>
            <a:r>
              <a:rPr lang="en-US" sz="1050" b="1" kern="0" spc="53" dirty="0">
                <a:solidFill>
                  <a:srgbClr val="FFFFFF"/>
                </a:solidFill>
                <a:latin typeface="Liter" pitchFamily="34" charset="0"/>
                <a:ea typeface="Liter" pitchFamily="34" charset="-122"/>
                <a:cs typeface="Liter" pitchFamily="34" charset="-120"/>
              </a:rPr>
              <a:t>OPERATIONS EXCELLENCE INITIATIVE</a:t>
            </a:r>
            <a:endParaRPr lang="en-US" sz="1600" dirty="0"/>
          </a:p>
        </p:txBody>
      </p:sp>
      <p:sp>
        <p:nvSpPr>
          <p:cNvPr id="10" name="Text 5"/>
          <p:cNvSpPr/>
          <p:nvPr/>
        </p:nvSpPr>
        <p:spPr>
          <a:xfrm>
            <a:off x="381000" y="2133600"/>
            <a:ext cx="76581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Digital Operations</a:t>
            </a:r>
            <a:endParaRPr lang="en-US" sz="1600" dirty="0"/>
          </a:p>
          <a:p>
            <a:pPr>
              <a:lnSpc>
                <a:spcPct val="100000"/>
              </a:lnSpc>
            </a:pPr>
            <a:r>
              <a:rPr lang="en-US" sz="5400" b="1" dirty="0">
                <a:solidFill>
                  <a:srgbClr val="FF6B00"/>
                </a:solidFill>
                <a:latin typeface="Liter" pitchFamily="34" charset="0"/>
                <a:ea typeface="Liter" pitchFamily="34" charset="-122"/>
                <a:cs typeface="Liter" pitchFamily="34" charset="-120"/>
              </a:rPr>
              <a:t>Transformation</a:t>
            </a:r>
            <a:endParaRPr lang="en-US" sz="1600" dirty="0"/>
          </a:p>
        </p:txBody>
      </p:sp>
      <p:sp>
        <p:nvSpPr>
          <p:cNvPr id="11" name="Text 6"/>
          <p:cNvSpPr/>
          <p:nvPr/>
        </p:nvSpPr>
        <p:spPr>
          <a:xfrm>
            <a:off x="381000" y="4076700"/>
            <a:ext cx="7429500" cy="742950"/>
          </a:xfrm>
          <a:prstGeom prst="rect">
            <a:avLst/>
          </a:prstGeom>
          <a:noFill/>
          <a:ln/>
        </p:spPr>
        <p:txBody>
          <a:bodyPr wrap="square" lIns="0" tIns="0" rIns="0" bIns="0" rtlCol="0" anchor="ctr"/>
          <a:lstStyle/>
          <a:p>
            <a:pPr>
              <a:lnSpc>
                <a:spcPct val="140000"/>
              </a:lnSpc>
            </a:pPr>
            <a:r>
              <a:rPr lang="en-US" sz="1800" dirty="0">
                <a:solidFill>
                  <a:srgbClr val="FFFFFF">
                    <a:alpha val="90000"/>
                  </a:srgbClr>
                </a:solidFill>
                <a:latin typeface="Hedvig Letters Sans" pitchFamily="34" charset="0"/>
                <a:ea typeface="Hedvig Letters Sans" pitchFamily="34" charset="-122"/>
                <a:cs typeface="Hedvig Letters Sans" pitchFamily="34" charset="-120"/>
              </a:rPr>
              <a:t>Optimizing Banking Operations Through Intelligent Automation and Process Excellence</a:t>
            </a:r>
            <a:endParaRPr lang="en-US" sz="1600" dirty="0"/>
          </a:p>
        </p:txBody>
      </p:sp>
      <p:sp>
        <p:nvSpPr>
          <p:cNvPr id="12" name="Shape 7"/>
          <p:cNvSpPr/>
          <p:nvPr/>
        </p:nvSpPr>
        <p:spPr>
          <a:xfrm>
            <a:off x="385763" y="5357813"/>
            <a:ext cx="2924175" cy="1114425"/>
          </a:xfrm>
          <a:custGeom>
            <a:avLst/>
            <a:gdLst/>
            <a:ahLst/>
            <a:cxnLst/>
            <a:rect l="l" t="t" r="r" b="b"/>
            <a:pathLst>
              <a:path w="2924175" h="1114425">
                <a:moveTo>
                  <a:pt x="114295" y="0"/>
                </a:moveTo>
                <a:lnTo>
                  <a:pt x="2809880" y="0"/>
                </a:lnTo>
                <a:cubicBezTo>
                  <a:pt x="2872961" y="0"/>
                  <a:pt x="2924175" y="51214"/>
                  <a:pt x="2924175" y="114295"/>
                </a:cubicBezTo>
                <a:lnTo>
                  <a:pt x="2924175" y="1000130"/>
                </a:lnTo>
                <a:cubicBezTo>
                  <a:pt x="2924175" y="1063211"/>
                  <a:pt x="2872961" y="1114425"/>
                  <a:pt x="2809880" y="1114425"/>
                </a:cubicBezTo>
                <a:lnTo>
                  <a:pt x="114295" y="1114425"/>
                </a:lnTo>
                <a:cubicBezTo>
                  <a:pt x="51214" y="1114425"/>
                  <a:pt x="0" y="1063211"/>
                  <a:pt x="0" y="1000130"/>
                </a:cubicBezTo>
                <a:lnTo>
                  <a:pt x="0" y="114295"/>
                </a:lnTo>
                <a:cubicBezTo>
                  <a:pt x="0" y="51214"/>
                  <a:pt x="51214" y="0"/>
                  <a:pt x="114295" y="0"/>
                </a:cubicBezTo>
                <a:close/>
              </a:path>
            </a:pathLst>
          </a:custGeom>
          <a:solidFill>
            <a:srgbClr val="FFFFFF">
              <a:alpha val="10196"/>
            </a:srgbClr>
          </a:solidFill>
          <a:ln w="12700">
            <a:solidFill>
              <a:srgbClr val="FFFFFF">
                <a:alpha val="20000"/>
              </a:srgbClr>
            </a:solidFill>
            <a:prstDash val="solid"/>
          </a:ln>
        </p:spPr>
        <p:txBody>
          <a:bodyPr/>
          <a:lstStyle/>
          <a:p>
            <a:endParaRPr lang="en-US" dirty="0"/>
          </a:p>
        </p:txBody>
      </p:sp>
      <p:sp>
        <p:nvSpPr>
          <p:cNvPr id="13" name="Text 8"/>
          <p:cNvSpPr/>
          <p:nvPr/>
        </p:nvSpPr>
        <p:spPr>
          <a:xfrm>
            <a:off x="581025" y="5553075"/>
            <a:ext cx="260032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Prepared by</a:t>
            </a:r>
            <a:endParaRPr lang="en-US" sz="1600" dirty="0"/>
          </a:p>
        </p:txBody>
      </p:sp>
      <p:sp>
        <p:nvSpPr>
          <p:cNvPr id="14" name="Text 9"/>
          <p:cNvSpPr/>
          <p:nvPr/>
        </p:nvSpPr>
        <p:spPr>
          <a:xfrm>
            <a:off x="581025" y="5781675"/>
            <a:ext cx="26289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Chukwuebuka Benjamin Obieli</a:t>
            </a:r>
            <a:endParaRPr lang="en-US" sz="1600" dirty="0"/>
          </a:p>
        </p:txBody>
      </p:sp>
      <p:sp>
        <p:nvSpPr>
          <p:cNvPr id="15" name="Text 10"/>
          <p:cNvSpPr/>
          <p:nvPr/>
        </p:nvSpPr>
        <p:spPr>
          <a:xfrm>
            <a:off x="581025" y="6048375"/>
            <a:ext cx="2609850" cy="228600"/>
          </a:xfrm>
          <a:prstGeom prst="rect">
            <a:avLst/>
          </a:prstGeom>
          <a:noFill/>
          <a:ln/>
        </p:spPr>
        <p:txBody>
          <a:bodyPr wrap="square" lIns="0" tIns="0" rIns="0" bIns="0" rtlCol="0" anchor="ctr"/>
          <a:lstStyle/>
          <a:p>
            <a:pPr>
              <a:lnSpc>
                <a:spcPct val="130000"/>
              </a:lnSpc>
            </a:pPr>
            <a:r>
              <a:rPr lang="en-US" sz="1200" dirty="0">
                <a:solidFill>
                  <a:srgbClr val="FF6B00"/>
                </a:solidFill>
                <a:latin typeface="Hedvig Letters Sans" pitchFamily="34" charset="0"/>
                <a:ea typeface="Hedvig Letters Sans" pitchFamily="34" charset="-122"/>
                <a:cs typeface="Hedvig Letters Sans" pitchFamily="34" charset="-120"/>
              </a:rPr>
              <a:t>Assistant Head of Operations</a:t>
            </a:r>
            <a:endParaRPr lang="en-US" sz="1600" dirty="0"/>
          </a:p>
        </p:txBody>
      </p:sp>
      <p:sp>
        <p:nvSpPr>
          <p:cNvPr id="16" name="Shape 11"/>
          <p:cNvSpPr/>
          <p:nvPr/>
        </p:nvSpPr>
        <p:spPr>
          <a:xfrm>
            <a:off x="9175105" y="5357813"/>
            <a:ext cx="2628900" cy="1114425"/>
          </a:xfrm>
          <a:custGeom>
            <a:avLst/>
            <a:gdLst/>
            <a:ahLst/>
            <a:cxnLst/>
            <a:rect l="l" t="t" r="r" b="b"/>
            <a:pathLst>
              <a:path w="2628900" h="1114425">
                <a:moveTo>
                  <a:pt x="114295" y="0"/>
                </a:moveTo>
                <a:lnTo>
                  <a:pt x="2514605" y="0"/>
                </a:lnTo>
                <a:cubicBezTo>
                  <a:pt x="2577686" y="0"/>
                  <a:pt x="2628900" y="51214"/>
                  <a:pt x="2628900" y="114295"/>
                </a:cubicBezTo>
                <a:lnTo>
                  <a:pt x="2628900" y="1000130"/>
                </a:lnTo>
                <a:cubicBezTo>
                  <a:pt x="2628900" y="1063211"/>
                  <a:pt x="2577686" y="1114425"/>
                  <a:pt x="2514605" y="1114425"/>
                </a:cubicBezTo>
                <a:lnTo>
                  <a:pt x="114295" y="1114425"/>
                </a:lnTo>
                <a:cubicBezTo>
                  <a:pt x="51214" y="1114425"/>
                  <a:pt x="0" y="1063211"/>
                  <a:pt x="0" y="1000130"/>
                </a:cubicBezTo>
                <a:lnTo>
                  <a:pt x="0" y="114295"/>
                </a:lnTo>
                <a:cubicBezTo>
                  <a:pt x="0" y="51214"/>
                  <a:pt x="51214" y="0"/>
                  <a:pt x="114295" y="0"/>
                </a:cubicBezTo>
                <a:close/>
              </a:path>
            </a:pathLst>
          </a:custGeom>
          <a:solidFill>
            <a:srgbClr val="FFFFFF">
              <a:alpha val="10196"/>
            </a:srgbClr>
          </a:solidFill>
          <a:ln w="12700">
            <a:solidFill>
              <a:srgbClr val="FFFFFF">
                <a:alpha val="20000"/>
              </a:srgbClr>
            </a:solidFill>
            <a:prstDash val="solid"/>
          </a:ln>
        </p:spPr>
      </p:sp>
      <p:sp>
        <p:nvSpPr>
          <p:cNvPr id="17" name="Text 12"/>
          <p:cNvSpPr/>
          <p:nvPr/>
        </p:nvSpPr>
        <p:spPr>
          <a:xfrm>
            <a:off x="9303693" y="5553075"/>
            <a:ext cx="2305050" cy="190500"/>
          </a:xfrm>
          <a:prstGeom prst="rect">
            <a:avLst/>
          </a:prstGeom>
          <a:noFill/>
          <a:ln/>
        </p:spPr>
        <p:txBody>
          <a:bodyPr wrap="square" lIns="0" tIns="0" rIns="0" bIns="0" rtlCol="0" anchor="ctr"/>
          <a:lstStyle/>
          <a:p>
            <a:pPr algn="r">
              <a:lnSpc>
                <a:spcPct val="12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Academic Program</a:t>
            </a:r>
            <a:endParaRPr lang="en-US" sz="1600" dirty="0"/>
          </a:p>
        </p:txBody>
      </p:sp>
      <p:sp>
        <p:nvSpPr>
          <p:cNvPr id="18" name="Text 13"/>
          <p:cNvSpPr/>
          <p:nvPr/>
        </p:nvSpPr>
        <p:spPr>
          <a:xfrm>
            <a:off x="9275118" y="5781675"/>
            <a:ext cx="2333625" cy="266700"/>
          </a:xfrm>
          <a:prstGeom prst="rect">
            <a:avLst/>
          </a:prstGeom>
          <a:noFill/>
          <a:ln/>
        </p:spPr>
        <p:txBody>
          <a:bodyPr wrap="square" lIns="0" tIns="0" rIns="0" bIns="0" rtlCol="0" anchor="ctr"/>
          <a:lstStyle/>
          <a:p>
            <a:pPr algn="r">
              <a:lnSpc>
                <a:spcPct val="120000"/>
              </a:lnSpc>
            </a:pPr>
            <a:r>
              <a:rPr lang="en-US" sz="1500" b="1" dirty="0">
                <a:solidFill>
                  <a:srgbClr val="FFFFFF"/>
                </a:solidFill>
                <a:latin typeface="Liter" pitchFamily="34" charset="0"/>
                <a:ea typeface="Liter" pitchFamily="34" charset="-122"/>
                <a:cs typeface="Liter" pitchFamily="34" charset="-120"/>
              </a:rPr>
              <a:t>Rome Business School</a:t>
            </a:r>
            <a:endParaRPr lang="en-US" sz="1600" dirty="0"/>
          </a:p>
        </p:txBody>
      </p:sp>
      <p:sp>
        <p:nvSpPr>
          <p:cNvPr id="19" name="Text 14"/>
          <p:cNvSpPr/>
          <p:nvPr/>
        </p:nvSpPr>
        <p:spPr>
          <a:xfrm>
            <a:off x="9303693" y="6154597"/>
            <a:ext cx="2314575" cy="228600"/>
          </a:xfrm>
          <a:prstGeom prst="rect">
            <a:avLst/>
          </a:prstGeom>
          <a:noFill/>
          <a:ln/>
        </p:spPr>
        <p:txBody>
          <a:bodyPr wrap="square" lIns="0" tIns="0" rIns="0" bIns="0" rtlCol="0" anchor="ctr"/>
          <a:lstStyle/>
          <a:p>
            <a:pPr algn="r">
              <a:lnSpc>
                <a:spcPct val="130000"/>
              </a:lnSpc>
            </a:pPr>
            <a:r>
              <a:rPr lang="en-US" sz="1200" dirty="0">
                <a:solidFill>
                  <a:srgbClr val="D4AF37"/>
                </a:solidFill>
                <a:latin typeface="Hedvig Letters Sans" pitchFamily="34" charset="0"/>
                <a:ea typeface="Hedvig Letters Sans" pitchFamily="34" charset="-122"/>
                <a:cs typeface="Hedvig Letters Sans" pitchFamily="34" charset="-120"/>
              </a:rPr>
              <a:t>Master's in Project Management</a:t>
            </a:r>
            <a:br>
              <a:rPr lang="en-US" sz="1200" dirty="0">
                <a:solidFill>
                  <a:srgbClr val="D4AF37"/>
                </a:solidFill>
                <a:latin typeface="Hedvig Letters Sans" pitchFamily="34" charset="0"/>
                <a:ea typeface="Hedvig Letters Sans" pitchFamily="34" charset="-122"/>
                <a:cs typeface="Hedvig Letters Sans" pitchFamily="34" charset="-120"/>
              </a:rPr>
            </a:br>
            <a:r>
              <a:rPr lang="en-US" sz="1200" dirty="0">
                <a:solidFill>
                  <a:srgbClr val="D4AF37"/>
                </a:solidFill>
                <a:latin typeface="Hedvig Letters Sans" pitchFamily="34" charset="0"/>
                <a:ea typeface="Hedvig Letters Sans" pitchFamily="34" charset="-122"/>
                <a:cs typeface="Hedvig Letters Sans" pitchFamily="34" charset="-120"/>
              </a:rPr>
              <a:t>25APM2006OC97</a:t>
            </a:r>
            <a:endParaRPr lang="en-US" sz="1600" dirty="0"/>
          </a:p>
        </p:txBody>
      </p:sp>
      <p:pic>
        <p:nvPicPr>
          <p:cNvPr id="25" name="Picture 24" descr="A circular logo with a circular design&#10;&#10;AI-generated content may be incorrect.">
            <a:extLst>
              <a:ext uri="{FF2B5EF4-FFF2-40B4-BE49-F238E27FC236}">
                <a16:creationId xmlns:a16="http://schemas.microsoft.com/office/drawing/2014/main" id="{285C2309-D424-EF47-4BF6-E49D90E7DA73}"/>
              </a:ext>
            </a:extLst>
          </p:cNvPr>
          <p:cNvPicPr>
            <a:picLocks noChangeAspect="1"/>
          </p:cNvPicPr>
          <p:nvPr/>
        </p:nvPicPr>
        <p:blipFill>
          <a:blip r:embed="rId4"/>
          <a:stretch>
            <a:fillRect/>
          </a:stretch>
        </p:blipFill>
        <p:spPr>
          <a:xfrm>
            <a:off x="7557443" y="5319861"/>
            <a:ext cx="1422400" cy="1173013"/>
          </a:xfrm>
          <a:prstGeom prst="rect">
            <a:avLst/>
          </a:prstGeom>
        </p:spPr>
      </p:pic>
      <p:pic>
        <p:nvPicPr>
          <p:cNvPr id="27" name="Picture 26" descr="A close-up of a logo&#10;&#10;AI-generated content may be incorrect.">
            <a:extLst>
              <a:ext uri="{FF2B5EF4-FFF2-40B4-BE49-F238E27FC236}">
                <a16:creationId xmlns:a16="http://schemas.microsoft.com/office/drawing/2014/main" id="{880B3334-D10E-ACA2-2D55-6D8A57DD6CAB}"/>
              </a:ext>
            </a:extLst>
          </p:cNvPr>
          <p:cNvPicPr>
            <a:picLocks noChangeAspect="1"/>
          </p:cNvPicPr>
          <p:nvPr/>
        </p:nvPicPr>
        <p:blipFill>
          <a:blip r:embed="rId5"/>
          <a:stretch>
            <a:fillRect/>
          </a:stretch>
        </p:blipFill>
        <p:spPr>
          <a:xfrm>
            <a:off x="3695702" y="5319862"/>
            <a:ext cx="1443458" cy="1152375"/>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FF6B00"/>
                </a:solidFill>
                <a:latin typeface="Liter" pitchFamily="34" charset="0"/>
                <a:ea typeface="Liter" pitchFamily="34" charset="-122"/>
                <a:cs typeface="Liter" pitchFamily="34" charset="-120"/>
              </a:rPr>
              <a:t>NAVIGATION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003087"/>
                </a:solidFill>
                <a:latin typeface="Liter" pitchFamily="34" charset="0"/>
                <a:ea typeface="Liter" pitchFamily="34" charset="-122"/>
                <a:cs typeface="Liter" pitchFamily="34" charset="-120"/>
              </a:rPr>
              <a:t>Executive Overview</a:t>
            </a:r>
            <a:endParaRPr lang="en-US" sz="1600" dirty="0"/>
          </a:p>
        </p:txBody>
      </p:sp>
      <p:sp>
        <p:nvSpPr>
          <p:cNvPr id="4" name="Shape 2"/>
          <p:cNvSpPr/>
          <p:nvPr/>
        </p:nvSpPr>
        <p:spPr>
          <a:xfrm>
            <a:off x="381000" y="12573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F6B00"/>
          </a:solidFill>
          <a:ln/>
        </p:spPr>
      </p:sp>
      <p:sp>
        <p:nvSpPr>
          <p:cNvPr id="5" name="Shape 3"/>
          <p:cNvSpPr/>
          <p:nvPr/>
        </p:nvSpPr>
        <p:spPr>
          <a:xfrm>
            <a:off x="400050" y="1600200"/>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003087">
                  <a:alpha val="5000"/>
                </a:srgbClr>
              </a:gs>
              <a:gs pos="100000">
                <a:srgbClr val="000000">
                  <a:alpha val="0"/>
                </a:srgbClr>
              </a:gs>
            </a:gsLst>
            <a:lin ang="0" scaled="1"/>
          </a:gradFill>
          <a:ln/>
        </p:spPr>
      </p:sp>
      <p:sp>
        <p:nvSpPr>
          <p:cNvPr id="6" name="Shape 4"/>
          <p:cNvSpPr/>
          <p:nvPr/>
        </p:nvSpPr>
        <p:spPr>
          <a:xfrm>
            <a:off x="400050" y="1600200"/>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003087"/>
          </a:solidFill>
          <a:ln/>
        </p:spPr>
      </p:sp>
      <p:sp>
        <p:nvSpPr>
          <p:cNvPr id="7" name="Shape 5"/>
          <p:cNvSpPr/>
          <p:nvPr/>
        </p:nvSpPr>
        <p:spPr>
          <a:xfrm>
            <a:off x="609600" y="17907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03087"/>
          </a:solidFill>
          <a:ln/>
        </p:spPr>
      </p:sp>
      <p:sp>
        <p:nvSpPr>
          <p:cNvPr id="8" name="Text 6"/>
          <p:cNvSpPr/>
          <p:nvPr/>
        </p:nvSpPr>
        <p:spPr>
          <a:xfrm>
            <a:off x="552450" y="1790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01</a:t>
            </a:r>
            <a:endParaRPr lang="en-US" sz="1600" dirty="0"/>
          </a:p>
        </p:txBody>
      </p:sp>
      <p:sp>
        <p:nvSpPr>
          <p:cNvPr id="9" name="Text 7"/>
          <p:cNvSpPr/>
          <p:nvPr/>
        </p:nvSpPr>
        <p:spPr>
          <a:xfrm>
            <a:off x="1295400" y="1790700"/>
            <a:ext cx="4286250"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Executive Summary</a:t>
            </a:r>
            <a:endParaRPr lang="en-US" sz="1600" dirty="0"/>
          </a:p>
        </p:txBody>
      </p:sp>
      <p:sp>
        <p:nvSpPr>
          <p:cNvPr id="10" name="Text 8"/>
          <p:cNvSpPr/>
          <p:nvPr/>
        </p:nvSpPr>
        <p:spPr>
          <a:xfrm>
            <a:off x="1295400" y="2095500"/>
            <a:ext cx="4267200"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Core value proposition, ROI projections, and strategic alignment</a:t>
            </a:r>
            <a:endParaRPr lang="en-US" sz="1600" dirty="0"/>
          </a:p>
        </p:txBody>
      </p:sp>
      <p:sp>
        <p:nvSpPr>
          <p:cNvPr id="11" name="Shape 9"/>
          <p:cNvSpPr/>
          <p:nvPr/>
        </p:nvSpPr>
        <p:spPr>
          <a:xfrm>
            <a:off x="6267450" y="1600200"/>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FF6B00">
                  <a:alpha val="5000"/>
                </a:srgbClr>
              </a:gs>
              <a:gs pos="100000">
                <a:srgbClr val="000000">
                  <a:alpha val="0"/>
                </a:srgbClr>
              </a:gs>
            </a:gsLst>
            <a:lin ang="0" scaled="1"/>
          </a:gradFill>
          <a:ln/>
        </p:spPr>
      </p:sp>
      <p:sp>
        <p:nvSpPr>
          <p:cNvPr id="12" name="Shape 10"/>
          <p:cNvSpPr/>
          <p:nvPr/>
        </p:nvSpPr>
        <p:spPr>
          <a:xfrm>
            <a:off x="6267450" y="1600200"/>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FF6B00"/>
          </a:solidFill>
          <a:ln/>
        </p:spPr>
      </p:sp>
      <p:sp>
        <p:nvSpPr>
          <p:cNvPr id="13" name="Shape 11"/>
          <p:cNvSpPr/>
          <p:nvPr/>
        </p:nvSpPr>
        <p:spPr>
          <a:xfrm>
            <a:off x="6477000" y="17907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6B00"/>
          </a:solidFill>
          <a:ln/>
        </p:spPr>
      </p:sp>
      <p:sp>
        <p:nvSpPr>
          <p:cNvPr id="14" name="Text 12"/>
          <p:cNvSpPr/>
          <p:nvPr/>
        </p:nvSpPr>
        <p:spPr>
          <a:xfrm>
            <a:off x="6419850" y="1790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02</a:t>
            </a:r>
            <a:endParaRPr lang="en-US" sz="1600" dirty="0"/>
          </a:p>
        </p:txBody>
      </p:sp>
      <p:sp>
        <p:nvSpPr>
          <p:cNvPr id="15" name="Text 13"/>
          <p:cNvSpPr/>
          <p:nvPr/>
        </p:nvSpPr>
        <p:spPr>
          <a:xfrm>
            <a:off x="7162800" y="1790700"/>
            <a:ext cx="4038600"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Strategic Approach</a:t>
            </a:r>
            <a:endParaRPr lang="en-US" sz="1600" dirty="0"/>
          </a:p>
        </p:txBody>
      </p:sp>
      <p:sp>
        <p:nvSpPr>
          <p:cNvPr id="16" name="Text 14"/>
          <p:cNvSpPr/>
          <p:nvPr/>
        </p:nvSpPr>
        <p:spPr>
          <a:xfrm>
            <a:off x="7162800" y="2095500"/>
            <a:ext cx="4019550"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Project management framework and methodology selection</a:t>
            </a:r>
            <a:endParaRPr lang="en-US" sz="1600" dirty="0"/>
          </a:p>
        </p:txBody>
      </p:sp>
      <p:sp>
        <p:nvSpPr>
          <p:cNvPr id="17" name="Shape 15"/>
          <p:cNvSpPr/>
          <p:nvPr/>
        </p:nvSpPr>
        <p:spPr>
          <a:xfrm>
            <a:off x="400050" y="2752725"/>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003087">
                  <a:alpha val="5000"/>
                </a:srgbClr>
              </a:gs>
              <a:gs pos="100000">
                <a:srgbClr val="000000">
                  <a:alpha val="0"/>
                </a:srgbClr>
              </a:gs>
            </a:gsLst>
            <a:lin ang="0" scaled="1"/>
          </a:gradFill>
          <a:ln/>
        </p:spPr>
      </p:sp>
      <p:sp>
        <p:nvSpPr>
          <p:cNvPr id="18" name="Shape 16"/>
          <p:cNvSpPr/>
          <p:nvPr/>
        </p:nvSpPr>
        <p:spPr>
          <a:xfrm>
            <a:off x="400050" y="2752725"/>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003087"/>
          </a:solidFill>
          <a:ln/>
        </p:spPr>
      </p:sp>
      <p:sp>
        <p:nvSpPr>
          <p:cNvPr id="19" name="Shape 17"/>
          <p:cNvSpPr/>
          <p:nvPr/>
        </p:nvSpPr>
        <p:spPr>
          <a:xfrm>
            <a:off x="609600" y="29432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03087"/>
          </a:solidFill>
          <a:ln/>
        </p:spPr>
      </p:sp>
      <p:sp>
        <p:nvSpPr>
          <p:cNvPr id="20" name="Text 18"/>
          <p:cNvSpPr/>
          <p:nvPr/>
        </p:nvSpPr>
        <p:spPr>
          <a:xfrm>
            <a:off x="552450" y="294322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03</a:t>
            </a:r>
            <a:endParaRPr lang="en-US" sz="1600" dirty="0"/>
          </a:p>
        </p:txBody>
      </p:sp>
      <p:sp>
        <p:nvSpPr>
          <p:cNvPr id="21" name="Text 19"/>
          <p:cNvSpPr/>
          <p:nvPr/>
        </p:nvSpPr>
        <p:spPr>
          <a:xfrm>
            <a:off x="1295400" y="2943225"/>
            <a:ext cx="3324225"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Gap Analysis</a:t>
            </a:r>
            <a:endParaRPr lang="en-US" sz="1600" dirty="0"/>
          </a:p>
        </p:txBody>
      </p:sp>
      <p:sp>
        <p:nvSpPr>
          <p:cNvPr id="22" name="Text 20"/>
          <p:cNvSpPr/>
          <p:nvPr/>
        </p:nvSpPr>
        <p:spPr>
          <a:xfrm>
            <a:off x="1295400" y="3248025"/>
            <a:ext cx="3305175"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Current state assessment and root cause analysis</a:t>
            </a:r>
            <a:endParaRPr lang="en-US" sz="1600" dirty="0"/>
          </a:p>
        </p:txBody>
      </p:sp>
      <p:sp>
        <p:nvSpPr>
          <p:cNvPr id="23" name="Shape 21"/>
          <p:cNvSpPr/>
          <p:nvPr/>
        </p:nvSpPr>
        <p:spPr>
          <a:xfrm>
            <a:off x="6267450" y="2752725"/>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FF6B00">
                  <a:alpha val="5000"/>
                </a:srgbClr>
              </a:gs>
              <a:gs pos="100000">
                <a:srgbClr val="000000">
                  <a:alpha val="0"/>
                </a:srgbClr>
              </a:gs>
            </a:gsLst>
            <a:lin ang="0" scaled="1"/>
          </a:gradFill>
          <a:ln/>
        </p:spPr>
      </p:sp>
      <p:sp>
        <p:nvSpPr>
          <p:cNvPr id="24" name="Shape 22"/>
          <p:cNvSpPr/>
          <p:nvPr/>
        </p:nvSpPr>
        <p:spPr>
          <a:xfrm>
            <a:off x="6267450" y="2752725"/>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FF6B00"/>
          </a:solidFill>
          <a:ln/>
        </p:spPr>
      </p:sp>
      <p:sp>
        <p:nvSpPr>
          <p:cNvPr id="25" name="Shape 23"/>
          <p:cNvSpPr/>
          <p:nvPr/>
        </p:nvSpPr>
        <p:spPr>
          <a:xfrm>
            <a:off x="6477000" y="29432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6B00"/>
          </a:solidFill>
          <a:ln/>
        </p:spPr>
      </p:sp>
      <p:sp>
        <p:nvSpPr>
          <p:cNvPr id="26" name="Text 24"/>
          <p:cNvSpPr/>
          <p:nvPr/>
        </p:nvSpPr>
        <p:spPr>
          <a:xfrm>
            <a:off x="6419850" y="294322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04</a:t>
            </a:r>
            <a:endParaRPr lang="en-US" sz="1600" dirty="0"/>
          </a:p>
        </p:txBody>
      </p:sp>
      <p:sp>
        <p:nvSpPr>
          <p:cNvPr id="27" name="Text 25"/>
          <p:cNvSpPr/>
          <p:nvPr/>
        </p:nvSpPr>
        <p:spPr>
          <a:xfrm>
            <a:off x="7162800" y="2943225"/>
            <a:ext cx="3971925"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Innovation Opportunities</a:t>
            </a:r>
            <a:endParaRPr lang="en-US" sz="1600" dirty="0"/>
          </a:p>
        </p:txBody>
      </p:sp>
      <p:sp>
        <p:nvSpPr>
          <p:cNvPr id="28" name="Text 26"/>
          <p:cNvSpPr/>
          <p:nvPr/>
        </p:nvSpPr>
        <p:spPr>
          <a:xfrm>
            <a:off x="7162800" y="3248025"/>
            <a:ext cx="3952875"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RPA, intelligent automation, and performance management</a:t>
            </a:r>
            <a:endParaRPr lang="en-US" sz="1600" dirty="0"/>
          </a:p>
        </p:txBody>
      </p:sp>
      <p:sp>
        <p:nvSpPr>
          <p:cNvPr id="29" name="Shape 27"/>
          <p:cNvSpPr/>
          <p:nvPr/>
        </p:nvSpPr>
        <p:spPr>
          <a:xfrm>
            <a:off x="400050" y="3905250"/>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003087">
                  <a:alpha val="5000"/>
                </a:srgbClr>
              </a:gs>
              <a:gs pos="100000">
                <a:srgbClr val="000000">
                  <a:alpha val="0"/>
                </a:srgbClr>
              </a:gs>
            </a:gsLst>
            <a:lin ang="0" scaled="1"/>
          </a:gradFill>
          <a:ln/>
        </p:spPr>
      </p:sp>
      <p:sp>
        <p:nvSpPr>
          <p:cNvPr id="30" name="Shape 28"/>
          <p:cNvSpPr/>
          <p:nvPr/>
        </p:nvSpPr>
        <p:spPr>
          <a:xfrm>
            <a:off x="400050" y="3905250"/>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003087"/>
          </a:solidFill>
          <a:ln/>
        </p:spPr>
      </p:sp>
      <p:sp>
        <p:nvSpPr>
          <p:cNvPr id="31" name="Shape 29"/>
          <p:cNvSpPr/>
          <p:nvPr/>
        </p:nvSpPr>
        <p:spPr>
          <a:xfrm>
            <a:off x="609600" y="40957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03087"/>
          </a:solidFill>
          <a:ln/>
        </p:spPr>
      </p:sp>
      <p:sp>
        <p:nvSpPr>
          <p:cNvPr id="32" name="Text 30"/>
          <p:cNvSpPr/>
          <p:nvPr/>
        </p:nvSpPr>
        <p:spPr>
          <a:xfrm>
            <a:off x="552450" y="409575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05</a:t>
            </a:r>
            <a:endParaRPr lang="en-US" sz="1600" dirty="0"/>
          </a:p>
        </p:txBody>
      </p:sp>
      <p:sp>
        <p:nvSpPr>
          <p:cNvPr id="33" name="Text 31"/>
          <p:cNvSpPr/>
          <p:nvPr/>
        </p:nvSpPr>
        <p:spPr>
          <a:xfrm>
            <a:off x="1295400" y="4095750"/>
            <a:ext cx="4219575"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Implementation Roadmap</a:t>
            </a:r>
            <a:endParaRPr lang="en-US" sz="1600" dirty="0"/>
          </a:p>
        </p:txBody>
      </p:sp>
      <p:sp>
        <p:nvSpPr>
          <p:cNvPr id="34" name="Text 32"/>
          <p:cNvSpPr/>
          <p:nvPr/>
        </p:nvSpPr>
        <p:spPr>
          <a:xfrm>
            <a:off x="1295400" y="4400550"/>
            <a:ext cx="4200525"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Phased execution plan with milestones and resource allocation</a:t>
            </a:r>
            <a:endParaRPr lang="en-US" sz="1600" dirty="0"/>
          </a:p>
        </p:txBody>
      </p:sp>
      <p:sp>
        <p:nvSpPr>
          <p:cNvPr id="35" name="Shape 33"/>
          <p:cNvSpPr/>
          <p:nvPr/>
        </p:nvSpPr>
        <p:spPr>
          <a:xfrm>
            <a:off x="6267450" y="3905250"/>
            <a:ext cx="5543550" cy="1000125"/>
          </a:xfrm>
          <a:custGeom>
            <a:avLst/>
            <a:gdLst/>
            <a:ahLst/>
            <a:cxnLst/>
            <a:rect l="l" t="t" r="r" b="b"/>
            <a:pathLst>
              <a:path w="5543550" h="1000125">
                <a:moveTo>
                  <a:pt x="38100" y="0"/>
                </a:moveTo>
                <a:lnTo>
                  <a:pt x="5429246" y="0"/>
                </a:lnTo>
                <a:cubicBezTo>
                  <a:pt x="5492374" y="0"/>
                  <a:pt x="5543550" y="51176"/>
                  <a:pt x="5543550" y="114304"/>
                </a:cubicBezTo>
                <a:lnTo>
                  <a:pt x="5543550" y="885821"/>
                </a:lnTo>
                <a:cubicBezTo>
                  <a:pt x="5543550" y="948949"/>
                  <a:pt x="5492374" y="1000125"/>
                  <a:pt x="5429246" y="1000125"/>
                </a:cubicBezTo>
                <a:lnTo>
                  <a:pt x="38100" y="1000125"/>
                </a:lnTo>
                <a:cubicBezTo>
                  <a:pt x="17058" y="1000125"/>
                  <a:pt x="0" y="983067"/>
                  <a:pt x="0" y="962025"/>
                </a:cubicBezTo>
                <a:lnTo>
                  <a:pt x="0" y="38100"/>
                </a:lnTo>
                <a:cubicBezTo>
                  <a:pt x="0" y="17072"/>
                  <a:pt x="17072" y="0"/>
                  <a:pt x="38100" y="0"/>
                </a:cubicBezTo>
                <a:close/>
              </a:path>
            </a:pathLst>
          </a:custGeom>
          <a:gradFill flip="none" rotWithShape="1">
            <a:gsLst>
              <a:gs pos="0">
                <a:srgbClr val="FF6B00">
                  <a:alpha val="5000"/>
                </a:srgbClr>
              </a:gs>
              <a:gs pos="100000">
                <a:srgbClr val="000000">
                  <a:alpha val="0"/>
                </a:srgbClr>
              </a:gs>
            </a:gsLst>
            <a:lin ang="0" scaled="1"/>
          </a:gradFill>
          <a:ln/>
        </p:spPr>
      </p:sp>
      <p:sp>
        <p:nvSpPr>
          <p:cNvPr id="36" name="Shape 34"/>
          <p:cNvSpPr/>
          <p:nvPr/>
        </p:nvSpPr>
        <p:spPr>
          <a:xfrm>
            <a:off x="6267450" y="3905250"/>
            <a:ext cx="38100" cy="1000125"/>
          </a:xfrm>
          <a:custGeom>
            <a:avLst/>
            <a:gdLst/>
            <a:ahLst/>
            <a:cxnLst/>
            <a:rect l="l" t="t" r="r" b="b"/>
            <a:pathLst>
              <a:path w="38100" h="1000125">
                <a:moveTo>
                  <a:pt x="38100" y="0"/>
                </a:moveTo>
                <a:lnTo>
                  <a:pt x="38100" y="0"/>
                </a:lnTo>
                <a:lnTo>
                  <a:pt x="38100" y="1000125"/>
                </a:lnTo>
                <a:lnTo>
                  <a:pt x="38100" y="1000125"/>
                </a:lnTo>
                <a:cubicBezTo>
                  <a:pt x="17072" y="1000125"/>
                  <a:pt x="0" y="983053"/>
                  <a:pt x="0" y="962025"/>
                </a:cubicBezTo>
                <a:lnTo>
                  <a:pt x="0" y="38100"/>
                </a:lnTo>
                <a:cubicBezTo>
                  <a:pt x="0" y="17072"/>
                  <a:pt x="17072" y="0"/>
                  <a:pt x="38100" y="0"/>
                </a:cubicBezTo>
                <a:close/>
              </a:path>
            </a:pathLst>
          </a:custGeom>
          <a:solidFill>
            <a:srgbClr val="FF6B00"/>
          </a:solidFill>
          <a:ln/>
        </p:spPr>
      </p:sp>
      <p:sp>
        <p:nvSpPr>
          <p:cNvPr id="37" name="Shape 35"/>
          <p:cNvSpPr/>
          <p:nvPr/>
        </p:nvSpPr>
        <p:spPr>
          <a:xfrm>
            <a:off x="6477000" y="40957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6B00"/>
          </a:solidFill>
          <a:ln/>
        </p:spPr>
      </p:sp>
      <p:sp>
        <p:nvSpPr>
          <p:cNvPr id="38" name="Text 36"/>
          <p:cNvSpPr/>
          <p:nvPr/>
        </p:nvSpPr>
        <p:spPr>
          <a:xfrm>
            <a:off x="6419850" y="409575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06</a:t>
            </a:r>
            <a:endParaRPr lang="en-US" sz="1600" dirty="0"/>
          </a:p>
        </p:txBody>
      </p:sp>
      <p:sp>
        <p:nvSpPr>
          <p:cNvPr id="39" name="Text 37"/>
          <p:cNvSpPr/>
          <p:nvPr/>
        </p:nvSpPr>
        <p:spPr>
          <a:xfrm>
            <a:off x="7162800" y="4095750"/>
            <a:ext cx="3724275"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Stakeholder Engagement</a:t>
            </a:r>
            <a:endParaRPr lang="en-US" sz="1600" dirty="0"/>
          </a:p>
        </p:txBody>
      </p:sp>
      <p:sp>
        <p:nvSpPr>
          <p:cNvPr id="40" name="Text 38"/>
          <p:cNvSpPr/>
          <p:nvPr/>
        </p:nvSpPr>
        <p:spPr>
          <a:xfrm>
            <a:off x="7162800" y="4400550"/>
            <a:ext cx="3705225"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Communication plan and change management strategy</a:t>
            </a:r>
            <a:endParaRPr lang="en-US" sz="1600" dirty="0"/>
          </a:p>
        </p:txBody>
      </p:sp>
      <p:sp>
        <p:nvSpPr>
          <p:cNvPr id="41" name="Shape 39"/>
          <p:cNvSpPr/>
          <p:nvPr/>
        </p:nvSpPr>
        <p:spPr>
          <a:xfrm>
            <a:off x="400050" y="5057775"/>
            <a:ext cx="5543550" cy="1419225"/>
          </a:xfrm>
          <a:custGeom>
            <a:avLst/>
            <a:gdLst/>
            <a:ahLst/>
            <a:cxnLst/>
            <a:rect l="l" t="t" r="r" b="b"/>
            <a:pathLst>
              <a:path w="5543550" h="1419225">
                <a:moveTo>
                  <a:pt x="38100" y="0"/>
                </a:moveTo>
                <a:lnTo>
                  <a:pt x="5429246" y="0"/>
                </a:lnTo>
                <a:cubicBezTo>
                  <a:pt x="5492374" y="0"/>
                  <a:pt x="5543550" y="51176"/>
                  <a:pt x="5543550" y="114304"/>
                </a:cubicBezTo>
                <a:lnTo>
                  <a:pt x="5543550" y="1304921"/>
                </a:lnTo>
                <a:cubicBezTo>
                  <a:pt x="5543550" y="1368049"/>
                  <a:pt x="5492374" y="1419225"/>
                  <a:pt x="5429246" y="1419225"/>
                </a:cubicBezTo>
                <a:lnTo>
                  <a:pt x="38100" y="1419225"/>
                </a:lnTo>
                <a:cubicBezTo>
                  <a:pt x="17072" y="1419225"/>
                  <a:pt x="0" y="1402153"/>
                  <a:pt x="0" y="1381125"/>
                </a:cubicBezTo>
                <a:lnTo>
                  <a:pt x="0" y="38100"/>
                </a:lnTo>
                <a:cubicBezTo>
                  <a:pt x="0" y="17072"/>
                  <a:pt x="17072" y="0"/>
                  <a:pt x="38100" y="0"/>
                </a:cubicBezTo>
                <a:close/>
              </a:path>
            </a:pathLst>
          </a:custGeom>
          <a:gradFill flip="none" rotWithShape="1">
            <a:gsLst>
              <a:gs pos="0">
                <a:srgbClr val="003087">
                  <a:alpha val="5000"/>
                </a:srgbClr>
              </a:gs>
              <a:gs pos="100000">
                <a:srgbClr val="000000">
                  <a:alpha val="0"/>
                </a:srgbClr>
              </a:gs>
            </a:gsLst>
            <a:lin ang="0" scaled="1"/>
          </a:gradFill>
          <a:ln/>
        </p:spPr>
      </p:sp>
      <p:sp>
        <p:nvSpPr>
          <p:cNvPr id="42" name="Shape 40"/>
          <p:cNvSpPr/>
          <p:nvPr/>
        </p:nvSpPr>
        <p:spPr>
          <a:xfrm>
            <a:off x="400050" y="5057775"/>
            <a:ext cx="38100" cy="1419225"/>
          </a:xfrm>
          <a:custGeom>
            <a:avLst/>
            <a:gdLst/>
            <a:ahLst/>
            <a:cxnLst/>
            <a:rect l="l" t="t" r="r" b="b"/>
            <a:pathLst>
              <a:path w="38100" h="1419225">
                <a:moveTo>
                  <a:pt x="38100" y="0"/>
                </a:moveTo>
                <a:lnTo>
                  <a:pt x="38100" y="0"/>
                </a:lnTo>
                <a:lnTo>
                  <a:pt x="38100" y="1419225"/>
                </a:lnTo>
                <a:lnTo>
                  <a:pt x="38100" y="1419225"/>
                </a:lnTo>
                <a:cubicBezTo>
                  <a:pt x="17072" y="1419225"/>
                  <a:pt x="0" y="1402153"/>
                  <a:pt x="0" y="1381125"/>
                </a:cubicBezTo>
                <a:lnTo>
                  <a:pt x="0" y="38100"/>
                </a:lnTo>
                <a:cubicBezTo>
                  <a:pt x="0" y="17072"/>
                  <a:pt x="17072" y="0"/>
                  <a:pt x="38100" y="0"/>
                </a:cubicBezTo>
                <a:close/>
              </a:path>
            </a:pathLst>
          </a:custGeom>
          <a:solidFill>
            <a:srgbClr val="003087"/>
          </a:solidFill>
          <a:ln/>
        </p:spPr>
      </p:sp>
      <p:sp>
        <p:nvSpPr>
          <p:cNvPr id="43" name="Shape 41"/>
          <p:cNvSpPr/>
          <p:nvPr/>
        </p:nvSpPr>
        <p:spPr>
          <a:xfrm>
            <a:off x="609600" y="52482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03087"/>
          </a:solidFill>
          <a:ln/>
        </p:spPr>
      </p:sp>
      <p:sp>
        <p:nvSpPr>
          <p:cNvPr id="44" name="Text 42"/>
          <p:cNvSpPr/>
          <p:nvPr/>
        </p:nvSpPr>
        <p:spPr>
          <a:xfrm>
            <a:off x="552450" y="524827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07</a:t>
            </a:r>
            <a:endParaRPr lang="en-US" sz="1600" dirty="0"/>
          </a:p>
        </p:txBody>
      </p:sp>
      <p:sp>
        <p:nvSpPr>
          <p:cNvPr id="45" name="Text 43"/>
          <p:cNvSpPr/>
          <p:nvPr/>
        </p:nvSpPr>
        <p:spPr>
          <a:xfrm>
            <a:off x="1295400" y="5248275"/>
            <a:ext cx="3352800" cy="266700"/>
          </a:xfrm>
          <a:prstGeom prst="rect">
            <a:avLst/>
          </a:prstGeom>
          <a:noFill/>
          <a:ln/>
        </p:spPr>
        <p:txBody>
          <a:bodyPr wrap="square" lIns="0" tIns="0" rIns="0" bIns="0" rtlCol="0" anchor="ctr"/>
          <a:lstStyle/>
          <a:p>
            <a:pPr>
              <a:lnSpc>
                <a:spcPct val="120000"/>
              </a:lnSpc>
            </a:pPr>
            <a:r>
              <a:rPr lang="en-US" sz="1500" b="1" dirty="0">
                <a:solidFill>
                  <a:srgbClr val="003087"/>
                </a:solidFill>
                <a:latin typeface="Liter" pitchFamily="34" charset="0"/>
                <a:ea typeface="Liter" pitchFamily="34" charset="-122"/>
                <a:cs typeface="Liter" pitchFamily="34" charset="-120"/>
              </a:rPr>
              <a:t>Conclusion</a:t>
            </a:r>
            <a:endParaRPr lang="en-US" sz="1600" dirty="0"/>
          </a:p>
        </p:txBody>
      </p:sp>
      <p:sp>
        <p:nvSpPr>
          <p:cNvPr id="46" name="Text 44"/>
          <p:cNvSpPr/>
          <p:nvPr/>
        </p:nvSpPr>
        <p:spPr>
          <a:xfrm>
            <a:off x="1295400" y="5553075"/>
            <a:ext cx="3333750" cy="209550"/>
          </a:xfrm>
          <a:prstGeom prst="rect">
            <a:avLst/>
          </a:prstGeom>
          <a:noFill/>
          <a:ln/>
        </p:spPr>
        <p:txBody>
          <a:bodyPr wrap="square" lIns="0" tIns="0" rIns="0" bIns="0" rtlCol="0" anchor="ctr"/>
          <a:lstStyle/>
          <a:p>
            <a:pPr>
              <a:lnSpc>
                <a:spcPct val="11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Management recommendations and call to action</a:t>
            </a:r>
            <a:endParaRPr lang="en-US" sz="1600" dirty="0"/>
          </a:p>
        </p:txBody>
      </p:sp>
      <p:sp>
        <p:nvSpPr>
          <p:cNvPr id="47" name="Shape 45"/>
          <p:cNvSpPr/>
          <p:nvPr/>
        </p:nvSpPr>
        <p:spPr>
          <a:xfrm>
            <a:off x="6257925" y="5067300"/>
            <a:ext cx="5543550" cy="1400175"/>
          </a:xfrm>
          <a:custGeom>
            <a:avLst/>
            <a:gdLst/>
            <a:ahLst/>
            <a:cxnLst/>
            <a:rect l="l" t="t" r="r" b="b"/>
            <a:pathLst>
              <a:path w="5543550" h="1400175">
                <a:moveTo>
                  <a:pt x="114296" y="0"/>
                </a:moveTo>
                <a:lnTo>
                  <a:pt x="5429254" y="0"/>
                </a:lnTo>
                <a:cubicBezTo>
                  <a:pt x="5492336" y="0"/>
                  <a:pt x="5543550" y="51214"/>
                  <a:pt x="5543550" y="114296"/>
                </a:cubicBezTo>
                <a:lnTo>
                  <a:pt x="5543550" y="1285879"/>
                </a:lnTo>
                <a:cubicBezTo>
                  <a:pt x="5543550" y="1348961"/>
                  <a:pt x="5492336" y="1400175"/>
                  <a:pt x="5429254"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D4AF37">
              <a:alpha val="10196"/>
            </a:srgbClr>
          </a:solidFill>
          <a:ln w="25400">
            <a:solidFill>
              <a:srgbClr val="D4AF37"/>
            </a:solidFill>
            <a:prstDash val="solid"/>
          </a:ln>
        </p:spPr>
      </p:sp>
      <p:sp>
        <p:nvSpPr>
          <p:cNvPr id="48" name="Shape 46"/>
          <p:cNvSpPr/>
          <p:nvPr/>
        </p:nvSpPr>
        <p:spPr>
          <a:xfrm>
            <a:off x="8901038" y="5310188"/>
            <a:ext cx="257175" cy="342900"/>
          </a:xfrm>
          <a:custGeom>
            <a:avLst/>
            <a:gdLst/>
            <a:ahLst/>
            <a:cxnLst/>
            <a:rect l="l" t="t" r="r" b="b"/>
            <a:pathLst>
              <a:path w="257175" h="342900">
                <a:moveTo>
                  <a:pt x="196163" y="257175"/>
                </a:moveTo>
                <a:cubicBezTo>
                  <a:pt x="201052" y="242240"/>
                  <a:pt x="210830" y="228712"/>
                  <a:pt x="221880" y="217058"/>
                </a:cubicBezTo>
                <a:cubicBezTo>
                  <a:pt x="243780" y="194020"/>
                  <a:pt x="257175" y="162878"/>
                  <a:pt x="257175" y="128588"/>
                </a:cubicBezTo>
                <a:cubicBezTo>
                  <a:pt x="257175" y="57596"/>
                  <a:pt x="199579" y="0"/>
                  <a:pt x="128587" y="0"/>
                </a:cubicBezTo>
                <a:cubicBezTo>
                  <a:pt x="57596" y="0"/>
                  <a:pt x="0" y="57596"/>
                  <a:pt x="0" y="128588"/>
                </a:cubicBezTo>
                <a:cubicBezTo>
                  <a:pt x="0" y="162878"/>
                  <a:pt x="13395" y="194020"/>
                  <a:pt x="35295" y="217058"/>
                </a:cubicBezTo>
                <a:cubicBezTo>
                  <a:pt x="46345" y="228712"/>
                  <a:pt x="56190" y="242240"/>
                  <a:pt x="61012" y="257175"/>
                </a:cubicBezTo>
                <a:lnTo>
                  <a:pt x="196096" y="257175"/>
                </a:lnTo>
                <a:close/>
                <a:moveTo>
                  <a:pt x="192881" y="289322"/>
                </a:moveTo>
                <a:lnTo>
                  <a:pt x="64294" y="289322"/>
                </a:lnTo>
                <a:lnTo>
                  <a:pt x="64294" y="300038"/>
                </a:lnTo>
                <a:cubicBezTo>
                  <a:pt x="64294" y="329639"/>
                  <a:pt x="88270" y="353616"/>
                  <a:pt x="117872" y="353616"/>
                </a:cubicBezTo>
                <a:lnTo>
                  <a:pt x="139303" y="353616"/>
                </a:lnTo>
                <a:cubicBezTo>
                  <a:pt x="168905" y="353616"/>
                  <a:pt x="192881" y="329639"/>
                  <a:pt x="192881" y="300038"/>
                </a:cubicBezTo>
                <a:lnTo>
                  <a:pt x="192881" y="289322"/>
                </a:lnTo>
                <a:close/>
                <a:moveTo>
                  <a:pt x="123230" y="75009"/>
                </a:moveTo>
                <a:cubicBezTo>
                  <a:pt x="96575" y="75009"/>
                  <a:pt x="75009" y="96575"/>
                  <a:pt x="75009" y="123230"/>
                </a:cubicBezTo>
                <a:cubicBezTo>
                  <a:pt x="75009" y="132137"/>
                  <a:pt x="67843" y="139303"/>
                  <a:pt x="58936" y="139303"/>
                </a:cubicBezTo>
                <a:cubicBezTo>
                  <a:pt x="50029" y="139303"/>
                  <a:pt x="42863" y="132137"/>
                  <a:pt x="42863" y="123230"/>
                </a:cubicBezTo>
                <a:cubicBezTo>
                  <a:pt x="42863" y="78827"/>
                  <a:pt x="78827" y="42863"/>
                  <a:pt x="123230" y="42863"/>
                </a:cubicBezTo>
                <a:cubicBezTo>
                  <a:pt x="132137" y="42863"/>
                  <a:pt x="139303" y="50029"/>
                  <a:pt x="139303" y="58936"/>
                </a:cubicBezTo>
                <a:cubicBezTo>
                  <a:pt x="139303" y="67843"/>
                  <a:pt x="132137" y="75009"/>
                  <a:pt x="123230" y="75009"/>
                </a:cubicBezTo>
                <a:close/>
              </a:path>
            </a:pathLst>
          </a:custGeom>
          <a:solidFill>
            <a:srgbClr val="D4AF37"/>
          </a:solidFill>
          <a:ln/>
        </p:spPr>
      </p:sp>
      <p:sp>
        <p:nvSpPr>
          <p:cNvPr id="49" name="Text 47"/>
          <p:cNvSpPr/>
          <p:nvPr/>
        </p:nvSpPr>
        <p:spPr>
          <a:xfrm>
            <a:off x="7096646" y="5729288"/>
            <a:ext cx="3867150" cy="266700"/>
          </a:xfrm>
          <a:prstGeom prst="rect">
            <a:avLst/>
          </a:prstGeom>
          <a:noFill/>
          <a:ln/>
        </p:spPr>
        <p:txBody>
          <a:bodyPr wrap="square" lIns="0" tIns="0" rIns="0" bIns="0" rtlCol="0" anchor="ctr"/>
          <a:lstStyle/>
          <a:p>
            <a:pPr algn="ctr">
              <a:lnSpc>
                <a:spcPct val="130000"/>
              </a:lnSpc>
            </a:pPr>
            <a:r>
              <a:rPr lang="en-US" sz="1350" b="1" dirty="0">
                <a:solidFill>
                  <a:srgbClr val="003087"/>
                </a:solidFill>
                <a:latin typeface="Liter" pitchFamily="34" charset="0"/>
                <a:ea typeface="Liter" pitchFamily="34" charset="-122"/>
                <a:cs typeface="Liter" pitchFamily="34" charset="-120"/>
              </a:rPr>
              <a:t>Strategic Insight</a:t>
            </a:r>
            <a:endParaRPr lang="en-US" sz="1600" dirty="0"/>
          </a:p>
        </p:txBody>
      </p:sp>
      <p:sp>
        <p:nvSpPr>
          <p:cNvPr id="50" name="Text 48"/>
          <p:cNvSpPr/>
          <p:nvPr/>
        </p:nvSpPr>
        <p:spPr>
          <a:xfrm>
            <a:off x="7101408" y="5995988"/>
            <a:ext cx="3857625" cy="228600"/>
          </a:xfrm>
          <a:prstGeom prst="rect">
            <a:avLst/>
          </a:prstGeom>
          <a:noFill/>
          <a:ln/>
        </p:spPr>
        <p:txBody>
          <a:bodyPr wrap="square" lIns="0" tIns="0" rIns="0" bIns="0" rtlCol="0" anchor="ctr"/>
          <a:lstStyle/>
          <a:p>
            <a:pPr algn="ctr">
              <a:lnSpc>
                <a:spcPct val="130000"/>
              </a:lnSpc>
            </a:pPr>
            <a:r>
              <a:rPr lang="en-US" sz="1200" dirty="0">
                <a:solidFill>
                  <a:srgbClr val="1A1A1A">
                    <a:alpha val="70000"/>
                  </a:srgbClr>
                </a:solidFill>
                <a:latin typeface="Quattrocento Sans" pitchFamily="34" charset="0"/>
                <a:ea typeface="Quattrocento Sans" pitchFamily="34" charset="-122"/>
                <a:cs typeface="Quattrocento Sans" pitchFamily="34" charset="-120"/>
              </a:rPr>
              <a:t>Data-driven recommendations for operational excellence</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FF6B00"/>
                </a:solidFill>
                <a:latin typeface="Liter" pitchFamily="34" charset="0"/>
                <a:ea typeface="Liter" pitchFamily="34" charset="-122"/>
                <a:cs typeface="Liter" pitchFamily="34" charset="-120"/>
              </a:rPr>
              <a:t>01 | EXECUTIVE SUMMARY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003087"/>
                </a:solidFill>
                <a:latin typeface="Liter" pitchFamily="34" charset="0"/>
                <a:ea typeface="Liter" pitchFamily="34" charset="-122"/>
                <a:cs typeface="Liter" pitchFamily="34" charset="-120"/>
              </a:rPr>
              <a:t>Strategic Value Proposition</a:t>
            </a:r>
            <a:endParaRPr lang="en-US" sz="1600" dirty="0"/>
          </a:p>
        </p:txBody>
      </p:sp>
      <p:sp>
        <p:nvSpPr>
          <p:cNvPr id="4" name="Shape 2"/>
          <p:cNvSpPr/>
          <p:nvPr/>
        </p:nvSpPr>
        <p:spPr>
          <a:xfrm>
            <a:off x="317500" y="952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F6B00"/>
          </a:solidFill>
          <a:ln/>
        </p:spPr>
      </p:sp>
      <p:sp>
        <p:nvSpPr>
          <p:cNvPr id="5" name="Shape 3"/>
          <p:cNvSpPr/>
          <p:nvPr/>
        </p:nvSpPr>
        <p:spPr>
          <a:xfrm>
            <a:off x="317500" y="1174750"/>
            <a:ext cx="7643813" cy="1317625"/>
          </a:xfrm>
          <a:custGeom>
            <a:avLst/>
            <a:gdLst/>
            <a:ahLst/>
            <a:cxnLst/>
            <a:rect l="l" t="t" r="r" b="b"/>
            <a:pathLst>
              <a:path w="7643813" h="1317625">
                <a:moveTo>
                  <a:pt x="95251" y="0"/>
                </a:moveTo>
                <a:lnTo>
                  <a:pt x="7548561" y="0"/>
                </a:lnTo>
                <a:cubicBezTo>
                  <a:pt x="7601167" y="0"/>
                  <a:pt x="7643812" y="42645"/>
                  <a:pt x="7643812" y="95251"/>
                </a:cubicBezTo>
                <a:lnTo>
                  <a:pt x="7643813" y="1222374"/>
                </a:lnTo>
                <a:cubicBezTo>
                  <a:pt x="7643812" y="1274980"/>
                  <a:pt x="7601167" y="1317625"/>
                  <a:pt x="7548561" y="1317625"/>
                </a:cubicBezTo>
                <a:lnTo>
                  <a:pt x="95251" y="1317625"/>
                </a:lnTo>
                <a:cubicBezTo>
                  <a:pt x="42645" y="1317625"/>
                  <a:pt x="0" y="1274980"/>
                  <a:pt x="0" y="1222374"/>
                </a:cubicBezTo>
                <a:lnTo>
                  <a:pt x="0" y="95251"/>
                </a:lnTo>
                <a:cubicBezTo>
                  <a:pt x="0" y="42681"/>
                  <a:pt x="42681" y="0"/>
                  <a:pt x="95251" y="0"/>
                </a:cubicBezTo>
                <a:close/>
              </a:path>
            </a:pathLst>
          </a:custGeom>
          <a:gradFill flip="none" rotWithShape="1">
            <a:gsLst>
              <a:gs pos="0">
                <a:srgbClr val="003087"/>
              </a:gs>
              <a:gs pos="100000">
                <a:srgbClr val="003087">
                  <a:alpha val="80000"/>
                </a:srgbClr>
              </a:gs>
            </a:gsLst>
            <a:lin ang="2700000" scaled="1"/>
          </a:gradFill>
          <a:ln/>
        </p:spPr>
      </p:sp>
      <p:sp>
        <p:nvSpPr>
          <p:cNvPr id="6" name="Shape 4"/>
          <p:cNvSpPr/>
          <p:nvPr/>
        </p:nvSpPr>
        <p:spPr>
          <a:xfrm>
            <a:off x="527844" y="1397000"/>
            <a:ext cx="158750" cy="158750"/>
          </a:xfrm>
          <a:custGeom>
            <a:avLst/>
            <a:gdLst/>
            <a:ahLst/>
            <a:cxnLst/>
            <a:rect l="l" t="t" r="r" b="b"/>
            <a:pathLst>
              <a:path w="158750" h="158750">
                <a:moveTo>
                  <a:pt x="138906" y="79375"/>
                </a:moveTo>
                <a:cubicBezTo>
                  <a:pt x="138906" y="46519"/>
                  <a:pt x="112231" y="19844"/>
                  <a:pt x="79375" y="19844"/>
                </a:cubicBezTo>
                <a:cubicBezTo>
                  <a:pt x="46519" y="19844"/>
                  <a:pt x="19844" y="46519"/>
                  <a:pt x="19844" y="79375"/>
                </a:cubicBezTo>
                <a:cubicBezTo>
                  <a:pt x="19844" y="112231"/>
                  <a:pt x="46519" y="138906"/>
                  <a:pt x="79375" y="138906"/>
                </a:cubicBezTo>
                <a:cubicBezTo>
                  <a:pt x="112231" y="138906"/>
                  <a:pt x="138906" y="112231"/>
                  <a:pt x="138906" y="79375"/>
                </a:cubicBezTo>
                <a:close/>
                <a:moveTo>
                  <a:pt x="0" y="79375"/>
                </a:moveTo>
                <a:cubicBezTo>
                  <a:pt x="0" y="35567"/>
                  <a:pt x="35567" y="0"/>
                  <a:pt x="79375" y="0"/>
                </a:cubicBezTo>
                <a:cubicBezTo>
                  <a:pt x="123183" y="0"/>
                  <a:pt x="158750" y="35567"/>
                  <a:pt x="158750" y="79375"/>
                </a:cubicBezTo>
                <a:cubicBezTo>
                  <a:pt x="158750" y="123183"/>
                  <a:pt x="123183" y="158750"/>
                  <a:pt x="79375" y="158750"/>
                </a:cubicBezTo>
                <a:cubicBezTo>
                  <a:pt x="35567" y="158750"/>
                  <a:pt x="0" y="123183"/>
                  <a:pt x="0" y="79375"/>
                </a:cubicBezTo>
                <a:close/>
                <a:moveTo>
                  <a:pt x="79375" y="104180"/>
                </a:moveTo>
                <a:cubicBezTo>
                  <a:pt x="93065" y="104180"/>
                  <a:pt x="104180" y="93065"/>
                  <a:pt x="104180" y="79375"/>
                </a:cubicBezTo>
                <a:cubicBezTo>
                  <a:pt x="104180" y="65685"/>
                  <a:pt x="93065" y="54570"/>
                  <a:pt x="79375" y="54570"/>
                </a:cubicBezTo>
                <a:cubicBezTo>
                  <a:pt x="65685" y="54570"/>
                  <a:pt x="54570" y="65685"/>
                  <a:pt x="54570" y="79375"/>
                </a:cubicBezTo>
                <a:cubicBezTo>
                  <a:pt x="54570" y="93065"/>
                  <a:pt x="65685" y="104180"/>
                  <a:pt x="79375" y="104180"/>
                </a:cubicBezTo>
                <a:close/>
                <a:moveTo>
                  <a:pt x="79375" y="34727"/>
                </a:moveTo>
                <a:cubicBezTo>
                  <a:pt x="104017" y="34727"/>
                  <a:pt x="124023" y="54733"/>
                  <a:pt x="124023" y="79375"/>
                </a:cubicBezTo>
                <a:cubicBezTo>
                  <a:pt x="124023" y="104017"/>
                  <a:pt x="104017" y="124023"/>
                  <a:pt x="79375" y="124023"/>
                </a:cubicBezTo>
                <a:cubicBezTo>
                  <a:pt x="54733" y="124023"/>
                  <a:pt x="34727" y="104017"/>
                  <a:pt x="34727" y="79375"/>
                </a:cubicBezTo>
                <a:cubicBezTo>
                  <a:pt x="34727" y="54733"/>
                  <a:pt x="54733" y="34727"/>
                  <a:pt x="79375" y="34727"/>
                </a:cubicBezTo>
                <a:close/>
                <a:moveTo>
                  <a:pt x="69453" y="79375"/>
                </a:moveTo>
                <a:cubicBezTo>
                  <a:pt x="69453" y="73899"/>
                  <a:pt x="73899" y="69453"/>
                  <a:pt x="79375" y="69453"/>
                </a:cubicBezTo>
                <a:cubicBezTo>
                  <a:pt x="84851" y="69453"/>
                  <a:pt x="89297" y="73899"/>
                  <a:pt x="89297" y="79375"/>
                </a:cubicBezTo>
                <a:cubicBezTo>
                  <a:pt x="89297" y="84851"/>
                  <a:pt x="84851" y="89297"/>
                  <a:pt x="79375" y="89297"/>
                </a:cubicBezTo>
                <a:cubicBezTo>
                  <a:pt x="73899" y="89297"/>
                  <a:pt x="69453" y="84851"/>
                  <a:pt x="69453" y="79375"/>
                </a:cubicBezTo>
                <a:close/>
              </a:path>
            </a:pathLst>
          </a:custGeom>
          <a:solidFill>
            <a:srgbClr val="FF6B00"/>
          </a:solidFill>
          <a:ln/>
        </p:spPr>
      </p:sp>
      <p:sp>
        <p:nvSpPr>
          <p:cNvPr id="7" name="Text 5"/>
          <p:cNvSpPr/>
          <p:nvPr/>
        </p:nvSpPr>
        <p:spPr>
          <a:xfrm>
            <a:off x="706438" y="1365250"/>
            <a:ext cx="7143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Core Intervention</a:t>
            </a:r>
            <a:endParaRPr lang="en-US" sz="1600" dirty="0"/>
          </a:p>
        </p:txBody>
      </p:sp>
      <p:sp>
        <p:nvSpPr>
          <p:cNvPr id="8" name="Text 6"/>
          <p:cNvSpPr/>
          <p:nvPr/>
        </p:nvSpPr>
        <p:spPr>
          <a:xfrm>
            <a:off x="508000" y="1682750"/>
            <a:ext cx="7326313" cy="619125"/>
          </a:xfrm>
          <a:prstGeom prst="rect">
            <a:avLst/>
          </a:prstGeom>
          <a:noFill/>
          <a:ln/>
        </p:spPr>
        <p:txBody>
          <a:bodyPr wrap="square" lIns="0" tIns="0" rIns="0" bIns="0" rtlCol="0" anchor="ctr"/>
          <a:lstStyle/>
          <a:p>
            <a:pPr>
              <a:lnSpc>
                <a:spcPct val="140000"/>
              </a:lnSpc>
            </a:pPr>
            <a:r>
              <a:rPr lang="en-US" sz="1000" dirty="0">
                <a:solidFill>
                  <a:srgbClr val="FFFFFF"/>
                </a:solidFill>
                <a:latin typeface="Quattrocento Sans" pitchFamily="34" charset="0"/>
                <a:ea typeface="Quattrocento Sans" pitchFamily="34" charset="-122"/>
                <a:cs typeface="Quattrocento Sans" pitchFamily="34" charset="-120"/>
              </a:rPr>
              <a:t>This strategic intervention proposes a comprehensive </a:t>
            </a:r>
            <a:r>
              <a:rPr lang="en-US" sz="1000" b="1" dirty="0">
                <a:solidFill>
                  <a:srgbClr val="FFFFFF"/>
                </a:solidFill>
                <a:highlight>
                  <a:srgbClr val="FF6B00">
                    <a:alpha val="100000"/>
                  </a:srgbClr>
                </a:highlight>
                <a:latin typeface="Quattrocento Sans" pitchFamily="34" charset="0"/>
                <a:ea typeface="Quattrocento Sans" pitchFamily="34" charset="-122"/>
                <a:cs typeface="Quattrocento Sans" pitchFamily="34" charset="-120"/>
              </a:rPr>
              <a:t>Digital Operations Transformation </a:t>
            </a:r>
            <a:r>
              <a:rPr lang="en-US" sz="1000" dirty="0">
                <a:solidFill>
                  <a:srgbClr val="FFFFFF"/>
                </a:solidFill>
                <a:latin typeface="Quattrocento Sans" pitchFamily="34" charset="0"/>
                <a:ea typeface="Quattrocento Sans" pitchFamily="34" charset="-122"/>
                <a:cs typeface="Quattrocento Sans" pitchFamily="34" charset="-120"/>
              </a:rPr>
              <a:t>initiative targeting Access Bank's operational efficiency through intelligent automation, process optimization, and performance management excellence. The initiative directly addresses critical gaps in legacy system integration, manual process inefficiencies, and change management challenges.</a:t>
            </a:r>
            <a:endParaRPr lang="en-US" sz="1600" dirty="0"/>
          </a:p>
        </p:txBody>
      </p:sp>
      <p:sp>
        <p:nvSpPr>
          <p:cNvPr id="9" name="Shape 7"/>
          <p:cNvSpPr/>
          <p:nvPr/>
        </p:nvSpPr>
        <p:spPr>
          <a:xfrm>
            <a:off x="333375" y="2651125"/>
            <a:ext cx="3738563" cy="1397000"/>
          </a:xfrm>
          <a:custGeom>
            <a:avLst/>
            <a:gdLst/>
            <a:ahLst/>
            <a:cxnLst/>
            <a:rect l="l" t="t" r="r" b="b"/>
            <a:pathLst>
              <a:path w="3738563" h="1397000">
                <a:moveTo>
                  <a:pt x="31750" y="0"/>
                </a:moveTo>
                <a:lnTo>
                  <a:pt x="3643315" y="0"/>
                </a:lnTo>
                <a:cubicBezTo>
                  <a:pt x="3695919" y="0"/>
                  <a:pt x="3738562" y="42644"/>
                  <a:pt x="3738562" y="95247"/>
                </a:cubicBezTo>
                <a:lnTo>
                  <a:pt x="3738563" y="1301753"/>
                </a:lnTo>
                <a:cubicBezTo>
                  <a:pt x="3738562" y="1354356"/>
                  <a:pt x="3695919" y="1397000"/>
                  <a:pt x="3643315" y="1397000"/>
                </a:cubicBezTo>
                <a:lnTo>
                  <a:pt x="31750" y="1397000"/>
                </a:lnTo>
                <a:cubicBezTo>
                  <a:pt x="14215" y="1397000"/>
                  <a:pt x="0" y="1382785"/>
                  <a:pt x="0" y="1365250"/>
                </a:cubicBezTo>
                <a:lnTo>
                  <a:pt x="0" y="31750"/>
                </a:lnTo>
                <a:cubicBezTo>
                  <a:pt x="0" y="14227"/>
                  <a:pt x="14227" y="0"/>
                  <a:pt x="31750" y="0"/>
                </a:cubicBezTo>
                <a:close/>
              </a:path>
            </a:pathLst>
          </a:custGeom>
          <a:solidFill>
            <a:srgbClr val="FF6B00">
              <a:alpha val="10196"/>
            </a:srgbClr>
          </a:solidFill>
          <a:ln/>
        </p:spPr>
      </p:sp>
      <p:sp>
        <p:nvSpPr>
          <p:cNvPr id="10" name="Shape 8"/>
          <p:cNvSpPr/>
          <p:nvPr/>
        </p:nvSpPr>
        <p:spPr>
          <a:xfrm>
            <a:off x="333375" y="2651125"/>
            <a:ext cx="31750" cy="1397000"/>
          </a:xfrm>
          <a:custGeom>
            <a:avLst/>
            <a:gdLst/>
            <a:ahLst/>
            <a:cxnLst/>
            <a:rect l="l" t="t" r="r" b="b"/>
            <a:pathLst>
              <a:path w="31750" h="1397000">
                <a:moveTo>
                  <a:pt x="31750" y="0"/>
                </a:moveTo>
                <a:lnTo>
                  <a:pt x="31750" y="0"/>
                </a:lnTo>
                <a:lnTo>
                  <a:pt x="31750" y="1397000"/>
                </a:lnTo>
                <a:lnTo>
                  <a:pt x="31750" y="1397000"/>
                </a:lnTo>
                <a:cubicBezTo>
                  <a:pt x="14227" y="1397000"/>
                  <a:pt x="0" y="1382773"/>
                  <a:pt x="0" y="1365250"/>
                </a:cubicBezTo>
                <a:lnTo>
                  <a:pt x="0" y="31750"/>
                </a:lnTo>
                <a:cubicBezTo>
                  <a:pt x="0" y="14227"/>
                  <a:pt x="14227" y="0"/>
                  <a:pt x="31750" y="0"/>
                </a:cubicBezTo>
                <a:close/>
              </a:path>
            </a:pathLst>
          </a:custGeom>
          <a:solidFill>
            <a:srgbClr val="FF6B00"/>
          </a:solidFill>
          <a:ln/>
        </p:spPr>
      </p:sp>
      <p:sp>
        <p:nvSpPr>
          <p:cNvPr id="11" name="Shape 9"/>
          <p:cNvSpPr/>
          <p:nvPr/>
        </p:nvSpPr>
        <p:spPr>
          <a:xfrm>
            <a:off x="531813" y="28257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6B00"/>
          </a:solidFill>
          <a:ln/>
        </p:spPr>
      </p:sp>
      <p:sp>
        <p:nvSpPr>
          <p:cNvPr id="12" name="Text 10"/>
          <p:cNvSpPr/>
          <p:nvPr/>
        </p:nvSpPr>
        <p:spPr>
          <a:xfrm>
            <a:off x="841375" y="2809875"/>
            <a:ext cx="1039812"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Cost Reduction</a:t>
            </a:r>
            <a:endParaRPr lang="en-US" sz="1600" dirty="0"/>
          </a:p>
        </p:txBody>
      </p:sp>
      <p:sp>
        <p:nvSpPr>
          <p:cNvPr id="13" name="Text 11"/>
          <p:cNvSpPr/>
          <p:nvPr/>
        </p:nvSpPr>
        <p:spPr>
          <a:xfrm>
            <a:off x="508000" y="3127375"/>
            <a:ext cx="3548063" cy="317500"/>
          </a:xfrm>
          <a:prstGeom prst="rect">
            <a:avLst/>
          </a:prstGeom>
          <a:noFill/>
          <a:ln/>
        </p:spPr>
        <p:txBody>
          <a:bodyPr wrap="square" lIns="0" tIns="0" rIns="0" bIns="0" rtlCol="0" anchor="ctr"/>
          <a:lstStyle/>
          <a:p>
            <a:pPr>
              <a:lnSpc>
                <a:spcPct val="90000"/>
              </a:lnSpc>
            </a:pPr>
            <a:r>
              <a:rPr lang="en-US" sz="2250" b="1" dirty="0">
                <a:solidFill>
                  <a:srgbClr val="003087"/>
                </a:solidFill>
                <a:latin typeface="Quattrocento Sans" pitchFamily="34" charset="0"/>
                <a:ea typeface="Quattrocento Sans" pitchFamily="34" charset="-122"/>
                <a:cs typeface="Quattrocento Sans" pitchFamily="34" charset="-120"/>
              </a:rPr>
              <a:t>30-40%</a:t>
            </a:r>
            <a:endParaRPr lang="en-US" sz="1600" dirty="0"/>
          </a:p>
        </p:txBody>
      </p:sp>
      <p:sp>
        <p:nvSpPr>
          <p:cNvPr id="14" name="Text 12"/>
          <p:cNvSpPr/>
          <p:nvPr/>
        </p:nvSpPr>
        <p:spPr>
          <a:xfrm>
            <a:off x="508000" y="3508375"/>
            <a:ext cx="3468688" cy="381000"/>
          </a:xfrm>
          <a:prstGeom prst="rect">
            <a:avLst/>
          </a:prstGeom>
          <a:noFill/>
          <a:ln/>
        </p:spPr>
        <p:txBody>
          <a:bodyPr wrap="square" lIns="0" tIns="0" rIns="0" bIns="0" rtlCol="0" anchor="ctr"/>
          <a:lstStyle/>
          <a:p>
            <a:pPr>
              <a:lnSpc>
                <a:spcPct val="130000"/>
              </a:lnSpc>
            </a:pPr>
            <a:r>
              <a:rPr lang="en-US" sz="1000" dirty="0">
                <a:solidFill>
                  <a:srgbClr val="1A1A1A">
                    <a:alpha val="70000"/>
                  </a:srgbClr>
                </a:solidFill>
                <a:latin typeface="Quattrocento Sans" pitchFamily="34" charset="0"/>
                <a:ea typeface="Quattrocento Sans" pitchFamily="34" charset="-122"/>
                <a:cs typeface="Quattrocento Sans" pitchFamily="34" charset="-120"/>
              </a:rPr>
              <a:t>Operational cost savings through RPA implementation in high-volume processes</a:t>
            </a:r>
            <a:endParaRPr lang="en-US" sz="1600" dirty="0"/>
          </a:p>
        </p:txBody>
      </p:sp>
      <p:sp>
        <p:nvSpPr>
          <p:cNvPr id="15" name="Shape 13"/>
          <p:cNvSpPr/>
          <p:nvPr/>
        </p:nvSpPr>
        <p:spPr>
          <a:xfrm>
            <a:off x="4217417" y="2651125"/>
            <a:ext cx="3738563" cy="1397000"/>
          </a:xfrm>
          <a:custGeom>
            <a:avLst/>
            <a:gdLst/>
            <a:ahLst/>
            <a:cxnLst/>
            <a:rect l="l" t="t" r="r" b="b"/>
            <a:pathLst>
              <a:path w="3738563" h="1397000">
                <a:moveTo>
                  <a:pt x="31750" y="0"/>
                </a:moveTo>
                <a:lnTo>
                  <a:pt x="3643315" y="0"/>
                </a:lnTo>
                <a:cubicBezTo>
                  <a:pt x="3695919" y="0"/>
                  <a:pt x="3738562" y="42644"/>
                  <a:pt x="3738562" y="95247"/>
                </a:cubicBezTo>
                <a:lnTo>
                  <a:pt x="3738563" y="1301753"/>
                </a:lnTo>
                <a:cubicBezTo>
                  <a:pt x="3738562" y="1354356"/>
                  <a:pt x="3695919" y="1397000"/>
                  <a:pt x="3643315" y="1397000"/>
                </a:cubicBezTo>
                <a:lnTo>
                  <a:pt x="31750" y="1397000"/>
                </a:lnTo>
                <a:cubicBezTo>
                  <a:pt x="14215" y="1397000"/>
                  <a:pt x="0" y="1382785"/>
                  <a:pt x="0" y="1365250"/>
                </a:cubicBezTo>
                <a:lnTo>
                  <a:pt x="0" y="31750"/>
                </a:lnTo>
                <a:cubicBezTo>
                  <a:pt x="0" y="14227"/>
                  <a:pt x="14227" y="0"/>
                  <a:pt x="31750" y="0"/>
                </a:cubicBezTo>
                <a:close/>
              </a:path>
            </a:pathLst>
          </a:custGeom>
          <a:solidFill>
            <a:srgbClr val="003087">
              <a:alpha val="10196"/>
            </a:srgbClr>
          </a:solidFill>
          <a:ln/>
        </p:spPr>
      </p:sp>
      <p:sp>
        <p:nvSpPr>
          <p:cNvPr id="16" name="Shape 14"/>
          <p:cNvSpPr/>
          <p:nvPr/>
        </p:nvSpPr>
        <p:spPr>
          <a:xfrm>
            <a:off x="4217417" y="2651125"/>
            <a:ext cx="31750" cy="1397000"/>
          </a:xfrm>
          <a:custGeom>
            <a:avLst/>
            <a:gdLst/>
            <a:ahLst/>
            <a:cxnLst/>
            <a:rect l="l" t="t" r="r" b="b"/>
            <a:pathLst>
              <a:path w="31750" h="1397000">
                <a:moveTo>
                  <a:pt x="31750" y="0"/>
                </a:moveTo>
                <a:lnTo>
                  <a:pt x="31750" y="0"/>
                </a:lnTo>
                <a:lnTo>
                  <a:pt x="31750" y="1397000"/>
                </a:lnTo>
                <a:lnTo>
                  <a:pt x="31750" y="1397000"/>
                </a:lnTo>
                <a:cubicBezTo>
                  <a:pt x="14227" y="1397000"/>
                  <a:pt x="0" y="1382773"/>
                  <a:pt x="0" y="1365250"/>
                </a:cubicBezTo>
                <a:lnTo>
                  <a:pt x="0" y="31750"/>
                </a:lnTo>
                <a:cubicBezTo>
                  <a:pt x="0" y="14227"/>
                  <a:pt x="14227" y="0"/>
                  <a:pt x="31750" y="0"/>
                </a:cubicBezTo>
                <a:close/>
              </a:path>
            </a:pathLst>
          </a:custGeom>
          <a:solidFill>
            <a:srgbClr val="003087"/>
          </a:solidFill>
          <a:ln/>
        </p:spPr>
      </p:sp>
      <p:sp>
        <p:nvSpPr>
          <p:cNvPr id="17" name="Shape 15"/>
          <p:cNvSpPr/>
          <p:nvPr/>
        </p:nvSpPr>
        <p:spPr>
          <a:xfrm>
            <a:off x="4415854" y="282575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8" y="53764"/>
                  <a:pt x="134987" y="51569"/>
                </a:cubicBezTo>
                <a:cubicBezTo>
                  <a:pt x="130597" y="49374"/>
                  <a:pt x="125202" y="51160"/>
                  <a:pt x="123006" y="55550"/>
                </a:cubicBezTo>
                <a:lnTo>
                  <a:pt x="97148" y="107231"/>
                </a:lnTo>
                <a:cubicBezTo>
                  <a:pt x="96515" y="107193"/>
                  <a:pt x="95883" y="107156"/>
                  <a:pt x="95250" y="107156"/>
                </a:cubicBezTo>
                <a:cubicBezTo>
                  <a:pt x="82116" y="107156"/>
                  <a:pt x="71438" y="117835"/>
                  <a:pt x="71438" y="130969"/>
                </a:cubicBezTo>
                <a:cubicBezTo>
                  <a:pt x="71438" y="144103"/>
                  <a:pt x="82116" y="154781"/>
                  <a:pt x="95250" y="154781"/>
                </a:cubicBezTo>
                <a:close/>
                <a:moveTo>
                  <a:pt x="65484" y="53578"/>
                </a:moveTo>
                <a:cubicBezTo>
                  <a:pt x="65484" y="47007"/>
                  <a:pt x="60149" y="41672"/>
                  <a:pt x="53578" y="41672"/>
                </a:cubicBezTo>
                <a:cubicBezTo>
                  <a:pt x="47007" y="41672"/>
                  <a:pt x="41672" y="47007"/>
                  <a:pt x="41672" y="53578"/>
                </a:cubicBezTo>
                <a:cubicBezTo>
                  <a:pt x="41672" y="60149"/>
                  <a:pt x="47007" y="65484"/>
                  <a:pt x="53578" y="65484"/>
                </a:cubicBezTo>
                <a:cubicBezTo>
                  <a:pt x="60149" y="65484"/>
                  <a:pt x="65484" y="60149"/>
                  <a:pt x="65484" y="53578"/>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003087"/>
          </a:solidFill>
          <a:ln/>
        </p:spPr>
      </p:sp>
      <p:sp>
        <p:nvSpPr>
          <p:cNvPr id="18" name="Text 16"/>
          <p:cNvSpPr/>
          <p:nvPr/>
        </p:nvSpPr>
        <p:spPr>
          <a:xfrm>
            <a:off x="4725417" y="2809875"/>
            <a:ext cx="1150938"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Efficiency Target</a:t>
            </a:r>
            <a:endParaRPr lang="en-US" sz="1600" dirty="0"/>
          </a:p>
        </p:txBody>
      </p:sp>
      <p:sp>
        <p:nvSpPr>
          <p:cNvPr id="19" name="Text 17"/>
          <p:cNvSpPr/>
          <p:nvPr/>
        </p:nvSpPr>
        <p:spPr>
          <a:xfrm>
            <a:off x="4392042" y="3127375"/>
            <a:ext cx="3548063" cy="317500"/>
          </a:xfrm>
          <a:prstGeom prst="rect">
            <a:avLst/>
          </a:prstGeom>
          <a:noFill/>
          <a:ln/>
        </p:spPr>
        <p:txBody>
          <a:bodyPr wrap="square" lIns="0" tIns="0" rIns="0" bIns="0" rtlCol="0" anchor="ctr"/>
          <a:lstStyle/>
          <a:p>
            <a:pPr>
              <a:lnSpc>
                <a:spcPct val="90000"/>
              </a:lnSpc>
            </a:pPr>
            <a:r>
              <a:rPr lang="en-US" sz="2250" b="1" dirty="0">
                <a:solidFill>
                  <a:srgbClr val="FF6B00"/>
                </a:solidFill>
                <a:latin typeface="Quattrocento Sans" pitchFamily="34" charset="0"/>
                <a:ea typeface="Quattrocento Sans" pitchFamily="34" charset="-122"/>
                <a:cs typeface="Quattrocento Sans" pitchFamily="34" charset="-120"/>
              </a:rPr>
              <a:t>50-55%</a:t>
            </a:r>
            <a:endParaRPr lang="en-US" sz="1600" dirty="0"/>
          </a:p>
        </p:txBody>
      </p:sp>
      <p:sp>
        <p:nvSpPr>
          <p:cNvPr id="20" name="Text 18"/>
          <p:cNvSpPr/>
          <p:nvPr/>
        </p:nvSpPr>
        <p:spPr>
          <a:xfrm>
            <a:off x="4392042" y="3508375"/>
            <a:ext cx="3468688" cy="381000"/>
          </a:xfrm>
          <a:prstGeom prst="rect">
            <a:avLst/>
          </a:prstGeom>
          <a:noFill/>
          <a:ln/>
        </p:spPr>
        <p:txBody>
          <a:bodyPr wrap="square" lIns="0" tIns="0" rIns="0" bIns="0" rtlCol="0" anchor="ctr"/>
          <a:lstStyle/>
          <a:p>
            <a:pPr>
              <a:lnSpc>
                <a:spcPct val="130000"/>
              </a:lnSpc>
            </a:pPr>
            <a:r>
              <a:rPr lang="en-US" sz="1000" dirty="0">
                <a:solidFill>
                  <a:srgbClr val="1A1A1A">
                    <a:alpha val="70000"/>
                  </a:srgbClr>
                </a:solidFill>
                <a:latin typeface="Quattrocento Sans" pitchFamily="34" charset="0"/>
                <a:ea typeface="Quattrocento Sans" pitchFamily="34" charset="-122"/>
                <a:cs typeface="Quattrocento Sans" pitchFamily="34" charset="-120"/>
              </a:rPr>
              <a:t>Cost-to-Income Ratio improvement to industry benchmark levels</a:t>
            </a:r>
            <a:endParaRPr lang="en-US" sz="1600" dirty="0"/>
          </a:p>
        </p:txBody>
      </p:sp>
      <p:sp>
        <p:nvSpPr>
          <p:cNvPr id="21" name="Shape 19"/>
          <p:cNvSpPr/>
          <p:nvPr/>
        </p:nvSpPr>
        <p:spPr>
          <a:xfrm>
            <a:off x="317500" y="4206875"/>
            <a:ext cx="7643813" cy="1047750"/>
          </a:xfrm>
          <a:custGeom>
            <a:avLst/>
            <a:gdLst/>
            <a:ahLst/>
            <a:cxnLst/>
            <a:rect l="l" t="t" r="r" b="b"/>
            <a:pathLst>
              <a:path w="7643813" h="1047750">
                <a:moveTo>
                  <a:pt x="95251" y="0"/>
                </a:moveTo>
                <a:lnTo>
                  <a:pt x="7548562" y="0"/>
                </a:lnTo>
                <a:cubicBezTo>
                  <a:pt x="7601167" y="0"/>
                  <a:pt x="7643813" y="42645"/>
                  <a:pt x="7643813" y="95251"/>
                </a:cubicBezTo>
                <a:lnTo>
                  <a:pt x="7643813" y="952499"/>
                </a:lnTo>
                <a:cubicBezTo>
                  <a:pt x="7643813" y="1005105"/>
                  <a:pt x="7601167" y="1047750"/>
                  <a:pt x="7548562" y="1047750"/>
                </a:cubicBezTo>
                <a:lnTo>
                  <a:pt x="95251" y="1047750"/>
                </a:lnTo>
                <a:cubicBezTo>
                  <a:pt x="42645" y="1047750"/>
                  <a:pt x="0" y="1005105"/>
                  <a:pt x="0" y="952499"/>
                </a:cubicBezTo>
                <a:lnTo>
                  <a:pt x="0" y="95251"/>
                </a:lnTo>
                <a:cubicBezTo>
                  <a:pt x="0" y="42681"/>
                  <a:pt x="42681" y="0"/>
                  <a:pt x="95251" y="0"/>
                </a:cubicBezTo>
                <a:close/>
              </a:path>
            </a:pathLst>
          </a:custGeom>
          <a:solidFill>
            <a:srgbClr val="F9FAFB"/>
          </a:solidFill>
          <a:ln/>
        </p:spPr>
      </p:sp>
      <p:sp>
        <p:nvSpPr>
          <p:cNvPr id="22" name="Text 20"/>
          <p:cNvSpPr/>
          <p:nvPr/>
        </p:nvSpPr>
        <p:spPr>
          <a:xfrm>
            <a:off x="476250" y="4365625"/>
            <a:ext cx="7397750"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Strategic Alignment</a:t>
            </a:r>
            <a:endParaRPr lang="en-US" sz="1600" dirty="0"/>
          </a:p>
        </p:txBody>
      </p:sp>
      <p:sp>
        <p:nvSpPr>
          <p:cNvPr id="23" name="Text 21"/>
          <p:cNvSpPr/>
          <p:nvPr/>
        </p:nvSpPr>
        <p:spPr>
          <a:xfrm>
            <a:off x="476250" y="4683125"/>
            <a:ext cx="7389812" cy="41275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This initiative directly supports Access Bank's </a:t>
            </a:r>
            <a:r>
              <a:rPr lang="en-US" sz="1000" b="1" dirty="0">
                <a:solidFill>
                  <a:srgbClr val="003087"/>
                </a:solidFill>
                <a:latin typeface="Quattrocento Sans" pitchFamily="34" charset="0"/>
                <a:ea typeface="Quattrocento Sans" pitchFamily="34" charset="-122"/>
                <a:cs typeface="Quattrocento Sans" pitchFamily="34" charset="-120"/>
              </a:rPr>
              <a:t>2025-2027 Consolidation Phase</a:t>
            </a:r>
            <a:r>
              <a:rPr lang="en-US" sz="1000" dirty="0">
                <a:solidFill>
                  <a:srgbClr val="1A1A1A">
                    <a:alpha val="80000"/>
                  </a:srgbClr>
                </a:solidFill>
                <a:latin typeface="Quattrocento Sans" pitchFamily="34" charset="0"/>
                <a:ea typeface="Quattrocento Sans" pitchFamily="34" charset="-122"/>
                <a:cs typeface="Quattrocento Sans" pitchFamily="34" charset="-120"/>
              </a:rPr>
              <a:t> objectives, leveraging technology as a growth platform while optimizing operations for enhanced shareholder value creation and positioning the bank as Africa's Gateway to the World.</a:t>
            </a:r>
            <a:endParaRPr lang="en-US" sz="1600" dirty="0"/>
          </a:p>
        </p:txBody>
      </p:sp>
      <p:sp>
        <p:nvSpPr>
          <p:cNvPr id="24" name="Shape 22"/>
          <p:cNvSpPr/>
          <p:nvPr/>
        </p:nvSpPr>
        <p:spPr>
          <a:xfrm>
            <a:off x="8149146" y="1174750"/>
            <a:ext cx="3722688" cy="2413000"/>
          </a:xfrm>
          <a:custGeom>
            <a:avLst/>
            <a:gdLst/>
            <a:ahLst/>
            <a:cxnLst/>
            <a:rect l="l" t="t" r="r" b="b"/>
            <a:pathLst>
              <a:path w="3722688" h="2413000">
                <a:moveTo>
                  <a:pt x="95241" y="0"/>
                </a:moveTo>
                <a:lnTo>
                  <a:pt x="3627446" y="0"/>
                </a:lnTo>
                <a:cubicBezTo>
                  <a:pt x="3680047" y="0"/>
                  <a:pt x="3722688" y="42641"/>
                  <a:pt x="3722688" y="95241"/>
                </a:cubicBezTo>
                <a:lnTo>
                  <a:pt x="3722688" y="2317759"/>
                </a:lnTo>
                <a:cubicBezTo>
                  <a:pt x="3722688" y="2370359"/>
                  <a:pt x="3680047" y="2413000"/>
                  <a:pt x="3627446" y="2413000"/>
                </a:cubicBezTo>
                <a:lnTo>
                  <a:pt x="95241" y="2413000"/>
                </a:lnTo>
                <a:cubicBezTo>
                  <a:pt x="42641" y="2413000"/>
                  <a:pt x="0" y="2370359"/>
                  <a:pt x="0" y="2317759"/>
                </a:cubicBezTo>
                <a:lnTo>
                  <a:pt x="0" y="95241"/>
                </a:lnTo>
                <a:cubicBezTo>
                  <a:pt x="0" y="42641"/>
                  <a:pt x="42641" y="0"/>
                  <a:pt x="95241" y="0"/>
                </a:cubicBezTo>
                <a:close/>
              </a:path>
            </a:pathLst>
          </a:custGeom>
          <a:gradFill flip="none" rotWithShape="1">
            <a:gsLst>
              <a:gs pos="0">
                <a:srgbClr val="FF6B00"/>
              </a:gs>
              <a:gs pos="100000">
                <a:srgbClr val="FF6B00">
                  <a:alpha val="80000"/>
                </a:srgbClr>
              </a:gs>
            </a:gsLst>
            <a:lin ang="2700000" scaled="1"/>
          </a:gradFill>
          <a:ln/>
        </p:spPr>
      </p:sp>
      <p:sp>
        <p:nvSpPr>
          <p:cNvPr id="25" name="Text 23"/>
          <p:cNvSpPr/>
          <p:nvPr/>
        </p:nvSpPr>
        <p:spPr>
          <a:xfrm>
            <a:off x="8339646" y="1365250"/>
            <a:ext cx="3421063"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Investment Overview</a:t>
            </a:r>
            <a:endParaRPr lang="en-US" sz="1600" dirty="0"/>
          </a:p>
        </p:txBody>
      </p:sp>
      <p:sp>
        <p:nvSpPr>
          <p:cNvPr id="26" name="Text 24"/>
          <p:cNvSpPr/>
          <p:nvPr/>
        </p:nvSpPr>
        <p:spPr>
          <a:xfrm>
            <a:off x="8339646" y="1714500"/>
            <a:ext cx="33972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Initial Investment</a:t>
            </a:r>
            <a:endParaRPr lang="en-US" sz="1600" dirty="0"/>
          </a:p>
        </p:txBody>
      </p:sp>
      <p:sp>
        <p:nvSpPr>
          <p:cNvPr id="27" name="Text 25"/>
          <p:cNvSpPr/>
          <p:nvPr/>
        </p:nvSpPr>
        <p:spPr>
          <a:xfrm>
            <a:off x="8339646" y="1905000"/>
            <a:ext cx="3460750"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Quattrocento Sans" pitchFamily="34" charset="0"/>
                <a:ea typeface="Quattrocento Sans" pitchFamily="34" charset="-122"/>
                <a:cs typeface="Quattrocento Sans" pitchFamily="34" charset="-120"/>
              </a:rPr>
              <a:t>$2.5M - $3.5M</a:t>
            </a:r>
            <a:endParaRPr lang="en-US" sz="1600" dirty="0"/>
          </a:p>
        </p:txBody>
      </p:sp>
      <p:sp>
        <p:nvSpPr>
          <p:cNvPr id="28" name="Text 26"/>
          <p:cNvSpPr/>
          <p:nvPr/>
        </p:nvSpPr>
        <p:spPr>
          <a:xfrm>
            <a:off x="8339646" y="2317750"/>
            <a:ext cx="33972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ROI Timeline</a:t>
            </a:r>
            <a:endParaRPr lang="en-US" sz="1600" dirty="0"/>
          </a:p>
        </p:txBody>
      </p:sp>
      <p:sp>
        <p:nvSpPr>
          <p:cNvPr id="29" name="Text 27"/>
          <p:cNvSpPr/>
          <p:nvPr/>
        </p:nvSpPr>
        <p:spPr>
          <a:xfrm>
            <a:off x="8339646" y="2508250"/>
            <a:ext cx="3460750"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Quattrocento Sans" pitchFamily="34" charset="0"/>
                <a:ea typeface="Quattrocento Sans" pitchFamily="34" charset="-122"/>
                <a:cs typeface="Quattrocento Sans" pitchFamily="34" charset="-120"/>
              </a:rPr>
              <a:t>18-24 Months</a:t>
            </a:r>
            <a:endParaRPr lang="en-US" sz="1600" dirty="0"/>
          </a:p>
        </p:txBody>
      </p:sp>
      <p:sp>
        <p:nvSpPr>
          <p:cNvPr id="30" name="Text 28"/>
          <p:cNvSpPr/>
          <p:nvPr/>
        </p:nvSpPr>
        <p:spPr>
          <a:xfrm>
            <a:off x="8339646" y="2921000"/>
            <a:ext cx="33972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Implementation</a:t>
            </a:r>
            <a:endParaRPr lang="en-US" sz="1600" dirty="0"/>
          </a:p>
        </p:txBody>
      </p:sp>
      <p:sp>
        <p:nvSpPr>
          <p:cNvPr id="31" name="Text 29"/>
          <p:cNvSpPr/>
          <p:nvPr/>
        </p:nvSpPr>
        <p:spPr>
          <a:xfrm>
            <a:off x="8339646" y="3111500"/>
            <a:ext cx="3460750"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Quattrocento Sans" pitchFamily="34" charset="0"/>
                <a:ea typeface="Quattrocento Sans" pitchFamily="34" charset="-122"/>
                <a:cs typeface="Quattrocento Sans" pitchFamily="34" charset="-120"/>
              </a:rPr>
              <a:t>18 Months</a:t>
            </a:r>
            <a:endParaRPr lang="en-US" sz="1600" dirty="0"/>
          </a:p>
        </p:txBody>
      </p:sp>
      <p:sp>
        <p:nvSpPr>
          <p:cNvPr id="32" name="Shape 30"/>
          <p:cNvSpPr/>
          <p:nvPr/>
        </p:nvSpPr>
        <p:spPr>
          <a:xfrm>
            <a:off x="8157083" y="3754438"/>
            <a:ext cx="3706813" cy="1476375"/>
          </a:xfrm>
          <a:custGeom>
            <a:avLst/>
            <a:gdLst/>
            <a:ahLst/>
            <a:cxnLst/>
            <a:rect l="l" t="t" r="r" b="b"/>
            <a:pathLst>
              <a:path w="3706813" h="1476375">
                <a:moveTo>
                  <a:pt x="95256" y="0"/>
                </a:moveTo>
                <a:lnTo>
                  <a:pt x="3611557" y="0"/>
                </a:lnTo>
                <a:cubicBezTo>
                  <a:pt x="3664130" y="0"/>
                  <a:pt x="3706813" y="42683"/>
                  <a:pt x="3706813" y="95256"/>
                </a:cubicBezTo>
                <a:lnTo>
                  <a:pt x="3706813" y="1381119"/>
                </a:lnTo>
                <a:cubicBezTo>
                  <a:pt x="3706813" y="1433728"/>
                  <a:pt x="3664165" y="1476375"/>
                  <a:pt x="3611557" y="1476375"/>
                </a:cubicBezTo>
                <a:lnTo>
                  <a:pt x="95256" y="1476375"/>
                </a:lnTo>
                <a:cubicBezTo>
                  <a:pt x="42683" y="1476375"/>
                  <a:pt x="0" y="1433692"/>
                  <a:pt x="0" y="1381119"/>
                </a:cubicBezTo>
                <a:lnTo>
                  <a:pt x="0" y="95256"/>
                </a:lnTo>
                <a:cubicBezTo>
                  <a:pt x="0" y="42683"/>
                  <a:pt x="42683" y="0"/>
                  <a:pt x="95256" y="0"/>
                </a:cubicBezTo>
                <a:close/>
              </a:path>
            </a:pathLst>
          </a:custGeom>
          <a:solidFill>
            <a:srgbClr val="D4AF37">
              <a:alpha val="10196"/>
            </a:srgbClr>
          </a:solidFill>
          <a:ln w="25400">
            <a:solidFill>
              <a:srgbClr val="D4AF37"/>
            </a:solidFill>
            <a:prstDash val="solid"/>
          </a:ln>
        </p:spPr>
      </p:sp>
      <p:sp>
        <p:nvSpPr>
          <p:cNvPr id="33" name="Shape 31"/>
          <p:cNvSpPr/>
          <p:nvPr/>
        </p:nvSpPr>
        <p:spPr>
          <a:xfrm>
            <a:off x="8334685" y="3960813"/>
            <a:ext cx="160734" cy="142875"/>
          </a:xfrm>
          <a:custGeom>
            <a:avLst/>
            <a:gdLst/>
            <a:ahLst/>
            <a:cxnLst/>
            <a:rect l="l" t="t" r="r" b="b"/>
            <a:pathLst>
              <a:path w="160734" h="142875">
                <a:moveTo>
                  <a:pt x="13395" y="54639"/>
                </a:moveTo>
                <a:lnTo>
                  <a:pt x="71772" y="78665"/>
                </a:lnTo>
                <a:cubicBezTo>
                  <a:pt x="74507" y="79781"/>
                  <a:pt x="77409" y="80367"/>
                  <a:pt x="80367" y="80367"/>
                </a:cubicBezTo>
                <a:cubicBezTo>
                  <a:pt x="83325" y="80367"/>
                  <a:pt x="86227" y="79781"/>
                  <a:pt x="88962" y="78665"/>
                </a:cubicBezTo>
                <a:lnTo>
                  <a:pt x="156604" y="50816"/>
                </a:lnTo>
                <a:cubicBezTo>
                  <a:pt x="159116" y="49783"/>
                  <a:pt x="160734" y="47355"/>
                  <a:pt x="160734" y="44648"/>
                </a:cubicBezTo>
                <a:cubicBezTo>
                  <a:pt x="160734" y="41942"/>
                  <a:pt x="159116" y="39514"/>
                  <a:pt x="156604" y="38481"/>
                </a:cubicBezTo>
                <a:lnTo>
                  <a:pt x="88962" y="10632"/>
                </a:lnTo>
                <a:cubicBezTo>
                  <a:pt x="86227" y="9516"/>
                  <a:pt x="83325" y="8930"/>
                  <a:pt x="80367" y="8930"/>
                </a:cubicBezTo>
                <a:cubicBezTo>
                  <a:pt x="77409" y="8930"/>
                  <a:pt x="74507" y="9516"/>
                  <a:pt x="71772" y="10632"/>
                </a:cubicBezTo>
                <a:lnTo>
                  <a:pt x="4130" y="38481"/>
                </a:lnTo>
                <a:cubicBezTo>
                  <a:pt x="1619" y="39514"/>
                  <a:pt x="0" y="41942"/>
                  <a:pt x="0" y="44648"/>
                </a:cubicBezTo>
                <a:lnTo>
                  <a:pt x="0" y="127248"/>
                </a:lnTo>
                <a:cubicBezTo>
                  <a:pt x="0" y="130959"/>
                  <a:pt x="2986" y="133945"/>
                  <a:pt x="6697" y="133945"/>
                </a:cubicBezTo>
                <a:cubicBezTo>
                  <a:pt x="10409" y="133945"/>
                  <a:pt x="13395" y="130959"/>
                  <a:pt x="13395" y="127248"/>
                </a:cubicBezTo>
                <a:lnTo>
                  <a:pt x="13395" y="54639"/>
                </a:lnTo>
                <a:close/>
                <a:moveTo>
                  <a:pt x="26789" y="74647"/>
                </a:moveTo>
                <a:lnTo>
                  <a:pt x="26789" y="107156"/>
                </a:lnTo>
                <a:cubicBezTo>
                  <a:pt x="26789" y="121946"/>
                  <a:pt x="50788" y="133945"/>
                  <a:pt x="80367" y="133945"/>
                </a:cubicBezTo>
                <a:cubicBezTo>
                  <a:pt x="109947" y="133945"/>
                  <a:pt x="133945" y="121946"/>
                  <a:pt x="133945" y="107156"/>
                </a:cubicBezTo>
                <a:lnTo>
                  <a:pt x="133945" y="74619"/>
                </a:lnTo>
                <a:lnTo>
                  <a:pt x="94069" y="91055"/>
                </a:lnTo>
                <a:cubicBezTo>
                  <a:pt x="89715" y="92841"/>
                  <a:pt x="85083" y="93762"/>
                  <a:pt x="80367" y="93762"/>
                </a:cubicBezTo>
                <a:cubicBezTo>
                  <a:pt x="75651" y="93762"/>
                  <a:pt x="71019" y="92841"/>
                  <a:pt x="66666" y="91055"/>
                </a:cubicBezTo>
                <a:lnTo>
                  <a:pt x="26789" y="74619"/>
                </a:lnTo>
                <a:close/>
              </a:path>
            </a:pathLst>
          </a:custGeom>
          <a:solidFill>
            <a:srgbClr val="D4AF37"/>
          </a:solidFill>
          <a:ln/>
        </p:spPr>
      </p:sp>
      <p:sp>
        <p:nvSpPr>
          <p:cNvPr id="34" name="Text 32"/>
          <p:cNvSpPr/>
          <p:nvPr/>
        </p:nvSpPr>
        <p:spPr>
          <a:xfrm>
            <a:off x="8506333" y="3921125"/>
            <a:ext cx="326231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Academic Foundation</a:t>
            </a:r>
            <a:endParaRPr lang="en-US" sz="1600" dirty="0"/>
          </a:p>
        </p:txBody>
      </p:sp>
      <p:sp>
        <p:nvSpPr>
          <p:cNvPr id="35" name="Text 33"/>
          <p:cNvSpPr/>
          <p:nvPr/>
        </p:nvSpPr>
        <p:spPr>
          <a:xfrm>
            <a:off x="8323771" y="4238625"/>
            <a:ext cx="3436938" cy="82550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This intervention applies </a:t>
            </a:r>
            <a:r>
              <a:rPr lang="en-US" sz="1000" b="1" dirty="0">
                <a:solidFill>
                  <a:srgbClr val="1A1A1A">
                    <a:alpha val="80000"/>
                  </a:srgbClr>
                </a:solidFill>
                <a:latin typeface="Quattrocento Sans" pitchFamily="34" charset="0"/>
                <a:ea typeface="Quattrocento Sans" pitchFamily="34" charset="-122"/>
                <a:cs typeface="Quattrocento Sans" pitchFamily="34" charset="-120"/>
              </a:rPr>
              <a:t>Rome Business School's Project Management</a:t>
            </a:r>
            <a:r>
              <a:rPr lang="en-US" sz="1000" dirty="0">
                <a:solidFill>
                  <a:srgbClr val="1A1A1A">
                    <a:alpha val="80000"/>
                  </a:srgbClr>
                </a:solidFill>
                <a:latin typeface="Quattrocento Sans" pitchFamily="34" charset="0"/>
                <a:ea typeface="Quattrocento Sans" pitchFamily="34" charset="-122"/>
                <a:cs typeface="Quattrocento Sans" pitchFamily="34" charset="-120"/>
              </a:rPr>
              <a:t> competencies including stakeholder management, risk mitigation, Agile/Waterfall hybrid methodologies, and change management frameworks.</a:t>
            </a:r>
            <a:endParaRPr lang="en-US" sz="1600" dirty="0"/>
          </a:p>
        </p:txBody>
      </p:sp>
      <p:sp>
        <p:nvSpPr>
          <p:cNvPr id="36" name="Shape 34"/>
          <p:cNvSpPr/>
          <p:nvPr/>
        </p:nvSpPr>
        <p:spPr>
          <a:xfrm>
            <a:off x="8149146" y="5270500"/>
            <a:ext cx="3722688" cy="1587500"/>
          </a:xfrm>
          <a:custGeom>
            <a:avLst/>
            <a:gdLst/>
            <a:ahLst/>
            <a:cxnLst/>
            <a:rect l="l" t="t" r="r" b="b"/>
            <a:pathLst>
              <a:path w="3722688" h="1587500">
                <a:moveTo>
                  <a:pt x="95250" y="0"/>
                </a:moveTo>
                <a:lnTo>
                  <a:pt x="3627438" y="0"/>
                </a:lnTo>
                <a:cubicBezTo>
                  <a:pt x="3680007" y="0"/>
                  <a:pt x="3722688" y="42680"/>
                  <a:pt x="3722688" y="95250"/>
                </a:cubicBezTo>
                <a:lnTo>
                  <a:pt x="3722688" y="1492250"/>
                </a:lnTo>
                <a:cubicBezTo>
                  <a:pt x="3722688" y="1544820"/>
                  <a:pt x="3680007" y="1587500"/>
                  <a:pt x="3627438" y="1587500"/>
                </a:cubicBezTo>
                <a:lnTo>
                  <a:pt x="95250" y="1587500"/>
                </a:lnTo>
                <a:cubicBezTo>
                  <a:pt x="42680" y="1587500"/>
                  <a:pt x="0" y="1544820"/>
                  <a:pt x="0" y="1492250"/>
                </a:cubicBezTo>
                <a:lnTo>
                  <a:pt x="0" y="95250"/>
                </a:lnTo>
                <a:cubicBezTo>
                  <a:pt x="0" y="42680"/>
                  <a:pt x="42680" y="0"/>
                  <a:pt x="95250" y="0"/>
                </a:cubicBezTo>
                <a:close/>
              </a:path>
            </a:pathLst>
          </a:custGeom>
          <a:solidFill>
            <a:srgbClr val="F9FAFB"/>
          </a:solidFill>
          <a:ln/>
        </p:spPr>
      </p:sp>
      <p:sp>
        <p:nvSpPr>
          <p:cNvPr id="37" name="Text 35"/>
          <p:cNvSpPr/>
          <p:nvPr/>
        </p:nvSpPr>
        <p:spPr>
          <a:xfrm>
            <a:off x="8307896" y="5556250"/>
            <a:ext cx="3476625"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Key Success Factors</a:t>
            </a:r>
            <a:endParaRPr lang="en-US" sz="1600" dirty="0"/>
          </a:p>
        </p:txBody>
      </p:sp>
      <p:sp>
        <p:nvSpPr>
          <p:cNvPr id="38" name="Shape 36"/>
          <p:cNvSpPr/>
          <p:nvPr/>
        </p:nvSpPr>
        <p:spPr>
          <a:xfrm>
            <a:off x="8323771" y="59055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FF6B00"/>
          </a:solidFill>
          <a:ln/>
        </p:spPr>
      </p:sp>
      <p:sp>
        <p:nvSpPr>
          <p:cNvPr id="39" name="Text 37"/>
          <p:cNvSpPr/>
          <p:nvPr/>
        </p:nvSpPr>
        <p:spPr>
          <a:xfrm>
            <a:off x="8530146" y="5873750"/>
            <a:ext cx="2206625"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Executive sponsorship and governance</a:t>
            </a:r>
            <a:endParaRPr lang="en-US" sz="1600" dirty="0"/>
          </a:p>
        </p:txBody>
      </p:sp>
      <p:sp>
        <p:nvSpPr>
          <p:cNvPr id="40" name="Shape 38"/>
          <p:cNvSpPr/>
          <p:nvPr/>
        </p:nvSpPr>
        <p:spPr>
          <a:xfrm>
            <a:off x="8323771" y="61595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FF6B00"/>
          </a:solidFill>
          <a:ln/>
        </p:spPr>
      </p:sp>
      <p:sp>
        <p:nvSpPr>
          <p:cNvPr id="41" name="Text 39"/>
          <p:cNvSpPr/>
          <p:nvPr/>
        </p:nvSpPr>
        <p:spPr>
          <a:xfrm>
            <a:off x="8530146" y="6127750"/>
            <a:ext cx="1730375"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Cross-functional collaboration</a:t>
            </a:r>
            <a:endParaRPr lang="en-US" sz="1600" dirty="0"/>
          </a:p>
        </p:txBody>
      </p:sp>
      <p:sp>
        <p:nvSpPr>
          <p:cNvPr id="42" name="Shape 40"/>
          <p:cNvSpPr/>
          <p:nvPr/>
        </p:nvSpPr>
        <p:spPr>
          <a:xfrm>
            <a:off x="8323771" y="64135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FF6B00"/>
          </a:solidFill>
          <a:ln/>
        </p:spPr>
      </p:sp>
      <p:sp>
        <p:nvSpPr>
          <p:cNvPr id="43" name="Text 41"/>
          <p:cNvSpPr/>
          <p:nvPr/>
        </p:nvSpPr>
        <p:spPr>
          <a:xfrm>
            <a:off x="8530146" y="6381750"/>
            <a:ext cx="1817688"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Structured change management</a:t>
            </a:r>
            <a:endParaRPr lang="en-US" sz="1600" dirty="0"/>
          </a:p>
        </p:txBody>
      </p:sp>
      <p:sp>
        <p:nvSpPr>
          <p:cNvPr id="44" name="Shape 42"/>
          <p:cNvSpPr/>
          <p:nvPr/>
        </p:nvSpPr>
        <p:spPr>
          <a:xfrm>
            <a:off x="8323771" y="66675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FF6B00"/>
          </a:solidFill>
          <a:ln/>
        </p:spPr>
      </p:sp>
      <p:sp>
        <p:nvSpPr>
          <p:cNvPr id="45" name="Text 43"/>
          <p:cNvSpPr/>
          <p:nvPr/>
        </p:nvSpPr>
        <p:spPr>
          <a:xfrm>
            <a:off x="8530146" y="6635750"/>
            <a:ext cx="2055813"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Continuous performance monitoring</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0977" y="360977"/>
            <a:ext cx="11533217" cy="180489"/>
          </a:xfrm>
          <a:prstGeom prst="rect">
            <a:avLst/>
          </a:prstGeom>
          <a:noFill/>
          <a:ln/>
        </p:spPr>
        <p:txBody>
          <a:bodyPr wrap="square" lIns="0" tIns="0" rIns="0" bIns="0" rtlCol="0" anchor="ctr"/>
          <a:lstStyle/>
          <a:p>
            <a:pPr>
              <a:lnSpc>
                <a:spcPct val="120000"/>
              </a:lnSpc>
            </a:pPr>
            <a:r>
              <a:rPr lang="en-US" sz="995" b="1" kern="0" spc="50" dirty="0">
                <a:solidFill>
                  <a:srgbClr val="FF6B00"/>
                </a:solidFill>
                <a:latin typeface="Liter" pitchFamily="34" charset="0"/>
                <a:ea typeface="Liter" pitchFamily="34" charset="-122"/>
                <a:cs typeface="Liter" pitchFamily="34" charset="-120"/>
              </a:rPr>
              <a:t>STRATEGIC CONTEXT</a:t>
            </a:r>
            <a:endParaRPr lang="en-US" sz="1600" dirty="0"/>
          </a:p>
        </p:txBody>
      </p:sp>
      <p:sp>
        <p:nvSpPr>
          <p:cNvPr id="3" name="Text 1"/>
          <p:cNvSpPr/>
          <p:nvPr/>
        </p:nvSpPr>
        <p:spPr>
          <a:xfrm>
            <a:off x="360977" y="613661"/>
            <a:ext cx="11632486" cy="360977"/>
          </a:xfrm>
          <a:prstGeom prst="rect">
            <a:avLst/>
          </a:prstGeom>
          <a:noFill/>
          <a:ln/>
        </p:spPr>
        <p:txBody>
          <a:bodyPr wrap="square" lIns="0" tIns="0" rIns="0" bIns="0" rtlCol="0" anchor="ctr"/>
          <a:lstStyle/>
          <a:p>
            <a:pPr>
              <a:lnSpc>
                <a:spcPct val="90000"/>
              </a:lnSpc>
            </a:pPr>
            <a:r>
              <a:rPr lang="en-US" sz="2558" b="1" dirty="0">
                <a:solidFill>
                  <a:srgbClr val="003087"/>
                </a:solidFill>
                <a:latin typeface="Liter" pitchFamily="34" charset="0"/>
                <a:ea typeface="Liter" pitchFamily="34" charset="-122"/>
                <a:cs typeface="Liter" pitchFamily="34" charset="-120"/>
              </a:rPr>
              <a:t>Access Bank's Digital Journey</a:t>
            </a:r>
            <a:endParaRPr lang="en-US" sz="1600" dirty="0"/>
          </a:p>
        </p:txBody>
      </p:sp>
      <p:sp>
        <p:nvSpPr>
          <p:cNvPr id="4" name="Shape 2"/>
          <p:cNvSpPr/>
          <p:nvPr/>
        </p:nvSpPr>
        <p:spPr>
          <a:xfrm>
            <a:off x="360977" y="1082931"/>
            <a:ext cx="866345" cy="36098"/>
          </a:xfrm>
          <a:custGeom>
            <a:avLst/>
            <a:gdLst/>
            <a:ahLst/>
            <a:cxnLst/>
            <a:rect l="l" t="t" r="r" b="b"/>
            <a:pathLst>
              <a:path w="866345" h="36098">
                <a:moveTo>
                  <a:pt x="0" y="0"/>
                </a:moveTo>
                <a:lnTo>
                  <a:pt x="866345" y="0"/>
                </a:lnTo>
                <a:lnTo>
                  <a:pt x="866345" y="36098"/>
                </a:lnTo>
                <a:lnTo>
                  <a:pt x="0" y="36098"/>
                </a:lnTo>
                <a:lnTo>
                  <a:pt x="0" y="0"/>
                </a:lnTo>
                <a:close/>
              </a:path>
            </a:pathLst>
          </a:custGeom>
          <a:solidFill>
            <a:srgbClr val="FF6B00"/>
          </a:solidFill>
          <a:ln/>
        </p:spPr>
      </p:sp>
      <p:sp>
        <p:nvSpPr>
          <p:cNvPr id="5" name="Shape 3"/>
          <p:cNvSpPr/>
          <p:nvPr/>
        </p:nvSpPr>
        <p:spPr>
          <a:xfrm>
            <a:off x="360977" y="1299517"/>
            <a:ext cx="4584409" cy="1750739"/>
          </a:xfrm>
          <a:custGeom>
            <a:avLst/>
            <a:gdLst/>
            <a:ahLst/>
            <a:cxnLst/>
            <a:rect l="l" t="t" r="r" b="b"/>
            <a:pathLst>
              <a:path w="4584409" h="1750739">
                <a:moveTo>
                  <a:pt x="108301" y="0"/>
                </a:moveTo>
                <a:lnTo>
                  <a:pt x="4476108" y="0"/>
                </a:lnTo>
                <a:cubicBezTo>
                  <a:pt x="4535921" y="0"/>
                  <a:pt x="4584409" y="48488"/>
                  <a:pt x="4584409" y="108301"/>
                </a:cubicBezTo>
                <a:lnTo>
                  <a:pt x="4584409" y="1642438"/>
                </a:lnTo>
                <a:cubicBezTo>
                  <a:pt x="4584409" y="1702251"/>
                  <a:pt x="4535921" y="1750739"/>
                  <a:pt x="4476108" y="1750739"/>
                </a:cubicBezTo>
                <a:lnTo>
                  <a:pt x="108301" y="1750739"/>
                </a:lnTo>
                <a:cubicBezTo>
                  <a:pt x="48488" y="1750739"/>
                  <a:pt x="0" y="1702251"/>
                  <a:pt x="0" y="1642438"/>
                </a:cubicBezTo>
                <a:lnTo>
                  <a:pt x="0" y="108301"/>
                </a:lnTo>
                <a:cubicBezTo>
                  <a:pt x="0" y="48528"/>
                  <a:pt x="48528" y="0"/>
                  <a:pt x="108301"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613661" y="1615372"/>
            <a:ext cx="270733" cy="270733"/>
          </a:xfrm>
          <a:custGeom>
            <a:avLst/>
            <a:gdLst/>
            <a:ahLst/>
            <a:cxnLst/>
            <a:rect l="l" t="t" r="r" b="b"/>
            <a:pathLst>
              <a:path w="270733" h="270733">
                <a:moveTo>
                  <a:pt x="76302" y="0"/>
                </a:moveTo>
                <a:lnTo>
                  <a:pt x="194748" y="0"/>
                </a:lnTo>
                <a:cubicBezTo>
                  <a:pt x="208760" y="0"/>
                  <a:pt x="220182" y="11527"/>
                  <a:pt x="219653" y="25487"/>
                </a:cubicBezTo>
                <a:cubicBezTo>
                  <a:pt x="219547" y="28289"/>
                  <a:pt x="219442" y="31092"/>
                  <a:pt x="219283" y="33842"/>
                </a:cubicBezTo>
                <a:lnTo>
                  <a:pt x="245510" y="33842"/>
                </a:lnTo>
                <a:cubicBezTo>
                  <a:pt x="259311" y="33842"/>
                  <a:pt x="271473" y="45263"/>
                  <a:pt x="270416" y="60175"/>
                </a:cubicBezTo>
                <a:cubicBezTo>
                  <a:pt x="266450" y="115009"/>
                  <a:pt x="238425" y="145149"/>
                  <a:pt x="208020" y="160906"/>
                </a:cubicBezTo>
                <a:cubicBezTo>
                  <a:pt x="199665" y="165242"/>
                  <a:pt x="191152" y="168468"/>
                  <a:pt x="183062" y="170847"/>
                </a:cubicBezTo>
                <a:cubicBezTo>
                  <a:pt x="172381" y="185970"/>
                  <a:pt x="161276" y="193955"/>
                  <a:pt x="152446" y="198238"/>
                </a:cubicBezTo>
                <a:lnTo>
                  <a:pt x="152446" y="236891"/>
                </a:lnTo>
                <a:lnTo>
                  <a:pt x="186287" y="236891"/>
                </a:lnTo>
                <a:cubicBezTo>
                  <a:pt x="195647" y="236891"/>
                  <a:pt x="203208" y="244453"/>
                  <a:pt x="203208" y="253812"/>
                </a:cubicBezTo>
                <a:cubicBezTo>
                  <a:pt x="203208" y="263171"/>
                  <a:pt x="195647" y="270733"/>
                  <a:pt x="186287" y="270733"/>
                </a:cubicBezTo>
                <a:lnTo>
                  <a:pt x="84763" y="270733"/>
                </a:lnTo>
                <a:cubicBezTo>
                  <a:pt x="75403" y="270733"/>
                  <a:pt x="67842" y="263171"/>
                  <a:pt x="67842" y="253812"/>
                </a:cubicBezTo>
                <a:cubicBezTo>
                  <a:pt x="67842" y="244453"/>
                  <a:pt x="75403" y="236891"/>
                  <a:pt x="84763" y="236891"/>
                </a:cubicBezTo>
                <a:lnTo>
                  <a:pt x="118604" y="236891"/>
                </a:lnTo>
                <a:lnTo>
                  <a:pt x="118604" y="198238"/>
                </a:lnTo>
                <a:cubicBezTo>
                  <a:pt x="110144" y="194166"/>
                  <a:pt x="99621" y="186605"/>
                  <a:pt x="89363" y="172698"/>
                </a:cubicBezTo>
                <a:cubicBezTo>
                  <a:pt x="79634" y="170160"/>
                  <a:pt x="69058" y="166300"/>
                  <a:pt x="58747" y="160483"/>
                </a:cubicBezTo>
                <a:cubicBezTo>
                  <a:pt x="30140" y="144461"/>
                  <a:pt x="4336" y="114268"/>
                  <a:pt x="635" y="60069"/>
                </a:cubicBezTo>
                <a:cubicBezTo>
                  <a:pt x="-370" y="45210"/>
                  <a:pt x="11739" y="33789"/>
                  <a:pt x="25540" y="33789"/>
                </a:cubicBezTo>
                <a:lnTo>
                  <a:pt x="51767" y="33789"/>
                </a:lnTo>
                <a:cubicBezTo>
                  <a:pt x="51608" y="31039"/>
                  <a:pt x="51503" y="28289"/>
                  <a:pt x="51397" y="25434"/>
                </a:cubicBezTo>
                <a:cubicBezTo>
                  <a:pt x="50868" y="11422"/>
                  <a:pt x="62290" y="-53"/>
                  <a:pt x="76302" y="-53"/>
                </a:cubicBezTo>
                <a:close/>
                <a:moveTo>
                  <a:pt x="53671" y="59223"/>
                </a:moveTo>
                <a:lnTo>
                  <a:pt x="25963" y="59223"/>
                </a:lnTo>
                <a:cubicBezTo>
                  <a:pt x="29241" y="104010"/>
                  <a:pt x="49811" y="126430"/>
                  <a:pt x="71014" y="138328"/>
                </a:cubicBezTo>
                <a:cubicBezTo>
                  <a:pt x="63400" y="118604"/>
                  <a:pt x="57108" y="92853"/>
                  <a:pt x="53671" y="59223"/>
                </a:cubicBezTo>
                <a:close/>
                <a:moveTo>
                  <a:pt x="200934" y="135789"/>
                </a:moveTo>
                <a:cubicBezTo>
                  <a:pt x="222350" y="123205"/>
                  <a:pt x="241703" y="100837"/>
                  <a:pt x="244981" y="59223"/>
                </a:cubicBezTo>
                <a:lnTo>
                  <a:pt x="217327" y="59223"/>
                </a:lnTo>
                <a:cubicBezTo>
                  <a:pt x="214048" y="91425"/>
                  <a:pt x="208126" y="116436"/>
                  <a:pt x="200934" y="135789"/>
                </a:cubicBezTo>
                <a:close/>
              </a:path>
            </a:pathLst>
          </a:custGeom>
          <a:solidFill>
            <a:srgbClr val="FF6B00"/>
          </a:solidFill>
          <a:ln/>
        </p:spPr>
      </p:sp>
      <p:sp>
        <p:nvSpPr>
          <p:cNvPr id="7" name="Text 5"/>
          <p:cNvSpPr/>
          <p:nvPr/>
        </p:nvSpPr>
        <p:spPr>
          <a:xfrm>
            <a:off x="1024272" y="1516104"/>
            <a:ext cx="3618795" cy="180489"/>
          </a:xfrm>
          <a:prstGeom prst="rect">
            <a:avLst/>
          </a:prstGeom>
          <a:noFill/>
          <a:ln/>
        </p:spPr>
        <p:txBody>
          <a:bodyPr wrap="square" lIns="0" tIns="0" rIns="0" bIns="0" rtlCol="0" anchor="ctr"/>
          <a:lstStyle/>
          <a:p>
            <a:pPr>
              <a:lnSpc>
                <a:spcPct val="120000"/>
              </a:lnSpc>
            </a:pPr>
            <a:r>
              <a:rPr lang="en-US" sz="995" dirty="0">
                <a:solidFill>
                  <a:srgbClr val="FFFFFF">
                    <a:alpha val="80000"/>
                  </a:srgbClr>
                </a:solidFill>
                <a:latin typeface="Quattrocento Sans" pitchFamily="34" charset="0"/>
                <a:ea typeface="Quattrocento Sans" pitchFamily="34" charset="-122"/>
                <a:cs typeface="Quattrocento Sans" pitchFamily="34" charset="-120"/>
              </a:rPr>
              <a:t>Recognition</a:t>
            </a:r>
            <a:endParaRPr lang="en-US" sz="1600" dirty="0"/>
          </a:p>
        </p:txBody>
      </p:sp>
      <p:sp>
        <p:nvSpPr>
          <p:cNvPr id="8" name="Text 6"/>
          <p:cNvSpPr/>
          <p:nvPr/>
        </p:nvSpPr>
        <p:spPr>
          <a:xfrm>
            <a:off x="1024272" y="1813909"/>
            <a:ext cx="3663917" cy="288782"/>
          </a:xfrm>
          <a:prstGeom prst="rect">
            <a:avLst/>
          </a:prstGeom>
          <a:noFill/>
          <a:ln/>
        </p:spPr>
        <p:txBody>
          <a:bodyPr wrap="square" lIns="0" tIns="0" rIns="0" bIns="0" rtlCol="0" anchor="ctr"/>
          <a:lstStyle/>
          <a:p>
            <a:pPr>
              <a:lnSpc>
                <a:spcPct val="110000"/>
              </a:lnSpc>
            </a:pPr>
            <a:r>
              <a:rPr lang="en-US" sz="1705" b="1" dirty="0">
                <a:solidFill>
                  <a:srgbClr val="FFFFFF"/>
                </a:solidFill>
                <a:latin typeface="Liter" pitchFamily="34" charset="0"/>
                <a:ea typeface="Liter" pitchFamily="34" charset="-122"/>
                <a:cs typeface="Liter" pitchFamily="34" charset="-120"/>
              </a:rPr>
              <a:t>Nigeria's Best Transaction Bank 2025</a:t>
            </a:r>
            <a:endParaRPr lang="en-US" sz="1600" dirty="0"/>
          </a:p>
        </p:txBody>
      </p:sp>
      <p:sp>
        <p:nvSpPr>
          <p:cNvPr id="9" name="Text 7"/>
          <p:cNvSpPr/>
          <p:nvPr/>
        </p:nvSpPr>
        <p:spPr>
          <a:xfrm>
            <a:off x="550490" y="2210984"/>
            <a:ext cx="4223432" cy="703905"/>
          </a:xfrm>
          <a:prstGeom prst="rect">
            <a:avLst/>
          </a:prstGeom>
          <a:noFill/>
          <a:ln/>
        </p:spPr>
        <p:txBody>
          <a:bodyPr wrap="square" lIns="0" tIns="0" rIns="0" bIns="0" rtlCol="0" anchor="ctr"/>
          <a:lstStyle/>
          <a:p>
            <a:pPr>
              <a:lnSpc>
                <a:spcPct val="140000"/>
              </a:lnSpc>
            </a:pPr>
            <a:r>
              <a:rPr lang="en-US" sz="1137" dirty="0">
                <a:solidFill>
                  <a:srgbClr val="FFFFFF"/>
                </a:solidFill>
                <a:latin typeface="Quattrocento Sans" pitchFamily="34" charset="0"/>
                <a:ea typeface="Quattrocento Sans" pitchFamily="34" charset="-122"/>
                <a:cs typeface="Quattrocento Sans" pitchFamily="34" charset="-120"/>
              </a:rPr>
              <a:t>Access Bank's leadership in Nigeria's transaction banking market reflects the scale of its digital transformation and the inclusiveness of its delivery model.</a:t>
            </a:r>
            <a:endParaRPr lang="en-US" sz="1600" dirty="0"/>
          </a:p>
        </p:txBody>
      </p:sp>
      <p:sp>
        <p:nvSpPr>
          <p:cNvPr id="10" name="Shape 8"/>
          <p:cNvSpPr/>
          <p:nvPr/>
        </p:nvSpPr>
        <p:spPr>
          <a:xfrm>
            <a:off x="370001" y="3203671"/>
            <a:ext cx="2220009" cy="884394"/>
          </a:xfrm>
          <a:custGeom>
            <a:avLst/>
            <a:gdLst/>
            <a:ahLst/>
            <a:cxnLst/>
            <a:rect l="l" t="t" r="r" b="b"/>
            <a:pathLst>
              <a:path w="2220009" h="884394">
                <a:moveTo>
                  <a:pt x="108294" y="0"/>
                </a:moveTo>
                <a:lnTo>
                  <a:pt x="2111715" y="0"/>
                </a:lnTo>
                <a:cubicBezTo>
                  <a:pt x="2171524" y="0"/>
                  <a:pt x="2220009" y="48485"/>
                  <a:pt x="2220009" y="108294"/>
                </a:cubicBezTo>
                <a:lnTo>
                  <a:pt x="2220009" y="776100"/>
                </a:lnTo>
                <a:cubicBezTo>
                  <a:pt x="2220009" y="835909"/>
                  <a:pt x="2171524" y="884394"/>
                  <a:pt x="2111715" y="884394"/>
                </a:cubicBezTo>
                <a:lnTo>
                  <a:pt x="108294" y="884394"/>
                </a:lnTo>
                <a:cubicBezTo>
                  <a:pt x="48485" y="884394"/>
                  <a:pt x="0" y="835909"/>
                  <a:pt x="0" y="776100"/>
                </a:cubicBezTo>
                <a:lnTo>
                  <a:pt x="0" y="108294"/>
                </a:lnTo>
                <a:cubicBezTo>
                  <a:pt x="0" y="48525"/>
                  <a:pt x="48525" y="0"/>
                  <a:pt x="108294" y="0"/>
                </a:cubicBezTo>
                <a:close/>
              </a:path>
            </a:pathLst>
          </a:custGeom>
          <a:solidFill>
            <a:srgbClr val="FF6B00">
              <a:alpha val="10196"/>
            </a:srgbClr>
          </a:solidFill>
          <a:ln w="25400">
            <a:solidFill>
              <a:srgbClr val="FF6B00"/>
            </a:solidFill>
            <a:prstDash val="solid"/>
          </a:ln>
        </p:spPr>
      </p:sp>
      <p:sp>
        <p:nvSpPr>
          <p:cNvPr id="11" name="Text 9"/>
          <p:cNvSpPr/>
          <p:nvPr/>
        </p:nvSpPr>
        <p:spPr>
          <a:xfrm>
            <a:off x="442197" y="3357087"/>
            <a:ext cx="2075618" cy="360977"/>
          </a:xfrm>
          <a:prstGeom prst="rect">
            <a:avLst/>
          </a:prstGeom>
          <a:noFill/>
          <a:ln/>
        </p:spPr>
        <p:txBody>
          <a:bodyPr wrap="square" lIns="0" tIns="0" rIns="0" bIns="0" rtlCol="0" anchor="ctr"/>
          <a:lstStyle/>
          <a:p>
            <a:pPr algn="ctr">
              <a:lnSpc>
                <a:spcPct val="90000"/>
              </a:lnSpc>
            </a:pPr>
            <a:r>
              <a:rPr lang="en-US" sz="2558" b="1" dirty="0">
                <a:solidFill>
                  <a:srgbClr val="FF6B00"/>
                </a:solidFill>
                <a:latin typeface="Quattrocento Sans" pitchFamily="34" charset="0"/>
                <a:ea typeface="Quattrocento Sans" pitchFamily="34" charset="-122"/>
                <a:cs typeface="Quattrocento Sans" pitchFamily="34" charset="-120"/>
              </a:rPr>
              <a:t>1.1B+</a:t>
            </a:r>
            <a:endParaRPr lang="en-US" sz="1600" dirty="0"/>
          </a:p>
        </p:txBody>
      </p:sp>
      <p:sp>
        <p:nvSpPr>
          <p:cNvPr id="12" name="Text 10"/>
          <p:cNvSpPr/>
          <p:nvPr/>
        </p:nvSpPr>
        <p:spPr>
          <a:xfrm>
            <a:off x="491831" y="3754161"/>
            <a:ext cx="1976349" cy="180489"/>
          </a:xfrm>
          <a:prstGeom prst="rect">
            <a:avLst/>
          </a:prstGeom>
          <a:noFill/>
          <a:ln/>
        </p:spPr>
        <p:txBody>
          <a:bodyPr wrap="square" lIns="0" tIns="0" rIns="0" bIns="0" rtlCol="0" anchor="ctr"/>
          <a:lstStyle/>
          <a:p>
            <a:pPr algn="ctr">
              <a:lnSpc>
                <a:spcPct val="120000"/>
              </a:lnSpc>
            </a:pPr>
            <a:r>
              <a:rPr lang="en-US" sz="995" dirty="0">
                <a:solidFill>
                  <a:srgbClr val="1A1A1A">
                    <a:alpha val="70000"/>
                  </a:srgbClr>
                </a:solidFill>
                <a:latin typeface="Quattrocento Sans" pitchFamily="34" charset="0"/>
                <a:ea typeface="Quattrocento Sans" pitchFamily="34" charset="-122"/>
                <a:cs typeface="Quattrocento Sans" pitchFamily="34" charset="-120"/>
              </a:rPr>
              <a:t>Transactions via Access More</a:t>
            </a:r>
            <a:endParaRPr lang="en-US" sz="1600" dirty="0"/>
          </a:p>
        </p:txBody>
      </p:sp>
      <p:sp>
        <p:nvSpPr>
          <p:cNvPr id="13" name="Shape 11"/>
          <p:cNvSpPr/>
          <p:nvPr/>
        </p:nvSpPr>
        <p:spPr>
          <a:xfrm>
            <a:off x="2718326" y="3203671"/>
            <a:ext cx="2220009" cy="884394"/>
          </a:xfrm>
          <a:custGeom>
            <a:avLst/>
            <a:gdLst/>
            <a:ahLst/>
            <a:cxnLst/>
            <a:rect l="l" t="t" r="r" b="b"/>
            <a:pathLst>
              <a:path w="2220009" h="884394">
                <a:moveTo>
                  <a:pt x="108294" y="0"/>
                </a:moveTo>
                <a:lnTo>
                  <a:pt x="2111715" y="0"/>
                </a:lnTo>
                <a:cubicBezTo>
                  <a:pt x="2171524" y="0"/>
                  <a:pt x="2220009" y="48485"/>
                  <a:pt x="2220009" y="108294"/>
                </a:cubicBezTo>
                <a:lnTo>
                  <a:pt x="2220009" y="776100"/>
                </a:lnTo>
                <a:cubicBezTo>
                  <a:pt x="2220009" y="835909"/>
                  <a:pt x="2171524" y="884394"/>
                  <a:pt x="2111715" y="884394"/>
                </a:cubicBezTo>
                <a:lnTo>
                  <a:pt x="108294" y="884394"/>
                </a:lnTo>
                <a:cubicBezTo>
                  <a:pt x="48485" y="884394"/>
                  <a:pt x="0" y="835909"/>
                  <a:pt x="0" y="776100"/>
                </a:cubicBezTo>
                <a:lnTo>
                  <a:pt x="0" y="108294"/>
                </a:lnTo>
                <a:cubicBezTo>
                  <a:pt x="0" y="48525"/>
                  <a:pt x="48525" y="0"/>
                  <a:pt x="108294" y="0"/>
                </a:cubicBezTo>
                <a:close/>
              </a:path>
            </a:pathLst>
          </a:custGeom>
          <a:solidFill>
            <a:srgbClr val="003087">
              <a:alpha val="10196"/>
            </a:srgbClr>
          </a:solidFill>
          <a:ln w="25400">
            <a:solidFill>
              <a:srgbClr val="003087"/>
            </a:solidFill>
            <a:prstDash val="solid"/>
          </a:ln>
        </p:spPr>
      </p:sp>
      <p:sp>
        <p:nvSpPr>
          <p:cNvPr id="14" name="Text 12"/>
          <p:cNvSpPr/>
          <p:nvPr/>
        </p:nvSpPr>
        <p:spPr>
          <a:xfrm>
            <a:off x="2790522" y="3357087"/>
            <a:ext cx="2075618" cy="360977"/>
          </a:xfrm>
          <a:prstGeom prst="rect">
            <a:avLst/>
          </a:prstGeom>
          <a:noFill/>
          <a:ln/>
        </p:spPr>
        <p:txBody>
          <a:bodyPr wrap="square" lIns="0" tIns="0" rIns="0" bIns="0" rtlCol="0" anchor="ctr"/>
          <a:lstStyle/>
          <a:p>
            <a:pPr algn="ctr">
              <a:lnSpc>
                <a:spcPct val="90000"/>
              </a:lnSpc>
            </a:pPr>
            <a:r>
              <a:rPr lang="en-US" sz="2558" b="1" dirty="0">
                <a:solidFill>
                  <a:srgbClr val="003087"/>
                </a:solidFill>
                <a:latin typeface="Quattrocento Sans" pitchFamily="34" charset="0"/>
                <a:ea typeface="Quattrocento Sans" pitchFamily="34" charset="-122"/>
                <a:cs typeface="Quattrocento Sans" pitchFamily="34" charset="-120"/>
              </a:rPr>
              <a:t>N157T</a:t>
            </a:r>
            <a:endParaRPr lang="en-US" sz="1600" dirty="0"/>
          </a:p>
        </p:txBody>
      </p:sp>
      <p:sp>
        <p:nvSpPr>
          <p:cNvPr id="15" name="Text 13"/>
          <p:cNvSpPr/>
          <p:nvPr/>
        </p:nvSpPr>
        <p:spPr>
          <a:xfrm>
            <a:off x="2840156" y="3754161"/>
            <a:ext cx="1976349" cy="180489"/>
          </a:xfrm>
          <a:prstGeom prst="rect">
            <a:avLst/>
          </a:prstGeom>
          <a:noFill/>
          <a:ln/>
        </p:spPr>
        <p:txBody>
          <a:bodyPr wrap="square" lIns="0" tIns="0" rIns="0" bIns="0" rtlCol="0" anchor="ctr"/>
          <a:lstStyle/>
          <a:p>
            <a:pPr algn="ctr">
              <a:lnSpc>
                <a:spcPct val="120000"/>
              </a:lnSpc>
            </a:pPr>
            <a:r>
              <a:rPr lang="en-US" sz="995" dirty="0">
                <a:solidFill>
                  <a:srgbClr val="1A1A1A">
                    <a:alpha val="70000"/>
                  </a:srgbClr>
                </a:solidFill>
                <a:latin typeface="Quattrocento Sans" pitchFamily="34" charset="0"/>
                <a:ea typeface="Quattrocento Sans" pitchFamily="34" charset="-122"/>
                <a:cs typeface="Quattrocento Sans" pitchFamily="34" charset="-120"/>
              </a:rPr>
              <a:t>Transaction Value (2024)</a:t>
            </a:r>
            <a:endParaRPr lang="en-US" sz="1600" dirty="0"/>
          </a:p>
        </p:txBody>
      </p:sp>
      <p:sp>
        <p:nvSpPr>
          <p:cNvPr id="16" name="Shape 14"/>
          <p:cNvSpPr/>
          <p:nvPr/>
        </p:nvSpPr>
        <p:spPr>
          <a:xfrm>
            <a:off x="370001" y="4214407"/>
            <a:ext cx="2220009" cy="884394"/>
          </a:xfrm>
          <a:custGeom>
            <a:avLst/>
            <a:gdLst/>
            <a:ahLst/>
            <a:cxnLst/>
            <a:rect l="l" t="t" r="r" b="b"/>
            <a:pathLst>
              <a:path w="2220009" h="884394">
                <a:moveTo>
                  <a:pt x="108294" y="0"/>
                </a:moveTo>
                <a:lnTo>
                  <a:pt x="2111715" y="0"/>
                </a:lnTo>
                <a:cubicBezTo>
                  <a:pt x="2171524" y="0"/>
                  <a:pt x="2220009" y="48485"/>
                  <a:pt x="2220009" y="108294"/>
                </a:cubicBezTo>
                <a:lnTo>
                  <a:pt x="2220009" y="776100"/>
                </a:lnTo>
                <a:cubicBezTo>
                  <a:pt x="2220009" y="835909"/>
                  <a:pt x="2171524" y="884394"/>
                  <a:pt x="2111715" y="884394"/>
                </a:cubicBezTo>
                <a:lnTo>
                  <a:pt x="108294" y="884394"/>
                </a:lnTo>
                <a:cubicBezTo>
                  <a:pt x="48485" y="884394"/>
                  <a:pt x="0" y="835909"/>
                  <a:pt x="0" y="776100"/>
                </a:cubicBezTo>
                <a:lnTo>
                  <a:pt x="0" y="108294"/>
                </a:lnTo>
                <a:cubicBezTo>
                  <a:pt x="0" y="48525"/>
                  <a:pt x="48525" y="0"/>
                  <a:pt x="108294" y="0"/>
                </a:cubicBezTo>
                <a:close/>
              </a:path>
            </a:pathLst>
          </a:custGeom>
          <a:solidFill>
            <a:srgbClr val="FF6B00">
              <a:alpha val="10196"/>
            </a:srgbClr>
          </a:solidFill>
          <a:ln w="25400">
            <a:solidFill>
              <a:srgbClr val="FF6B00"/>
            </a:solidFill>
            <a:prstDash val="solid"/>
          </a:ln>
        </p:spPr>
      </p:sp>
      <p:sp>
        <p:nvSpPr>
          <p:cNvPr id="17" name="Text 15"/>
          <p:cNvSpPr/>
          <p:nvPr/>
        </p:nvSpPr>
        <p:spPr>
          <a:xfrm>
            <a:off x="442197" y="4367822"/>
            <a:ext cx="2075618" cy="360977"/>
          </a:xfrm>
          <a:prstGeom prst="rect">
            <a:avLst/>
          </a:prstGeom>
          <a:noFill/>
          <a:ln/>
        </p:spPr>
        <p:txBody>
          <a:bodyPr wrap="square" lIns="0" tIns="0" rIns="0" bIns="0" rtlCol="0" anchor="ctr"/>
          <a:lstStyle/>
          <a:p>
            <a:pPr algn="ctr">
              <a:lnSpc>
                <a:spcPct val="90000"/>
              </a:lnSpc>
            </a:pPr>
            <a:r>
              <a:rPr lang="en-US" sz="2558" b="1" dirty="0">
                <a:solidFill>
                  <a:srgbClr val="FF6B00"/>
                </a:solidFill>
                <a:latin typeface="Quattrocento Sans" pitchFamily="34" charset="0"/>
                <a:ea typeface="Quattrocento Sans" pitchFamily="34" charset="-122"/>
                <a:cs typeface="Quattrocento Sans" pitchFamily="34" charset="-120"/>
              </a:rPr>
              <a:t>1.5M+</a:t>
            </a:r>
            <a:endParaRPr lang="en-US" sz="1600" dirty="0"/>
          </a:p>
        </p:txBody>
      </p:sp>
      <p:sp>
        <p:nvSpPr>
          <p:cNvPr id="18" name="Text 16"/>
          <p:cNvSpPr/>
          <p:nvPr/>
        </p:nvSpPr>
        <p:spPr>
          <a:xfrm>
            <a:off x="491831" y="4764897"/>
            <a:ext cx="1976349" cy="180489"/>
          </a:xfrm>
          <a:prstGeom prst="rect">
            <a:avLst/>
          </a:prstGeom>
          <a:noFill/>
          <a:ln/>
        </p:spPr>
        <p:txBody>
          <a:bodyPr wrap="square" lIns="0" tIns="0" rIns="0" bIns="0" rtlCol="0" anchor="ctr"/>
          <a:lstStyle/>
          <a:p>
            <a:pPr algn="ctr">
              <a:lnSpc>
                <a:spcPct val="120000"/>
              </a:lnSpc>
            </a:pPr>
            <a:r>
              <a:rPr lang="en-US" sz="995" dirty="0">
                <a:solidFill>
                  <a:srgbClr val="1A1A1A">
                    <a:alpha val="70000"/>
                  </a:srgbClr>
                </a:solidFill>
                <a:latin typeface="Quattrocento Sans" pitchFamily="34" charset="0"/>
                <a:ea typeface="Quattrocento Sans" pitchFamily="34" charset="-122"/>
                <a:cs typeface="Quattrocento Sans" pitchFamily="34" charset="-120"/>
              </a:rPr>
              <a:t>New Users (2024)</a:t>
            </a:r>
            <a:endParaRPr lang="en-US" sz="1600" dirty="0"/>
          </a:p>
        </p:txBody>
      </p:sp>
      <p:sp>
        <p:nvSpPr>
          <p:cNvPr id="19" name="Shape 17"/>
          <p:cNvSpPr/>
          <p:nvPr/>
        </p:nvSpPr>
        <p:spPr>
          <a:xfrm>
            <a:off x="2718326" y="4214407"/>
            <a:ext cx="2220009" cy="884394"/>
          </a:xfrm>
          <a:custGeom>
            <a:avLst/>
            <a:gdLst/>
            <a:ahLst/>
            <a:cxnLst/>
            <a:rect l="l" t="t" r="r" b="b"/>
            <a:pathLst>
              <a:path w="2220009" h="884394">
                <a:moveTo>
                  <a:pt x="108294" y="0"/>
                </a:moveTo>
                <a:lnTo>
                  <a:pt x="2111715" y="0"/>
                </a:lnTo>
                <a:cubicBezTo>
                  <a:pt x="2171524" y="0"/>
                  <a:pt x="2220009" y="48485"/>
                  <a:pt x="2220009" y="108294"/>
                </a:cubicBezTo>
                <a:lnTo>
                  <a:pt x="2220009" y="776100"/>
                </a:lnTo>
                <a:cubicBezTo>
                  <a:pt x="2220009" y="835909"/>
                  <a:pt x="2171524" y="884394"/>
                  <a:pt x="2111715" y="884394"/>
                </a:cubicBezTo>
                <a:lnTo>
                  <a:pt x="108294" y="884394"/>
                </a:lnTo>
                <a:cubicBezTo>
                  <a:pt x="48485" y="884394"/>
                  <a:pt x="0" y="835909"/>
                  <a:pt x="0" y="776100"/>
                </a:cubicBezTo>
                <a:lnTo>
                  <a:pt x="0" y="108294"/>
                </a:lnTo>
                <a:cubicBezTo>
                  <a:pt x="0" y="48525"/>
                  <a:pt x="48525" y="0"/>
                  <a:pt x="108294" y="0"/>
                </a:cubicBezTo>
                <a:close/>
              </a:path>
            </a:pathLst>
          </a:custGeom>
          <a:solidFill>
            <a:srgbClr val="003087">
              <a:alpha val="10196"/>
            </a:srgbClr>
          </a:solidFill>
          <a:ln w="25400">
            <a:solidFill>
              <a:srgbClr val="003087"/>
            </a:solidFill>
            <a:prstDash val="solid"/>
          </a:ln>
        </p:spPr>
      </p:sp>
      <p:sp>
        <p:nvSpPr>
          <p:cNvPr id="20" name="Text 18"/>
          <p:cNvSpPr/>
          <p:nvPr/>
        </p:nvSpPr>
        <p:spPr>
          <a:xfrm>
            <a:off x="2790522" y="4367822"/>
            <a:ext cx="2075618" cy="360977"/>
          </a:xfrm>
          <a:prstGeom prst="rect">
            <a:avLst/>
          </a:prstGeom>
          <a:noFill/>
          <a:ln/>
        </p:spPr>
        <p:txBody>
          <a:bodyPr wrap="square" lIns="0" tIns="0" rIns="0" bIns="0" rtlCol="0" anchor="ctr"/>
          <a:lstStyle/>
          <a:p>
            <a:pPr algn="ctr">
              <a:lnSpc>
                <a:spcPct val="90000"/>
              </a:lnSpc>
            </a:pPr>
            <a:r>
              <a:rPr lang="en-US" sz="2558" b="1" dirty="0">
                <a:solidFill>
                  <a:srgbClr val="003087"/>
                </a:solidFill>
                <a:latin typeface="Quattrocento Sans" pitchFamily="34" charset="0"/>
                <a:ea typeface="Quattrocento Sans" pitchFamily="34" charset="-122"/>
                <a:cs typeface="Quattrocento Sans" pitchFamily="34" charset="-120"/>
              </a:rPr>
              <a:t>4.6★</a:t>
            </a:r>
            <a:endParaRPr lang="en-US" sz="1600" dirty="0"/>
          </a:p>
        </p:txBody>
      </p:sp>
      <p:sp>
        <p:nvSpPr>
          <p:cNvPr id="21" name="Text 19"/>
          <p:cNvSpPr/>
          <p:nvPr/>
        </p:nvSpPr>
        <p:spPr>
          <a:xfrm>
            <a:off x="2840156" y="4764897"/>
            <a:ext cx="1976349" cy="180489"/>
          </a:xfrm>
          <a:prstGeom prst="rect">
            <a:avLst/>
          </a:prstGeom>
          <a:noFill/>
          <a:ln/>
        </p:spPr>
        <p:txBody>
          <a:bodyPr wrap="square" lIns="0" tIns="0" rIns="0" bIns="0" rtlCol="0" anchor="ctr"/>
          <a:lstStyle/>
          <a:p>
            <a:pPr algn="ctr">
              <a:lnSpc>
                <a:spcPct val="120000"/>
              </a:lnSpc>
            </a:pPr>
            <a:r>
              <a:rPr lang="en-US" sz="995" dirty="0">
                <a:solidFill>
                  <a:srgbClr val="1A1A1A">
                    <a:alpha val="70000"/>
                  </a:srgbClr>
                </a:solidFill>
                <a:latin typeface="Quattrocento Sans" pitchFamily="34" charset="0"/>
                <a:ea typeface="Quattrocento Sans" pitchFamily="34" charset="-122"/>
                <a:cs typeface="Quattrocento Sans" pitchFamily="34" charset="-120"/>
              </a:rPr>
              <a:t>App Store Rating</a:t>
            </a:r>
            <a:endParaRPr lang="en-US" sz="1600" dirty="0"/>
          </a:p>
        </p:txBody>
      </p:sp>
      <p:sp>
        <p:nvSpPr>
          <p:cNvPr id="22" name="Shape 20"/>
          <p:cNvSpPr/>
          <p:nvPr/>
        </p:nvSpPr>
        <p:spPr>
          <a:xfrm>
            <a:off x="379026" y="5252216"/>
            <a:ext cx="4566360" cy="1082931"/>
          </a:xfrm>
          <a:custGeom>
            <a:avLst/>
            <a:gdLst/>
            <a:ahLst/>
            <a:cxnLst/>
            <a:rect l="l" t="t" r="r" b="b"/>
            <a:pathLst>
              <a:path w="4566360" h="1082931">
                <a:moveTo>
                  <a:pt x="36098" y="0"/>
                </a:moveTo>
                <a:lnTo>
                  <a:pt x="4458067" y="0"/>
                </a:lnTo>
                <a:cubicBezTo>
                  <a:pt x="4517875" y="0"/>
                  <a:pt x="4566360" y="48484"/>
                  <a:pt x="4566360" y="108293"/>
                </a:cubicBezTo>
                <a:lnTo>
                  <a:pt x="4566360" y="974638"/>
                </a:lnTo>
                <a:cubicBezTo>
                  <a:pt x="4566360" y="1034447"/>
                  <a:pt x="4517875" y="1082931"/>
                  <a:pt x="4458067" y="1082931"/>
                </a:cubicBezTo>
                <a:lnTo>
                  <a:pt x="36098" y="1082931"/>
                </a:lnTo>
                <a:cubicBezTo>
                  <a:pt x="16161" y="1082931"/>
                  <a:pt x="0" y="1066770"/>
                  <a:pt x="0" y="1046833"/>
                </a:cubicBezTo>
                <a:lnTo>
                  <a:pt x="0" y="36098"/>
                </a:lnTo>
                <a:cubicBezTo>
                  <a:pt x="0" y="16161"/>
                  <a:pt x="16161" y="0"/>
                  <a:pt x="36098" y="0"/>
                </a:cubicBezTo>
                <a:close/>
              </a:path>
            </a:pathLst>
          </a:custGeom>
          <a:solidFill>
            <a:srgbClr val="D4AF37">
              <a:alpha val="10196"/>
            </a:srgbClr>
          </a:solidFill>
          <a:ln/>
        </p:spPr>
      </p:sp>
      <p:sp>
        <p:nvSpPr>
          <p:cNvPr id="23" name="Shape 21"/>
          <p:cNvSpPr/>
          <p:nvPr/>
        </p:nvSpPr>
        <p:spPr>
          <a:xfrm>
            <a:off x="379026" y="5252216"/>
            <a:ext cx="36098" cy="1082931"/>
          </a:xfrm>
          <a:custGeom>
            <a:avLst/>
            <a:gdLst/>
            <a:ahLst/>
            <a:cxnLst/>
            <a:rect l="l" t="t" r="r" b="b"/>
            <a:pathLst>
              <a:path w="36098" h="1082931">
                <a:moveTo>
                  <a:pt x="36098" y="0"/>
                </a:moveTo>
                <a:lnTo>
                  <a:pt x="36098" y="0"/>
                </a:lnTo>
                <a:lnTo>
                  <a:pt x="36098" y="1082931"/>
                </a:lnTo>
                <a:lnTo>
                  <a:pt x="36098" y="1082931"/>
                </a:lnTo>
                <a:cubicBezTo>
                  <a:pt x="16161" y="1082931"/>
                  <a:pt x="0" y="1066770"/>
                  <a:pt x="0" y="1046833"/>
                </a:cubicBezTo>
                <a:lnTo>
                  <a:pt x="0" y="36098"/>
                </a:lnTo>
                <a:cubicBezTo>
                  <a:pt x="0" y="16161"/>
                  <a:pt x="16161" y="0"/>
                  <a:pt x="36098" y="0"/>
                </a:cubicBezTo>
                <a:close/>
              </a:path>
            </a:pathLst>
          </a:custGeom>
          <a:solidFill>
            <a:srgbClr val="D4AF37"/>
          </a:solidFill>
          <a:ln/>
        </p:spPr>
      </p:sp>
      <p:sp>
        <p:nvSpPr>
          <p:cNvPr id="24" name="Text 22"/>
          <p:cNvSpPr/>
          <p:nvPr/>
        </p:nvSpPr>
        <p:spPr>
          <a:xfrm>
            <a:off x="541466" y="5396607"/>
            <a:ext cx="4340749" cy="252684"/>
          </a:xfrm>
          <a:prstGeom prst="rect">
            <a:avLst/>
          </a:prstGeom>
          <a:noFill/>
          <a:ln/>
        </p:spPr>
        <p:txBody>
          <a:bodyPr wrap="square" lIns="0" tIns="0" rIns="0" bIns="0" rtlCol="0" anchor="ctr"/>
          <a:lstStyle/>
          <a:p>
            <a:pPr>
              <a:lnSpc>
                <a:spcPct val="130000"/>
              </a:lnSpc>
            </a:pPr>
            <a:r>
              <a:rPr lang="en-US" sz="1279" b="1" dirty="0">
                <a:solidFill>
                  <a:srgbClr val="003087"/>
                </a:solidFill>
                <a:latin typeface="Liter" pitchFamily="34" charset="0"/>
                <a:ea typeface="Liter" pitchFamily="34" charset="-122"/>
                <a:cs typeface="Liter" pitchFamily="34" charset="-120"/>
              </a:rPr>
              <a:t>PrimusPlus Platform</a:t>
            </a:r>
            <a:endParaRPr lang="en-US" sz="1600" dirty="0"/>
          </a:p>
        </p:txBody>
      </p:sp>
      <p:sp>
        <p:nvSpPr>
          <p:cNvPr id="25" name="Text 23"/>
          <p:cNvSpPr/>
          <p:nvPr/>
        </p:nvSpPr>
        <p:spPr>
          <a:xfrm>
            <a:off x="541466" y="5721486"/>
            <a:ext cx="4331725" cy="469270"/>
          </a:xfrm>
          <a:prstGeom prst="rect">
            <a:avLst/>
          </a:prstGeom>
          <a:noFill/>
          <a:ln/>
        </p:spPr>
        <p:txBody>
          <a:bodyPr wrap="square" lIns="0" tIns="0" rIns="0" bIns="0" rtlCol="0" anchor="ctr"/>
          <a:lstStyle/>
          <a:p>
            <a:pPr>
              <a:lnSpc>
                <a:spcPct val="140000"/>
              </a:lnSpc>
            </a:pPr>
            <a:r>
              <a:rPr lang="en-US" sz="1137" dirty="0">
                <a:solidFill>
                  <a:srgbClr val="1A1A1A">
                    <a:alpha val="80000"/>
                  </a:srgbClr>
                </a:solidFill>
                <a:latin typeface="Quattrocento Sans" pitchFamily="34" charset="0"/>
                <a:ea typeface="Quattrocento Sans" pitchFamily="34" charset="-122"/>
                <a:cs typeface="Quattrocento Sans" pitchFamily="34" charset="-120"/>
              </a:rPr>
              <a:t>Integrated corporate banking platform with end-to-end digital onboarding, salary disbursements, and real-time account visibility.</a:t>
            </a:r>
            <a:endParaRPr lang="en-US" sz="1600" dirty="0"/>
          </a:p>
        </p:txBody>
      </p:sp>
      <p:sp>
        <p:nvSpPr>
          <p:cNvPr id="26" name="Shape 24"/>
          <p:cNvSpPr/>
          <p:nvPr/>
        </p:nvSpPr>
        <p:spPr>
          <a:xfrm>
            <a:off x="5129822" y="1299517"/>
            <a:ext cx="6705149" cy="5270265"/>
          </a:xfrm>
          <a:custGeom>
            <a:avLst/>
            <a:gdLst/>
            <a:ahLst/>
            <a:cxnLst/>
            <a:rect l="l" t="t" r="r" b="b"/>
            <a:pathLst>
              <a:path w="6705149" h="5270265">
                <a:moveTo>
                  <a:pt x="108304" y="0"/>
                </a:moveTo>
                <a:lnTo>
                  <a:pt x="6596845" y="0"/>
                </a:lnTo>
                <a:cubicBezTo>
                  <a:pt x="6656659" y="0"/>
                  <a:pt x="6705149" y="48489"/>
                  <a:pt x="6705149" y="108304"/>
                </a:cubicBezTo>
                <a:lnTo>
                  <a:pt x="6705149" y="5161961"/>
                </a:lnTo>
                <a:cubicBezTo>
                  <a:pt x="6705149" y="5221776"/>
                  <a:pt x="6656659" y="5270265"/>
                  <a:pt x="6596845" y="5270265"/>
                </a:cubicBezTo>
                <a:lnTo>
                  <a:pt x="108304" y="5270265"/>
                </a:lnTo>
                <a:cubicBezTo>
                  <a:pt x="48489" y="5270265"/>
                  <a:pt x="0" y="5221776"/>
                  <a:pt x="0" y="5161961"/>
                </a:cubicBezTo>
                <a:lnTo>
                  <a:pt x="0" y="108304"/>
                </a:lnTo>
                <a:cubicBezTo>
                  <a:pt x="0" y="48489"/>
                  <a:pt x="48489" y="0"/>
                  <a:pt x="108304" y="0"/>
                </a:cubicBezTo>
                <a:close/>
              </a:path>
            </a:pathLst>
          </a:custGeom>
          <a:solidFill>
            <a:srgbClr val="F9FAFB"/>
          </a:solidFill>
          <a:ln/>
        </p:spPr>
      </p:sp>
      <p:sp>
        <p:nvSpPr>
          <p:cNvPr id="27" name="Text 25"/>
          <p:cNvSpPr/>
          <p:nvPr/>
        </p:nvSpPr>
        <p:spPr>
          <a:xfrm>
            <a:off x="5346409" y="1516104"/>
            <a:ext cx="6380269" cy="288782"/>
          </a:xfrm>
          <a:prstGeom prst="rect">
            <a:avLst/>
          </a:prstGeom>
          <a:noFill/>
          <a:ln/>
        </p:spPr>
        <p:txBody>
          <a:bodyPr wrap="square" lIns="0" tIns="0" rIns="0" bIns="0" rtlCol="0" anchor="ctr"/>
          <a:lstStyle/>
          <a:p>
            <a:pPr>
              <a:lnSpc>
                <a:spcPct val="110000"/>
              </a:lnSpc>
            </a:pPr>
            <a:r>
              <a:rPr lang="en-US" sz="1705" b="1" dirty="0">
                <a:solidFill>
                  <a:srgbClr val="003087"/>
                </a:solidFill>
                <a:latin typeface="Liter" pitchFamily="34" charset="0"/>
                <a:ea typeface="Liter" pitchFamily="34" charset="-122"/>
                <a:cs typeface="Liter" pitchFamily="34" charset="-120"/>
              </a:rPr>
              <a:t>2025-2027 Strategic Priorities</a:t>
            </a:r>
            <a:endParaRPr lang="en-US" sz="1600" dirty="0"/>
          </a:p>
        </p:txBody>
      </p:sp>
      <p:sp>
        <p:nvSpPr>
          <p:cNvPr id="28" name="Shape 26"/>
          <p:cNvSpPr/>
          <p:nvPr/>
        </p:nvSpPr>
        <p:spPr>
          <a:xfrm>
            <a:off x="5346409" y="1985374"/>
            <a:ext cx="433172" cy="433172"/>
          </a:xfrm>
          <a:custGeom>
            <a:avLst/>
            <a:gdLst/>
            <a:ahLst/>
            <a:cxnLst/>
            <a:rect l="l" t="t" r="r" b="b"/>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003087"/>
          </a:solidFill>
          <a:ln/>
        </p:spPr>
      </p:sp>
      <p:sp>
        <p:nvSpPr>
          <p:cNvPr id="29" name="Text 27"/>
          <p:cNvSpPr/>
          <p:nvPr/>
        </p:nvSpPr>
        <p:spPr>
          <a:xfrm>
            <a:off x="5310311" y="1985374"/>
            <a:ext cx="505368" cy="433172"/>
          </a:xfrm>
          <a:prstGeom prst="rect">
            <a:avLst/>
          </a:prstGeom>
          <a:noFill/>
          <a:ln/>
        </p:spPr>
        <p:txBody>
          <a:bodyPr wrap="square" lIns="0" tIns="0" rIns="0" bIns="0" rtlCol="0" anchor="ctr"/>
          <a:lstStyle/>
          <a:p>
            <a:pPr algn="ctr">
              <a:lnSpc>
                <a:spcPct val="130000"/>
              </a:lnSpc>
            </a:pPr>
            <a:r>
              <a:rPr lang="en-US" sz="1137"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0" name="Text 28"/>
          <p:cNvSpPr/>
          <p:nvPr/>
        </p:nvSpPr>
        <p:spPr>
          <a:xfrm>
            <a:off x="5923972" y="1985374"/>
            <a:ext cx="5775633" cy="252684"/>
          </a:xfrm>
          <a:prstGeom prst="rect">
            <a:avLst/>
          </a:prstGeom>
          <a:noFill/>
          <a:ln/>
        </p:spPr>
        <p:txBody>
          <a:bodyPr wrap="square" lIns="0" tIns="0" rIns="0" bIns="0" rtlCol="0" anchor="ctr"/>
          <a:lstStyle/>
          <a:p>
            <a:pPr>
              <a:lnSpc>
                <a:spcPct val="130000"/>
              </a:lnSpc>
            </a:pPr>
            <a:r>
              <a:rPr lang="en-US" sz="1279" b="1" dirty="0">
                <a:solidFill>
                  <a:srgbClr val="003087"/>
                </a:solidFill>
                <a:latin typeface="Liter" pitchFamily="34" charset="0"/>
                <a:ea typeface="Liter" pitchFamily="34" charset="-122"/>
                <a:cs typeface="Liter" pitchFamily="34" charset="-120"/>
              </a:rPr>
              <a:t>Strategic Expansion Beyond Africa</a:t>
            </a:r>
            <a:endParaRPr lang="en-US" sz="1600" dirty="0"/>
          </a:p>
        </p:txBody>
      </p:sp>
      <p:sp>
        <p:nvSpPr>
          <p:cNvPr id="31" name="Text 29"/>
          <p:cNvSpPr/>
          <p:nvPr/>
        </p:nvSpPr>
        <p:spPr>
          <a:xfrm>
            <a:off x="5923972" y="2274155"/>
            <a:ext cx="5766608" cy="469270"/>
          </a:xfrm>
          <a:prstGeom prst="rect">
            <a:avLst/>
          </a:prstGeom>
          <a:noFill/>
          <a:ln/>
        </p:spPr>
        <p:txBody>
          <a:bodyPr wrap="square" lIns="0" tIns="0" rIns="0" bIns="0" rtlCol="0" anchor="ctr"/>
          <a:lstStyle/>
          <a:p>
            <a:pPr>
              <a:lnSpc>
                <a:spcPct val="140000"/>
              </a:lnSpc>
            </a:pPr>
            <a:r>
              <a:rPr lang="en-US" sz="1137" dirty="0">
                <a:solidFill>
                  <a:srgbClr val="1A1A1A">
                    <a:alpha val="80000"/>
                  </a:srgbClr>
                </a:solidFill>
                <a:latin typeface="Quattrocento Sans" pitchFamily="34" charset="0"/>
                <a:ea typeface="Quattrocento Sans" pitchFamily="34" charset="-122"/>
                <a:cs typeface="Quattrocento Sans" pitchFamily="34" charset="-120"/>
              </a:rPr>
              <a:t>Data-driven insights, digitally enabled solutions, and targeted product offerings to enhance customer engagement and operational efficiency in high-growth regions.</a:t>
            </a:r>
            <a:endParaRPr lang="en-US" sz="1600" dirty="0"/>
          </a:p>
        </p:txBody>
      </p:sp>
      <p:sp>
        <p:nvSpPr>
          <p:cNvPr id="32" name="Shape 30"/>
          <p:cNvSpPr/>
          <p:nvPr/>
        </p:nvSpPr>
        <p:spPr>
          <a:xfrm>
            <a:off x="5346409" y="2887816"/>
            <a:ext cx="433172" cy="433172"/>
          </a:xfrm>
          <a:custGeom>
            <a:avLst/>
            <a:gdLst/>
            <a:ahLst/>
            <a:cxnLst/>
            <a:rect l="l" t="t" r="r" b="b"/>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FF6B00"/>
          </a:solidFill>
          <a:ln/>
        </p:spPr>
      </p:sp>
      <p:sp>
        <p:nvSpPr>
          <p:cNvPr id="33" name="Text 31"/>
          <p:cNvSpPr/>
          <p:nvPr/>
        </p:nvSpPr>
        <p:spPr>
          <a:xfrm>
            <a:off x="5310311" y="2887816"/>
            <a:ext cx="505368" cy="433172"/>
          </a:xfrm>
          <a:prstGeom prst="rect">
            <a:avLst/>
          </a:prstGeom>
          <a:noFill/>
          <a:ln/>
        </p:spPr>
        <p:txBody>
          <a:bodyPr wrap="square" lIns="0" tIns="0" rIns="0" bIns="0" rtlCol="0" anchor="ctr"/>
          <a:lstStyle/>
          <a:p>
            <a:pPr algn="ctr">
              <a:lnSpc>
                <a:spcPct val="130000"/>
              </a:lnSpc>
            </a:pPr>
            <a:r>
              <a:rPr lang="en-US" sz="1137"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4" name="Text 32"/>
          <p:cNvSpPr/>
          <p:nvPr/>
        </p:nvSpPr>
        <p:spPr>
          <a:xfrm>
            <a:off x="5923972" y="2887816"/>
            <a:ext cx="5775633" cy="252684"/>
          </a:xfrm>
          <a:prstGeom prst="rect">
            <a:avLst/>
          </a:prstGeom>
          <a:noFill/>
          <a:ln/>
        </p:spPr>
        <p:txBody>
          <a:bodyPr wrap="square" lIns="0" tIns="0" rIns="0" bIns="0" rtlCol="0" anchor="ctr"/>
          <a:lstStyle/>
          <a:p>
            <a:pPr>
              <a:lnSpc>
                <a:spcPct val="130000"/>
              </a:lnSpc>
            </a:pPr>
            <a:r>
              <a:rPr lang="en-US" sz="1279" b="1" dirty="0">
                <a:solidFill>
                  <a:srgbClr val="003087"/>
                </a:solidFill>
                <a:latin typeface="Liter" pitchFamily="34" charset="0"/>
                <a:ea typeface="Liter" pitchFamily="34" charset="-122"/>
                <a:cs typeface="Liter" pitchFamily="34" charset="-120"/>
              </a:rPr>
              <a:t>Technology as Growth Platform</a:t>
            </a:r>
            <a:endParaRPr lang="en-US" sz="1600" dirty="0"/>
          </a:p>
        </p:txBody>
      </p:sp>
      <p:sp>
        <p:nvSpPr>
          <p:cNvPr id="35" name="Text 33"/>
          <p:cNvSpPr/>
          <p:nvPr/>
        </p:nvSpPr>
        <p:spPr>
          <a:xfrm>
            <a:off x="5923972" y="3176598"/>
            <a:ext cx="5766608" cy="469270"/>
          </a:xfrm>
          <a:prstGeom prst="rect">
            <a:avLst/>
          </a:prstGeom>
          <a:noFill/>
          <a:ln/>
        </p:spPr>
        <p:txBody>
          <a:bodyPr wrap="square" lIns="0" tIns="0" rIns="0" bIns="0" rtlCol="0" anchor="ctr"/>
          <a:lstStyle/>
          <a:p>
            <a:pPr>
              <a:lnSpc>
                <a:spcPct val="140000"/>
              </a:lnSpc>
            </a:pPr>
            <a:r>
              <a:rPr lang="en-US" sz="1137" dirty="0">
                <a:solidFill>
                  <a:srgbClr val="1A1A1A">
                    <a:alpha val="80000"/>
                  </a:srgbClr>
                </a:solidFill>
                <a:latin typeface="Quattrocento Sans" pitchFamily="34" charset="0"/>
                <a:ea typeface="Quattrocento Sans" pitchFamily="34" charset="-122"/>
                <a:cs typeface="Quattrocento Sans" pitchFamily="34" charset="-120"/>
              </a:rPr>
              <a:t>Enterprise-wide technology infrastructure enabling real-time transactions, integrated services, and agile responsiveness in a dynamic environment.</a:t>
            </a:r>
            <a:endParaRPr lang="en-US" sz="1600" dirty="0"/>
          </a:p>
        </p:txBody>
      </p:sp>
      <p:sp>
        <p:nvSpPr>
          <p:cNvPr id="36" name="Shape 34"/>
          <p:cNvSpPr/>
          <p:nvPr/>
        </p:nvSpPr>
        <p:spPr>
          <a:xfrm>
            <a:off x="5346409" y="3790259"/>
            <a:ext cx="433172" cy="433172"/>
          </a:xfrm>
          <a:custGeom>
            <a:avLst/>
            <a:gdLst/>
            <a:ahLst/>
            <a:cxnLst/>
            <a:rect l="l" t="t" r="r" b="b"/>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003087"/>
          </a:solidFill>
          <a:ln/>
        </p:spPr>
      </p:sp>
      <p:sp>
        <p:nvSpPr>
          <p:cNvPr id="37" name="Text 35"/>
          <p:cNvSpPr/>
          <p:nvPr/>
        </p:nvSpPr>
        <p:spPr>
          <a:xfrm>
            <a:off x="5310311" y="3790259"/>
            <a:ext cx="505368" cy="433172"/>
          </a:xfrm>
          <a:prstGeom prst="rect">
            <a:avLst/>
          </a:prstGeom>
          <a:noFill/>
          <a:ln/>
        </p:spPr>
        <p:txBody>
          <a:bodyPr wrap="square" lIns="0" tIns="0" rIns="0" bIns="0" rtlCol="0" anchor="ctr"/>
          <a:lstStyle/>
          <a:p>
            <a:pPr algn="ctr">
              <a:lnSpc>
                <a:spcPct val="130000"/>
              </a:lnSpc>
            </a:pPr>
            <a:r>
              <a:rPr lang="en-US" sz="1137"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38" name="Text 36"/>
          <p:cNvSpPr/>
          <p:nvPr/>
        </p:nvSpPr>
        <p:spPr>
          <a:xfrm>
            <a:off x="5923972" y="3790259"/>
            <a:ext cx="5775633" cy="252684"/>
          </a:xfrm>
          <a:prstGeom prst="rect">
            <a:avLst/>
          </a:prstGeom>
          <a:noFill/>
          <a:ln/>
        </p:spPr>
        <p:txBody>
          <a:bodyPr wrap="square" lIns="0" tIns="0" rIns="0" bIns="0" rtlCol="0" anchor="ctr"/>
          <a:lstStyle/>
          <a:p>
            <a:pPr>
              <a:lnSpc>
                <a:spcPct val="130000"/>
              </a:lnSpc>
            </a:pPr>
            <a:r>
              <a:rPr lang="en-US" sz="1279" b="1" dirty="0">
                <a:solidFill>
                  <a:srgbClr val="003087"/>
                </a:solidFill>
                <a:latin typeface="Liter" pitchFamily="34" charset="0"/>
                <a:ea typeface="Liter" pitchFamily="34" charset="-122"/>
                <a:cs typeface="Liter" pitchFamily="34" charset="-120"/>
              </a:rPr>
              <a:t>Operational Efficiency</a:t>
            </a:r>
            <a:endParaRPr lang="en-US" sz="1600" dirty="0"/>
          </a:p>
        </p:txBody>
      </p:sp>
      <p:sp>
        <p:nvSpPr>
          <p:cNvPr id="39" name="Text 37"/>
          <p:cNvSpPr/>
          <p:nvPr/>
        </p:nvSpPr>
        <p:spPr>
          <a:xfrm>
            <a:off x="5923972" y="4079041"/>
            <a:ext cx="5766608" cy="469270"/>
          </a:xfrm>
          <a:prstGeom prst="rect">
            <a:avLst/>
          </a:prstGeom>
          <a:noFill/>
          <a:ln/>
        </p:spPr>
        <p:txBody>
          <a:bodyPr wrap="square" lIns="0" tIns="0" rIns="0" bIns="0" rtlCol="0" anchor="ctr"/>
          <a:lstStyle/>
          <a:p>
            <a:pPr>
              <a:lnSpc>
                <a:spcPct val="140000"/>
              </a:lnSpc>
            </a:pPr>
            <a:r>
              <a:rPr lang="en-US" sz="1137" dirty="0">
                <a:solidFill>
                  <a:srgbClr val="1A1A1A">
                    <a:alpha val="80000"/>
                  </a:srgbClr>
                </a:solidFill>
                <a:latin typeface="Quattrocento Sans" pitchFamily="34" charset="0"/>
                <a:ea typeface="Quattrocento Sans" pitchFamily="34" charset="-122"/>
                <a:cs typeface="Quattrocento Sans" pitchFamily="34" charset="-120"/>
              </a:rPr>
              <a:t>Strengthen cost discipline and efficiency through shared-service integration and operational streamlining while defending margins and reinforcing cost leadership.</a:t>
            </a:r>
            <a:endParaRPr lang="en-US" sz="1600" dirty="0"/>
          </a:p>
        </p:txBody>
      </p:sp>
      <p:sp>
        <p:nvSpPr>
          <p:cNvPr id="40" name="Shape 38"/>
          <p:cNvSpPr/>
          <p:nvPr/>
        </p:nvSpPr>
        <p:spPr>
          <a:xfrm>
            <a:off x="5346409" y="4692702"/>
            <a:ext cx="433172" cy="433172"/>
          </a:xfrm>
          <a:custGeom>
            <a:avLst/>
            <a:gdLst/>
            <a:ahLst/>
            <a:cxnLst/>
            <a:rect l="l" t="t" r="r" b="b"/>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FF6B00"/>
          </a:solidFill>
          <a:ln/>
        </p:spPr>
      </p:sp>
      <p:sp>
        <p:nvSpPr>
          <p:cNvPr id="41" name="Text 39"/>
          <p:cNvSpPr/>
          <p:nvPr/>
        </p:nvSpPr>
        <p:spPr>
          <a:xfrm>
            <a:off x="5310311" y="4692702"/>
            <a:ext cx="505368" cy="433172"/>
          </a:xfrm>
          <a:prstGeom prst="rect">
            <a:avLst/>
          </a:prstGeom>
          <a:noFill/>
          <a:ln/>
        </p:spPr>
        <p:txBody>
          <a:bodyPr wrap="square" lIns="0" tIns="0" rIns="0" bIns="0" rtlCol="0" anchor="ctr"/>
          <a:lstStyle/>
          <a:p>
            <a:pPr algn="ctr">
              <a:lnSpc>
                <a:spcPct val="130000"/>
              </a:lnSpc>
            </a:pPr>
            <a:r>
              <a:rPr lang="en-US" sz="1137"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2" name="Text 40"/>
          <p:cNvSpPr/>
          <p:nvPr/>
        </p:nvSpPr>
        <p:spPr>
          <a:xfrm>
            <a:off x="5923972" y="4692702"/>
            <a:ext cx="5775633" cy="252684"/>
          </a:xfrm>
          <a:prstGeom prst="rect">
            <a:avLst/>
          </a:prstGeom>
          <a:noFill/>
          <a:ln/>
        </p:spPr>
        <p:txBody>
          <a:bodyPr wrap="square" lIns="0" tIns="0" rIns="0" bIns="0" rtlCol="0" anchor="ctr"/>
          <a:lstStyle/>
          <a:p>
            <a:pPr>
              <a:lnSpc>
                <a:spcPct val="130000"/>
              </a:lnSpc>
            </a:pPr>
            <a:r>
              <a:rPr lang="en-US" sz="1279" b="1" dirty="0">
                <a:solidFill>
                  <a:srgbClr val="003087"/>
                </a:solidFill>
                <a:latin typeface="Liter" pitchFamily="34" charset="0"/>
                <a:ea typeface="Liter" pitchFamily="34" charset="-122"/>
                <a:cs typeface="Liter" pitchFamily="34" charset="-120"/>
              </a:rPr>
              <a:t>Talent-Driven Global Execution</a:t>
            </a:r>
            <a:endParaRPr lang="en-US" sz="1600" dirty="0"/>
          </a:p>
        </p:txBody>
      </p:sp>
      <p:sp>
        <p:nvSpPr>
          <p:cNvPr id="43" name="Text 41"/>
          <p:cNvSpPr/>
          <p:nvPr/>
        </p:nvSpPr>
        <p:spPr>
          <a:xfrm>
            <a:off x="5923972" y="4981483"/>
            <a:ext cx="5766608" cy="469270"/>
          </a:xfrm>
          <a:prstGeom prst="rect">
            <a:avLst/>
          </a:prstGeom>
          <a:noFill/>
          <a:ln/>
        </p:spPr>
        <p:txBody>
          <a:bodyPr wrap="square" lIns="0" tIns="0" rIns="0" bIns="0" rtlCol="0" anchor="ctr"/>
          <a:lstStyle/>
          <a:p>
            <a:pPr>
              <a:lnSpc>
                <a:spcPct val="140000"/>
              </a:lnSpc>
            </a:pPr>
            <a:r>
              <a:rPr lang="en-US" sz="1137" dirty="0">
                <a:solidFill>
                  <a:srgbClr val="1A1A1A">
                    <a:alpha val="80000"/>
                  </a:srgbClr>
                </a:solidFill>
                <a:latin typeface="Quattrocento Sans" pitchFamily="34" charset="0"/>
                <a:ea typeface="Quattrocento Sans" pitchFamily="34" charset="-122"/>
                <a:cs typeface="Quattrocento Sans" pitchFamily="34" charset="-120"/>
              </a:rPr>
              <a:t>Attracting, developing, and retaining skilled professionals to support global objectives and growth through innovation.</a:t>
            </a:r>
            <a:endParaRPr lang="en-US" sz="1600" dirty="0"/>
          </a:p>
        </p:txBody>
      </p:sp>
      <p:sp>
        <p:nvSpPr>
          <p:cNvPr id="44" name="Shape 42"/>
          <p:cNvSpPr/>
          <p:nvPr/>
        </p:nvSpPr>
        <p:spPr>
          <a:xfrm>
            <a:off x="5346409" y="5631242"/>
            <a:ext cx="6271976" cy="721954"/>
          </a:xfrm>
          <a:custGeom>
            <a:avLst/>
            <a:gdLst/>
            <a:ahLst/>
            <a:cxnLst/>
            <a:rect l="l" t="t" r="r" b="b"/>
            <a:pathLst>
              <a:path w="6271976" h="721954">
                <a:moveTo>
                  <a:pt x="108293" y="0"/>
                </a:moveTo>
                <a:lnTo>
                  <a:pt x="6163683" y="0"/>
                </a:lnTo>
                <a:cubicBezTo>
                  <a:pt x="6223492" y="0"/>
                  <a:pt x="6271976" y="48484"/>
                  <a:pt x="6271976" y="108293"/>
                </a:cubicBezTo>
                <a:lnTo>
                  <a:pt x="6271976" y="613661"/>
                </a:lnTo>
                <a:cubicBezTo>
                  <a:pt x="6271976" y="673470"/>
                  <a:pt x="6223492" y="721954"/>
                  <a:pt x="6163683" y="721954"/>
                </a:cubicBezTo>
                <a:lnTo>
                  <a:pt x="108293" y="721954"/>
                </a:lnTo>
                <a:cubicBezTo>
                  <a:pt x="48484" y="721954"/>
                  <a:pt x="0" y="673470"/>
                  <a:pt x="0" y="613661"/>
                </a:cubicBezTo>
                <a:lnTo>
                  <a:pt x="0" y="108293"/>
                </a:lnTo>
                <a:cubicBezTo>
                  <a:pt x="0" y="48484"/>
                  <a:pt x="48484" y="0"/>
                  <a:pt x="108293" y="0"/>
                </a:cubicBezTo>
                <a:close/>
              </a:path>
            </a:pathLst>
          </a:custGeom>
          <a:solidFill>
            <a:srgbClr val="003087"/>
          </a:solidFill>
          <a:ln/>
        </p:spPr>
      </p:sp>
      <p:sp>
        <p:nvSpPr>
          <p:cNvPr id="45" name="Shape 43"/>
          <p:cNvSpPr/>
          <p:nvPr/>
        </p:nvSpPr>
        <p:spPr>
          <a:xfrm>
            <a:off x="5517873" y="5883926"/>
            <a:ext cx="216586" cy="216586"/>
          </a:xfrm>
          <a:custGeom>
            <a:avLst/>
            <a:gdLst/>
            <a:ahLst/>
            <a:cxnLst/>
            <a:rect l="l" t="t" r="r" b="b"/>
            <a:pathLst>
              <a:path w="216586" h="216586">
                <a:moveTo>
                  <a:pt x="189344" y="74028"/>
                </a:moveTo>
                <a:cubicBezTo>
                  <a:pt x="175976" y="42471"/>
                  <a:pt x="144715" y="20305"/>
                  <a:pt x="108293" y="20305"/>
                </a:cubicBezTo>
                <a:cubicBezTo>
                  <a:pt x="98944" y="20305"/>
                  <a:pt x="89934" y="21786"/>
                  <a:pt x="81474" y="24451"/>
                </a:cubicBezTo>
                <a:cubicBezTo>
                  <a:pt x="81304" y="25297"/>
                  <a:pt x="81220" y="26185"/>
                  <a:pt x="81220" y="27073"/>
                </a:cubicBezTo>
                <a:lnTo>
                  <a:pt x="81220" y="58123"/>
                </a:lnTo>
                <a:cubicBezTo>
                  <a:pt x="81220" y="63411"/>
                  <a:pt x="85492" y="67683"/>
                  <a:pt x="90780" y="67683"/>
                </a:cubicBezTo>
                <a:cubicBezTo>
                  <a:pt x="93318" y="67683"/>
                  <a:pt x="95772" y="66668"/>
                  <a:pt x="97548" y="64891"/>
                </a:cubicBezTo>
                <a:lnTo>
                  <a:pt x="104317" y="58123"/>
                </a:lnTo>
                <a:cubicBezTo>
                  <a:pt x="106855" y="55585"/>
                  <a:pt x="110281" y="54147"/>
                  <a:pt x="113877" y="54147"/>
                </a:cubicBezTo>
                <a:lnTo>
                  <a:pt x="116204" y="54147"/>
                </a:lnTo>
                <a:cubicBezTo>
                  <a:pt x="128260" y="54147"/>
                  <a:pt x="134309" y="68741"/>
                  <a:pt x="125764" y="77243"/>
                </a:cubicBezTo>
                <a:cubicBezTo>
                  <a:pt x="123226" y="79782"/>
                  <a:pt x="119799" y="81220"/>
                  <a:pt x="116204" y="81220"/>
                </a:cubicBezTo>
                <a:lnTo>
                  <a:pt x="90188" y="81220"/>
                </a:lnTo>
                <a:cubicBezTo>
                  <a:pt x="86592" y="81220"/>
                  <a:pt x="83166" y="82658"/>
                  <a:pt x="80628" y="85196"/>
                </a:cubicBezTo>
                <a:lnTo>
                  <a:pt x="71617" y="94207"/>
                </a:lnTo>
                <a:cubicBezTo>
                  <a:pt x="69079" y="96745"/>
                  <a:pt x="67641" y="100171"/>
                  <a:pt x="67641" y="103767"/>
                </a:cubicBezTo>
                <a:lnTo>
                  <a:pt x="67641" y="121830"/>
                </a:lnTo>
                <a:cubicBezTo>
                  <a:pt x="67641" y="129317"/>
                  <a:pt x="73690" y="135366"/>
                  <a:pt x="81178" y="135366"/>
                </a:cubicBezTo>
                <a:lnTo>
                  <a:pt x="94714" y="135366"/>
                </a:lnTo>
                <a:cubicBezTo>
                  <a:pt x="102202" y="135366"/>
                  <a:pt x="108251" y="141416"/>
                  <a:pt x="108251" y="148903"/>
                </a:cubicBezTo>
                <a:lnTo>
                  <a:pt x="108251" y="162440"/>
                </a:lnTo>
                <a:cubicBezTo>
                  <a:pt x="108251" y="169927"/>
                  <a:pt x="114300" y="175976"/>
                  <a:pt x="121787" y="175976"/>
                </a:cubicBezTo>
                <a:lnTo>
                  <a:pt x="122930" y="175976"/>
                </a:lnTo>
                <a:cubicBezTo>
                  <a:pt x="126525" y="175976"/>
                  <a:pt x="129952" y="174538"/>
                  <a:pt x="132490" y="172000"/>
                </a:cubicBezTo>
                <a:lnTo>
                  <a:pt x="144884" y="159605"/>
                </a:lnTo>
                <a:cubicBezTo>
                  <a:pt x="147422" y="157067"/>
                  <a:pt x="148861" y="153641"/>
                  <a:pt x="148861" y="150045"/>
                </a:cubicBezTo>
                <a:lnTo>
                  <a:pt x="148861" y="142135"/>
                </a:lnTo>
                <a:cubicBezTo>
                  <a:pt x="148861" y="138412"/>
                  <a:pt x="151906" y="135366"/>
                  <a:pt x="155629" y="135366"/>
                </a:cubicBezTo>
                <a:cubicBezTo>
                  <a:pt x="159352" y="135366"/>
                  <a:pt x="162397" y="132321"/>
                  <a:pt x="162397" y="128598"/>
                </a:cubicBezTo>
                <a:lnTo>
                  <a:pt x="162397" y="113919"/>
                </a:lnTo>
                <a:cubicBezTo>
                  <a:pt x="162397" y="110324"/>
                  <a:pt x="160959" y="106897"/>
                  <a:pt x="158421" y="104359"/>
                </a:cubicBezTo>
                <a:lnTo>
                  <a:pt x="151653" y="97591"/>
                </a:lnTo>
                <a:cubicBezTo>
                  <a:pt x="149876" y="95814"/>
                  <a:pt x="148861" y="93361"/>
                  <a:pt x="148861" y="90822"/>
                </a:cubicBezTo>
                <a:cubicBezTo>
                  <a:pt x="148861" y="85535"/>
                  <a:pt x="153133" y="81262"/>
                  <a:pt x="158421" y="81262"/>
                </a:cubicBezTo>
                <a:lnTo>
                  <a:pt x="177457" y="81262"/>
                </a:lnTo>
                <a:cubicBezTo>
                  <a:pt x="182702" y="81262"/>
                  <a:pt x="187059" y="78259"/>
                  <a:pt x="189301" y="74071"/>
                </a:cubicBezTo>
                <a:close/>
                <a:moveTo>
                  <a:pt x="0" y="108293"/>
                </a:moveTo>
                <a:cubicBezTo>
                  <a:pt x="0" y="48525"/>
                  <a:pt x="48525" y="0"/>
                  <a:pt x="108293" y="0"/>
                </a:cubicBezTo>
                <a:cubicBezTo>
                  <a:pt x="168062" y="0"/>
                  <a:pt x="216586" y="48525"/>
                  <a:pt x="216586" y="108293"/>
                </a:cubicBezTo>
                <a:cubicBezTo>
                  <a:pt x="216586" y="168062"/>
                  <a:pt x="168062" y="216586"/>
                  <a:pt x="108293" y="216586"/>
                </a:cubicBezTo>
                <a:cubicBezTo>
                  <a:pt x="48525" y="216586"/>
                  <a:pt x="0" y="168062"/>
                  <a:pt x="0" y="108293"/>
                </a:cubicBezTo>
                <a:close/>
              </a:path>
            </a:pathLst>
          </a:custGeom>
          <a:solidFill>
            <a:srgbClr val="FF6B00"/>
          </a:solidFill>
          <a:ln/>
        </p:spPr>
      </p:sp>
      <p:sp>
        <p:nvSpPr>
          <p:cNvPr id="46" name="Text 44"/>
          <p:cNvSpPr/>
          <p:nvPr/>
        </p:nvSpPr>
        <p:spPr>
          <a:xfrm>
            <a:off x="5869825" y="5775633"/>
            <a:ext cx="3790259" cy="252684"/>
          </a:xfrm>
          <a:prstGeom prst="rect">
            <a:avLst/>
          </a:prstGeom>
          <a:noFill/>
          <a:ln/>
        </p:spPr>
        <p:txBody>
          <a:bodyPr wrap="square" lIns="0" tIns="0" rIns="0" bIns="0" rtlCol="0" anchor="ctr"/>
          <a:lstStyle/>
          <a:p>
            <a:pPr>
              <a:lnSpc>
                <a:spcPct val="130000"/>
              </a:lnSpc>
            </a:pPr>
            <a:r>
              <a:rPr lang="en-US" sz="1279" b="1" dirty="0">
                <a:solidFill>
                  <a:srgbClr val="FFFFFF"/>
                </a:solidFill>
                <a:latin typeface="Liter" pitchFamily="34" charset="0"/>
                <a:ea typeface="Liter" pitchFamily="34" charset="-122"/>
                <a:cs typeface="Liter" pitchFamily="34" charset="-120"/>
              </a:rPr>
              <a:t>Vision: Africa's Gateway to the World</a:t>
            </a:r>
            <a:endParaRPr lang="en-US" sz="1600" dirty="0"/>
          </a:p>
        </p:txBody>
      </p:sp>
      <p:sp>
        <p:nvSpPr>
          <p:cNvPr id="47" name="Text 45"/>
          <p:cNvSpPr/>
          <p:nvPr/>
        </p:nvSpPr>
        <p:spPr>
          <a:xfrm>
            <a:off x="5869825" y="6028317"/>
            <a:ext cx="3772210" cy="180489"/>
          </a:xfrm>
          <a:prstGeom prst="rect">
            <a:avLst/>
          </a:prstGeom>
          <a:noFill/>
          <a:ln/>
        </p:spPr>
        <p:txBody>
          <a:bodyPr wrap="square" lIns="0" tIns="0" rIns="0" bIns="0" rtlCol="0" anchor="ctr"/>
          <a:lstStyle/>
          <a:p>
            <a:pPr>
              <a:lnSpc>
                <a:spcPct val="120000"/>
              </a:lnSpc>
            </a:pPr>
            <a:r>
              <a:rPr lang="en-US" sz="995" dirty="0">
                <a:solidFill>
                  <a:srgbClr val="FFFFFF">
                    <a:alpha val="80000"/>
                  </a:srgbClr>
                </a:solidFill>
                <a:latin typeface="Quattrocento Sans" pitchFamily="34" charset="0"/>
                <a:ea typeface="Quattrocento Sans" pitchFamily="34" charset="-122"/>
                <a:cs typeface="Quattrocento Sans" pitchFamily="34" charset="-120"/>
              </a:rPr>
              <a:t>Delivering scalable earnings growth and optimizing capital efficiency</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406" y="335406"/>
            <a:ext cx="11579884" cy="167703"/>
          </a:xfrm>
          <a:prstGeom prst="rect">
            <a:avLst/>
          </a:prstGeom>
          <a:noFill/>
          <a:ln/>
        </p:spPr>
        <p:txBody>
          <a:bodyPr wrap="square" lIns="0" tIns="0" rIns="0" bIns="0" rtlCol="0" anchor="ctr"/>
          <a:lstStyle/>
          <a:p>
            <a:pPr>
              <a:lnSpc>
                <a:spcPct val="120000"/>
              </a:lnSpc>
            </a:pPr>
            <a:r>
              <a:rPr lang="en-US" sz="924" b="1" kern="0" spc="46" dirty="0">
                <a:solidFill>
                  <a:srgbClr val="FF6B00"/>
                </a:solidFill>
                <a:latin typeface="Liter" pitchFamily="34" charset="0"/>
                <a:ea typeface="Liter" pitchFamily="34" charset="-122"/>
                <a:cs typeface="Liter" pitchFamily="34" charset="-120"/>
              </a:rPr>
              <a:t>02 | STRATEGIC APPROACH</a:t>
            </a:r>
            <a:endParaRPr lang="en-US" sz="1600" dirty="0"/>
          </a:p>
        </p:txBody>
      </p:sp>
      <p:sp>
        <p:nvSpPr>
          <p:cNvPr id="3" name="Text 1"/>
          <p:cNvSpPr/>
          <p:nvPr/>
        </p:nvSpPr>
        <p:spPr>
          <a:xfrm>
            <a:off x="335406" y="570190"/>
            <a:ext cx="11672121" cy="335406"/>
          </a:xfrm>
          <a:prstGeom prst="rect">
            <a:avLst/>
          </a:prstGeom>
          <a:noFill/>
          <a:ln/>
        </p:spPr>
        <p:txBody>
          <a:bodyPr wrap="square" lIns="0" tIns="0" rIns="0" bIns="0" rtlCol="0" anchor="ctr"/>
          <a:lstStyle/>
          <a:p>
            <a:pPr>
              <a:lnSpc>
                <a:spcPct val="90000"/>
              </a:lnSpc>
            </a:pPr>
            <a:r>
              <a:rPr lang="en-US" sz="2377" b="1" dirty="0">
                <a:solidFill>
                  <a:srgbClr val="003087"/>
                </a:solidFill>
                <a:latin typeface="Liter" pitchFamily="34" charset="0"/>
                <a:ea typeface="Liter" pitchFamily="34" charset="-122"/>
                <a:cs typeface="Liter" pitchFamily="34" charset="-120"/>
              </a:rPr>
              <a:t>Project Management Framework</a:t>
            </a:r>
            <a:endParaRPr lang="en-US" sz="1600" dirty="0"/>
          </a:p>
        </p:txBody>
      </p:sp>
      <p:sp>
        <p:nvSpPr>
          <p:cNvPr id="4" name="Shape 2"/>
          <p:cNvSpPr/>
          <p:nvPr/>
        </p:nvSpPr>
        <p:spPr>
          <a:xfrm>
            <a:off x="335406" y="1006217"/>
            <a:ext cx="804974" cy="33541"/>
          </a:xfrm>
          <a:custGeom>
            <a:avLst/>
            <a:gdLst/>
            <a:ahLst/>
            <a:cxnLst/>
            <a:rect l="l" t="t" r="r" b="b"/>
            <a:pathLst>
              <a:path w="804974" h="33541">
                <a:moveTo>
                  <a:pt x="0" y="0"/>
                </a:moveTo>
                <a:lnTo>
                  <a:pt x="804974" y="0"/>
                </a:lnTo>
                <a:lnTo>
                  <a:pt x="804974" y="33541"/>
                </a:lnTo>
                <a:lnTo>
                  <a:pt x="0" y="33541"/>
                </a:lnTo>
                <a:lnTo>
                  <a:pt x="0" y="0"/>
                </a:lnTo>
                <a:close/>
              </a:path>
            </a:pathLst>
          </a:custGeom>
          <a:solidFill>
            <a:srgbClr val="FF6B00"/>
          </a:solidFill>
          <a:ln/>
        </p:spPr>
      </p:sp>
      <p:sp>
        <p:nvSpPr>
          <p:cNvPr id="5" name="Shape 3"/>
          <p:cNvSpPr/>
          <p:nvPr/>
        </p:nvSpPr>
        <p:spPr>
          <a:xfrm>
            <a:off x="335406" y="1207461"/>
            <a:ext cx="5676743" cy="2113056"/>
          </a:xfrm>
          <a:custGeom>
            <a:avLst/>
            <a:gdLst/>
            <a:ahLst/>
            <a:cxnLst/>
            <a:rect l="l" t="t" r="r" b="b"/>
            <a:pathLst>
              <a:path w="5676743" h="2113056">
                <a:moveTo>
                  <a:pt x="100624" y="0"/>
                </a:moveTo>
                <a:lnTo>
                  <a:pt x="5576119" y="0"/>
                </a:lnTo>
                <a:cubicBezTo>
                  <a:pt x="5631692" y="0"/>
                  <a:pt x="5676743" y="45051"/>
                  <a:pt x="5676743" y="100624"/>
                </a:cubicBezTo>
                <a:lnTo>
                  <a:pt x="5676743" y="2012433"/>
                </a:lnTo>
                <a:cubicBezTo>
                  <a:pt x="5676743" y="2068006"/>
                  <a:pt x="5631692" y="2113056"/>
                  <a:pt x="5576119" y="2113056"/>
                </a:cubicBezTo>
                <a:lnTo>
                  <a:pt x="100624" y="2113056"/>
                </a:lnTo>
                <a:cubicBezTo>
                  <a:pt x="45051" y="2113056"/>
                  <a:pt x="0" y="2068006"/>
                  <a:pt x="0" y="2012433"/>
                </a:cubicBezTo>
                <a:lnTo>
                  <a:pt x="0" y="100624"/>
                </a:lnTo>
                <a:cubicBezTo>
                  <a:pt x="0" y="45051"/>
                  <a:pt x="45051" y="0"/>
                  <a:pt x="100624"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557612" y="1442245"/>
            <a:ext cx="167703" cy="167703"/>
          </a:xfrm>
          <a:custGeom>
            <a:avLst/>
            <a:gdLst/>
            <a:ahLst/>
            <a:cxnLst/>
            <a:rect l="l" t="t" r="r" b="b"/>
            <a:pathLst>
              <a:path w="167703" h="167703">
                <a:moveTo>
                  <a:pt x="76154" y="1703"/>
                </a:moveTo>
                <a:cubicBezTo>
                  <a:pt x="81035" y="-557"/>
                  <a:pt x="86668" y="-557"/>
                  <a:pt x="91549" y="1703"/>
                </a:cubicBezTo>
                <a:lnTo>
                  <a:pt x="163150" y="34785"/>
                </a:lnTo>
                <a:cubicBezTo>
                  <a:pt x="165934" y="36063"/>
                  <a:pt x="167703" y="38847"/>
                  <a:pt x="167703" y="41926"/>
                </a:cubicBezTo>
                <a:cubicBezTo>
                  <a:pt x="167703" y="45005"/>
                  <a:pt x="165934" y="47789"/>
                  <a:pt x="163150" y="49066"/>
                </a:cubicBezTo>
                <a:lnTo>
                  <a:pt x="91549" y="82148"/>
                </a:lnTo>
                <a:cubicBezTo>
                  <a:pt x="86668" y="84408"/>
                  <a:pt x="81035" y="84408"/>
                  <a:pt x="76154" y="82148"/>
                </a:cubicBezTo>
                <a:lnTo>
                  <a:pt x="4553" y="49066"/>
                </a:lnTo>
                <a:cubicBezTo>
                  <a:pt x="1769" y="47756"/>
                  <a:pt x="0" y="44972"/>
                  <a:pt x="0" y="41926"/>
                </a:cubicBezTo>
                <a:cubicBezTo>
                  <a:pt x="0" y="38880"/>
                  <a:pt x="1769" y="36063"/>
                  <a:pt x="4553" y="34785"/>
                </a:cubicBezTo>
                <a:lnTo>
                  <a:pt x="76154" y="1703"/>
                </a:lnTo>
                <a:close/>
                <a:moveTo>
                  <a:pt x="15755" y="71536"/>
                </a:moveTo>
                <a:lnTo>
                  <a:pt x="69570" y="96396"/>
                </a:lnTo>
                <a:cubicBezTo>
                  <a:pt x="78643" y="100589"/>
                  <a:pt x="89092" y="100589"/>
                  <a:pt x="98165" y="96396"/>
                </a:cubicBezTo>
                <a:lnTo>
                  <a:pt x="151981" y="71536"/>
                </a:lnTo>
                <a:lnTo>
                  <a:pt x="163150" y="76711"/>
                </a:lnTo>
                <a:cubicBezTo>
                  <a:pt x="165934" y="77988"/>
                  <a:pt x="167703" y="80773"/>
                  <a:pt x="167703" y="83851"/>
                </a:cubicBezTo>
                <a:cubicBezTo>
                  <a:pt x="167703" y="86930"/>
                  <a:pt x="165934" y="89714"/>
                  <a:pt x="163150" y="90992"/>
                </a:cubicBezTo>
                <a:lnTo>
                  <a:pt x="91549" y="124074"/>
                </a:lnTo>
                <a:cubicBezTo>
                  <a:pt x="86668" y="126334"/>
                  <a:pt x="81035" y="126334"/>
                  <a:pt x="76154" y="124074"/>
                </a:cubicBezTo>
                <a:lnTo>
                  <a:pt x="4553" y="90992"/>
                </a:lnTo>
                <a:cubicBezTo>
                  <a:pt x="1769" y="89682"/>
                  <a:pt x="0" y="86898"/>
                  <a:pt x="0" y="83851"/>
                </a:cubicBezTo>
                <a:cubicBezTo>
                  <a:pt x="0" y="80805"/>
                  <a:pt x="1769" y="77988"/>
                  <a:pt x="4553" y="76711"/>
                </a:cubicBezTo>
                <a:lnTo>
                  <a:pt x="15722" y="71536"/>
                </a:lnTo>
                <a:close/>
                <a:moveTo>
                  <a:pt x="4553" y="118637"/>
                </a:moveTo>
                <a:lnTo>
                  <a:pt x="15722" y="113461"/>
                </a:lnTo>
                <a:lnTo>
                  <a:pt x="69538" y="138322"/>
                </a:lnTo>
                <a:cubicBezTo>
                  <a:pt x="78611" y="142515"/>
                  <a:pt x="89059" y="142515"/>
                  <a:pt x="98132" y="138322"/>
                </a:cubicBezTo>
                <a:lnTo>
                  <a:pt x="151948" y="113461"/>
                </a:lnTo>
                <a:lnTo>
                  <a:pt x="163117" y="118637"/>
                </a:lnTo>
                <a:cubicBezTo>
                  <a:pt x="165901" y="119914"/>
                  <a:pt x="167670" y="122698"/>
                  <a:pt x="167670" y="125777"/>
                </a:cubicBezTo>
                <a:cubicBezTo>
                  <a:pt x="167670" y="128856"/>
                  <a:pt x="165901" y="131640"/>
                  <a:pt x="163117" y="132918"/>
                </a:cubicBezTo>
                <a:lnTo>
                  <a:pt x="91516" y="166000"/>
                </a:lnTo>
                <a:cubicBezTo>
                  <a:pt x="86636" y="168260"/>
                  <a:pt x="81002" y="168260"/>
                  <a:pt x="76121" y="166000"/>
                </a:cubicBezTo>
                <a:lnTo>
                  <a:pt x="4553" y="132918"/>
                </a:lnTo>
                <a:cubicBezTo>
                  <a:pt x="1769" y="131607"/>
                  <a:pt x="0" y="128823"/>
                  <a:pt x="0" y="125777"/>
                </a:cubicBezTo>
                <a:cubicBezTo>
                  <a:pt x="0" y="122731"/>
                  <a:pt x="1769" y="119914"/>
                  <a:pt x="4553" y="118637"/>
                </a:cubicBezTo>
                <a:close/>
              </a:path>
            </a:pathLst>
          </a:custGeom>
          <a:solidFill>
            <a:srgbClr val="FF6B00"/>
          </a:solidFill>
          <a:ln/>
        </p:spPr>
      </p:sp>
      <p:sp>
        <p:nvSpPr>
          <p:cNvPr id="7" name="Text 5"/>
          <p:cNvSpPr/>
          <p:nvPr/>
        </p:nvSpPr>
        <p:spPr>
          <a:xfrm>
            <a:off x="746278" y="1408704"/>
            <a:ext cx="5148479" cy="234784"/>
          </a:xfrm>
          <a:prstGeom prst="rect">
            <a:avLst/>
          </a:prstGeom>
          <a:noFill/>
          <a:ln/>
        </p:spPr>
        <p:txBody>
          <a:bodyPr wrap="square" lIns="0" tIns="0" rIns="0" bIns="0" rtlCol="0" anchor="ctr"/>
          <a:lstStyle/>
          <a:p>
            <a:pPr>
              <a:lnSpc>
                <a:spcPct val="120000"/>
              </a:lnSpc>
            </a:pPr>
            <a:r>
              <a:rPr lang="en-US" sz="1321" b="1" dirty="0">
                <a:solidFill>
                  <a:srgbClr val="FFFFFF"/>
                </a:solidFill>
                <a:latin typeface="Liter" pitchFamily="34" charset="0"/>
                <a:ea typeface="Liter" pitchFamily="34" charset="-122"/>
                <a:cs typeface="Liter" pitchFamily="34" charset="-120"/>
              </a:rPr>
              <a:t>Hybrid Methodology Approach</a:t>
            </a:r>
            <a:endParaRPr lang="en-US" sz="1600" dirty="0"/>
          </a:p>
        </p:txBody>
      </p:sp>
      <p:sp>
        <p:nvSpPr>
          <p:cNvPr id="8" name="Text 6"/>
          <p:cNvSpPr/>
          <p:nvPr/>
        </p:nvSpPr>
        <p:spPr>
          <a:xfrm>
            <a:off x="536649" y="1777651"/>
            <a:ext cx="5341337" cy="436028"/>
          </a:xfrm>
          <a:prstGeom prst="rect">
            <a:avLst/>
          </a:prstGeom>
          <a:noFill/>
          <a:ln/>
        </p:spPr>
        <p:txBody>
          <a:bodyPr wrap="square" lIns="0" tIns="0" rIns="0" bIns="0" rtlCol="0" anchor="ctr"/>
          <a:lstStyle/>
          <a:p>
            <a:pPr>
              <a:lnSpc>
                <a:spcPct val="140000"/>
              </a:lnSpc>
            </a:pPr>
            <a:r>
              <a:rPr lang="en-US" sz="1056" dirty="0">
                <a:solidFill>
                  <a:srgbClr val="FFFFFF"/>
                </a:solidFill>
                <a:latin typeface="Quattrocento Sans" pitchFamily="34" charset="0"/>
                <a:ea typeface="Quattrocento Sans" pitchFamily="34" charset="-122"/>
                <a:cs typeface="Quattrocento Sans" pitchFamily="34" charset="-120"/>
              </a:rPr>
              <a:t>Combining </a:t>
            </a:r>
            <a:r>
              <a:rPr lang="en-US" sz="1056" b="1" dirty="0">
                <a:solidFill>
                  <a:srgbClr val="FFFFFF"/>
                </a:solidFill>
                <a:highlight>
                  <a:srgbClr val="FF6B00">
                    <a:alpha val="100000"/>
                  </a:srgbClr>
                </a:highlight>
                <a:latin typeface="Quattrocento Sans" pitchFamily="34" charset="0"/>
                <a:ea typeface="Quattrocento Sans" pitchFamily="34" charset="-122"/>
                <a:cs typeface="Quattrocento Sans" pitchFamily="34" charset="-120"/>
              </a:rPr>
              <a:t>PMI/PRINCE2 governance </a:t>
            </a:r>
            <a:r>
              <a:rPr lang="en-US" sz="1056" dirty="0">
                <a:solidFill>
                  <a:srgbClr val="FFFFFF"/>
                </a:solidFill>
                <a:latin typeface="Quattrocento Sans" pitchFamily="34" charset="0"/>
                <a:ea typeface="Quattrocento Sans" pitchFamily="34" charset="-122"/>
                <a:cs typeface="Quattrocento Sans" pitchFamily="34" charset="-120"/>
              </a:rPr>
              <a:t>with </a:t>
            </a:r>
            <a:r>
              <a:rPr lang="en-US" sz="1056" b="1" dirty="0">
                <a:solidFill>
                  <a:srgbClr val="FFFFFF"/>
                </a:solidFill>
                <a:highlight>
                  <a:srgbClr val="FF6B00">
                    <a:alpha val="100000"/>
                  </a:srgbClr>
                </a:highlight>
                <a:latin typeface="Quattrocento Sans" pitchFamily="34" charset="0"/>
                <a:ea typeface="Quattrocento Sans" pitchFamily="34" charset="-122"/>
                <a:cs typeface="Quattrocento Sans" pitchFamily="34" charset="-120"/>
              </a:rPr>
              <a:t>Agile delivery </a:t>
            </a:r>
            <a:r>
              <a:rPr lang="en-US" sz="1056" dirty="0">
                <a:solidFill>
                  <a:srgbClr val="FFFFFF"/>
                </a:solidFill>
                <a:latin typeface="Quattrocento Sans" pitchFamily="34" charset="0"/>
                <a:ea typeface="Quattrocento Sans" pitchFamily="34" charset="-122"/>
                <a:cs typeface="Quattrocento Sans" pitchFamily="34" charset="-120"/>
              </a:rPr>
              <a:t>for innovation components, ensuring structured control while maintaining flexibility for rapid adaptation.</a:t>
            </a:r>
            <a:endParaRPr lang="en-US" sz="1600" dirty="0"/>
          </a:p>
        </p:txBody>
      </p:sp>
      <p:sp>
        <p:nvSpPr>
          <p:cNvPr id="9" name="Shape 7"/>
          <p:cNvSpPr/>
          <p:nvPr/>
        </p:nvSpPr>
        <p:spPr>
          <a:xfrm>
            <a:off x="536649" y="2347840"/>
            <a:ext cx="2591010" cy="771433"/>
          </a:xfrm>
          <a:custGeom>
            <a:avLst/>
            <a:gdLst/>
            <a:ahLst/>
            <a:cxnLst/>
            <a:rect l="l" t="t" r="r" b="b"/>
            <a:pathLst>
              <a:path w="2591010" h="771433">
                <a:moveTo>
                  <a:pt x="67084" y="0"/>
                </a:moveTo>
                <a:lnTo>
                  <a:pt x="2523926" y="0"/>
                </a:lnTo>
                <a:cubicBezTo>
                  <a:pt x="2560975" y="0"/>
                  <a:pt x="2591010" y="30034"/>
                  <a:pt x="2591010" y="67084"/>
                </a:cubicBezTo>
                <a:lnTo>
                  <a:pt x="2591010" y="704349"/>
                </a:lnTo>
                <a:cubicBezTo>
                  <a:pt x="2591010" y="741399"/>
                  <a:pt x="2560975" y="771433"/>
                  <a:pt x="2523926" y="771433"/>
                </a:cubicBezTo>
                <a:lnTo>
                  <a:pt x="67084" y="771433"/>
                </a:lnTo>
                <a:cubicBezTo>
                  <a:pt x="30034" y="771433"/>
                  <a:pt x="0" y="741399"/>
                  <a:pt x="0" y="704349"/>
                </a:cubicBezTo>
                <a:lnTo>
                  <a:pt x="0" y="67084"/>
                </a:lnTo>
                <a:cubicBezTo>
                  <a:pt x="0" y="30034"/>
                  <a:pt x="30034" y="0"/>
                  <a:pt x="67084" y="0"/>
                </a:cubicBezTo>
                <a:close/>
              </a:path>
            </a:pathLst>
          </a:custGeom>
          <a:solidFill>
            <a:srgbClr val="FFFFFF">
              <a:alpha val="10196"/>
            </a:srgbClr>
          </a:solidFill>
          <a:ln/>
        </p:spPr>
      </p:sp>
      <p:sp>
        <p:nvSpPr>
          <p:cNvPr id="10" name="Text 8"/>
          <p:cNvSpPr/>
          <p:nvPr/>
        </p:nvSpPr>
        <p:spPr>
          <a:xfrm>
            <a:off x="637271" y="2448462"/>
            <a:ext cx="2456847" cy="201243"/>
          </a:xfrm>
          <a:prstGeom prst="rect">
            <a:avLst/>
          </a:prstGeom>
          <a:noFill/>
          <a:ln/>
        </p:spPr>
        <p:txBody>
          <a:bodyPr wrap="square" lIns="0" tIns="0" rIns="0" bIns="0" rtlCol="0" anchor="ctr"/>
          <a:lstStyle/>
          <a:p>
            <a:pPr>
              <a:lnSpc>
                <a:spcPct val="130000"/>
              </a:lnSpc>
            </a:pPr>
            <a:r>
              <a:rPr lang="en-US" sz="1056" b="1" dirty="0">
                <a:solidFill>
                  <a:srgbClr val="FF6B00"/>
                </a:solidFill>
                <a:latin typeface="Quattrocento Sans" pitchFamily="34" charset="0"/>
                <a:ea typeface="Quattrocento Sans" pitchFamily="34" charset="-122"/>
                <a:cs typeface="Quattrocento Sans" pitchFamily="34" charset="-120"/>
              </a:rPr>
              <a:t>Waterfall</a:t>
            </a:r>
            <a:endParaRPr lang="en-US" sz="1600" dirty="0"/>
          </a:p>
        </p:txBody>
      </p:sp>
      <p:sp>
        <p:nvSpPr>
          <p:cNvPr id="11" name="Text 9"/>
          <p:cNvSpPr/>
          <p:nvPr/>
        </p:nvSpPr>
        <p:spPr>
          <a:xfrm>
            <a:off x="637271" y="2683246"/>
            <a:ext cx="2448462" cy="335406"/>
          </a:xfrm>
          <a:prstGeom prst="rect">
            <a:avLst/>
          </a:prstGeom>
          <a:noFill/>
          <a:ln/>
        </p:spPr>
        <p:txBody>
          <a:bodyPr wrap="square" lIns="0" tIns="0" rIns="0" bIns="0" rtlCol="0" anchor="ctr"/>
          <a:lstStyle/>
          <a:p>
            <a:pPr>
              <a:lnSpc>
                <a:spcPct val="120000"/>
              </a:lnSpc>
            </a:pPr>
            <a:r>
              <a:rPr lang="en-US" sz="924" dirty="0">
                <a:solidFill>
                  <a:srgbClr val="FFFFFF">
                    <a:alpha val="80000"/>
                  </a:srgbClr>
                </a:solidFill>
                <a:latin typeface="Quattrocento Sans" pitchFamily="34" charset="0"/>
                <a:ea typeface="Quattrocento Sans" pitchFamily="34" charset="-122"/>
                <a:cs typeface="Quattrocento Sans" pitchFamily="34" charset="-120"/>
              </a:rPr>
              <a:t>Compliance-heavy processes, regulatory reporting, audit trails</a:t>
            </a:r>
            <a:endParaRPr lang="en-US" sz="1600" dirty="0"/>
          </a:p>
        </p:txBody>
      </p:sp>
      <p:sp>
        <p:nvSpPr>
          <p:cNvPr id="12" name="Shape 10"/>
          <p:cNvSpPr/>
          <p:nvPr/>
        </p:nvSpPr>
        <p:spPr>
          <a:xfrm>
            <a:off x="3224547" y="2347840"/>
            <a:ext cx="2591010" cy="771433"/>
          </a:xfrm>
          <a:custGeom>
            <a:avLst/>
            <a:gdLst/>
            <a:ahLst/>
            <a:cxnLst/>
            <a:rect l="l" t="t" r="r" b="b"/>
            <a:pathLst>
              <a:path w="2591010" h="771433">
                <a:moveTo>
                  <a:pt x="67084" y="0"/>
                </a:moveTo>
                <a:lnTo>
                  <a:pt x="2523926" y="0"/>
                </a:lnTo>
                <a:cubicBezTo>
                  <a:pt x="2560975" y="0"/>
                  <a:pt x="2591010" y="30034"/>
                  <a:pt x="2591010" y="67084"/>
                </a:cubicBezTo>
                <a:lnTo>
                  <a:pt x="2591010" y="704349"/>
                </a:lnTo>
                <a:cubicBezTo>
                  <a:pt x="2591010" y="741399"/>
                  <a:pt x="2560975" y="771433"/>
                  <a:pt x="2523926" y="771433"/>
                </a:cubicBezTo>
                <a:lnTo>
                  <a:pt x="67084" y="771433"/>
                </a:lnTo>
                <a:cubicBezTo>
                  <a:pt x="30034" y="771433"/>
                  <a:pt x="0" y="741399"/>
                  <a:pt x="0" y="704349"/>
                </a:cubicBezTo>
                <a:lnTo>
                  <a:pt x="0" y="67084"/>
                </a:lnTo>
                <a:cubicBezTo>
                  <a:pt x="0" y="30034"/>
                  <a:pt x="30034" y="0"/>
                  <a:pt x="67084" y="0"/>
                </a:cubicBezTo>
                <a:close/>
              </a:path>
            </a:pathLst>
          </a:custGeom>
          <a:solidFill>
            <a:srgbClr val="FFFFFF">
              <a:alpha val="10196"/>
            </a:srgbClr>
          </a:solidFill>
          <a:ln/>
        </p:spPr>
      </p:sp>
      <p:sp>
        <p:nvSpPr>
          <p:cNvPr id="13" name="Text 11"/>
          <p:cNvSpPr/>
          <p:nvPr/>
        </p:nvSpPr>
        <p:spPr>
          <a:xfrm>
            <a:off x="3325168" y="2448462"/>
            <a:ext cx="2456847" cy="201243"/>
          </a:xfrm>
          <a:prstGeom prst="rect">
            <a:avLst/>
          </a:prstGeom>
          <a:noFill/>
          <a:ln/>
        </p:spPr>
        <p:txBody>
          <a:bodyPr wrap="square" lIns="0" tIns="0" rIns="0" bIns="0" rtlCol="0" anchor="ctr"/>
          <a:lstStyle/>
          <a:p>
            <a:pPr>
              <a:lnSpc>
                <a:spcPct val="130000"/>
              </a:lnSpc>
            </a:pPr>
            <a:r>
              <a:rPr lang="en-US" sz="1056" b="1" dirty="0">
                <a:solidFill>
                  <a:srgbClr val="FF6B00"/>
                </a:solidFill>
                <a:latin typeface="Quattrocento Sans" pitchFamily="34" charset="0"/>
                <a:ea typeface="Quattrocento Sans" pitchFamily="34" charset="-122"/>
                <a:cs typeface="Quattrocento Sans" pitchFamily="34" charset="-120"/>
              </a:rPr>
              <a:t>Agile/Scrum</a:t>
            </a:r>
            <a:endParaRPr lang="en-US" sz="1600" dirty="0"/>
          </a:p>
        </p:txBody>
      </p:sp>
      <p:sp>
        <p:nvSpPr>
          <p:cNvPr id="14" name="Text 12"/>
          <p:cNvSpPr/>
          <p:nvPr/>
        </p:nvSpPr>
        <p:spPr>
          <a:xfrm>
            <a:off x="3325168" y="2683246"/>
            <a:ext cx="2448462" cy="335406"/>
          </a:xfrm>
          <a:prstGeom prst="rect">
            <a:avLst/>
          </a:prstGeom>
          <a:noFill/>
          <a:ln/>
        </p:spPr>
        <p:txBody>
          <a:bodyPr wrap="square" lIns="0" tIns="0" rIns="0" bIns="0" rtlCol="0" anchor="ctr"/>
          <a:lstStyle/>
          <a:p>
            <a:pPr>
              <a:lnSpc>
                <a:spcPct val="120000"/>
              </a:lnSpc>
            </a:pPr>
            <a:r>
              <a:rPr lang="en-US" sz="924" dirty="0">
                <a:solidFill>
                  <a:srgbClr val="FFFFFF">
                    <a:alpha val="80000"/>
                  </a:srgbClr>
                </a:solidFill>
                <a:latin typeface="Quattrocento Sans" pitchFamily="34" charset="0"/>
                <a:ea typeface="Quattrocento Sans" pitchFamily="34" charset="-122"/>
                <a:cs typeface="Quattrocento Sans" pitchFamily="34" charset="-120"/>
              </a:rPr>
              <a:t>Customer-facing innovations, iterative development, rapid feedback</a:t>
            </a:r>
            <a:endParaRPr lang="en-US" sz="1600" dirty="0"/>
          </a:p>
        </p:txBody>
      </p:sp>
      <p:sp>
        <p:nvSpPr>
          <p:cNvPr id="15" name="Shape 13"/>
          <p:cNvSpPr/>
          <p:nvPr/>
        </p:nvSpPr>
        <p:spPr>
          <a:xfrm>
            <a:off x="352176" y="3454680"/>
            <a:ext cx="5659972" cy="1643488"/>
          </a:xfrm>
          <a:custGeom>
            <a:avLst/>
            <a:gdLst/>
            <a:ahLst/>
            <a:cxnLst/>
            <a:rect l="l" t="t" r="r" b="b"/>
            <a:pathLst>
              <a:path w="5659972" h="1643488">
                <a:moveTo>
                  <a:pt x="33541" y="0"/>
                </a:moveTo>
                <a:lnTo>
                  <a:pt x="5559358" y="0"/>
                </a:lnTo>
                <a:cubicBezTo>
                  <a:pt x="5614926" y="0"/>
                  <a:pt x="5659972" y="45047"/>
                  <a:pt x="5659972" y="100614"/>
                </a:cubicBezTo>
                <a:lnTo>
                  <a:pt x="5659972" y="1542874"/>
                </a:lnTo>
                <a:cubicBezTo>
                  <a:pt x="5659972" y="1598442"/>
                  <a:pt x="5614926" y="1643488"/>
                  <a:pt x="5559358" y="1643488"/>
                </a:cubicBezTo>
                <a:lnTo>
                  <a:pt x="33541" y="1643488"/>
                </a:lnTo>
                <a:cubicBezTo>
                  <a:pt x="15017" y="1643488"/>
                  <a:pt x="0" y="1628472"/>
                  <a:pt x="0" y="1609948"/>
                </a:cubicBezTo>
                <a:lnTo>
                  <a:pt x="0" y="33541"/>
                </a:lnTo>
                <a:cubicBezTo>
                  <a:pt x="0" y="15029"/>
                  <a:pt x="15029" y="0"/>
                  <a:pt x="33541" y="0"/>
                </a:cubicBezTo>
                <a:close/>
              </a:path>
            </a:pathLst>
          </a:custGeom>
          <a:solidFill>
            <a:srgbClr val="FF6B00">
              <a:alpha val="10196"/>
            </a:srgbClr>
          </a:solidFill>
          <a:ln/>
        </p:spPr>
      </p:sp>
      <p:sp>
        <p:nvSpPr>
          <p:cNvPr id="16" name="Shape 14"/>
          <p:cNvSpPr/>
          <p:nvPr/>
        </p:nvSpPr>
        <p:spPr>
          <a:xfrm>
            <a:off x="352176" y="3454680"/>
            <a:ext cx="33541" cy="1643488"/>
          </a:xfrm>
          <a:custGeom>
            <a:avLst/>
            <a:gdLst/>
            <a:ahLst/>
            <a:cxnLst/>
            <a:rect l="l" t="t" r="r" b="b"/>
            <a:pathLst>
              <a:path w="33541" h="1643488">
                <a:moveTo>
                  <a:pt x="33541" y="0"/>
                </a:moveTo>
                <a:lnTo>
                  <a:pt x="33541" y="0"/>
                </a:lnTo>
                <a:lnTo>
                  <a:pt x="33541" y="1643488"/>
                </a:lnTo>
                <a:lnTo>
                  <a:pt x="33541" y="1643488"/>
                </a:lnTo>
                <a:cubicBezTo>
                  <a:pt x="15017" y="1643488"/>
                  <a:pt x="0" y="1628472"/>
                  <a:pt x="0" y="1609948"/>
                </a:cubicBezTo>
                <a:lnTo>
                  <a:pt x="0" y="33541"/>
                </a:lnTo>
                <a:cubicBezTo>
                  <a:pt x="0" y="15029"/>
                  <a:pt x="15029" y="0"/>
                  <a:pt x="33541" y="0"/>
                </a:cubicBezTo>
                <a:close/>
              </a:path>
            </a:pathLst>
          </a:custGeom>
          <a:solidFill>
            <a:srgbClr val="FF6B00"/>
          </a:solidFill>
          <a:ln/>
        </p:spPr>
      </p:sp>
      <p:sp>
        <p:nvSpPr>
          <p:cNvPr id="17" name="Text 15"/>
          <p:cNvSpPr/>
          <p:nvPr/>
        </p:nvSpPr>
        <p:spPr>
          <a:xfrm>
            <a:off x="536649" y="3622382"/>
            <a:ext cx="5383263" cy="234784"/>
          </a:xfrm>
          <a:prstGeom prst="rect">
            <a:avLst/>
          </a:prstGeom>
          <a:noFill/>
          <a:ln/>
        </p:spPr>
        <p:txBody>
          <a:bodyPr wrap="square" lIns="0" tIns="0" rIns="0" bIns="0" rtlCol="0" anchor="ctr"/>
          <a:lstStyle/>
          <a:p>
            <a:pPr>
              <a:lnSpc>
                <a:spcPct val="130000"/>
              </a:lnSpc>
            </a:pPr>
            <a:r>
              <a:rPr lang="en-US" sz="1188" b="1" dirty="0">
                <a:solidFill>
                  <a:srgbClr val="003087"/>
                </a:solidFill>
                <a:latin typeface="Liter" pitchFamily="34" charset="0"/>
                <a:ea typeface="Liter" pitchFamily="34" charset="-122"/>
                <a:cs typeface="Liter" pitchFamily="34" charset="-120"/>
              </a:rPr>
              <a:t>Triple Constraint Management</a:t>
            </a:r>
            <a:endParaRPr lang="en-US" sz="1600" dirty="0"/>
          </a:p>
        </p:txBody>
      </p:sp>
      <p:sp>
        <p:nvSpPr>
          <p:cNvPr id="18" name="Shape 16"/>
          <p:cNvSpPr/>
          <p:nvPr/>
        </p:nvSpPr>
        <p:spPr>
          <a:xfrm>
            <a:off x="1119548" y="3957788"/>
            <a:ext cx="536649" cy="536649"/>
          </a:xfrm>
          <a:custGeom>
            <a:avLst/>
            <a:gdLst/>
            <a:ahLst/>
            <a:cxnLst/>
            <a:rect l="l" t="t" r="r" b="b"/>
            <a:pathLst>
              <a:path w="536649" h="536649">
                <a:moveTo>
                  <a:pt x="268325" y="0"/>
                </a:moveTo>
                <a:lnTo>
                  <a:pt x="268325" y="0"/>
                </a:lnTo>
                <a:cubicBezTo>
                  <a:pt x="416417" y="0"/>
                  <a:pt x="536649" y="120232"/>
                  <a:pt x="536649" y="268325"/>
                </a:cubicBezTo>
                <a:lnTo>
                  <a:pt x="536649" y="268325"/>
                </a:lnTo>
                <a:cubicBezTo>
                  <a:pt x="536649" y="416417"/>
                  <a:pt x="416417" y="536649"/>
                  <a:pt x="268325" y="536649"/>
                </a:cubicBezTo>
                <a:lnTo>
                  <a:pt x="268325" y="536649"/>
                </a:lnTo>
                <a:cubicBezTo>
                  <a:pt x="120232" y="536649"/>
                  <a:pt x="0" y="416417"/>
                  <a:pt x="0" y="268325"/>
                </a:cubicBezTo>
                <a:lnTo>
                  <a:pt x="0" y="268325"/>
                </a:lnTo>
                <a:cubicBezTo>
                  <a:pt x="0" y="120232"/>
                  <a:pt x="120232" y="0"/>
                  <a:pt x="268325" y="0"/>
                </a:cubicBezTo>
                <a:close/>
              </a:path>
            </a:pathLst>
          </a:custGeom>
          <a:solidFill>
            <a:srgbClr val="003087"/>
          </a:solidFill>
          <a:ln/>
        </p:spPr>
      </p:sp>
      <p:sp>
        <p:nvSpPr>
          <p:cNvPr id="19" name="Shape 17"/>
          <p:cNvSpPr/>
          <p:nvPr/>
        </p:nvSpPr>
        <p:spPr>
          <a:xfrm>
            <a:off x="1287251" y="4125491"/>
            <a:ext cx="201243" cy="201243"/>
          </a:xfrm>
          <a:custGeom>
            <a:avLst/>
            <a:gdLst/>
            <a:ahLst/>
            <a:cxnLst/>
            <a:rect l="l" t="t" r="r" b="b"/>
            <a:pathLst>
              <a:path w="201243" h="201243">
                <a:moveTo>
                  <a:pt x="176088" y="100622"/>
                </a:moveTo>
                <a:cubicBezTo>
                  <a:pt x="176088" y="58971"/>
                  <a:pt x="142273" y="25155"/>
                  <a:pt x="100622" y="25155"/>
                </a:cubicBezTo>
                <a:cubicBezTo>
                  <a:pt x="58971" y="25155"/>
                  <a:pt x="25155" y="58971"/>
                  <a:pt x="25155" y="100622"/>
                </a:cubicBezTo>
                <a:cubicBezTo>
                  <a:pt x="25155" y="142273"/>
                  <a:pt x="58971" y="176088"/>
                  <a:pt x="100622" y="176088"/>
                </a:cubicBezTo>
                <a:cubicBezTo>
                  <a:pt x="142273" y="176088"/>
                  <a:pt x="176088" y="142273"/>
                  <a:pt x="176088" y="100622"/>
                </a:cubicBezTo>
                <a:close/>
                <a:moveTo>
                  <a:pt x="0" y="100622"/>
                </a:moveTo>
                <a:cubicBezTo>
                  <a:pt x="0" y="45087"/>
                  <a:pt x="45087" y="0"/>
                  <a:pt x="100622" y="0"/>
                </a:cubicBezTo>
                <a:cubicBezTo>
                  <a:pt x="156156" y="0"/>
                  <a:pt x="201243" y="45087"/>
                  <a:pt x="201243" y="100622"/>
                </a:cubicBezTo>
                <a:cubicBezTo>
                  <a:pt x="201243" y="156156"/>
                  <a:pt x="156156" y="201243"/>
                  <a:pt x="100622" y="201243"/>
                </a:cubicBezTo>
                <a:cubicBezTo>
                  <a:pt x="45087" y="201243"/>
                  <a:pt x="0" y="156156"/>
                  <a:pt x="0" y="100622"/>
                </a:cubicBezTo>
                <a:close/>
                <a:moveTo>
                  <a:pt x="100622" y="132066"/>
                </a:moveTo>
                <a:cubicBezTo>
                  <a:pt x="117976" y="132066"/>
                  <a:pt x="132066" y="117976"/>
                  <a:pt x="132066" y="100622"/>
                </a:cubicBezTo>
                <a:cubicBezTo>
                  <a:pt x="132066" y="83267"/>
                  <a:pt x="117976" y="69177"/>
                  <a:pt x="100622" y="69177"/>
                </a:cubicBezTo>
                <a:cubicBezTo>
                  <a:pt x="83267" y="69177"/>
                  <a:pt x="69177" y="83267"/>
                  <a:pt x="69177" y="100622"/>
                </a:cubicBezTo>
                <a:cubicBezTo>
                  <a:pt x="69177" y="117976"/>
                  <a:pt x="83267" y="132066"/>
                  <a:pt x="100622" y="132066"/>
                </a:cubicBezTo>
                <a:close/>
                <a:moveTo>
                  <a:pt x="100622" y="44022"/>
                </a:moveTo>
                <a:cubicBezTo>
                  <a:pt x="131860" y="44022"/>
                  <a:pt x="157221" y="69383"/>
                  <a:pt x="157221" y="100622"/>
                </a:cubicBezTo>
                <a:cubicBezTo>
                  <a:pt x="157221" y="131860"/>
                  <a:pt x="131860" y="157221"/>
                  <a:pt x="100622" y="157221"/>
                </a:cubicBezTo>
                <a:cubicBezTo>
                  <a:pt x="69383" y="157221"/>
                  <a:pt x="44022" y="131860"/>
                  <a:pt x="44022" y="100622"/>
                </a:cubicBezTo>
                <a:cubicBezTo>
                  <a:pt x="44022" y="69383"/>
                  <a:pt x="69383" y="44022"/>
                  <a:pt x="100622" y="44022"/>
                </a:cubicBezTo>
                <a:close/>
                <a:moveTo>
                  <a:pt x="88044" y="100622"/>
                </a:moveTo>
                <a:cubicBezTo>
                  <a:pt x="88044" y="93680"/>
                  <a:pt x="93680" y="88044"/>
                  <a:pt x="100622" y="88044"/>
                </a:cubicBezTo>
                <a:cubicBezTo>
                  <a:pt x="107564" y="88044"/>
                  <a:pt x="113199" y="93680"/>
                  <a:pt x="113199" y="100622"/>
                </a:cubicBezTo>
                <a:cubicBezTo>
                  <a:pt x="113199" y="107564"/>
                  <a:pt x="107564" y="113199"/>
                  <a:pt x="100622" y="113199"/>
                </a:cubicBezTo>
                <a:cubicBezTo>
                  <a:pt x="93680" y="113199"/>
                  <a:pt x="88044" y="107564"/>
                  <a:pt x="88044" y="100622"/>
                </a:cubicBezTo>
                <a:close/>
              </a:path>
            </a:pathLst>
          </a:custGeom>
          <a:solidFill>
            <a:srgbClr val="FFFFFF"/>
          </a:solidFill>
          <a:ln/>
        </p:spPr>
      </p:sp>
      <p:sp>
        <p:nvSpPr>
          <p:cNvPr id="20" name="Text 18"/>
          <p:cNvSpPr/>
          <p:nvPr/>
        </p:nvSpPr>
        <p:spPr>
          <a:xfrm>
            <a:off x="503109" y="4561519"/>
            <a:ext cx="1769265" cy="201243"/>
          </a:xfrm>
          <a:prstGeom prst="rect">
            <a:avLst/>
          </a:prstGeom>
          <a:noFill/>
          <a:ln/>
        </p:spPr>
        <p:txBody>
          <a:bodyPr wrap="square" lIns="0" tIns="0" rIns="0" bIns="0" rtlCol="0" anchor="ctr"/>
          <a:lstStyle/>
          <a:p>
            <a:pPr algn="ctr">
              <a:lnSpc>
                <a:spcPct val="130000"/>
              </a:lnSpc>
            </a:pPr>
            <a:r>
              <a:rPr lang="en-US" sz="1056" b="1" dirty="0">
                <a:solidFill>
                  <a:srgbClr val="003087"/>
                </a:solidFill>
                <a:latin typeface="Quattrocento Sans" pitchFamily="34" charset="0"/>
                <a:ea typeface="Quattrocento Sans" pitchFamily="34" charset="-122"/>
                <a:cs typeface="Quattrocento Sans" pitchFamily="34" charset="-120"/>
              </a:rPr>
              <a:t>Scope</a:t>
            </a:r>
            <a:endParaRPr lang="en-US" sz="1600" dirty="0"/>
          </a:p>
        </p:txBody>
      </p:sp>
      <p:sp>
        <p:nvSpPr>
          <p:cNvPr id="21" name="Text 19"/>
          <p:cNvSpPr/>
          <p:nvPr/>
        </p:nvSpPr>
        <p:spPr>
          <a:xfrm>
            <a:off x="507301" y="4762762"/>
            <a:ext cx="1760880" cy="167703"/>
          </a:xfrm>
          <a:prstGeom prst="rect">
            <a:avLst/>
          </a:prstGeom>
          <a:noFill/>
          <a:ln/>
        </p:spPr>
        <p:txBody>
          <a:bodyPr wrap="square" lIns="0" tIns="0" rIns="0" bIns="0" rtlCol="0" anchor="ctr"/>
          <a:lstStyle/>
          <a:p>
            <a:pPr algn="ct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Clear deliverables</a:t>
            </a:r>
            <a:endParaRPr lang="en-US" sz="1600" dirty="0"/>
          </a:p>
        </p:txBody>
      </p:sp>
      <p:sp>
        <p:nvSpPr>
          <p:cNvPr id="22" name="Shape 20"/>
          <p:cNvSpPr/>
          <p:nvPr/>
        </p:nvSpPr>
        <p:spPr>
          <a:xfrm>
            <a:off x="2922616" y="3957788"/>
            <a:ext cx="536649" cy="536649"/>
          </a:xfrm>
          <a:custGeom>
            <a:avLst/>
            <a:gdLst/>
            <a:ahLst/>
            <a:cxnLst/>
            <a:rect l="l" t="t" r="r" b="b"/>
            <a:pathLst>
              <a:path w="536649" h="536649">
                <a:moveTo>
                  <a:pt x="268325" y="0"/>
                </a:moveTo>
                <a:lnTo>
                  <a:pt x="268325" y="0"/>
                </a:lnTo>
                <a:cubicBezTo>
                  <a:pt x="416417" y="0"/>
                  <a:pt x="536649" y="120232"/>
                  <a:pt x="536649" y="268325"/>
                </a:cubicBezTo>
                <a:lnTo>
                  <a:pt x="536649" y="268325"/>
                </a:lnTo>
                <a:cubicBezTo>
                  <a:pt x="536649" y="416417"/>
                  <a:pt x="416417" y="536649"/>
                  <a:pt x="268325" y="536649"/>
                </a:cubicBezTo>
                <a:lnTo>
                  <a:pt x="268325" y="536649"/>
                </a:lnTo>
                <a:cubicBezTo>
                  <a:pt x="120232" y="536649"/>
                  <a:pt x="0" y="416417"/>
                  <a:pt x="0" y="268325"/>
                </a:cubicBezTo>
                <a:lnTo>
                  <a:pt x="0" y="268325"/>
                </a:lnTo>
                <a:cubicBezTo>
                  <a:pt x="0" y="120232"/>
                  <a:pt x="120232" y="0"/>
                  <a:pt x="268325" y="0"/>
                </a:cubicBezTo>
                <a:close/>
              </a:path>
            </a:pathLst>
          </a:custGeom>
          <a:solidFill>
            <a:srgbClr val="FF6B00"/>
          </a:solidFill>
          <a:ln/>
        </p:spPr>
      </p:sp>
      <p:sp>
        <p:nvSpPr>
          <p:cNvPr id="23" name="Shape 21"/>
          <p:cNvSpPr/>
          <p:nvPr/>
        </p:nvSpPr>
        <p:spPr>
          <a:xfrm>
            <a:off x="3090319" y="4125491"/>
            <a:ext cx="201243" cy="201243"/>
          </a:xfrm>
          <a:custGeom>
            <a:avLst/>
            <a:gdLst/>
            <a:ahLst/>
            <a:cxnLst/>
            <a:rect l="l" t="t" r="r" b="b"/>
            <a:pathLst>
              <a:path w="201243" h="201243">
                <a:moveTo>
                  <a:pt x="100622" y="0"/>
                </a:moveTo>
                <a:cubicBezTo>
                  <a:pt x="156156" y="0"/>
                  <a:pt x="201243" y="45087"/>
                  <a:pt x="201243" y="100622"/>
                </a:cubicBezTo>
                <a:cubicBezTo>
                  <a:pt x="201243" y="156156"/>
                  <a:pt x="156156" y="201243"/>
                  <a:pt x="100622" y="201243"/>
                </a:cubicBezTo>
                <a:cubicBezTo>
                  <a:pt x="45087" y="201243"/>
                  <a:pt x="0" y="156156"/>
                  <a:pt x="0" y="100622"/>
                </a:cubicBezTo>
                <a:cubicBezTo>
                  <a:pt x="0" y="45087"/>
                  <a:pt x="45087" y="0"/>
                  <a:pt x="100622" y="0"/>
                </a:cubicBezTo>
                <a:close/>
                <a:moveTo>
                  <a:pt x="91188" y="47166"/>
                </a:moveTo>
                <a:lnTo>
                  <a:pt x="91188" y="100622"/>
                </a:lnTo>
                <a:cubicBezTo>
                  <a:pt x="91188" y="103766"/>
                  <a:pt x="92761" y="106714"/>
                  <a:pt x="95394" y="108483"/>
                </a:cubicBezTo>
                <a:lnTo>
                  <a:pt x="133127" y="133638"/>
                </a:lnTo>
                <a:cubicBezTo>
                  <a:pt x="137451" y="136547"/>
                  <a:pt x="143307" y="135368"/>
                  <a:pt x="146216" y="131005"/>
                </a:cubicBezTo>
                <a:cubicBezTo>
                  <a:pt x="149125" y="126642"/>
                  <a:pt x="147945" y="120825"/>
                  <a:pt x="143582" y="117916"/>
                </a:cubicBezTo>
                <a:lnTo>
                  <a:pt x="110055" y="95591"/>
                </a:lnTo>
                <a:lnTo>
                  <a:pt x="110055" y="47166"/>
                </a:lnTo>
                <a:cubicBezTo>
                  <a:pt x="110055" y="41939"/>
                  <a:pt x="105849" y="37733"/>
                  <a:pt x="100622" y="37733"/>
                </a:cubicBezTo>
                <a:cubicBezTo>
                  <a:pt x="95394" y="37733"/>
                  <a:pt x="91188" y="41939"/>
                  <a:pt x="91188" y="47166"/>
                </a:cubicBezTo>
                <a:close/>
              </a:path>
            </a:pathLst>
          </a:custGeom>
          <a:solidFill>
            <a:srgbClr val="FFFFFF"/>
          </a:solidFill>
          <a:ln/>
        </p:spPr>
      </p:sp>
      <p:sp>
        <p:nvSpPr>
          <p:cNvPr id="24" name="Text 22"/>
          <p:cNvSpPr/>
          <p:nvPr/>
        </p:nvSpPr>
        <p:spPr>
          <a:xfrm>
            <a:off x="2306177" y="4561519"/>
            <a:ext cx="1769265" cy="201243"/>
          </a:xfrm>
          <a:prstGeom prst="rect">
            <a:avLst/>
          </a:prstGeom>
          <a:noFill/>
          <a:ln/>
        </p:spPr>
        <p:txBody>
          <a:bodyPr wrap="square" lIns="0" tIns="0" rIns="0" bIns="0" rtlCol="0" anchor="ctr"/>
          <a:lstStyle/>
          <a:p>
            <a:pPr algn="ctr">
              <a:lnSpc>
                <a:spcPct val="130000"/>
              </a:lnSpc>
            </a:pPr>
            <a:r>
              <a:rPr lang="en-US" sz="1056" b="1" dirty="0">
                <a:solidFill>
                  <a:srgbClr val="003087"/>
                </a:solidFill>
                <a:latin typeface="Quattrocento Sans" pitchFamily="34" charset="0"/>
                <a:ea typeface="Quattrocento Sans" pitchFamily="34" charset="-122"/>
                <a:cs typeface="Quattrocento Sans" pitchFamily="34" charset="-120"/>
              </a:rPr>
              <a:t>Time</a:t>
            </a:r>
            <a:endParaRPr lang="en-US" sz="1600" dirty="0"/>
          </a:p>
        </p:txBody>
      </p:sp>
      <p:sp>
        <p:nvSpPr>
          <p:cNvPr id="25" name="Text 23"/>
          <p:cNvSpPr/>
          <p:nvPr/>
        </p:nvSpPr>
        <p:spPr>
          <a:xfrm>
            <a:off x="2310369" y="4762762"/>
            <a:ext cx="1760880" cy="167703"/>
          </a:xfrm>
          <a:prstGeom prst="rect">
            <a:avLst/>
          </a:prstGeom>
          <a:noFill/>
          <a:ln/>
        </p:spPr>
        <p:txBody>
          <a:bodyPr wrap="square" lIns="0" tIns="0" rIns="0" bIns="0" rtlCol="0" anchor="ctr"/>
          <a:lstStyle/>
          <a:p>
            <a:pPr algn="ct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18-month timeline</a:t>
            </a:r>
            <a:endParaRPr lang="en-US" sz="1600" dirty="0"/>
          </a:p>
        </p:txBody>
      </p:sp>
      <p:sp>
        <p:nvSpPr>
          <p:cNvPr id="26" name="Shape 24"/>
          <p:cNvSpPr/>
          <p:nvPr/>
        </p:nvSpPr>
        <p:spPr>
          <a:xfrm>
            <a:off x="4725749" y="3957788"/>
            <a:ext cx="536649" cy="536649"/>
          </a:xfrm>
          <a:custGeom>
            <a:avLst/>
            <a:gdLst/>
            <a:ahLst/>
            <a:cxnLst/>
            <a:rect l="l" t="t" r="r" b="b"/>
            <a:pathLst>
              <a:path w="536649" h="536649">
                <a:moveTo>
                  <a:pt x="268325" y="0"/>
                </a:moveTo>
                <a:lnTo>
                  <a:pt x="268325" y="0"/>
                </a:lnTo>
                <a:cubicBezTo>
                  <a:pt x="416417" y="0"/>
                  <a:pt x="536649" y="120232"/>
                  <a:pt x="536649" y="268325"/>
                </a:cubicBezTo>
                <a:lnTo>
                  <a:pt x="536649" y="268325"/>
                </a:lnTo>
                <a:cubicBezTo>
                  <a:pt x="536649" y="416417"/>
                  <a:pt x="416417" y="536649"/>
                  <a:pt x="268325" y="536649"/>
                </a:cubicBezTo>
                <a:lnTo>
                  <a:pt x="268325" y="536649"/>
                </a:lnTo>
                <a:cubicBezTo>
                  <a:pt x="120232" y="536649"/>
                  <a:pt x="0" y="416417"/>
                  <a:pt x="0" y="268325"/>
                </a:cubicBezTo>
                <a:lnTo>
                  <a:pt x="0" y="268325"/>
                </a:lnTo>
                <a:cubicBezTo>
                  <a:pt x="0" y="120232"/>
                  <a:pt x="120232" y="0"/>
                  <a:pt x="268325" y="0"/>
                </a:cubicBezTo>
                <a:close/>
              </a:path>
            </a:pathLst>
          </a:custGeom>
          <a:solidFill>
            <a:srgbClr val="003087"/>
          </a:solidFill>
          <a:ln/>
        </p:spPr>
      </p:sp>
      <p:sp>
        <p:nvSpPr>
          <p:cNvPr id="27" name="Shape 25"/>
          <p:cNvSpPr/>
          <p:nvPr/>
        </p:nvSpPr>
        <p:spPr>
          <a:xfrm>
            <a:off x="4931186" y="4125491"/>
            <a:ext cx="125777" cy="201243"/>
          </a:xfrm>
          <a:custGeom>
            <a:avLst/>
            <a:gdLst/>
            <a:ahLst/>
            <a:cxnLst/>
            <a:rect l="l" t="t" r="r" b="b"/>
            <a:pathLst>
              <a:path w="125777" h="201243">
                <a:moveTo>
                  <a:pt x="53455" y="9433"/>
                </a:moveTo>
                <a:cubicBezTo>
                  <a:pt x="53455" y="4206"/>
                  <a:pt x="57661" y="0"/>
                  <a:pt x="62889" y="0"/>
                </a:cubicBezTo>
                <a:cubicBezTo>
                  <a:pt x="68116" y="0"/>
                  <a:pt x="72322" y="4206"/>
                  <a:pt x="72322" y="9433"/>
                </a:cubicBezTo>
                <a:lnTo>
                  <a:pt x="72322" y="25155"/>
                </a:lnTo>
                <a:lnTo>
                  <a:pt x="94333" y="25155"/>
                </a:lnTo>
                <a:cubicBezTo>
                  <a:pt x="101290" y="25155"/>
                  <a:pt x="106911" y="30776"/>
                  <a:pt x="106911" y="37733"/>
                </a:cubicBezTo>
                <a:cubicBezTo>
                  <a:pt x="106911" y="44690"/>
                  <a:pt x="101290" y="50311"/>
                  <a:pt x="94333" y="50311"/>
                </a:cubicBezTo>
                <a:lnTo>
                  <a:pt x="49171" y="50311"/>
                </a:lnTo>
                <a:cubicBezTo>
                  <a:pt x="39384" y="50311"/>
                  <a:pt x="31444" y="58251"/>
                  <a:pt x="31444" y="68038"/>
                </a:cubicBezTo>
                <a:cubicBezTo>
                  <a:pt x="31444" y="76881"/>
                  <a:pt x="37930" y="84349"/>
                  <a:pt x="46655" y="85607"/>
                </a:cubicBezTo>
                <a:lnTo>
                  <a:pt x="82659" y="90756"/>
                </a:lnTo>
                <a:cubicBezTo>
                  <a:pt x="103805" y="93783"/>
                  <a:pt x="119488" y="111863"/>
                  <a:pt x="119488" y="133206"/>
                </a:cubicBezTo>
                <a:cubicBezTo>
                  <a:pt x="119488" y="156907"/>
                  <a:pt x="100268" y="176088"/>
                  <a:pt x="76606" y="176088"/>
                </a:cubicBezTo>
                <a:lnTo>
                  <a:pt x="72322" y="176088"/>
                </a:lnTo>
                <a:lnTo>
                  <a:pt x="72322" y="191810"/>
                </a:lnTo>
                <a:cubicBezTo>
                  <a:pt x="72322" y="197038"/>
                  <a:pt x="68116" y="201243"/>
                  <a:pt x="62889" y="201243"/>
                </a:cubicBezTo>
                <a:cubicBezTo>
                  <a:pt x="57661" y="201243"/>
                  <a:pt x="53455" y="197038"/>
                  <a:pt x="53455" y="191810"/>
                </a:cubicBezTo>
                <a:lnTo>
                  <a:pt x="53455" y="176088"/>
                </a:lnTo>
                <a:lnTo>
                  <a:pt x="25155" y="176088"/>
                </a:lnTo>
                <a:cubicBezTo>
                  <a:pt x="18198" y="176088"/>
                  <a:pt x="12578" y="170467"/>
                  <a:pt x="12578" y="163510"/>
                </a:cubicBezTo>
                <a:cubicBezTo>
                  <a:pt x="12578" y="156553"/>
                  <a:pt x="18198" y="150933"/>
                  <a:pt x="25155" y="150933"/>
                </a:cubicBezTo>
                <a:lnTo>
                  <a:pt x="76606" y="150933"/>
                </a:lnTo>
                <a:cubicBezTo>
                  <a:pt x="86393" y="150933"/>
                  <a:pt x="94333" y="142993"/>
                  <a:pt x="94333" y="133206"/>
                </a:cubicBezTo>
                <a:cubicBezTo>
                  <a:pt x="94333" y="124362"/>
                  <a:pt x="87847" y="116894"/>
                  <a:pt x="79122" y="115636"/>
                </a:cubicBezTo>
                <a:lnTo>
                  <a:pt x="43118" y="110487"/>
                </a:lnTo>
                <a:cubicBezTo>
                  <a:pt x="21972" y="107500"/>
                  <a:pt x="6289" y="89380"/>
                  <a:pt x="6289" y="68038"/>
                </a:cubicBezTo>
                <a:cubicBezTo>
                  <a:pt x="6289" y="44376"/>
                  <a:pt x="25509" y="25155"/>
                  <a:pt x="49171" y="25155"/>
                </a:cubicBezTo>
                <a:lnTo>
                  <a:pt x="53455" y="25155"/>
                </a:lnTo>
                <a:lnTo>
                  <a:pt x="53455" y="9433"/>
                </a:lnTo>
                <a:close/>
              </a:path>
            </a:pathLst>
          </a:custGeom>
          <a:solidFill>
            <a:srgbClr val="FFFFFF"/>
          </a:solidFill>
          <a:ln/>
        </p:spPr>
      </p:sp>
      <p:sp>
        <p:nvSpPr>
          <p:cNvPr id="28" name="Text 26"/>
          <p:cNvSpPr/>
          <p:nvPr/>
        </p:nvSpPr>
        <p:spPr>
          <a:xfrm>
            <a:off x="4109310" y="4561519"/>
            <a:ext cx="1769265" cy="201243"/>
          </a:xfrm>
          <a:prstGeom prst="rect">
            <a:avLst/>
          </a:prstGeom>
          <a:noFill/>
          <a:ln/>
        </p:spPr>
        <p:txBody>
          <a:bodyPr wrap="square" lIns="0" tIns="0" rIns="0" bIns="0" rtlCol="0" anchor="ctr"/>
          <a:lstStyle/>
          <a:p>
            <a:pPr algn="ctr">
              <a:lnSpc>
                <a:spcPct val="130000"/>
              </a:lnSpc>
            </a:pPr>
            <a:r>
              <a:rPr lang="en-US" sz="1056" b="1" dirty="0">
                <a:solidFill>
                  <a:srgbClr val="003087"/>
                </a:solidFill>
                <a:latin typeface="Quattrocento Sans" pitchFamily="34" charset="0"/>
                <a:ea typeface="Quattrocento Sans" pitchFamily="34" charset="-122"/>
                <a:cs typeface="Quattrocento Sans" pitchFamily="34" charset="-120"/>
              </a:rPr>
              <a:t>Budget</a:t>
            </a:r>
            <a:endParaRPr lang="en-US" sz="1600" dirty="0"/>
          </a:p>
        </p:txBody>
      </p:sp>
      <p:sp>
        <p:nvSpPr>
          <p:cNvPr id="29" name="Text 27"/>
          <p:cNvSpPr/>
          <p:nvPr/>
        </p:nvSpPr>
        <p:spPr>
          <a:xfrm>
            <a:off x="4113503" y="4762762"/>
            <a:ext cx="1760880" cy="167703"/>
          </a:xfrm>
          <a:prstGeom prst="rect">
            <a:avLst/>
          </a:prstGeom>
          <a:noFill/>
          <a:ln/>
        </p:spPr>
        <p:txBody>
          <a:bodyPr wrap="square" lIns="0" tIns="0" rIns="0" bIns="0" rtlCol="0" anchor="ctr"/>
          <a:lstStyle/>
          <a:p>
            <a:pPr algn="ct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$2.5M - $3.5M</a:t>
            </a:r>
            <a:endParaRPr lang="en-US" sz="1600" dirty="0"/>
          </a:p>
        </p:txBody>
      </p:sp>
      <p:sp>
        <p:nvSpPr>
          <p:cNvPr id="30" name="Shape 28"/>
          <p:cNvSpPr/>
          <p:nvPr/>
        </p:nvSpPr>
        <p:spPr>
          <a:xfrm>
            <a:off x="335406" y="5232330"/>
            <a:ext cx="5676743" cy="1408704"/>
          </a:xfrm>
          <a:custGeom>
            <a:avLst/>
            <a:gdLst/>
            <a:ahLst/>
            <a:cxnLst/>
            <a:rect l="l" t="t" r="r" b="b"/>
            <a:pathLst>
              <a:path w="5676743" h="1408704">
                <a:moveTo>
                  <a:pt x="100624" y="0"/>
                </a:moveTo>
                <a:lnTo>
                  <a:pt x="5576119" y="0"/>
                </a:lnTo>
                <a:cubicBezTo>
                  <a:pt x="5631692" y="0"/>
                  <a:pt x="5676743" y="45051"/>
                  <a:pt x="5676743" y="100624"/>
                </a:cubicBezTo>
                <a:lnTo>
                  <a:pt x="5676743" y="1308081"/>
                </a:lnTo>
                <a:cubicBezTo>
                  <a:pt x="5676743" y="1363653"/>
                  <a:pt x="5631692" y="1408704"/>
                  <a:pt x="5576119" y="1408704"/>
                </a:cubicBezTo>
                <a:lnTo>
                  <a:pt x="100624" y="1408704"/>
                </a:lnTo>
                <a:cubicBezTo>
                  <a:pt x="45051" y="1408704"/>
                  <a:pt x="0" y="1363653"/>
                  <a:pt x="0" y="1308081"/>
                </a:cubicBezTo>
                <a:lnTo>
                  <a:pt x="0" y="100624"/>
                </a:lnTo>
                <a:cubicBezTo>
                  <a:pt x="0" y="45051"/>
                  <a:pt x="45051" y="0"/>
                  <a:pt x="100624" y="0"/>
                </a:cubicBezTo>
                <a:close/>
              </a:path>
            </a:pathLst>
          </a:custGeom>
          <a:solidFill>
            <a:srgbClr val="F9FAFB"/>
          </a:solidFill>
          <a:ln/>
        </p:spPr>
      </p:sp>
      <p:sp>
        <p:nvSpPr>
          <p:cNvPr id="31" name="Text 29"/>
          <p:cNvSpPr/>
          <p:nvPr/>
        </p:nvSpPr>
        <p:spPr>
          <a:xfrm>
            <a:off x="503109" y="5400033"/>
            <a:ext cx="5416803" cy="234784"/>
          </a:xfrm>
          <a:prstGeom prst="rect">
            <a:avLst/>
          </a:prstGeom>
          <a:noFill/>
          <a:ln/>
        </p:spPr>
        <p:txBody>
          <a:bodyPr wrap="square" lIns="0" tIns="0" rIns="0" bIns="0" rtlCol="0" anchor="ctr"/>
          <a:lstStyle/>
          <a:p>
            <a:pPr>
              <a:lnSpc>
                <a:spcPct val="130000"/>
              </a:lnSpc>
            </a:pPr>
            <a:r>
              <a:rPr lang="en-US" sz="1188" b="1" dirty="0">
                <a:solidFill>
                  <a:srgbClr val="003087"/>
                </a:solidFill>
                <a:latin typeface="Liter" pitchFamily="34" charset="0"/>
                <a:ea typeface="Liter" pitchFamily="34" charset="-122"/>
                <a:cs typeface="Liter" pitchFamily="34" charset="-120"/>
              </a:rPr>
              <a:t>Quality &amp; Risk Management</a:t>
            </a:r>
            <a:endParaRPr lang="en-US" sz="1600" dirty="0"/>
          </a:p>
        </p:txBody>
      </p:sp>
      <p:sp>
        <p:nvSpPr>
          <p:cNvPr id="32" name="Shape 30"/>
          <p:cNvSpPr/>
          <p:nvPr/>
        </p:nvSpPr>
        <p:spPr>
          <a:xfrm>
            <a:off x="519879" y="5768979"/>
            <a:ext cx="134162" cy="134162"/>
          </a:xfrm>
          <a:custGeom>
            <a:avLst/>
            <a:gdLst/>
            <a:ahLst/>
            <a:cxnLst/>
            <a:rect l="l" t="t" r="r" b="b"/>
            <a:pathLst>
              <a:path w="134162" h="134162">
                <a:moveTo>
                  <a:pt x="67081" y="134162"/>
                </a:moveTo>
                <a:cubicBezTo>
                  <a:pt x="104104" y="134162"/>
                  <a:pt x="134162" y="104104"/>
                  <a:pt x="134162" y="67081"/>
                </a:cubicBezTo>
                <a:cubicBezTo>
                  <a:pt x="134162" y="30058"/>
                  <a:pt x="104104" y="0"/>
                  <a:pt x="67081" y="0"/>
                </a:cubicBezTo>
                <a:cubicBezTo>
                  <a:pt x="30058" y="0"/>
                  <a:pt x="0" y="30058"/>
                  <a:pt x="0" y="67081"/>
                </a:cubicBezTo>
                <a:cubicBezTo>
                  <a:pt x="0" y="104104"/>
                  <a:pt x="30058" y="134162"/>
                  <a:pt x="67081" y="134162"/>
                </a:cubicBezTo>
                <a:close/>
                <a:moveTo>
                  <a:pt x="89197" y="55735"/>
                </a:moveTo>
                <a:lnTo>
                  <a:pt x="68234" y="89276"/>
                </a:lnTo>
                <a:cubicBezTo>
                  <a:pt x="67134" y="91031"/>
                  <a:pt x="65247" y="92132"/>
                  <a:pt x="63177" y="92237"/>
                </a:cubicBezTo>
                <a:cubicBezTo>
                  <a:pt x="61107" y="92341"/>
                  <a:pt x="59115" y="91398"/>
                  <a:pt x="57884" y="89721"/>
                </a:cubicBezTo>
                <a:lnTo>
                  <a:pt x="45306" y="72951"/>
                </a:lnTo>
                <a:cubicBezTo>
                  <a:pt x="43210" y="70173"/>
                  <a:pt x="43786" y="66243"/>
                  <a:pt x="46564" y="64146"/>
                </a:cubicBezTo>
                <a:cubicBezTo>
                  <a:pt x="49341" y="62050"/>
                  <a:pt x="53272" y="62627"/>
                  <a:pt x="55368" y="65404"/>
                </a:cubicBezTo>
                <a:lnTo>
                  <a:pt x="62443" y="74837"/>
                </a:lnTo>
                <a:lnTo>
                  <a:pt x="78532" y="49079"/>
                </a:lnTo>
                <a:cubicBezTo>
                  <a:pt x="80366" y="46144"/>
                  <a:pt x="84244" y="45227"/>
                  <a:pt x="87206" y="47088"/>
                </a:cubicBezTo>
                <a:cubicBezTo>
                  <a:pt x="90167" y="48948"/>
                  <a:pt x="91057" y="52800"/>
                  <a:pt x="89197" y="55761"/>
                </a:cubicBezTo>
                <a:close/>
              </a:path>
            </a:pathLst>
          </a:custGeom>
          <a:solidFill>
            <a:srgbClr val="FF6B00"/>
          </a:solidFill>
          <a:ln/>
        </p:spPr>
      </p:sp>
      <p:sp>
        <p:nvSpPr>
          <p:cNvPr id="33" name="Text 31"/>
          <p:cNvSpPr/>
          <p:nvPr/>
        </p:nvSpPr>
        <p:spPr>
          <a:xfrm>
            <a:off x="737893" y="5735439"/>
            <a:ext cx="3018652" cy="201243"/>
          </a:xfrm>
          <a:prstGeom prst="rect">
            <a:avLst/>
          </a:prstGeom>
          <a:noFill/>
          <a:ln/>
        </p:spPr>
        <p:txBody>
          <a:bodyPr wrap="square" lIns="0" tIns="0" rIns="0" bIns="0" rtlCol="0" anchor="ctr"/>
          <a:lstStyle/>
          <a:p>
            <a:pPr>
              <a:lnSpc>
                <a:spcPct val="130000"/>
              </a:lnSpc>
            </a:pPr>
            <a:r>
              <a:rPr lang="en-US" sz="1056" dirty="0">
                <a:solidFill>
                  <a:srgbClr val="1A1A1A">
                    <a:alpha val="80000"/>
                  </a:srgbClr>
                </a:solidFill>
                <a:latin typeface="Quattrocento Sans" pitchFamily="34" charset="0"/>
                <a:ea typeface="Quattrocento Sans" pitchFamily="34" charset="-122"/>
                <a:cs typeface="Quattrocento Sans" pitchFamily="34" charset="-120"/>
              </a:rPr>
              <a:t>Continuous quality assurance and testing protocols</a:t>
            </a:r>
            <a:endParaRPr lang="en-US" sz="1600" dirty="0"/>
          </a:p>
        </p:txBody>
      </p:sp>
      <p:sp>
        <p:nvSpPr>
          <p:cNvPr id="34" name="Shape 32"/>
          <p:cNvSpPr/>
          <p:nvPr/>
        </p:nvSpPr>
        <p:spPr>
          <a:xfrm>
            <a:off x="519879" y="6037304"/>
            <a:ext cx="134162" cy="134162"/>
          </a:xfrm>
          <a:custGeom>
            <a:avLst/>
            <a:gdLst/>
            <a:ahLst/>
            <a:cxnLst/>
            <a:rect l="l" t="t" r="r" b="b"/>
            <a:pathLst>
              <a:path w="134162" h="134162">
                <a:moveTo>
                  <a:pt x="67081" y="134162"/>
                </a:moveTo>
                <a:cubicBezTo>
                  <a:pt x="104104" y="134162"/>
                  <a:pt x="134162" y="104104"/>
                  <a:pt x="134162" y="67081"/>
                </a:cubicBezTo>
                <a:cubicBezTo>
                  <a:pt x="134162" y="30058"/>
                  <a:pt x="104104" y="0"/>
                  <a:pt x="67081" y="0"/>
                </a:cubicBezTo>
                <a:cubicBezTo>
                  <a:pt x="30058" y="0"/>
                  <a:pt x="0" y="30058"/>
                  <a:pt x="0" y="67081"/>
                </a:cubicBezTo>
                <a:cubicBezTo>
                  <a:pt x="0" y="104104"/>
                  <a:pt x="30058" y="134162"/>
                  <a:pt x="67081" y="134162"/>
                </a:cubicBezTo>
                <a:close/>
                <a:moveTo>
                  <a:pt x="89197" y="55735"/>
                </a:moveTo>
                <a:lnTo>
                  <a:pt x="68234" y="89276"/>
                </a:lnTo>
                <a:cubicBezTo>
                  <a:pt x="67134" y="91031"/>
                  <a:pt x="65247" y="92132"/>
                  <a:pt x="63177" y="92237"/>
                </a:cubicBezTo>
                <a:cubicBezTo>
                  <a:pt x="61107" y="92341"/>
                  <a:pt x="59115" y="91398"/>
                  <a:pt x="57884" y="89721"/>
                </a:cubicBezTo>
                <a:lnTo>
                  <a:pt x="45306" y="72951"/>
                </a:lnTo>
                <a:cubicBezTo>
                  <a:pt x="43210" y="70173"/>
                  <a:pt x="43786" y="66243"/>
                  <a:pt x="46564" y="64146"/>
                </a:cubicBezTo>
                <a:cubicBezTo>
                  <a:pt x="49341" y="62050"/>
                  <a:pt x="53272" y="62627"/>
                  <a:pt x="55368" y="65404"/>
                </a:cubicBezTo>
                <a:lnTo>
                  <a:pt x="62443" y="74837"/>
                </a:lnTo>
                <a:lnTo>
                  <a:pt x="78532" y="49079"/>
                </a:lnTo>
                <a:cubicBezTo>
                  <a:pt x="80366" y="46144"/>
                  <a:pt x="84244" y="45227"/>
                  <a:pt x="87206" y="47088"/>
                </a:cubicBezTo>
                <a:cubicBezTo>
                  <a:pt x="90167" y="48948"/>
                  <a:pt x="91057" y="52800"/>
                  <a:pt x="89197" y="55761"/>
                </a:cubicBezTo>
                <a:close/>
              </a:path>
            </a:pathLst>
          </a:custGeom>
          <a:solidFill>
            <a:srgbClr val="FF6B00"/>
          </a:solidFill>
          <a:ln/>
        </p:spPr>
      </p:sp>
      <p:sp>
        <p:nvSpPr>
          <p:cNvPr id="35" name="Text 33"/>
          <p:cNvSpPr/>
          <p:nvPr/>
        </p:nvSpPr>
        <p:spPr>
          <a:xfrm>
            <a:off x="737893" y="6003763"/>
            <a:ext cx="3060578" cy="201243"/>
          </a:xfrm>
          <a:prstGeom prst="rect">
            <a:avLst/>
          </a:prstGeom>
          <a:noFill/>
          <a:ln/>
        </p:spPr>
        <p:txBody>
          <a:bodyPr wrap="square" lIns="0" tIns="0" rIns="0" bIns="0" rtlCol="0" anchor="ctr"/>
          <a:lstStyle/>
          <a:p>
            <a:pPr>
              <a:lnSpc>
                <a:spcPct val="130000"/>
              </a:lnSpc>
            </a:pPr>
            <a:r>
              <a:rPr lang="en-US" sz="1056" dirty="0">
                <a:solidFill>
                  <a:srgbClr val="1A1A1A">
                    <a:alpha val="80000"/>
                  </a:srgbClr>
                </a:solidFill>
                <a:latin typeface="Quattrocento Sans" pitchFamily="34" charset="0"/>
                <a:ea typeface="Quattrocento Sans" pitchFamily="34" charset="-122"/>
                <a:cs typeface="Quattrocento Sans" pitchFamily="34" charset="-120"/>
              </a:rPr>
              <a:t>Proactive risk identification and mitigation strategies</a:t>
            </a:r>
            <a:endParaRPr lang="en-US" sz="1600" dirty="0"/>
          </a:p>
        </p:txBody>
      </p:sp>
      <p:sp>
        <p:nvSpPr>
          <p:cNvPr id="36" name="Shape 34"/>
          <p:cNvSpPr/>
          <p:nvPr/>
        </p:nvSpPr>
        <p:spPr>
          <a:xfrm>
            <a:off x="519879" y="6305629"/>
            <a:ext cx="134162" cy="134162"/>
          </a:xfrm>
          <a:custGeom>
            <a:avLst/>
            <a:gdLst/>
            <a:ahLst/>
            <a:cxnLst/>
            <a:rect l="l" t="t" r="r" b="b"/>
            <a:pathLst>
              <a:path w="134162" h="134162">
                <a:moveTo>
                  <a:pt x="67081" y="134162"/>
                </a:moveTo>
                <a:cubicBezTo>
                  <a:pt x="104104" y="134162"/>
                  <a:pt x="134162" y="104104"/>
                  <a:pt x="134162" y="67081"/>
                </a:cubicBezTo>
                <a:cubicBezTo>
                  <a:pt x="134162" y="30058"/>
                  <a:pt x="104104" y="0"/>
                  <a:pt x="67081" y="0"/>
                </a:cubicBezTo>
                <a:cubicBezTo>
                  <a:pt x="30058" y="0"/>
                  <a:pt x="0" y="30058"/>
                  <a:pt x="0" y="67081"/>
                </a:cubicBezTo>
                <a:cubicBezTo>
                  <a:pt x="0" y="104104"/>
                  <a:pt x="30058" y="134162"/>
                  <a:pt x="67081" y="134162"/>
                </a:cubicBezTo>
                <a:close/>
                <a:moveTo>
                  <a:pt x="89197" y="55735"/>
                </a:moveTo>
                <a:lnTo>
                  <a:pt x="68234" y="89276"/>
                </a:lnTo>
                <a:cubicBezTo>
                  <a:pt x="67134" y="91031"/>
                  <a:pt x="65247" y="92132"/>
                  <a:pt x="63177" y="92237"/>
                </a:cubicBezTo>
                <a:cubicBezTo>
                  <a:pt x="61107" y="92341"/>
                  <a:pt x="59115" y="91398"/>
                  <a:pt x="57884" y="89721"/>
                </a:cubicBezTo>
                <a:lnTo>
                  <a:pt x="45306" y="72951"/>
                </a:lnTo>
                <a:cubicBezTo>
                  <a:pt x="43210" y="70173"/>
                  <a:pt x="43786" y="66243"/>
                  <a:pt x="46564" y="64146"/>
                </a:cubicBezTo>
                <a:cubicBezTo>
                  <a:pt x="49341" y="62050"/>
                  <a:pt x="53272" y="62627"/>
                  <a:pt x="55368" y="65404"/>
                </a:cubicBezTo>
                <a:lnTo>
                  <a:pt x="62443" y="74837"/>
                </a:lnTo>
                <a:lnTo>
                  <a:pt x="78532" y="49079"/>
                </a:lnTo>
                <a:cubicBezTo>
                  <a:pt x="80366" y="46144"/>
                  <a:pt x="84244" y="45227"/>
                  <a:pt x="87206" y="47088"/>
                </a:cubicBezTo>
                <a:cubicBezTo>
                  <a:pt x="90167" y="48948"/>
                  <a:pt x="91057" y="52800"/>
                  <a:pt x="89197" y="55761"/>
                </a:cubicBezTo>
                <a:close/>
              </a:path>
            </a:pathLst>
          </a:custGeom>
          <a:solidFill>
            <a:srgbClr val="FF6B00"/>
          </a:solidFill>
          <a:ln/>
        </p:spPr>
      </p:sp>
      <p:sp>
        <p:nvSpPr>
          <p:cNvPr id="37" name="Text 35"/>
          <p:cNvSpPr/>
          <p:nvPr/>
        </p:nvSpPr>
        <p:spPr>
          <a:xfrm>
            <a:off x="737893" y="6272088"/>
            <a:ext cx="3395983" cy="201243"/>
          </a:xfrm>
          <a:prstGeom prst="rect">
            <a:avLst/>
          </a:prstGeom>
          <a:noFill/>
          <a:ln/>
        </p:spPr>
        <p:txBody>
          <a:bodyPr wrap="square" lIns="0" tIns="0" rIns="0" bIns="0" rtlCol="0" anchor="ctr"/>
          <a:lstStyle/>
          <a:p>
            <a:pPr>
              <a:lnSpc>
                <a:spcPct val="130000"/>
              </a:lnSpc>
            </a:pPr>
            <a:r>
              <a:rPr lang="en-US" sz="1056" dirty="0">
                <a:solidFill>
                  <a:srgbClr val="1A1A1A">
                    <a:alpha val="80000"/>
                  </a:srgbClr>
                </a:solidFill>
                <a:latin typeface="Quattrocento Sans" pitchFamily="34" charset="0"/>
                <a:ea typeface="Quattrocento Sans" pitchFamily="34" charset="-122"/>
                <a:cs typeface="Quattrocento Sans" pitchFamily="34" charset="-120"/>
              </a:rPr>
              <a:t>Regular stakeholder reviews and governance checkpoints</a:t>
            </a:r>
            <a:endParaRPr lang="en-US" sz="1600" dirty="0"/>
          </a:p>
        </p:txBody>
      </p:sp>
      <p:sp>
        <p:nvSpPr>
          <p:cNvPr id="38" name="Shape 36"/>
          <p:cNvSpPr/>
          <p:nvPr/>
        </p:nvSpPr>
        <p:spPr>
          <a:xfrm>
            <a:off x="6180769" y="1207461"/>
            <a:ext cx="5676743" cy="3957788"/>
          </a:xfrm>
          <a:custGeom>
            <a:avLst/>
            <a:gdLst/>
            <a:ahLst/>
            <a:cxnLst/>
            <a:rect l="l" t="t" r="r" b="b"/>
            <a:pathLst>
              <a:path w="5676743" h="3957788">
                <a:moveTo>
                  <a:pt x="100607" y="0"/>
                </a:moveTo>
                <a:lnTo>
                  <a:pt x="5576136" y="0"/>
                </a:lnTo>
                <a:cubicBezTo>
                  <a:pt x="5631700" y="0"/>
                  <a:pt x="5676743" y="45043"/>
                  <a:pt x="5676743" y="100607"/>
                </a:cubicBezTo>
                <a:lnTo>
                  <a:pt x="5676743" y="3857181"/>
                </a:lnTo>
                <a:cubicBezTo>
                  <a:pt x="5676743" y="3912745"/>
                  <a:pt x="5631700" y="3957788"/>
                  <a:pt x="5576136" y="3957788"/>
                </a:cubicBezTo>
                <a:lnTo>
                  <a:pt x="100607" y="3957788"/>
                </a:lnTo>
                <a:cubicBezTo>
                  <a:pt x="45043" y="3957788"/>
                  <a:pt x="0" y="3912745"/>
                  <a:pt x="0" y="3857181"/>
                </a:cubicBezTo>
                <a:lnTo>
                  <a:pt x="0" y="100607"/>
                </a:lnTo>
                <a:cubicBezTo>
                  <a:pt x="0" y="45080"/>
                  <a:pt x="45080" y="0"/>
                  <a:pt x="100607" y="0"/>
                </a:cubicBezTo>
                <a:close/>
              </a:path>
            </a:pathLst>
          </a:custGeom>
          <a:solidFill>
            <a:srgbClr val="F9FAFB"/>
          </a:solidFill>
          <a:ln/>
        </p:spPr>
      </p:sp>
      <p:sp>
        <p:nvSpPr>
          <p:cNvPr id="39" name="Text 37"/>
          <p:cNvSpPr/>
          <p:nvPr/>
        </p:nvSpPr>
        <p:spPr>
          <a:xfrm>
            <a:off x="6348471" y="1375164"/>
            <a:ext cx="5425188" cy="234784"/>
          </a:xfrm>
          <a:prstGeom prst="rect">
            <a:avLst/>
          </a:prstGeom>
          <a:noFill/>
          <a:ln/>
        </p:spPr>
        <p:txBody>
          <a:bodyPr wrap="square" lIns="0" tIns="0" rIns="0" bIns="0" rtlCol="0" anchor="ctr"/>
          <a:lstStyle/>
          <a:p>
            <a:pPr>
              <a:lnSpc>
                <a:spcPct val="120000"/>
              </a:lnSpc>
            </a:pPr>
            <a:r>
              <a:rPr lang="en-US" sz="1321" b="1" dirty="0">
                <a:solidFill>
                  <a:srgbClr val="003087"/>
                </a:solidFill>
                <a:latin typeface="Liter" pitchFamily="34" charset="0"/>
                <a:ea typeface="Liter" pitchFamily="34" charset="-122"/>
                <a:cs typeface="Liter" pitchFamily="34" charset="-120"/>
              </a:rPr>
              <a:t>Project Governance Structure</a:t>
            </a:r>
            <a:endParaRPr lang="en-US" sz="1600" dirty="0"/>
          </a:p>
        </p:txBody>
      </p:sp>
      <p:sp>
        <p:nvSpPr>
          <p:cNvPr id="40" name="Shape 38"/>
          <p:cNvSpPr/>
          <p:nvPr/>
        </p:nvSpPr>
        <p:spPr>
          <a:xfrm>
            <a:off x="6348471" y="1744110"/>
            <a:ext cx="5341337" cy="737893"/>
          </a:xfrm>
          <a:custGeom>
            <a:avLst/>
            <a:gdLst/>
            <a:ahLst/>
            <a:cxnLst/>
            <a:rect l="l" t="t" r="r" b="b"/>
            <a:pathLst>
              <a:path w="5341337" h="737893">
                <a:moveTo>
                  <a:pt x="67082" y="0"/>
                </a:moveTo>
                <a:lnTo>
                  <a:pt x="5274255" y="0"/>
                </a:lnTo>
                <a:cubicBezTo>
                  <a:pt x="5311303" y="0"/>
                  <a:pt x="5341337" y="30034"/>
                  <a:pt x="5341337" y="67082"/>
                </a:cubicBezTo>
                <a:lnTo>
                  <a:pt x="5341337" y="670811"/>
                </a:lnTo>
                <a:cubicBezTo>
                  <a:pt x="5341337" y="707859"/>
                  <a:pt x="5311303" y="737893"/>
                  <a:pt x="5274255" y="737893"/>
                </a:cubicBezTo>
                <a:lnTo>
                  <a:pt x="67082" y="737893"/>
                </a:lnTo>
                <a:cubicBezTo>
                  <a:pt x="30034" y="737893"/>
                  <a:pt x="0" y="707859"/>
                  <a:pt x="0" y="670811"/>
                </a:cubicBezTo>
                <a:lnTo>
                  <a:pt x="0" y="67082"/>
                </a:lnTo>
                <a:cubicBezTo>
                  <a:pt x="0" y="30058"/>
                  <a:pt x="30058" y="0"/>
                  <a:pt x="67082" y="0"/>
                </a:cubicBezTo>
                <a:close/>
              </a:path>
            </a:pathLst>
          </a:custGeom>
          <a:solidFill>
            <a:srgbClr val="FFFFFF"/>
          </a:solidFill>
          <a:ln/>
          <a:effectLst>
            <a:outerShdw blurRad="25155" dist="8385" dir="5400000" algn="bl" rotWithShape="0">
              <a:srgbClr val="000000">
                <a:alpha val="10196"/>
              </a:srgbClr>
            </a:outerShdw>
          </a:effectLst>
        </p:spPr>
      </p:sp>
      <p:sp>
        <p:nvSpPr>
          <p:cNvPr id="41" name="Shape 39"/>
          <p:cNvSpPr/>
          <p:nvPr/>
        </p:nvSpPr>
        <p:spPr>
          <a:xfrm>
            <a:off x="6482634" y="1878272"/>
            <a:ext cx="469568" cy="469568"/>
          </a:xfrm>
          <a:custGeom>
            <a:avLst/>
            <a:gdLst/>
            <a:ahLst/>
            <a:cxnLst/>
            <a:rect l="l" t="t" r="r" b="b"/>
            <a:pathLst>
              <a:path w="469568" h="469568">
                <a:moveTo>
                  <a:pt x="234784" y="0"/>
                </a:moveTo>
                <a:lnTo>
                  <a:pt x="234784" y="0"/>
                </a:lnTo>
                <a:cubicBezTo>
                  <a:pt x="364452" y="0"/>
                  <a:pt x="469568" y="105116"/>
                  <a:pt x="469568" y="234784"/>
                </a:cubicBezTo>
                <a:lnTo>
                  <a:pt x="469568" y="234784"/>
                </a:lnTo>
                <a:cubicBezTo>
                  <a:pt x="469568" y="364452"/>
                  <a:pt x="364452" y="469568"/>
                  <a:pt x="234784" y="469568"/>
                </a:cubicBezTo>
                <a:lnTo>
                  <a:pt x="234784" y="469568"/>
                </a:lnTo>
                <a:cubicBezTo>
                  <a:pt x="105116" y="469568"/>
                  <a:pt x="0" y="364452"/>
                  <a:pt x="0" y="234784"/>
                </a:cubicBezTo>
                <a:lnTo>
                  <a:pt x="0" y="234784"/>
                </a:lnTo>
                <a:cubicBezTo>
                  <a:pt x="0" y="105116"/>
                  <a:pt x="105116" y="0"/>
                  <a:pt x="234784" y="0"/>
                </a:cubicBezTo>
                <a:close/>
              </a:path>
            </a:pathLst>
          </a:custGeom>
          <a:solidFill>
            <a:srgbClr val="003087"/>
          </a:solidFill>
          <a:ln/>
        </p:spPr>
      </p:sp>
      <p:sp>
        <p:nvSpPr>
          <p:cNvPr id="42" name="Shape 40"/>
          <p:cNvSpPr/>
          <p:nvPr/>
        </p:nvSpPr>
        <p:spPr>
          <a:xfrm>
            <a:off x="6623085" y="2029205"/>
            <a:ext cx="188666" cy="167703"/>
          </a:xfrm>
          <a:custGeom>
            <a:avLst/>
            <a:gdLst/>
            <a:ahLst/>
            <a:cxnLst/>
            <a:rect l="l" t="t" r="r" b="b"/>
            <a:pathLst>
              <a:path w="188666" h="167703">
                <a:moveTo>
                  <a:pt x="102521" y="28562"/>
                </a:moveTo>
                <a:cubicBezTo>
                  <a:pt x="105535" y="26171"/>
                  <a:pt x="107435" y="22470"/>
                  <a:pt x="107435" y="18343"/>
                </a:cubicBezTo>
                <a:cubicBezTo>
                  <a:pt x="107435" y="11104"/>
                  <a:pt x="101572" y="5241"/>
                  <a:pt x="94333" y="5241"/>
                </a:cubicBezTo>
                <a:cubicBezTo>
                  <a:pt x="87094" y="5241"/>
                  <a:pt x="81231" y="11104"/>
                  <a:pt x="81231" y="18343"/>
                </a:cubicBezTo>
                <a:cubicBezTo>
                  <a:pt x="81231" y="22470"/>
                  <a:pt x="83164" y="26171"/>
                  <a:pt x="86144" y="28562"/>
                </a:cubicBezTo>
                <a:lnTo>
                  <a:pt x="63740" y="63806"/>
                </a:lnTo>
                <a:cubicBezTo>
                  <a:pt x="60465" y="68948"/>
                  <a:pt x="53488" y="70226"/>
                  <a:pt x="48608" y="66557"/>
                </a:cubicBezTo>
                <a:lnTo>
                  <a:pt x="29119" y="51981"/>
                </a:lnTo>
                <a:cubicBezTo>
                  <a:pt x="30593" y="49885"/>
                  <a:pt x="31444" y="47297"/>
                  <a:pt x="31444" y="44546"/>
                </a:cubicBezTo>
                <a:cubicBezTo>
                  <a:pt x="31444" y="37307"/>
                  <a:pt x="25581" y="31444"/>
                  <a:pt x="18343" y="31444"/>
                </a:cubicBezTo>
                <a:cubicBezTo>
                  <a:pt x="11104" y="31444"/>
                  <a:pt x="5241" y="37307"/>
                  <a:pt x="5241" y="44546"/>
                </a:cubicBezTo>
                <a:cubicBezTo>
                  <a:pt x="5241" y="51687"/>
                  <a:pt x="10973" y="57517"/>
                  <a:pt x="18080" y="57648"/>
                </a:cubicBezTo>
                <a:lnTo>
                  <a:pt x="28758" y="128889"/>
                </a:lnTo>
                <a:cubicBezTo>
                  <a:pt x="30298" y="139141"/>
                  <a:pt x="39109" y="146740"/>
                  <a:pt x="49492" y="146740"/>
                </a:cubicBezTo>
                <a:lnTo>
                  <a:pt x="139174" y="146740"/>
                </a:lnTo>
                <a:cubicBezTo>
                  <a:pt x="149557" y="146740"/>
                  <a:pt x="158368" y="139141"/>
                  <a:pt x="159907" y="128889"/>
                </a:cubicBezTo>
                <a:lnTo>
                  <a:pt x="170585" y="57648"/>
                </a:lnTo>
                <a:cubicBezTo>
                  <a:pt x="177693" y="57517"/>
                  <a:pt x="183425" y="51687"/>
                  <a:pt x="183425" y="44546"/>
                </a:cubicBezTo>
                <a:cubicBezTo>
                  <a:pt x="183425" y="37307"/>
                  <a:pt x="177562" y="31444"/>
                  <a:pt x="170323" y="31444"/>
                </a:cubicBezTo>
                <a:cubicBezTo>
                  <a:pt x="163085" y="31444"/>
                  <a:pt x="157221" y="37307"/>
                  <a:pt x="157221" y="44546"/>
                </a:cubicBezTo>
                <a:cubicBezTo>
                  <a:pt x="157221" y="47297"/>
                  <a:pt x="158073" y="49885"/>
                  <a:pt x="159547" y="51981"/>
                </a:cubicBezTo>
                <a:lnTo>
                  <a:pt x="140091" y="66590"/>
                </a:lnTo>
                <a:cubicBezTo>
                  <a:pt x="135210" y="70258"/>
                  <a:pt x="128234" y="68981"/>
                  <a:pt x="124958" y="63838"/>
                </a:cubicBezTo>
                <a:lnTo>
                  <a:pt x="102521" y="28562"/>
                </a:lnTo>
                <a:close/>
              </a:path>
            </a:pathLst>
          </a:custGeom>
          <a:solidFill>
            <a:srgbClr val="FFFFFF"/>
          </a:solidFill>
          <a:ln/>
        </p:spPr>
      </p:sp>
      <p:sp>
        <p:nvSpPr>
          <p:cNvPr id="43" name="Text 41"/>
          <p:cNvSpPr/>
          <p:nvPr/>
        </p:nvSpPr>
        <p:spPr>
          <a:xfrm>
            <a:off x="7086364" y="1928583"/>
            <a:ext cx="4536363" cy="201243"/>
          </a:xfrm>
          <a:prstGeom prst="rect">
            <a:avLst/>
          </a:prstGeom>
          <a:noFill/>
          <a:ln/>
        </p:spPr>
        <p:txBody>
          <a:bodyPr wrap="square" lIns="0" tIns="0" rIns="0" bIns="0" rtlCol="0" anchor="ctr"/>
          <a:lstStyle/>
          <a:p>
            <a:pPr>
              <a:lnSpc>
                <a:spcPct val="130000"/>
              </a:lnSpc>
            </a:pPr>
            <a:r>
              <a:rPr lang="en-US" sz="1056" b="1" dirty="0">
                <a:solidFill>
                  <a:srgbClr val="003087"/>
                </a:solidFill>
                <a:latin typeface="Liter" pitchFamily="34" charset="0"/>
                <a:ea typeface="Liter" pitchFamily="34" charset="-122"/>
                <a:cs typeface="Liter" pitchFamily="34" charset="-120"/>
              </a:rPr>
              <a:t>Executive Steering Committee</a:t>
            </a:r>
            <a:endParaRPr lang="en-US" sz="1600" dirty="0"/>
          </a:p>
        </p:txBody>
      </p:sp>
      <p:sp>
        <p:nvSpPr>
          <p:cNvPr id="44" name="Text 42"/>
          <p:cNvSpPr/>
          <p:nvPr/>
        </p:nvSpPr>
        <p:spPr>
          <a:xfrm>
            <a:off x="7086364" y="2129827"/>
            <a:ext cx="4527978" cy="167703"/>
          </a:xfrm>
          <a:prstGeom prst="rect">
            <a:avLst/>
          </a:prstGeom>
          <a:noFill/>
          <a:ln/>
        </p:spPr>
        <p:txBody>
          <a:bodyPr wrap="square" lIns="0" tIns="0" rIns="0" bIns="0" rtlCol="0" anchor="ctr"/>
          <a:lstStyle/>
          <a:p>
            <a:pP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MD/CEO sponsorship, strategic oversight, decision authority</a:t>
            </a:r>
            <a:endParaRPr lang="en-US" sz="1600" dirty="0"/>
          </a:p>
        </p:txBody>
      </p:sp>
      <p:sp>
        <p:nvSpPr>
          <p:cNvPr id="45" name="Shape 43"/>
          <p:cNvSpPr/>
          <p:nvPr/>
        </p:nvSpPr>
        <p:spPr>
          <a:xfrm>
            <a:off x="6348471" y="2582624"/>
            <a:ext cx="5341337" cy="737893"/>
          </a:xfrm>
          <a:custGeom>
            <a:avLst/>
            <a:gdLst/>
            <a:ahLst/>
            <a:cxnLst/>
            <a:rect l="l" t="t" r="r" b="b"/>
            <a:pathLst>
              <a:path w="5341337" h="737893">
                <a:moveTo>
                  <a:pt x="67082" y="0"/>
                </a:moveTo>
                <a:lnTo>
                  <a:pt x="5274255" y="0"/>
                </a:lnTo>
                <a:cubicBezTo>
                  <a:pt x="5311303" y="0"/>
                  <a:pt x="5341337" y="30034"/>
                  <a:pt x="5341337" y="67082"/>
                </a:cubicBezTo>
                <a:lnTo>
                  <a:pt x="5341337" y="670811"/>
                </a:lnTo>
                <a:cubicBezTo>
                  <a:pt x="5341337" y="707859"/>
                  <a:pt x="5311303" y="737893"/>
                  <a:pt x="5274255" y="737893"/>
                </a:cubicBezTo>
                <a:lnTo>
                  <a:pt x="67082" y="737893"/>
                </a:lnTo>
                <a:cubicBezTo>
                  <a:pt x="30034" y="737893"/>
                  <a:pt x="0" y="707859"/>
                  <a:pt x="0" y="670811"/>
                </a:cubicBezTo>
                <a:lnTo>
                  <a:pt x="0" y="67082"/>
                </a:lnTo>
                <a:cubicBezTo>
                  <a:pt x="0" y="30058"/>
                  <a:pt x="30058" y="0"/>
                  <a:pt x="67082" y="0"/>
                </a:cubicBezTo>
                <a:close/>
              </a:path>
            </a:pathLst>
          </a:custGeom>
          <a:solidFill>
            <a:srgbClr val="FFFFFF"/>
          </a:solidFill>
          <a:ln/>
          <a:effectLst>
            <a:outerShdw blurRad="25155" dist="8385" dir="5400000" algn="bl" rotWithShape="0">
              <a:srgbClr val="000000">
                <a:alpha val="10196"/>
              </a:srgbClr>
            </a:outerShdw>
          </a:effectLst>
        </p:spPr>
      </p:sp>
      <p:sp>
        <p:nvSpPr>
          <p:cNvPr id="46" name="Shape 44"/>
          <p:cNvSpPr/>
          <p:nvPr/>
        </p:nvSpPr>
        <p:spPr>
          <a:xfrm>
            <a:off x="6482634" y="2716787"/>
            <a:ext cx="469568" cy="469568"/>
          </a:xfrm>
          <a:custGeom>
            <a:avLst/>
            <a:gdLst/>
            <a:ahLst/>
            <a:cxnLst/>
            <a:rect l="l" t="t" r="r" b="b"/>
            <a:pathLst>
              <a:path w="469568" h="469568">
                <a:moveTo>
                  <a:pt x="234784" y="0"/>
                </a:moveTo>
                <a:lnTo>
                  <a:pt x="234784" y="0"/>
                </a:lnTo>
                <a:cubicBezTo>
                  <a:pt x="364452" y="0"/>
                  <a:pt x="469568" y="105116"/>
                  <a:pt x="469568" y="234784"/>
                </a:cubicBezTo>
                <a:lnTo>
                  <a:pt x="469568" y="234784"/>
                </a:lnTo>
                <a:cubicBezTo>
                  <a:pt x="469568" y="364452"/>
                  <a:pt x="364452" y="469568"/>
                  <a:pt x="234784" y="469568"/>
                </a:cubicBezTo>
                <a:lnTo>
                  <a:pt x="234784" y="469568"/>
                </a:lnTo>
                <a:cubicBezTo>
                  <a:pt x="105116" y="469568"/>
                  <a:pt x="0" y="364452"/>
                  <a:pt x="0" y="234784"/>
                </a:cubicBezTo>
                <a:lnTo>
                  <a:pt x="0" y="234784"/>
                </a:lnTo>
                <a:cubicBezTo>
                  <a:pt x="0" y="105116"/>
                  <a:pt x="105116" y="0"/>
                  <a:pt x="234784" y="0"/>
                </a:cubicBezTo>
                <a:close/>
              </a:path>
            </a:pathLst>
          </a:custGeom>
          <a:solidFill>
            <a:srgbClr val="FF6B00"/>
          </a:solidFill>
          <a:ln/>
        </p:spPr>
      </p:sp>
      <p:sp>
        <p:nvSpPr>
          <p:cNvPr id="47" name="Shape 45"/>
          <p:cNvSpPr/>
          <p:nvPr/>
        </p:nvSpPr>
        <p:spPr>
          <a:xfrm>
            <a:off x="6612604" y="2867719"/>
            <a:ext cx="209629" cy="167703"/>
          </a:xfrm>
          <a:custGeom>
            <a:avLst/>
            <a:gdLst/>
            <a:ahLst/>
            <a:cxnLst/>
            <a:rect l="l" t="t" r="r" b="b"/>
            <a:pathLst>
              <a:path w="209629" h="167703">
                <a:moveTo>
                  <a:pt x="104814" y="73370"/>
                </a:moveTo>
                <a:cubicBezTo>
                  <a:pt x="123615" y="73370"/>
                  <a:pt x="138879" y="58106"/>
                  <a:pt x="138879" y="39305"/>
                </a:cubicBezTo>
                <a:cubicBezTo>
                  <a:pt x="138879" y="20505"/>
                  <a:pt x="123615" y="5241"/>
                  <a:pt x="104814" y="5241"/>
                </a:cubicBezTo>
                <a:cubicBezTo>
                  <a:pt x="86014" y="5241"/>
                  <a:pt x="70750" y="20505"/>
                  <a:pt x="70750" y="39305"/>
                </a:cubicBezTo>
                <a:cubicBezTo>
                  <a:pt x="70750" y="58106"/>
                  <a:pt x="86014" y="73370"/>
                  <a:pt x="104814" y="73370"/>
                </a:cubicBezTo>
                <a:close/>
                <a:moveTo>
                  <a:pt x="31444" y="75990"/>
                </a:moveTo>
                <a:cubicBezTo>
                  <a:pt x="44460" y="75990"/>
                  <a:pt x="55028" y="65423"/>
                  <a:pt x="55028" y="52407"/>
                </a:cubicBezTo>
                <a:cubicBezTo>
                  <a:pt x="55028" y="39391"/>
                  <a:pt x="44460" y="28824"/>
                  <a:pt x="31444" y="28824"/>
                </a:cubicBezTo>
                <a:cubicBezTo>
                  <a:pt x="18428" y="28824"/>
                  <a:pt x="7861" y="39391"/>
                  <a:pt x="7861" y="52407"/>
                </a:cubicBezTo>
                <a:cubicBezTo>
                  <a:pt x="7861" y="65423"/>
                  <a:pt x="18428" y="75990"/>
                  <a:pt x="31444" y="75990"/>
                </a:cubicBezTo>
                <a:close/>
                <a:moveTo>
                  <a:pt x="0" y="136259"/>
                </a:moveTo>
                <a:lnTo>
                  <a:pt x="0" y="146740"/>
                </a:lnTo>
                <a:cubicBezTo>
                  <a:pt x="0" y="152538"/>
                  <a:pt x="4684" y="157221"/>
                  <a:pt x="10481" y="157221"/>
                </a:cubicBezTo>
                <a:lnTo>
                  <a:pt x="38880" y="157221"/>
                </a:lnTo>
                <a:cubicBezTo>
                  <a:pt x="37471" y="154012"/>
                  <a:pt x="36685" y="150474"/>
                  <a:pt x="36685" y="146740"/>
                </a:cubicBezTo>
                <a:lnTo>
                  <a:pt x="36685" y="141499"/>
                </a:lnTo>
                <a:cubicBezTo>
                  <a:pt x="36685" y="124074"/>
                  <a:pt x="43236" y="108155"/>
                  <a:pt x="54012" y="96102"/>
                </a:cubicBezTo>
                <a:cubicBezTo>
                  <a:pt x="50180" y="94955"/>
                  <a:pt x="46118" y="94333"/>
                  <a:pt x="41926" y="94333"/>
                </a:cubicBezTo>
                <a:cubicBezTo>
                  <a:pt x="18768" y="94333"/>
                  <a:pt x="0" y="113101"/>
                  <a:pt x="0" y="136259"/>
                </a:cubicBezTo>
                <a:close/>
                <a:moveTo>
                  <a:pt x="201768" y="52407"/>
                </a:moveTo>
                <a:cubicBezTo>
                  <a:pt x="201768" y="39391"/>
                  <a:pt x="191200" y="28824"/>
                  <a:pt x="178184" y="28824"/>
                </a:cubicBezTo>
                <a:cubicBezTo>
                  <a:pt x="165168" y="28824"/>
                  <a:pt x="154601" y="39391"/>
                  <a:pt x="154601" y="52407"/>
                </a:cubicBezTo>
                <a:cubicBezTo>
                  <a:pt x="154601" y="65423"/>
                  <a:pt x="165168" y="75990"/>
                  <a:pt x="178184" y="75990"/>
                </a:cubicBezTo>
                <a:cubicBezTo>
                  <a:pt x="191200" y="75990"/>
                  <a:pt x="201768" y="65423"/>
                  <a:pt x="201768" y="52407"/>
                </a:cubicBezTo>
                <a:close/>
                <a:moveTo>
                  <a:pt x="52407" y="141499"/>
                </a:moveTo>
                <a:lnTo>
                  <a:pt x="52407" y="146740"/>
                </a:lnTo>
                <a:cubicBezTo>
                  <a:pt x="52407" y="152538"/>
                  <a:pt x="57091" y="157221"/>
                  <a:pt x="62889" y="157221"/>
                </a:cubicBezTo>
                <a:lnTo>
                  <a:pt x="114248" y="157221"/>
                </a:lnTo>
                <a:cubicBezTo>
                  <a:pt x="111922" y="150146"/>
                  <a:pt x="112184" y="142678"/>
                  <a:pt x="117752" y="136259"/>
                </a:cubicBezTo>
                <a:cubicBezTo>
                  <a:pt x="113167" y="130952"/>
                  <a:pt x="111038" y="123255"/>
                  <a:pt x="114018" y="115525"/>
                </a:cubicBezTo>
                <a:cubicBezTo>
                  <a:pt x="116180" y="109924"/>
                  <a:pt x="119226" y="104683"/>
                  <a:pt x="122993" y="100032"/>
                </a:cubicBezTo>
                <a:cubicBezTo>
                  <a:pt x="124762" y="97870"/>
                  <a:pt x="126793" y="96200"/>
                  <a:pt x="128987" y="94988"/>
                </a:cubicBezTo>
                <a:cubicBezTo>
                  <a:pt x="121748" y="91221"/>
                  <a:pt x="113527" y="89092"/>
                  <a:pt x="104814" y="89092"/>
                </a:cubicBezTo>
                <a:cubicBezTo>
                  <a:pt x="75859" y="89092"/>
                  <a:pt x="52407" y="112544"/>
                  <a:pt x="52407" y="141499"/>
                </a:cubicBezTo>
                <a:close/>
                <a:moveTo>
                  <a:pt x="204584" y="127055"/>
                </a:moveTo>
                <a:cubicBezTo>
                  <a:pt x="206648" y="125875"/>
                  <a:pt x="207696" y="123419"/>
                  <a:pt x="206812" y="121159"/>
                </a:cubicBezTo>
                <a:cubicBezTo>
                  <a:pt x="205240" y="117097"/>
                  <a:pt x="203045" y="113265"/>
                  <a:pt x="200294" y="109891"/>
                </a:cubicBezTo>
                <a:cubicBezTo>
                  <a:pt x="198787" y="108024"/>
                  <a:pt x="196134" y="107697"/>
                  <a:pt x="194070" y="108909"/>
                </a:cubicBezTo>
                <a:cubicBezTo>
                  <a:pt x="186930" y="113036"/>
                  <a:pt x="178152" y="107991"/>
                  <a:pt x="178152" y="99705"/>
                </a:cubicBezTo>
                <a:cubicBezTo>
                  <a:pt x="178152" y="97314"/>
                  <a:pt x="176547" y="95184"/>
                  <a:pt x="174188" y="94824"/>
                </a:cubicBezTo>
                <a:cubicBezTo>
                  <a:pt x="169963" y="94169"/>
                  <a:pt x="165410" y="94169"/>
                  <a:pt x="161185" y="94824"/>
                </a:cubicBezTo>
                <a:cubicBezTo>
                  <a:pt x="158826" y="95184"/>
                  <a:pt x="157221" y="97314"/>
                  <a:pt x="157221" y="99705"/>
                </a:cubicBezTo>
                <a:cubicBezTo>
                  <a:pt x="157221" y="107959"/>
                  <a:pt x="148443" y="113036"/>
                  <a:pt x="141303" y="108909"/>
                </a:cubicBezTo>
                <a:cubicBezTo>
                  <a:pt x="139239" y="107729"/>
                  <a:pt x="136586" y="108057"/>
                  <a:pt x="135079" y="109891"/>
                </a:cubicBezTo>
                <a:cubicBezTo>
                  <a:pt x="132328" y="113265"/>
                  <a:pt x="130134" y="117097"/>
                  <a:pt x="128561" y="121159"/>
                </a:cubicBezTo>
                <a:cubicBezTo>
                  <a:pt x="127710" y="123386"/>
                  <a:pt x="128725" y="125843"/>
                  <a:pt x="130789" y="127022"/>
                </a:cubicBezTo>
                <a:cubicBezTo>
                  <a:pt x="137962" y="131149"/>
                  <a:pt x="137962" y="141270"/>
                  <a:pt x="130789" y="145430"/>
                </a:cubicBezTo>
                <a:cubicBezTo>
                  <a:pt x="128725" y="146609"/>
                  <a:pt x="127677" y="149066"/>
                  <a:pt x="128561" y="151293"/>
                </a:cubicBezTo>
                <a:cubicBezTo>
                  <a:pt x="130134" y="155354"/>
                  <a:pt x="132328" y="159187"/>
                  <a:pt x="135079" y="162560"/>
                </a:cubicBezTo>
                <a:cubicBezTo>
                  <a:pt x="136586" y="164427"/>
                  <a:pt x="139239" y="164755"/>
                  <a:pt x="141303" y="163543"/>
                </a:cubicBezTo>
                <a:cubicBezTo>
                  <a:pt x="148443" y="159416"/>
                  <a:pt x="157221" y="164493"/>
                  <a:pt x="157221" y="172747"/>
                </a:cubicBezTo>
                <a:cubicBezTo>
                  <a:pt x="157221" y="175138"/>
                  <a:pt x="158826" y="177267"/>
                  <a:pt x="161185" y="177627"/>
                </a:cubicBezTo>
                <a:cubicBezTo>
                  <a:pt x="165410" y="178283"/>
                  <a:pt x="169963" y="178283"/>
                  <a:pt x="174188" y="177627"/>
                </a:cubicBezTo>
                <a:cubicBezTo>
                  <a:pt x="176547" y="177267"/>
                  <a:pt x="178152" y="175138"/>
                  <a:pt x="178152" y="172747"/>
                </a:cubicBezTo>
                <a:cubicBezTo>
                  <a:pt x="178152" y="164493"/>
                  <a:pt x="186930" y="159416"/>
                  <a:pt x="194070" y="163543"/>
                </a:cubicBezTo>
                <a:cubicBezTo>
                  <a:pt x="196134" y="164722"/>
                  <a:pt x="198787" y="164395"/>
                  <a:pt x="200294" y="162560"/>
                </a:cubicBezTo>
                <a:cubicBezTo>
                  <a:pt x="203045" y="159187"/>
                  <a:pt x="205240" y="155354"/>
                  <a:pt x="206812" y="151293"/>
                </a:cubicBezTo>
                <a:cubicBezTo>
                  <a:pt x="207663" y="149066"/>
                  <a:pt x="206648" y="146609"/>
                  <a:pt x="204584" y="145430"/>
                </a:cubicBezTo>
                <a:cubicBezTo>
                  <a:pt x="197411" y="141303"/>
                  <a:pt x="197411" y="131182"/>
                  <a:pt x="204584" y="127022"/>
                </a:cubicBezTo>
                <a:close/>
                <a:moveTo>
                  <a:pt x="154601" y="136259"/>
                </a:moveTo>
                <a:cubicBezTo>
                  <a:pt x="154601" y="129028"/>
                  <a:pt x="160472" y="123157"/>
                  <a:pt x="167703" y="123157"/>
                </a:cubicBezTo>
                <a:cubicBezTo>
                  <a:pt x="174934" y="123157"/>
                  <a:pt x="180805" y="129028"/>
                  <a:pt x="180805" y="136259"/>
                </a:cubicBezTo>
                <a:cubicBezTo>
                  <a:pt x="180805" y="143490"/>
                  <a:pt x="174934" y="149360"/>
                  <a:pt x="167703" y="149360"/>
                </a:cubicBezTo>
                <a:cubicBezTo>
                  <a:pt x="160472" y="149360"/>
                  <a:pt x="154601" y="143490"/>
                  <a:pt x="154601" y="136259"/>
                </a:cubicBezTo>
                <a:close/>
              </a:path>
            </a:pathLst>
          </a:custGeom>
          <a:solidFill>
            <a:srgbClr val="FFFFFF"/>
          </a:solidFill>
          <a:ln/>
        </p:spPr>
      </p:sp>
      <p:sp>
        <p:nvSpPr>
          <p:cNvPr id="48" name="Text 46"/>
          <p:cNvSpPr/>
          <p:nvPr/>
        </p:nvSpPr>
        <p:spPr>
          <a:xfrm>
            <a:off x="7086364" y="2767098"/>
            <a:ext cx="4536363" cy="201243"/>
          </a:xfrm>
          <a:prstGeom prst="rect">
            <a:avLst/>
          </a:prstGeom>
          <a:noFill/>
          <a:ln/>
        </p:spPr>
        <p:txBody>
          <a:bodyPr wrap="square" lIns="0" tIns="0" rIns="0" bIns="0" rtlCol="0" anchor="ctr"/>
          <a:lstStyle/>
          <a:p>
            <a:pPr>
              <a:lnSpc>
                <a:spcPct val="130000"/>
              </a:lnSpc>
            </a:pPr>
            <a:r>
              <a:rPr lang="en-US" sz="1056" b="1" dirty="0">
                <a:solidFill>
                  <a:srgbClr val="003087"/>
                </a:solidFill>
                <a:latin typeface="Liter" pitchFamily="34" charset="0"/>
                <a:ea typeface="Liter" pitchFamily="34" charset="-122"/>
                <a:cs typeface="Liter" pitchFamily="34" charset="-120"/>
              </a:rPr>
              <a:t>Project Management Office</a:t>
            </a:r>
            <a:endParaRPr lang="en-US" sz="1600" dirty="0"/>
          </a:p>
        </p:txBody>
      </p:sp>
      <p:sp>
        <p:nvSpPr>
          <p:cNvPr id="49" name="Text 47"/>
          <p:cNvSpPr/>
          <p:nvPr/>
        </p:nvSpPr>
        <p:spPr>
          <a:xfrm>
            <a:off x="7086364" y="2968341"/>
            <a:ext cx="4527978" cy="167703"/>
          </a:xfrm>
          <a:prstGeom prst="rect">
            <a:avLst/>
          </a:prstGeom>
          <a:noFill/>
          <a:ln/>
        </p:spPr>
        <p:txBody>
          <a:bodyPr wrap="square" lIns="0" tIns="0" rIns="0" bIns="0" rtlCol="0" anchor="ctr"/>
          <a:lstStyle/>
          <a:p>
            <a:pP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Day-to-day coordination, resource management, reporting</a:t>
            </a:r>
            <a:endParaRPr lang="en-US" sz="1600" dirty="0"/>
          </a:p>
        </p:txBody>
      </p:sp>
      <p:sp>
        <p:nvSpPr>
          <p:cNvPr id="50" name="Shape 48"/>
          <p:cNvSpPr/>
          <p:nvPr/>
        </p:nvSpPr>
        <p:spPr>
          <a:xfrm>
            <a:off x="6348471" y="3421139"/>
            <a:ext cx="5341337" cy="737893"/>
          </a:xfrm>
          <a:custGeom>
            <a:avLst/>
            <a:gdLst/>
            <a:ahLst/>
            <a:cxnLst/>
            <a:rect l="l" t="t" r="r" b="b"/>
            <a:pathLst>
              <a:path w="5341337" h="737893">
                <a:moveTo>
                  <a:pt x="67082" y="0"/>
                </a:moveTo>
                <a:lnTo>
                  <a:pt x="5274255" y="0"/>
                </a:lnTo>
                <a:cubicBezTo>
                  <a:pt x="5311303" y="0"/>
                  <a:pt x="5341337" y="30034"/>
                  <a:pt x="5341337" y="67082"/>
                </a:cubicBezTo>
                <a:lnTo>
                  <a:pt x="5341337" y="670811"/>
                </a:lnTo>
                <a:cubicBezTo>
                  <a:pt x="5341337" y="707859"/>
                  <a:pt x="5311303" y="737893"/>
                  <a:pt x="5274255" y="737893"/>
                </a:cubicBezTo>
                <a:lnTo>
                  <a:pt x="67082" y="737893"/>
                </a:lnTo>
                <a:cubicBezTo>
                  <a:pt x="30034" y="737893"/>
                  <a:pt x="0" y="707859"/>
                  <a:pt x="0" y="670811"/>
                </a:cubicBezTo>
                <a:lnTo>
                  <a:pt x="0" y="67082"/>
                </a:lnTo>
                <a:cubicBezTo>
                  <a:pt x="0" y="30058"/>
                  <a:pt x="30058" y="0"/>
                  <a:pt x="67082" y="0"/>
                </a:cubicBezTo>
                <a:close/>
              </a:path>
            </a:pathLst>
          </a:custGeom>
          <a:solidFill>
            <a:srgbClr val="FFFFFF"/>
          </a:solidFill>
          <a:ln/>
          <a:effectLst>
            <a:outerShdw blurRad="25155" dist="8385" dir="5400000" algn="bl" rotWithShape="0">
              <a:srgbClr val="000000">
                <a:alpha val="10196"/>
              </a:srgbClr>
            </a:outerShdw>
          </a:effectLst>
        </p:spPr>
      </p:sp>
      <p:sp>
        <p:nvSpPr>
          <p:cNvPr id="51" name="Shape 49"/>
          <p:cNvSpPr/>
          <p:nvPr/>
        </p:nvSpPr>
        <p:spPr>
          <a:xfrm>
            <a:off x="6482634" y="3555301"/>
            <a:ext cx="469568" cy="469568"/>
          </a:xfrm>
          <a:custGeom>
            <a:avLst/>
            <a:gdLst/>
            <a:ahLst/>
            <a:cxnLst/>
            <a:rect l="l" t="t" r="r" b="b"/>
            <a:pathLst>
              <a:path w="469568" h="469568">
                <a:moveTo>
                  <a:pt x="234784" y="0"/>
                </a:moveTo>
                <a:lnTo>
                  <a:pt x="234784" y="0"/>
                </a:lnTo>
                <a:cubicBezTo>
                  <a:pt x="364452" y="0"/>
                  <a:pt x="469568" y="105116"/>
                  <a:pt x="469568" y="234784"/>
                </a:cubicBezTo>
                <a:lnTo>
                  <a:pt x="469568" y="234784"/>
                </a:lnTo>
                <a:cubicBezTo>
                  <a:pt x="469568" y="364452"/>
                  <a:pt x="364452" y="469568"/>
                  <a:pt x="234784" y="469568"/>
                </a:cubicBezTo>
                <a:lnTo>
                  <a:pt x="234784" y="469568"/>
                </a:lnTo>
                <a:cubicBezTo>
                  <a:pt x="105116" y="469568"/>
                  <a:pt x="0" y="364452"/>
                  <a:pt x="0" y="234784"/>
                </a:cubicBezTo>
                <a:lnTo>
                  <a:pt x="0" y="234784"/>
                </a:lnTo>
                <a:cubicBezTo>
                  <a:pt x="0" y="105116"/>
                  <a:pt x="105116" y="0"/>
                  <a:pt x="234784" y="0"/>
                </a:cubicBezTo>
                <a:close/>
              </a:path>
            </a:pathLst>
          </a:custGeom>
          <a:solidFill>
            <a:srgbClr val="003087"/>
          </a:solidFill>
          <a:ln/>
        </p:spPr>
      </p:sp>
      <p:sp>
        <p:nvSpPr>
          <p:cNvPr id="52" name="Shape 50"/>
          <p:cNvSpPr/>
          <p:nvPr/>
        </p:nvSpPr>
        <p:spPr>
          <a:xfrm>
            <a:off x="6633566" y="3706234"/>
            <a:ext cx="167703" cy="167703"/>
          </a:xfrm>
          <a:custGeom>
            <a:avLst/>
            <a:gdLst/>
            <a:ahLst/>
            <a:cxnLst/>
            <a:rect l="l" t="t" r="r" b="b"/>
            <a:pathLst>
              <a:path w="167703" h="167703">
                <a:moveTo>
                  <a:pt x="0" y="26204"/>
                </a:moveTo>
                <a:cubicBezTo>
                  <a:pt x="0" y="17524"/>
                  <a:pt x="7042" y="10481"/>
                  <a:pt x="15722" y="10481"/>
                </a:cubicBezTo>
                <a:lnTo>
                  <a:pt x="47166" y="10481"/>
                </a:lnTo>
                <a:cubicBezTo>
                  <a:pt x="55846" y="10481"/>
                  <a:pt x="62889" y="17524"/>
                  <a:pt x="62889" y="26204"/>
                </a:cubicBezTo>
                <a:lnTo>
                  <a:pt x="62889" y="31444"/>
                </a:lnTo>
                <a:lnTo>
                  <a:pt x="104814" y="31444"/>
                </a:lnTo>
                <a:lnTo>
                  <a:pt x="104814" y="26204"/>
                </a:lnTo>
                <a:cubicBezTo>
                  <a:pt x="104814" y="17524"/>
                  <a:pt x="111857" y="10481"/>
                  <a:pt x="120536" y="10481"/>
                </a:cubicBezTo>
                <a:lnTo>
                  <a:pt x="151981" y="10481"/>
                </a:lnTo>
                <a:cubicBezTo>
                  <a:pt x="160661" y="10481"/>
                  <a:pt x="167703" y="17524"/>
                  <a:pt x="167703" y="26204"/>
                </a:cubicBezTo>
                <a:lnTo>
                  <a:pt x="167703" y="57648"/>
                </a:lnTo>
                <a:cubicBezTo>
                  <a:pt x="167703" y="66328"/>
                  <a:pt x="160661" y="73370"/>
                  <a:pt x="151981" y="73370"/>
                </a:cubicBezTo>
                <a:lnTo>
                  <a:pt x="120536" y="73370"/>
                </a:lnTo>
                <a:cubicBezTo>
                  <a:pt x="111857" y="73370"/>
                  <a:pt x="104814" y="66328"/>
                  <a:pt x="104814" y="57648"/>
                </a:cubicBezTo>
                <a:lnTo>
                  <a:pt x="104814" y="52407"/>
                </a:lnTo>
                <a:lnTo>
                  <a:pt x="62889" y="52407"/>
                </a:lnTo>
                <a:lnTo>
                  <a:pt x="62889" y="57648"/>
                </a:lnTo>
                <a:cubicBezTo>
                  <a:pt x="62889" y="60039"/>
                  <a:pt x="62332" y="62332"/>
                  <a:pt x="61382" y="64363"/>
                </a:cubicBezTo>
                <a:lnTo>
                  <a:pt x="83851" y="94333"/>
                </a:lnTo>
                <a:lnTo>
                  <a:pt x="110055" y="94333"/>
                </a:lnTo>
                <a:cubicBezTo>
                  <a:pt x="118735" y="94333"/>
                  <a:pt x="125777" y="101375"/>
                  <a:pt x="125777" y="110055"/>
                </a:cubicBezTo>
                <a:lnTo>
                  <a:pt x="125777" y="141499"/>
                </a:lnTo>
                <a:cubicBezTo>
                  <a:pt x="125777" y="150179"/>
                  <a:pt x="118735" y="157221"/>
                  <a:pt x="110055" y="157221"/>
                </a:cubicBezTo>
                <a:lnTo>
                  <a:pt x="78611" y="157221"/>
                </a:lnTo>
                <a:cubicBezTo>
                  <a:pt x="69931" y="157221"/>
                  <a:pt x="62889" y="150179"/>
                  <a:pt x="62889" y="141499"/>
                </a:cubicBezTo>
                <a:lnTo>
                  <a:pt x="62889" y="110055"/>
                </a:lnTo>
                <a:cubicBezTo>
                  <a:pt x="62889" y="107664"/>
                  <a:pt x="63445" y="105371"/>
                  <a:pt x="64395" y="103340"/>
                </a:cubicBezTo>
                <a:lnTo>
                  <a:pt x="41926" y="73370"/>
                </a:lnTo>
                <a:lnTo>
                  <a:pt x="15722" y="73370"/>
                </a:lnTo>
                <a:cubicBezTo>
                  <a:pt x="7042" y="73370"/>
                  <a:pt x="0" y="66328"/>
                  <a:pt x="0" y="57648"/>
                </a:cubicBezTo>
                <a:lnTo>
                  <a:pt x="0" y="26204"/>
                </a:lnTo>
                <a:close/>
              </a:path>
            </a:pathLst>
          </a:custGeom>
          <a:solidFill>
            <a:srgbClr val="FFFFFF"/>
          </a:solidFill>
          <a:ln/>
        </p:spPr>
      </p:sp>
      <p:sp>
        <p:nvSpPr>
          <p:cNvPr id="53" name="Text 51"/>
          <p:cNvSpPr/>
          <p:nvPr/>
        </p:nvSpPr>
        <p:spPr>
          <a:xfrm>
            <a:off x="7086364" y="3605612"/>
            <a:ext cx="4536363" cy="201243"/>
          </a:xfrm>
          <a:prstGeom prst="rect">
            <a:avLst/>
          </a:prstGeom>
          <a:noFill/>
          <a:ln/>
        </p:spPr>
        <p:txBody>
          <a:bodyPr wrap="square" lIns="0" tIns="0" rIns="0" bIns="0" rtlCol="0" anchor="ctr"/>
          <a:lstStyle/>
          <a:p>
            <a:pPr>
              <a:lnSpc>
                <a:spcPct val="130000"/>
              </a:lnSpc>
            </a:pPr>
            <a:r>
              <a:rPr lang="en-US" sz="1056" b="1" dirty="0">
                <a:solidFill>
                  <a:srgbClr val="003087"/>
                </a:solidFill>
                <a:latin typeface="Liter" pitchFamily="34" charset="0"/>
                <a:ea typeface="Liter" pitchFamily="34" charset="-122"/>
                <a:cs typeface="Liter" pitchFamily="34" charset="-120"/>
              </a:rPr>
              <a:t>Cross-Functional Teams</a:t>
            </a:r>
            <a:endParaRPr lang="en-US" sz="1600" dirty="0"/>
          </a:p>
        </p:txBody>
      </p:sp>
      <p:sp>
        <p:nvSpPr>
          <p:cNvPr id="54" name="Text 52"/>
          <p:cNvSpPr/>
          <p:nvPr/>
        </p:nvSpPr>
        <p:spPr>
          <a:xfrm>
            <a:off x="7086364" y="3806856"/>
            <a:ext cx="4527978" cy="167703"/>
          </a:xfrm>
          <a:prstGeom prst="rect">
            <a:avLst/>
          </a:prstGeom>
          <a:noFill/>
          <a:ln/>
        </p:spPr>
        <p:txBody>
          <a:bodyPr wrap="square" lIns="0" tIns="0" rIns="0" bIns="0" rtlCol="0" anchor="ctr"/>
          <a:lstStyle/>
          <a:p>
            <a:pP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Operations, IT, Compliance, HR collaboration</a:t>
            </a:r>
            <a:endParaRPr lang="en-US" sz="1600" dirty="0"/>
          </a:p>
        </p:txBody>
      </p:sp>
      <p:sp>
        <p:nvSpPr>
          <p:cNvPr id="55" name="Shape 53"/>
          <p:cNvSpPr/>
          <p:nvPr/>
        </p:nvSpPr>
        <p:spPr>
          <a:xfrm>
            <a:off x="6348471" y="4259653"/>
            <a:ext cx="5341337" cy="737893"/>
          </a:xfrm>
          <a:custGeom>
            <a:avLst/>
            <a:gdLst/>
            <a:ahLst/>
            <a:cxnLst/>
            <a:rect l="l" t="t" r="r" b="b"/>
            <a:pathLst>
              <a:path w="5341337" h="737893">
                <a:moveTo>
                  <a:pt x="67082" y="0"/>
                </a:moveTo>
                <a:lnTo>
                  <a:pt x="5274255" y="0"/>
                </a:lnTo>
                <a:cubicBezTo>
                  <a:pt x="5311303" y="0"/>
                  <a:pt x="5341337" y="30034"/>
                  <a:pt x="5341337" y="67082"/>
                </a:cubicBezTo>
                <a:lnTo>
                  <a:pt x="5341337" y="670811"/>
                </a:lnTo>
                <a:cubicBezTo>
                  <a:pt x="5341337" y="707859"/>
                  <a:pt x="5311303" y="737893"/>
                  <a:pt x="5274255" y="737893"/>
                </a:cubicBezTo>
                <a:lnTo>
                  <a:pt x="67082" y="737893"/>
                </a:lnTo>
                <a:cubicBezTo>
                  <a:pt x="30034" y="737893"/>
                  <a:pt x="0" y="707859"/>
                  <a:pt x="0" y="670811"/>
                </a:cubicBezTo>
                <a:lnTo>
                  <a:pt x="0" y="67082"/>
                </a:lnTo>
                <a:cubicBezTo>
                  <a:pt x="0" y="30058"/>
                  <a:pt x="30058" y="0"/>
                  <a:pt x="67082" y="0"/>
                </a:cubicBezTo>
                <a:close/>
              </a:path>
            </a:pathLst>
          </a:custGeom>
          <a:solidFill>
            <a:srgbClr val="FFFFFF"/>
          </a:solidFill>
          <a:ln/>
          <a:effectLst>
            <a:outerShdw blurRad="25155" dist="8385" dir="5400000" algn="bl" rotWithShape="0">
              <a:srgbClr val="000000">
                <a:alpha val="10196"/>
              </a:srgbClr>
            </a:outerShdw>
          </a:effectLst>
        </p:spPr>
      </p:sp>
      <p:sp>
        <p:nvSpPr>
          <p:cNvPr id="56" name="Shape 54"/>
          <p:cNvSpPr/>
          <p:nvPr/>
        </p:nvSpPr>
        <p:spPr>
          <a:xfrm>
            <a:off x="6482634" y="4393816"/>
            <a:ext cx="469568" cy="469568"/>
          </a:xfrm>
          <a:custGeom>
            <a:avLst/>
            <a:gdLst/>
            <a:ahLst/>
            <a:cxnLst/>
            <a:rect l="l" t="t" r="r" b="b"/>
            <a:pathLst>
              <a:path w="469568" h="469568">
                <a:moveTo>
                  <a:pt x="234784" y="0"/>
                </a:moveTo>
                <a:lnTo>
                  <a:pt x="234784" y="0"/>
                </a:lnTo>
                <a:cubicBezTo>
                  <a:pt x="364452" y="0"/>
                  <a:pt x="469568" y="105116"/>
                  <a:pt x="469568" y="234784"/>
                </a:cubicBezTo>
                <a:lnTo>
                  <a:pt x="469568" y="234784"/>
                </a:lnTo>
                <a:cubicBezTo>
                  <a:pt x="469568" y="364452"/>
                  <a:pt x="364452" y="469568"/>
                  <a:pt x="234784" y="469568"/>
                </a:cubicBezTo>
                <a:lnTo>
                  <a:pt x="234784" y="469568"/>
                </a:lnTo>
                <a:cubicBezTo>
                  <a:pt x="105116" y="469568"/>
                  <a:pt x="0" y="364452"/>
                  <a:pt x="0" y="234784"/>
                </a:cubicBezTo>
                <a:lnTo>
                  <a:pt x="0" y="234784"/>
                </a:lnTo>
                <a:cubicBezTo>
                  <a:pt x="0" y="105116"/>
                  <a:pt x="105116" y="0"/>
                  <a:pt x="234784" y="0"/>
                </a:cubicBezTo>
                <a:close/>
              </a:path>
            </a:pathLst>
          </a:custGeom>
          <a:solidFill>
            <a:srgbClr val="FF6B00"/>
          </a:solidFill>
          <a:ln/>
        </p:spPr>
      </p:sp>
      <p:sp>
        <p:nvSpPr>
          <p:cNvPr id="57" name="Shape 55"/>
          <p:cNvSpPr/>
          <p:nvPr/>
        </p:nvSpPr>
        <p:spPr>
          <a:xfrm>
            <a:off x="6623085" y="4544748"/>
            <a:ext cx="188666" cy="167703"/>
          </a:xfrm>
          <a:custGeom>
            <a:avLst/>
            <a:gdLst/>
            <a:ahLst/>
            <a:cxnLst/>
            <a:rect l="l" t="t" r="r" b="b"/>
            <a:pathLst>
              <a:path w="188666" h="167703">
                <a:moveTo>
                  <a:pt x="88077" y="27907"/>
                </a:moveTo>
                <a:lnTo>
                  <a:pt x="49885" y="70357"/>
                </a:lnTo>
                <a:cubicBezTo>
                  <a:pt x="48378" y="72027"/>
                  <a:pt x="48444" y="74615"/>
                  <a:pt x="50049" y="76220"/>
                </a:cubicBezTo>
                <a:cubicBezTo>
                  <a:pt x="60039" y="86210"/>
                  <a:pt x="76252" y="86210"/>
                  <a:pt x="86243" y="76220"/>
                </a:cubicBezTo>
                <a:lnTo>
                  <a:pt x="96658" y="65804"/>
                </a:lnTo>
                <a:cubicBezTo>
                  <a:pt x="98034" y="64428"/>
                  <a:pt x="99770" y="63675"/>
                  <a:pt x="101539" y="63544"/>
                </a:cubicBezTo>
                <a:cubicBezTo>
                  <a:pt x="103766" y="63347"/>
                  <a:pt x="106059" y="64100"/>
                  <a:pt x="107762" y="65804"/>
                </a:cubicBezTo>
                <a:lnTo>
                  <a:pt x="165607" y="123157"/>
                </a:lnTo>
                <a:lnTo>
                  <a:pt x="188666" y="104814"/>
                </a:lnTo>
                <a:lnTo>
                  <a:pt x="188666" y="10481"/>
                </a:lnTo>
                <a:lnTo>
                  <a:pt x="151981" y="31444"/>
                </a:lnTo>
                <a:lnTo>
                  <a:pt x="144185" y="26236"/>
                </a:lnTo>
                <a:cubicBezTo>
                  <a:pt x="139010" y="22797"/>
                  <a:pt x="132950" y="20963"/>
                  <a:pt x="126727" y="20963"/>
                </a:cubicBezTo>
                <a:lnTo>
                  <a:pt x="103668" y="20963"/>
                </a:lnTo>
                <a:cubicBezTo>
                  <a:pt x="103308" y="20963"/>
                  <a:pt x="102915" y="20963"/>
                  <a:pt x="102554" y="20996"/>
                </a:cubicBezTo>
                <a:cubicBezTo>
                  <a:pt x="97019" y="21290"/>
                  <a:pt x="91811" y="23780"/>
                  <a:pt x="88077" y="27907"/>
                </a:cubicBezTo>
                <a:close/>
                <a:moveTo>
                  <a:pt x="38192" y="59842"/>
                </a:moveTo>
                <a:lnTo>
                  <a:pt x="73173" y="20963"/>
                </a:lnTo>
                <a:lnTo>
                  <a:pt x="60203" y="20963"/>
                </a:lnTo>
                <a:cubicBezTo>
                  <a:pt x="51850" y="20963"/>
                  <a:pt x="43858" y="24271"/>
                  <a:pt x="37962" y="30167"/>
                </a:cubicBezTo>
                <a:lnTo>
                  <a:pt x="36685" y="31444"/>
                </a:lnTo>
                <a:lnTo>
                  <a:pt x="0" y="10481"/>
                </a:lnTo>
                <a:lnTo>
                  <a:pt x="0" y="104814"/>
                </a:lnTo>
                <a:lnTo>
                  <a:pt x="51228" y="147493"/>
                </a:lnTo>
                <a:cubicBezTo>
                  <a:pt x="58762" y="153782"/>
                  <a:pt x="68260" y="157221"/>
                  <a:pt x="78054" y="157221"/>
                </a:cubicBezTo>
                <a:lnTo>
                  <a:pt x="83196" y="157221"/>
                </a:lnTo>
                <a:lnTo>
                  <a:pt x="80904" y="154929"/>
                </a:lnTo>
                <a:cubicBezTo>
                  <a:pt x="77825" y="151850"/>
                  <a:pt x="77825" y="146871"/>
                  <a:pt x="80904" y="143825"/>
                </a:cubicBezTo>
                <a:cubicBezTo>
                  <a:pt x="83982" y="140779"/>
                  <a:pt x="88961" y="140746"/>
                  <a:pt x="92007" y="143825"/>
                </a:cubicBezTo>
                <a:lnTo>
                  <a:pt x="105437" y="157254"/>
                </a:lnTo>
                <a:lnTo>
                  <a:pt x="108385" y="157254"/>
                </a:lnTo>
                <a:cubicBezTo>
                  <a:pt x="114641" y="157254"/>
                  <a:pt x="120766" y="155846"/>
                  <a:pt x="126334" y="153225"/>
                </a:cubicBezTo>
                <a:lnTo>
                  <a:pt x="117589" y="144447"/>
                </a:lnTo>
                <a:cubicBezTo>
                  <a:pt x="114510" y="141368"/>
                  <a:pt x="114510" y="136390"/>
                  <a:pt x="117589" y="133343"/>
                </a:cubicBezTo>
                <a:cubicBezTo>
                  <a:pt x="120667" y="130297"/>
                  <a:pt x="125646" y="130265"/>
                  <a:pt x="128692" y="133343"/>
                </a:cubicBezTo>
                <a:lnTo>
                  <a:pt x="139174" y="143825"/>
                </a:lnTo>
                <a:lnTo>
                  <a:pt x="144906" y="138093"/>
                </a:lnTo>
                <a:cubicBezTo>
                  <a:pt x="147821" y="135178"/>
                  <a:pt x="148673" y="130952"/>
                  <a:pt x="147395" y="127251"/>
                </a:cubicBezTo>
                <a:lnTo>
                  <a:pt x="102227" y="82443"/>
                </a:lnTo>
                <a:lnTo>
                  <a:pt x="97346" y="87323"/>
                </a:lnTo>
                <a:cubicBezTo>
                  <a:pt x="81198" y="103471"/>
                  <a:pt x="55060" y="103471"/>
                  <a:pt x="38912" y="87323"/>
                </a:cubicBezTo>
                <a:cubicBezTo>
                  <a:pt x="31379" y="79790"/>
                  <a:pt x="31084" y="67703"/>
                  <a:pt x="38192" y="59810"/>
                </a:cubicBezTo>
                <a:close/>
              </a:path>
            </a:pathLst>
          </a:custGeom>
          <a:solidFill>
            <a:srgbClr val="FFFFFF"/>
          </a:solidFill>
          <a:ln/>
        </p:spPr>
      </p:sp>
      <p:sp>
        <p:nvSpPr>
          <p:cNvPr id="58" name="Text 56"/>
          <p:cNvSpPr/>
          <p:nvPr/>
        </p:nvSpPr>
        <p:spPr>
          <a:xfrm>
            <a:off x="7086364" y="4444127"/>
            <a:ext cx="4536363" cy="201243"/>
          </a:xfrm>
          <a:prstGeom prst="rect">
            <a:avLst/>
          </a:prstGeom>
          <a:noFill/>
          <a:ln/>
        </p:spPr>
        <p:txBody>
          <a:bodyPr wrap="square" lIns="0" tIns="0" rIns="0" bIns="0" rtlCol="0" anchor="ctr"/>
          <a:lstStyle/>
          <a:p>
            <a:pPr>
              <a:lnSpc>
                <a:spcPct val="130000"/>
              </a:lnSpc>
            </a:pPr>
            <a:r>
              <a:rPr lang="en-US" sz="1056" b="1" dirty="0">
                <a:solidFill>
                  <a:srgbClr val="003087"/>
                </a:solidFill>
                <a:latin typeface="Liter" pitchFamily="34" charset="0"/>
                <a:ea typeface="Liter" pitchFamily="34" charset="-122"/>
                <a:cs typeface="Liter" pitchFamily="34" charset="-120"/>
              </a:rPr>
              <a:t>Vendor Partners</a:t>
            </a:r>
            <a:endParaRPr lang="en-US" sz="1600" dirty="0"/>
          </a:p>
        </p:txBody>
      </p:sp>
      <p:sp>
        <p:nvSpPr>
          <p:cNvPr id="59" name="Text 57"/>
          <p:cNvSpPr/>
          <p:nvPr/>
        </p:nvSpPr>
        <p:spPr>
          <a:xfrm>
            <a:off x="7086364" y="4645370"/>
            <a:ext cx="4527978" cy="167703"/>
          </a:xfrm>
          <a:prstGeom prst="rect">
            <a:avLst/>
          </a:prstGeom>
          <a:noFill/>
          <a:ln/>
        </p:spPr>
        <p:txBody>
          <a:bodyPr wrap="square" lIns="0" tIns="0" rIns="0" bIns="0" rtlCol="0" anchor="ctr"/>
          <a:lstStyle/>
          <a:p>
            <a:pPr>
              <a:lnSpc>
                <a:spcPct val="120000"/>
              </a:lnSpc>
            </a:pPr>
            <a:r>
              <a:rPr lang="en-US" sz="924" dirty="0">
                <a:solidFill>
                  <a:srgbClr val="1A1A1A">
                    <a:alpha val="70000"/>
                  </a:srgbClr>
                </a:solidFill>
                <a:latin typeface="Quattrocento Sans" pitchFamily="34" charset="0"/>
                <a:ea typeface="Quattrocento Sans" pitchFamily="34" charset="-122"/>
                <a:cs typeface="Quattrocento Sans" pitchFamily="34" charset="-120"/>
              </a:rPr>
              <a:t>RPA technology providers, implementation consultants</a:t>
            </a:r>
            <a:endParaRPr lang="en-US" sz="1600" dirty="0"/>
          </a:p>
        </p:txBody>
      </p:sp>
      <p:sp>
        <p:nvSpPr>
          <p:cNvPr id="60" name="Shape 58"/>
          <p:cNvSpPr/>
          <p:nvPr/>
        </p:nvSpPr>
        <p:spPr>
          <a:xfrm>
            <a:off x="6189154" y="5307796"/>
            <a:ext cx="5659972" cy="1324853"/>
          </a:xfrm>
          <a:custGeom>
            <a:avLst/>
            <a:gdLst/>
            <a:ahLst/>
            <a:cxnLst/>
            <a:rect l="l" t="t" r="r" b="b"/>
            <a:pathLst>
              <a:path w="5659972" h="1324853">
                <a:moveTo>
                  <a:pt x="100623" y="0"/>
                </a:moveTo>
                <a:lnTo>
                  <a:pt x="5559350" y="0"/>
                </a:lnTo>
                <a:cubicBezTo>
                  <a:pt x="5614922" y="0"/>
                  <a:pt x="5659972" y="45050"/>
                  <a:pt x="5659972" y="100623"/>
                </a:cubicBezTo>
                <a:lnTo>
                  <a:pt x="5659972" y="1224230"/>
                </a:lnTo>
                <a:cubicBezTo>
                  <a:pt x="5659972" y="1279803"/>
                  <a:pt x="5614922" y="1324853"/>
                  <a:pt x="5559350" y="1324853"/>
                </a:cubicBezTo>
                <a:lnTo>
                  <a:pt x="100623" y="1324853"/>
                </a:lnTo>
                <a:cubicBezTo>
                  <a:pt x="45050" y="1324853"/>
                  <a:pt x="0" y="1279803"/>
                  <a:pt x="0" y="1224230"/>
                </a:cubicBezTo>
                <a:lnTo>
                  <a:pt x="0" y="100623"/>
                </a:lnTo>
                <a:cubicBezTo>
                  <a:pt x="0" y="45087"/>
                  <a:pt x="45087" y="0"/>
                  <a:pt x="100623" y="0"/>
                </a:cubicBezTo>
                <a:close/>
              </a:path>
            </a:pathLst>
          </a:custGeom>
          <a:solidFill>
            <a:srgbClr val="D4AF37">
              <a:alpha val="10196"/>
            </a:srgbClr>
          </a:solidFill>
          <a:ln w="25400">
            <a:solidFill>
              <a:srgbClr val="D4AF37"/>
            </a:solidFill>
            <a:prstDash val="solid"/>
          </a:ln>
        </p:spPr>
      </p:sp>
      <p:sp>
        <p:nvSpPr>
          <p:cNvPr id="61" name="Shape 59"/>
          <p:cNvSpPr/>
          <p:nvPr/>
        </p:nvSpPr>
        <p:spPr>
          <a:xfrm>
            <a:off x="6376771" y="5525810"/>
            <a:ext cx="169799" cy="150933"/>
          </a:xfrm>
          <a:custGeom>
            <a:avLst/>
            <a:gdLst/>
            <a:ahLst/>
            <a:cxnLst/>
            <a:rect l="l" t="t" r="r" b="b"/>
            <a:pathLst>
              <a:path w="169799" h="150933">
                <a:moveTo>
                  <a:pt x="14150" y="57720"/>
                </a:moveTo>
                <a:lnTo>
                  <a:pt x="75820" y="83101"/>
                </a:lnTo>
                <a:cubicBezTo>
                  <a:pt x="78709" y="84281"/>
                  <a:pt x="81775" y="84900"/>
                  <a:pt x="84900" y="84900"/>
                </a:cubicBezTo>
                <a:cubicBezTo>
                  <a:pt x="88024" y="84900"/>
                  <a:pt x="91090" y="84281"/>
                  <a:pt x="93979" y="83101"/>
                </a:cubicBezTo>
                <a:lnTo>
                  <a:pt x="165436" y="53681"/>
                </a:lnTo>
                <a:cubicBezTo>
                  <a:pt x="168089" y="52591"/>
                  <a:pt x="169799" y="50026"/>
                  <a:pt x="169799" y="47166"/>
                </a:cubicBezTo>
                <a:cubicBezTo>
                  <a:pt x="169799" y="44307"/>
                  <a:pt x="168089" y="41742"/>
                  <a:pt x="165436" y="40652"/>
                </a:cubicBezTo>
                <a:lnTo>
                  <a:pt x="93979" y="11232"/>
                </a:lnTo>
                <a:cubicBezTo>
                  <a:pt x="91090" y="10052"/>
                  <a:pt x="88024" y="9433"/>
                  <a:pt x="84900" y="9433"/>
                </a:cubicBezTo>
                <a:cubicBezTo>
                  <a:pt x="81775" y="9433"/>
                  <a:pt x="78709" y="10052"/>
                  <a:pt x="75820" y="11232"/>
                </a:cubicBezTo>
                <a:lnTo>
                  <a:pt x="4363" y="40652"/>
                </a:lnTo>
                <a:cubicBezTo>
                  <a:pt x="1710" y="41742"/>
                  <a:pt x="0" y="44307"/>
                  <a:pt x="0" y="47166"/>
                </a:cubicBezTo>
                <a:lnTo>
                  <a:pt x="0" y="134424"/>
                </a:lnTo>
                <a:cubicBezTo>
                  <a:pt x="0" y="138345"/>
                  <a:pt x="3154" y="141499"/>
                  <a:pt x="7075" y="141499"/>
                </a:cubicBezTo>
                <a:cubicBezTo>
                  <a:pt x="10996" y="141499"/>
                  <a:pt x="14150" y="138345"/>
                  <a:pt x="14150" y="134424"/>
                </a:cubicBezTo>
                <a:lnTo>
                  <a:pt x="14150" y="57720"/>
                </a:lnTo>
                <a:close/>
                <a:moveTo>
                  <a:pt x="28300" y="78856"/>
                </a:moveTo>
                <a:lnTo>
                  <a:pt x="28300" y="113199"/>
                </a:lnTo>
                <a:cubicBezTo>
                  <a:pt x="28300" y="128823"/>
                  <a:pt x="53652" y="141499"/>
                  <a:pt x="84900" y="141499"/>
                </a:cubicBezTo>
                <a:cubicBezTo>
                  <a:pt x="116147" y="141499"/>
                  <a:pt x="141499" y="128823"/>
                  <a:pt x="141499" y="113199"/>
                </a:cubicBezTo>
                <a:lnTo>
                  <a:pt x="141499" y="78827"/>
                </a:lnTo>
                <a:lnTo>
                  <a:pt x="99374" y="96190"/>
                </a:lnTo>
                <a:cubicBezTo>
                  <a:pt x="94775" y="98077"/>
                  <a:pt x="89882" y="99050"/>
                  <a:pt x="84900" y="99050"/>
                </a:cubicBezTo>
                <a:cubicBezTo>
                  <a:pt x="79918" y="99050"/>
                  <a:pt x="75024" y="98077"/>
                  <a:pt x="70425" y="96190"/>
                </a:cubicBezTo>
                <a:lnTo>
                  <a:pt x="28300" y="78827"/>
                </a:lnTo>
                <a:close/>
              </a:path>
            </a:pathLst>
          </a:custGeom>
          <a:solidFill>
            <a:srgbClr val="D4AF37"/>
          </a:solidFill>
          <a:ln/>
        </p:spPr>
      </p:sp>
      <p:sp>
        <p:nvSpPr>
          <p:cNvPr id="62" name="Text 60"/>
          <p:cNvSpPr/>
          <p:nvPr/>
        </p:nvSpPr>
        <p:spPr>
          <a:xfrm>
            <a:off x="6558100" y="5483884"/>
            <a:ext cx="5190404" cy="234784"/>
          </a:xfrm>
          <a:prstGeom prst="rect">
            <a:avLst/>
          </a:prstGeom>
          <a:noFill/>
          <a:ln/>
        </p:spPr>
        <p:txBody>
          <a:bodyPr wrap="square" lIns="0" tIns="0" rIns="0" bIns="0" rtlCol="0" anchor="ctr"/>
          <a:lstStyle/>
          <a:p>
            <a:pPr>
              <a:lnSpc>
                <a:spcPct val="130000"/>
              </a:lnSpc>
            </a:pPr>
            <a:r>
              <a:rPr lang="en-US" sz="1188" b="1" dirty="0">
                <a:solidFill>
                  <a:srgbClr val="003087"/>
                </a:solidFill>
                <a:latin typeface="Liter" pitchFamily="34" charset="0"/>
                <a:ea typeface="Liter" pitchFamily="34" charset="-122"/>
                <a:cs typeface="Liter" pitchFamily="34" charset="-120"/>
              </a:rPr>
              <a:t>RBSN Competencies Applied</a:t>
            </a:r>
            <a:endParaRPr lang="en-US" sz="1600" dirty="0"/>
          </a:p>
        </p:txBody>
      </p:sp>
      <p:sp>
        <p:nvSpPr>
          <p:cNvPr id="63" name="Shape 61"/>
          <p:cNvSpPr/>
          <p:nvPr/>
        </p:nvSpPr>
        <p:spPr>
          <a:xfrm>
            <a:off x="6389349" y="5844446"/>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64" name="Text 62"/>
          <p:cNvSpPr/>
          <p:nvPr/>
        </p:nvSpPr>
        <p:spPr>
          <a:xfrm>
            <a:off x="6579063" y="5819290"/>
            <a:ext cx="1350008"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Stakeholder Management</a:t>
            </a:r>
            <a:endParaRPr lang="en-US" sz="1600" dirty="0"/>
          </a:p>
        </p:txBody>
      </p:sp>
      <p:sp>
        <p:nvSpPr>
          <p:cNvPr id="65" name="Shape 63"/>
          <p:cNvSpPr/>
          <p:nvPr/>
        </p:nvSpPr>
        <p:spPr>
          <a:xfrm>
            <a:off x="9077246" y="5844446"/>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66" name="Text 64"/>
          <p:cNvSpPr/>
          <p:nvPr/>
        </p:nvSpPr>
        <p:spPr>
          <a:xfrm>
            <a:off x="9266960" y="5819290"/>
            <a:ext cx="955906"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Risk Management</a:t>
            </a:r>
            <a:endParaRPr lang="en-US" sz="1600" dirty="0"/>
          </a:p>
        </p:txBody>
      </p:sp>
      <p:sp>
        <p:nvSpPr>
          <p:cNvPr id="67" name="Shape 65"/>
          <p:cNvSpPr/>
          <p:nvPr/>
        </p:nvSpPr>
        <p:spPr>
          <a:xfrm>
            <a:off x="6389349" y="6079230"/>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68" name="Text 66"/>
          <p:cNvSpPr/>
          <p:nvPr/>
        </p:nvSpPr>
        <p:spPr>
          <a:xfrm>
            <a:off x="6579063" y="6054074"/>
            <a:ext cx="1090069"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Agile Methodologies</a:t>
            </a:r>
            <a:endParaRPr lang="en-US" sz="1600" dirty="0"/>
          </a:p>
        </p:txBody>
      </p:sp>
      <p:sp>
        <p:nvSpPr>
          <p:cNvPr id="69" name="Shape 67"/>
          <p:cNvSpPr/>
          <p:nvPr/>
        </p:nvSpPr>
        <p:spPr>
          <a:xfrm>
            <a:off x="9077246" y="6079230"/>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70" name="Text 68"/>
          <p:cNvSpPr/>
          <p:nvPr/>
        </p:nvSpPr>
        <p:spPr>
          <a:xfrm>
            <a:off x="9266960" y="6054074"/>
            <a:ext cx="1131994"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Change Management</a:t>
            </a:r>
            <a:endParaRPr lang="en-US" sz="1600" dirty="0"/>
          </a:p>
        </p:txBody>
      </p:sp>
      <p:sp>
        <p:nvSpPr>
          <p:cNvPr id="71" name="Shape 69"/>
          <p:cNvSpPr/>
          <p:nvPr/>
        </p:nvSpPr>
        <p:spPr>
          <a:xfrm>
            <a:off x="6389349" y="6314014"/>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72" name="Text 70"/>
          <p:cNvSpPr/>
          <p:nvPr/>
        </p:nvSpPr>
        <p:spPr>
          <a:xfrm>
            <a:off x="6579063" y="6288858"/>
            <a:ext cx="981062"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Quality Assurance</a:t>
            </a:r>
            <a:endParaRPr lang="en-US" sz="1600" dirty="0"/>
          </a:p>
        </p:txBody>
      </p:sp>
      <p:sp>
        <p:nvSpPr>
          <p:cNvPr id="73" name="Shape 71"/>
          <p:cNvSpPr/>
          <p:nvPr/>
        </p:nvSpPr>
        <p:spPr>
          <a:xfrm>
            <a:off x="9077246" y="6314014"/>
            <a:ext cx="102718" cy="117392"/>
          </a:xfrm>
          <a:custGeom>
            <a:avLst/>
            <a:gdLst/>
            <a:ahLst/>
            <a:cxnLst/>
            <a:rect l="l" t="t" r="r" b="b"/>
            <a:pathLst>
              <a:path w="102718" h="117392">
                <a:moveTo>
                  <a:pt x="99692" y="16073"/>
                </a:moveTo>
                <a:cubicBezTo>
                  <a:pt x="102970" y="18457"/>
                  <a:pt x="103704" y="23043"/>
                  <a:pt x="101319" y="26321"/>
                </a:cubicBezTo>
                <a:lnTo>
                  <a:pt x="42623" y="107029"/>
                </a:lnTo>
                <a:cubicBezTo>
                  <a:pt x="41362" y="108771"/>
                  <a:pt x="39413" y="109849"/>
                  <a:pt x="37258" y="110032"/>
                </a:cubicBezTo>
                <a:cubicBezTo>
                  <a:pt x="35103" y="110216"/>
                  <a:pt x="33017" y="109413"/>
                  <a:pt x="31503" y="107900"/>
                </a:cubicBezTo>
                <a:lnTo>
                  <a:pt x="2155" y="78552"/>
                </a:lnTo>
                <a:cubicBezTo>
                  <a:pt x="-711" y="75686"/>
                  <a:pt x="-711" y="71031"/>
                  <a:pt x="2155" y="68165"/>
                </a:cubicBezTo>
                <a:cubicBezTo>
                  <a:pt x="5021" y="65299"/>
                  <a:pt x="9676" y="65299"/>
                  <a:pt x="12542" y="68165"/>
                </a:cubicBezTo>
                <a:lnTo>
                  <a:pt x="35814" y="91437"/>
                </a:lnTo>
                <a:lnTo>
                  <a:pt x="89466" y="17678"/>
                </a:lnTo>
                <a:cubicBezTo>
                  <a:pt x="91850" y="14399"/>
                  <a:pt x="96436" y="13665"/>
                  <a:pt x="99714" y="16050"/>
                </a:cubicBezTo>
                <a:close/>
              </a:path>
            </a:pathLst>
          </a:custGeom>
          <a:solidFill>
            <a:srgbClr val="FF6B00"/>
          </a:solidFill>
          <a:ln/>
        </p:spPr>
      </p:sp>
      <p:sp>
        <p:nvSpPr>
          <p:cNvPr id="74" name="Text 72"/>
          <p:cNvSpPr/>
          <p:nvPr/>
        </p:nvSpPr>
        <p:spPr>
          <a:xfrm>
            <a:off x="9266960" y="6288858"/>
            <a:ext cx="1115224" cy="167703"/>
          </a:xfrm>
          <a:prstGeom prst="rect">
            <a:avLst/>
          </a:prstGeom>
          <a:noFill/>
          <a:ln/>
        </p:spPr>
        <p:txBody>
          <a:bodyPr wrap="square" lIns="0" tIns="0" rIns="0" bIns="0" rtlCol="0" anchor="ctr"/>
          <a:lstStyle/>
          <a:p>
            <a:pPr>
              <a:lnSpc>
                <a:spcPct val="120000"/>
              </a:lnSpc>
            </a:pPr>
            <a:r>
              <a:rPr lang="en-US" sz="924" dirty="0">
                <a:solidFill>
                  <a:srgbClr val="1A1A1A">
                    <a:alpha val="80000"/>
                  </a:srgbClr>
                </a:solidFill>
                <a:latin typeface="Quattrocento Sans" pitchFamily="34" charset="0"/>
                <a:ea typeface="Quattrocento Sans" pitchFamily="34" charset="-122"/>
                <a:cs typeface="Quattrocento Sans" pitchFamily="34" charset="-120"/>
              </a:rPr>
              <a:t>Performance Metrics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FF6B00"/>
                </a:solidFill>
                <a:latin typeface="Liter" pitchFamily="34" charset="0"/>
                <a:ea typeface="Liter" pitchFamily="34" charset="-122"/>
                <a:cs typeface="Liter" pitchFamily="34" charset="-120"/>
              </a:rPr>
              <a:t>03 | GAP ANALYSIS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003087"/>
                </a:solidFill>
                <a:latin typeface="Liter" pitchFamily="34" charset="0"/>
                <a:ea typeface="Liter" pitchFamily="34" charset="-122"/>
                <a:cs typeface="Liter" pitchFamily="34" charset="-120"/>
              </a:rPr>
              <a:t>Current State Assessment</a:t>
            </a:r>
            <a:endParaRPr lang="en-US" sz="1600" dirty="0"/>
          </a:p>
        </p:txBody>
      </p:sp>
      <p:sp>
        <p:nvSpPr>
          <p:cNvPr id="4" name="Shape 2"/>
          <p:cNvSpPr/>
          <p:nvPr/>
        </p:nvSpPr>
        <p:spPr>
          <a:xfrm>
            <a:off x="317500" y="952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F6B00"/>
          </a:solidFill>
          <a:ln/>
        </p:spPr>
      </p:sp>
      <p:sp>
        <p:nvSpPr>
          <p:cNvPr id="5" name="Shape 3"/>
          <p:cNvSpPr/>
          <p:nvPr/>
        </p:nvSpPr>
        <p:spPr>
          <a:xfrm>
            <a:off x="317500" y="1143000"/>
            <a:ext cx="5699125" cy="2635250"/>
          </a:xfrm>
          <a:custGeom>
            <a:avLst/>
            <a:gdLst/>
            <a:ahLst/>
            <a:cxnLst/>
            <a:rect l="l" t="t" r="r" b="b"/>
            <a:pathLst>
              <a:path w="5699125" h="2635250">
                <a:moveTo>
                  <a:pt x="95238" y="0"/>
                </a:moveTo>
                <a:lnTo>
                  <a:pt x="5603887" y="0"/>
                </a:lnTo>
                <a:cubicBezTo>
                  <a:pt x="5656486" y="0"/>
                  <a:pt x="5699125" y="42639"/>
                  <a:pt x="5699125" y="95238"/>
                </a:cubicBezTo>
                <a:lnTo>
                  <a:pt x="5699125" y="2540012"/>
                </a:lnTo>
                <a:cubicBezTo>
                  <a:pt x="5699125" y="2592611"/>
                  <a:pt x="5656486" y="2635250"/>
                  <a:pt x="5603887" y="2635250"/>
                </a:cubicBezTo>
                <a:lnTo>
                  <a:pt x="95238" y="2635250"/>
                </a:lnTo>
                <a:cubicBezTo>
                  <a:pt x="42639" y="2635250"/>
                  <a:pt x="0" y="2592611"/>
                  <a:pt x="0" y="2540012"/>
                </a:cubicBezTo>
                <a:lnTo>
                  <a:pt x="0" y="95238"/>
                </a:lnTo>
                <a:cubicBezTo>
                  <a:pt x="0" y="42675"/>
                  <a:pt x="42675" y="0"/>
                  <a:pt x="95238" y="0"/>
                </a:cubicBezTo>
                <a:close/>
              </a:path>
            </a:pathLst>
          </a:custGeom>
          <a:gradFill flip="none" rotWithShape="1">
            <a:gsLst>
              <a:gs pos="0">
                <a:srgbClr val="FF6B00"/>
              </a:gs>
              <a:gs pos="100000">
                <a:srgbClr val="FF6B00">
                  <a:alpha val="80000"/>
                </a:srgbClr>
              </a:gs>
            </a:gsLst>
            <a:lin ang="2700000" scaled="1"/>
          </a:gradFill>
          <a:ln/>
        </p:spPr>
      </p:sp>
      <p:sp>
        <p:nvSpPr>
          <p:cNvPr id="6" name="Shape 4"/>
          <p:cNvSpPr/>
          <p:nvPr/>
        </p:nvSpPr>
        <p:spPr>
          <a:xfrm>
            <a:off x="527844" y="1365250"/>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FFFFFF"/>
          </a:solidFill>
          <a:ln/>
        </p:spPr>
      </p:sp>
      <p:sp>
        <p:nvSpPr>
          <p:cNvPr id="7" name="Text 5"/>
          <p:cNvSpPr/>
          <p:nvPr/>
        </p:nvSpPr>
        <p:spPr>
          <a:xfrm>
            <a:off x="706438" y="1333500"/>
            <a:ext cx="5199063"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Critical Operational Challenges</a:t>
            </a:r>
            <a:endParaRPr lang="en-US" sz="1600" dirty="0"/>
          </a:p>
        </p:txBody>
      </p:sp>
      <p:sp>
        <p:nvSpPr>
          <p:cNvPr id="8" name="Shape 6"/>
          <p:cNvSpPr/>
          <p:nvPr/>
        </p:nvSpPr>
        <p:spPr>
          <a:xfrm>
            <a:off x="508000" y="1682750"/>
            <a:ext cx="5318125" cy="571500"/>
          </a:xfrm>
          <a:custGeom>
            <a:avLst/>
            <a:gdLst/>
            <a:ahLst/>
            <a:cxnLst/>
            <a:rect l="l" t="t" r="r" b="b"/>
            <a:pathLst>
              <a:path w="5318125" h="571500">
                <a:moveTo>
                  <a:pt x="63499" y="0"/>
                </a:moveTo>
                <a:lnTo>
                  <a:pt x="5254626" y="0"/>
                </a:lnTo>
                <a:cubicBezTo>
                  <a:pt x="5289695" y="0"/>
                  <a:pt x="5318125" y="28430"/>
                  <a:pt x="5318125" y="63499"/>
                </a:cubicBezTo>
                <a:lnTo>
                  <a:pt x="5318125" y="508001"/>
                </a:lnTo>
                <a:cubicBezTo>
                  <a:pt x="5318125" y="543070"/>
                  <a:pt x="5289695" y="571500"/>
                  <a:pt x="5254626"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10196"/>
            </a:srgbClr>
          </a:solidFill>
          <a:ln/>
        </p:spPr>
      </p:sp>
      <p:sp>
        <p:nvSpPr>
          <p:cNvPr id="9" name="Text 7"/>
          <p:cNvSpPr/>
          <p:nvPr/>
        </p:nvSpPr>
        <p:spPr>
          <a:xfrm>
            <a:off x="603250" y="1778000"/>
            <a:ext cx="5191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Legacy System Integration</a:t>
            </a:r>
            <a:endParaRPr lang="en-US" sz="1600" dirty="0"/>
          </a:p>
        </p:txBody>
      </p:sp>
      <p:sp>
        <p:nvSpPr>
          <p:cNvPr id="10" name="Text 8"/>
          <p:cNvSpPr/>
          <p:nvPr/>
        </p:nvSpPr>
        <p:spPr>
          <a:xfrm>
            <a:off x="603250" y="2000250"/>
            <a:ext cx="5183188"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Fragmented architecture creating data silos and limiting automation potential</a:t>
            </a:r>
            <a:endParaRPr lang="en-US" sz="1600" dirty="0"/>
          </a:p>
        </p:txBody>
      </p:sp>
      <p:sp>
        <p:nvSpPr>
          <p:cNvPr id="11" name="Shape 9"/>
          <p:cNvSpPr/>
          <p:nvPr/>
        </p:nvSpPr>
        <p:spPr>
          <a:xfrm>
            <a:off x="508000" y="2349500"/>
            <a:ext cx="5318125" cy="571500"/>
          </a:xfrm>
          <a:custGeom>
            <a:avLst/>
            <a:gdLst/>
            <a:ahLst/>
            <a:cxnLst/>
            <a:rect l="l" t="t" r="r" b="b"/>
            <a:pathLst>
              <a:path w="5318125" h="571500">
                <a:moveTo>
                  <a:pt x="63499" y="0"/>
                </a:moveTo>
                <a:lnTo>
                  <a:pt x="5254626" y="0"/>
                </a:lnTo>
                <a:cubicBezTo>
                  <a:pt x="5289695" y="0"/>
                  <a:pt x="5318125" y="28430"/>
                  <a:pt x="5318125" y="63499"/>
                </a:cubicBezTo>
                <a:lnTo>
                  <a:pt x="5318125" y="508001"/>
                </a:lnTo>
                <a:cubicBezTo>
                  <a:pt x="5318125" y="543070"/>
                  <a:pt x="5289695" y="571500"/>
                  <a:pt x="5254626"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10196"/>
            </a:srgbClr>
          </a:solidFill>
          <a:ln/>
        </p:spPr>
      </p:sp>
      <p:sp>
        <p:nvSpPr>
          <p:cNvPr id="12" name="Text 10"/>
          <p:cNvSpPr/>
          <p:nvPr/>
        </p:nvSpPr>
        <p:spPr>
          <a:xfrm>
            <a:off x="603250" y="2444750"/>
            <a:ext cx="5191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Manual Process Dominance</a:t>
            </a:r>
            <a:endParaRPr lang="en-US" sz="1600" dirty="0"/>
          </a:p>
        </p:txBody>
      </p:sp>
      <p:sp>
        <p:nvSpPr>
          <p:cNvPr id="13" name="Text 11"/>
          <p:cNvSpPr/>
          <p:nvPr/>
        </p:nvSpPr>
        <p:spPr>
          <a:xfrm>
            <a:off x="603250" y="2667000"/>
            <a:ext cx="5183188"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60%+ of routine processes require manual intervention, increasing error rates</a:t>
            </a:r>
            <a:endParaRPr lang="en-US" sz="1600" dirty="0"/>
          </a:p>
        </p:txBody>
      </p:sp>
      <p:sp>
        <p:nvSpPr>
          <p:cNvPr id="14" name="Shape 12"/>
          <p:cNvSpPr/>
          <p:nvPr/>
        </p:nvSpPr>
        <p:spPr>
          <a:xfrm>
            <a:off x="508000" y="3016250"/>
            <a:ext cx="5318125" cy="571500"/>
          </a:xfrm>
          <a:custGeom>
            <a:avLst/>
            <a:gdLst/>
            <a:ahLst/>
            <a:cxnLst/>
            <a:rect l="l" t="t" r="r" b="b"/>
            <a:pathLst>
              <a:path w="5318125" h="571500">
                <a:moveTo>
                  <a:pt x="63499" y="0"/>
                </a:moveTo>
                <a:lnTo>
                  <a:pt x="5254626" y="0"/>
                </a:lnTo>
                <a:cubicBezTo>
                  <a:pt x="5289695" y="0"/>
                  <a:pt x="5318125" y="28430"/>
                  <a:pt x="5318125" y="63499"/>
                </a:cubicBezTo>
                <a:lnTo>
                  <a:pt x="5318125" y="508001"/>
                </a:lnTo>
                <a:cubicBezTo>
                  <a:pt x="5318125" y="543070"/>
                  <a:pt x="5289695" y="571500"/>
                  <a:pt x="5254626"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10196"/>
            </a:srgbClr>
          </a:solidFill>
          <a:ln/>
        </p:spPr>
      </p:sp>
      <p:sp>
        <p:nvSpPr>
          <p:cNvPr id="15" name="Text 13"/>
          <p:cNvSpPr/>
          <p:nvPr/>
        </p:nvSpPr>
        <p:spPr>
          <a:xfrm>
            <a:off x="603250" y="3111500"/>
            <a:ext cx="5191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High Operational Costs</a:t>
            </a:r>
            <a:endParaRPr lang="en-US" sz="1600" dirty="0"/>
          </a:p>
        </p:txBody>
      </p:sp>
      <p:sp>
        <p:nvSpPr>
          <p:cNvPr id="16" name="Text 14"/>
          <p:cNvSpPr/>
          <p:nvPr/>
        </p:nvSpPr>
        <p:spPr>
          <a:xfrm>
            <a:off x="603250" y="3333750"/>
            <a:ext cx="5183188"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Cost-to-Income Ratio above industry benchmark (target: 50-55%)</a:t>
            </a:r>
            <a:endParaRPr lang="en-US" sz="1600" dirty="0"/>
          </a:p>
        </p:txBody>
      </p:sp>
      <p:sp>
        <p:nvSpPr>
          <p:cNvPr id="17" name="Shape 15"/>
          <p:cNvSpPr/>
          <p:nvPr/>
        </p:nvSpPr>
        <p:spPr>
          <a:xfrm>
            <a:off x="333375" y="3905250"/>
            <a:ext cx="5683250" cy="1492250"/>
          </a:xfrm>
          <a:custGeom>
            <a:avLst/>
            <a:gdLst/>
            <a:ahLst/>
            <a:cxnLst/>
            <a:rect l="l" t="t" r="r" b="b"/>
            <a:pathLst>
              <a:path w="5683250" h="1492250">
                <a:moveTo>
                  <a:pt x="31750" y="0"/>
                </a:moveTo>
                <a:lnTo>
                  <a:pt x="5588000" y="0"/>
                </a:lnTo>
                <a:cubicBezTo>
                  <a:pt x="5640605" y="0"/>
                  <a:pt x="5683250" y="42645"/>
                  <a:pt x="5683250" y="95250"/>
                </a:cubicBezTo>
                <a:lnTo>
                  <a:pt x="5683250" y="1397000"/>
                </a:lnTo>
                <a:cubicBezTo>
                  <a:pt x="5683250" y="1449605"/>
                  <a:pt x="5640605" y="1492250"/>
                  <a:pt x="5588000" y="1492250"/>
                </a:cubicBezTo>
                <a:lnTo>
                  <a:pt x="31750" y="1492250"/>
                </a:lnTo>
                <a:cubicBezTo>
                  <a:pt x="14215" y="1492250"/>
                  <a:pt x="0" y="1478035"/>
                  <a:pt x="0" y="1460500"/>
                </a:cubicBezTo>
                <a:lnTo>
                  <a:pt x="0" y="31750"/>
                </a:lnTo>
                <a:cubicBezTo>
                  <a:pt x="0" y="14227"/>
                  <a:pt x="14227" y="0"/>
                  <a:pt x="31750" y="0"/>
                </a:cubicBezTo>
                <a:close/>
              </a:path>
            </a:pathLst>
          </a:custGeom>
          <a:solidFill>
            <a:srgbClr val="003087">
              <a:alpha val="10196"/>
            </a:srgbClr>
          </a:solidFill>
          <a:ln/>
        </p:spPr>
      </p:sp>
      <p:sp>
        <p:nvSpPr>
          <p:cNvPr id="18" name="Shape 16"/>
          <p:cNvSpPr/>
          <p:nvPr/>
        </p:nvSpPr>
        <p:spPr>
          <a:xfrm>
            <a:off x="333375" y="3905250"/>
            <a:ext cx="31750" cy="1492250"/>
          </a:xfrm>
          <a:custGeom>
            <a:avLst/>
            <a:gdLst/>
            <a:ahLst/>
            <a:cxnLst/>
            <a:rect l="l" t="t" r="r" b="b"/>
            <a:pathLst>
              <a:path w="31750" h="1492250">
                <a:moveTo>
                  <a:pt x="31750" y="0"/>
                </a:moveTo>
                <a:lnTo>
                  <a:pt x="31750" y="0"/>
                </a:lnTo>
                <a:lnTo>
                  <a:pt x="31750" y="1492250"/>
                </a:lnTo>
                <a:lnTo>
                  <a:pt x="31750" y="1492250"/>
                </a:lnTo>
                <a:cubicBezTo>
                  <a:pt x="14227" y="1492250"/>
                  <a:pt x="0" y="1478023"/>
                  <a:pt x="0" y="1460500"/>
                </a:cubicBezTo>
                <a:lnTo>
                  <a:pt x="0" y="31750"/>
                </a:lnTo>
                <a:cubicBezTo>
                  <a:pt x="0" y="14227"/>
                  <a:pt x="14227" y="0"/>
                  <a:pt x="31750" y="0"/>
                </a:cubicBezTo>
                <a:close/>
              </a:path>
            </a:pathLst>
          </a:custGeom>
          <a:solidFill>
            <a:srgbClr val="003087"/>
          </a:solidFill>
          <a:ln/>
        </p:spPr>
      </p:sp>
      <p:sp>
        <p:nvSpPr>
          <p:cNvPr id="19" name="Text 17"/>
          <p:cNvSpPr/>
          <p:nvPr/>
        </p:nvSpPr>
        <p:spPr>
          <a:xfrm>
            <a:off x="508000" y="4064000"/>
            <a:ext cx="542131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KYC/Onboarding Cost Impact</a:t>
            </a:r>
            <a:endParaRPr lang="en-US" sz="1600" dirty="0"/>
          </a:p>
        </p:txBody>
      </p:sp>
      <p:sp>
        <p:nvSpPr>
          <p:cNvPr id="20" name="Text 18"/>
          <p:cNvSpPr/>
          <p:nvPr/>
        </p:nvSpPr>
        <p:spPr>
          <a:xfrm>
            <a:off x="508000" y="4381500"/>
            <a:ext cx="5540375" cy="381000"/>
          </a:xfrm>
          <a:prstGeom prst="rect">
            <a:avLst/>
          </a:prstGeom>
          <a:noFill/>
          <a:ln/>
        </p:spPr>
        <p:txBody>
          <a:bodyPr wrap="square" lIns="0" tIns="0" rIns="0" bIns="0" rtlCol="0" anchor="ctr"/>
          <a:lstStyle/>
          <a:p>
            <a:pPr>
              <a:lnSpc>
                <a:spcPct val="80000"/>
              </a:lnSpc>
            </a:pPr>
            <a:r>
              <a:rPr lang="en-US" sz="3000" b="1" dirty="0">
                <a:solidFill>
                  <a:srgbClr val="FF6B00"/>
                </a:solidFill>
                <a:latin typeface="Quattrocento Sans" pitchFamily="34" charset="0"/>
                <a:ea typeface="Quattrocento Sans" pitchFamily="34" charset="-122"/>
                <a:cs typeface="Quattrocento Sans" pitchFamily="34" charset="-120"/>
              </a:rPr>
              <a:t>$52M</a:t>
            </a:r>
            <a:endParaRPr lang="en-US" sz="1600" dirty="0"/>
          </a:p>
        </p:txBody>
      </p:sp>
      <p:sp>
        <p:nvSpPr>
          <p:cNvPr id="21" name="Text 19"/>
          <p:cNvSpPr/>
          <p:nvPr/>
        </p:nvSpPr>
        <p:spPr>
          <a:xfrm>
            <a:off x="508000" y="4826000"/>
            <a:ext cx="5413375" cy="41275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Average annual cost for KYC compliance in large banks, with significant manual processing overhead and extended customer onboarding timelines.</a:t>
            </a:r>
            <a:endParaRPr lang="en-US" sz="1600" dirty="0"/>
          </a:p>
        </p:txBody>
      </p:sp>
      <p:sp>
        <p:nvSpPr>
          <p:cNvPr id="22" name="Shape 20"/>
          <p:cNvSpPr/>
          <p:nvPr/>
        </p:nvSpPr>
        <p:spPr>
          <a:xfrm>
            <a:off x="317500" y="5524500"/>
            <a:ext cx="5699125" cy="1333500"/>
          </a:xfrm>
          <a:custGeom>
            <a:avLst/>
            <a:gdLst/>
            <a:ahLst/>
            <a:cxnLst/>
            <a:rect l="l" t="t" r="r" b="b"/>
            <a:pathLst>
              <a:path w="5699125" h="1333500">
                <a:moveTo>
                  <a:pt x="95252" y="0"/>
                </a:moveTo>
                <a:lnTo>
                  <a:pt x="5603873" y="0"/>
                </a:lnTo>
                <a:cubicBezTo>
                  <a:pt x="5656479" y="0"/>
                  <a:pt x="5699125" y="42646"/>
                  <a:pt x="5699125" y="95252"/>
                </a:cubicBezTo>
                <a:lnTo>
                  <a:pt x="5699125" y="1238248"/>
                </a:lnTo>
                <a:cubicBezTo>
                  <a:pt x="5699125" y="1290854"/>
                  <a:pt x="5656479" y="1333500"/>
                  <a:pt x="5603873" y="1333500"/>
                </a:cubicBezTo>
                <a:lnTo>
                  <a:pt x="95252" y="1333500"/>
                </a:lnTo>
                <a:cubicBezTo>
                  <a:pt x="42646" y="1333500"/>
                  <a:pt x="0" y="1290854"/>
                  <a:pt x="0" y="1238248"/>
                </a:cubicBezTo>
                <a:lnTo>
                  <a:pt x="0" y="95252"/>
                </a:lnTo>
                <a:cubicBezTo>
                  <a:pt x="0" y="42646"/>
                  <a:pt x="42646" y="0"/>
                  <a:pt x="95252" y="0"/>
                </a:cubicBezTo>
                <a:close/>
              </a:path>
            </a:pathLst>
          </a:custGeom>
          <a:solidFill>
            <a:srgbClr val="F9FAFB"/>
          </a:solidFill>
          <a:ln/>
        </p:spPr>
      </p:sp>
      <p:sp>
        <p:nvSpPr>
          <p:cNvPr id="23" name="Text 21"/>
          <p:cNvSpPr/>
          <p:nvPr/>
        </p:nvSpPr>
        <p:spPr>
          <a:xfrm>
            <a:off x="476250" y="5683250"/>
            <a:ext cx="545306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Skills &amp; Talent Gaps</a:t>
            </a:r>
            <a:endParaRPr lang="en-US" sz="1600" dirty="0"/>
          </a:p>
        </p:txBody>
      </p:sp>
      <p:sp>
        <p:nvSpPr>
          <p:cNvPr id="24" name="Shape 22"/>
          <p:cNvSpPr/>
          <p:nvPr/>
        </p:nvSpPr>
        <p:spPr>
          <a:xfrm>
            <a:off x="488156" y="6064250"/>
            <a:ext cx="95250" cy="95250"/>
          </a:xfrm>
          <a:custGeom>
            <a:avLst/>
            <a:gdLst/>
            <a:ahLst/>
            <a:cxnLst/>
            <a:rect l="l" t="t" r="r" b="b"/>
            <a:pathLst>
              <a:path w="95250" h="95250">
                <a:moveTo>
                  <a:pt x="0" y="47625"/>
                </a:moveTo>
                <a:cubicBezTo>
                  <a:pt x="0" y="21340"/>
                  <a:pt x="21340" y="0"/>
                  <a:pt x="47625" y="0"/>
                </a:cubicBezTo>
                <a:cubicBezTo>
                  <a:pt x="73910" y="0"/>
                  <a:pt x="95250" y="21340"/>
                  <a:pt x="95250" y="47625"/>
                </a:cubicBezTo>
                <a:cubicBezTo>
                  <a:pt x="95250" y="73910"/>
                  <a:pt x="73910" y="95250"/>
                  <a:pt x="47625" y="95250"/>
                </a:cubicBezTo>
                <a:cubicBezTo>
                  <a:pt x="21340" y="95250"/>
                  <a:pt x="0" y="73910"/>
                  <a:pt x="0" y="47625"/>
                </a:cubicBezTo>
                <a:close/>
              </a:path>
            </a:pathLst>
          </a:custGeom>
          <a:solidFill>
            <a:srgbClr val="FF6B00"/>
          </a:solidFill>
          <a:ln/>
        </p:spPr>
      </p:sp>
      <p:sp>
        <p:nvSpPr>
          <p:cNvPr id="25" name="Text 23"/>
          <p:cNvSpPr/>
          <p:nvPr/>
        </p:nvSpPr>
        <p:spPr>
          <a:xfrm>
            <a:off x="658813" y="6000750"/>
            <a:ext cx="2579688"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Shortage of AI and machine learning expertise</a:t>
            </a:r>
            <a:endParaRPr lang="en-US" sz="1600" dirty="0"/>
          </a:p>
        </p:txBody>
      </p:sp>
      <p:sp>
        <p:nvSpPr>
          <p:cNvPr id="26" name="Shape 24"/>
          <p:cNvSpPr/>
          <p:nvPr/>
        </p:nvSpPr>
        <p:spPr>
          <a:xfrm>
            <a:off x="488156" y="6318250"/>
            <a:ext cx="95250" cy="95250"/>
          </a:xfrm>
          <a:custGeom>
            <a:avLst/>
            <a:gdLst/>
            <a:ahLst/>
            <a:cxnLst/>
            <a:rect l="l" t="t" r="r" b="b"/>
            <a:pathLst>
              <a:path w="95250" h="95250">
                <a:moveTo>
                  <a:pt x="0" y="47625"/>
                </a:moveTo>
                <a:cubicBezTo>
                  <a:pt x="0" y="21340"/>
                  <a:pt x="21340" y="0"/>
                  <a:pt x="47625" y="0"/>
                </a:cubicBezTo>
                <a:cubicBezTo>
                  <a:pt x="73910" y="0"/>
                  <a:pt x="95250" y="21340"/>
                  <a:pt x="95250" y="47625"/>
                </a:cubicBezTo>
                <a:cubicBezTo>
                  <a:pt x="95250" y="73910"/>
                  <a:pt x="73910" y="95250"/>
                  <a:pt x="47625" y="95250"/>
                </a:cubicBezTo>
                <a:cubicBezTo>
                  <a:pt x="21340" y="95250"/>
                  <a:pt x="0" y="73910"/>
                  <a:pt x="0" y="47625"/>
                </a:cubicBezTo>
                <a:close/>
              </a:path>
            </a:pathLst>
          </a:custGeom>
          <a:solidFill>
            <a:srgbClr val="FF6B00"/>
          </a:solidFill>
          <a:ln/>
        </p:spPr>
      </p:sp>
      <p:sp>
        <p:nvSpPr>
          <p:cNvPr id="27" name="Text 25"/>
          <p:cNvSpPr/>
          <p:nvPr/>
        </p:nvSpPr>
        <p:spPr>
          <a:xfrm>
            <a:off x="658813" y="6254750"/>
            <a:ext cx="2524125"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Limited data science capabilities for analytics</a:t>
            </a:r>
            <a:endParaRPr lang="en-US" sz="1600" dirty="0"/>
          </a:p>
        </p:txBody>
      </p:sp>
      <p:sp>
        <p:nvSpPr>
          <p:cNvPr id="28" name="Shape 26"/>
          <p:cNvSpPr/>
          <p:nvPr/>
        </p:nvSpPr>
        <p:spPr>
          <a:xfrm>
            <a:off x="488156" y="6572250"/>
            <a:ext cx="95250" cy="95250"/>
          </a:xfrm>
          <a:custGeom>
            <a:avLst/>
            <a:gdLst/>
            <a:ahLst/>
            <a:cxnLst/>
            <a:rect l="l" t="t" r="r" b="b"/>
            <a:pathLst>
              <a:path w="95250" h="95250">
                <a:moveTo>
                  <a:pt x="0" y="47625"/>
                </a:moveTo>
                <a:cubicBezTo>
                  <a:pt x="0" y="21340"/>
                  <a:pt x="21340" y="0"/>
                  <a:pt x="47625" y="0"/>
                </a:cubicBezTo>
                <a:cubicBezTo>
                  <a:pt x="73910" y="0"/>
                  <a:pt x="95250" y="21340"/>
                  <a:pt x="95250" y="47625"/>
                </a:cubicBezTo>
                <a:cubicBezTo>
                  <a:pt x="95250" y="73910"/>
                  <a:pt x="73910" y="95250"/>
                  <a:pt x="47625" y="95250"/>
                </a:cubicBezTo>
                <a:cubicBezTo>
                  <a:pt x="21340" y="95250"/>
                  <a:pt x="0" y="73910"/>
                  <a:pt x="0" y="47625"/>
                </a:cubicBezTo>
                <a:close/>
              </a:path>
            </a:pathLst>
          </a:custGeom>
          <a:solidFill>
            <a:srgbClr val="FF6B00"/>
          </a:solidFill>
          <a:ln/>
        </p:spPr>
      </p:sp>
      <p:sp>
        <p:nvSpPr>
          <p:cNvPr id="29" name="Text 27"/>
          <p:cNvSpPr/>
          <p:nvPr/>
        </p:nvSpPr>
        <p:spPr>
          <a:xfrm>
            <a:off x="658813" y="6508750"/>
            <a:ext cx="2524125" cy="190500"/>
          </a:xfrm>
          <a:prstGeom prst="rect">
            <a:avLst/>
          </a:prstGeom>
          <a:noFill/>
          <a:ln/>
        </p:spPr>
        <p:txBody>
          <a:bodyPr wrap="square" lIns="0" tIns="0" rIns="0" bIns="0" rtlCol="0" anchor="ctr"/>
          <a:lstStyle/>
          <a:p>
            <a:pPr>
              <a:lnSpc>
                <a:spcPct val="13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Change resistance due to inadequate training</a:t>
            </a:r>
            <a:endParaRPr lang="en-US" sz="1600" dirty="0"/>
          </a:p>
        </p:txBody>
      </p:sp>
      <p:sp>
        <p:nvSpPr>
          <p:cNvPr id="30" name="Shape 28"/>
          <p:cNvSpPr/>
          <p:nvPr/>
        </p:nvSpPr>
        <p:spPr>
          <a:xfrm>
            <a:off x="6175375" y="1143000"/>
            <a:ext cx="5699125" cy="2651125"/>
          </a:xfrm>
          <a:custGeom>
            <a:avLst/>
            <a:gdLst/>
            <a:ahLst/>
            <a:cxnLst/>
            <a:rect l="l" t="t" r="r" b="b"/>
            <a:pathLst>
              <a:path w="5699125" h="2651125">
                <a:moveTo>
                  <a:pt x="95255" y="0"/>
                </a:moveTo>
                <a:lnTo>
                  <a:pt x="5603870" y="0"/>
                </a:lnTo>
                <a:cubicBezTo>
                  <a:pt x="5656478" y="0"/>
                  <a:pt x="5699125" y="42647"/>
                  <a:pt x="5699125" y="95255"/>
                </a:cubicBezTo>
                <a:lnTo>
                  <a:pt x="5699125" y="2555870"/>
                </a:lnTo>
                <a:cubicBezTo>
                  <a:pt x="5699125" y="2608478"/>
                  <a:pt x="5656478" y="2651125"/>
                  <a:pt x="5603870" y="2651125"/>
                </a:cubicBezTo>
                <a:lnTo>
                  <a:pt x="95255" y="2651125"/>
                </a:lnTo>
                <a:cubicBezTo>
                  <a:pt x="42647" y="2651125"/>
                  <a:pt x="0" y="2608478"/>
                  <a:pt x="0" y="2555870"/>
                </a:cubicBezTo>
                <a:lnTo>
                  <a:pt x="0" y="95255"/>
                </a:lnTo>
                <a:cubicBezTo>
                  <a:pt x="0" y="42682"/>
                  <a:pt x="42682" y="0"/>
                  <a:pt x="95255" y="0"/>
                </a:cubicBezTo>
                <a:close/>
              </a:path>
            </a:pathLst>
          </a:custGeom>
          <a:solidFill>
            <a:srgbClr val="F9FAFB"/>
          </a:solidFill>
          <a:ln/>
        </p:spPr>
      </p:sp>
      <p:sp>
        <p:nvSpPr>
          <p:cNvPr id="31" name="Text 29"/>
          <p:cNvSpPr/>
          <p:nvPr/>
        </p:nvSpPr>
        <p:spPr>
          <a:xfrm>
            <a:off x="6334125" y="1301750"/>
            <a:ext cx="5461000" cy="222250"/>
          </a:xfrm>
          <a:prstGeom prst="rect">
            <a:avLst/>
          </a:prstGeom>
          <a:noFill/>
          <a:ln/>
        </p:spPr>
        <p:txBody>
          <a:bodyPr wrap="square" lIns="0" tIns="0" rIns="0" bIns="0" rtlCol="0" anchor="ctr"/>
          <a:lstStyle/>
          <a:p>
            <a:pPr>
              <a:lnSpc>
                <a:spcPct val="120000"/>
              </a:lnSpc>
            </a:pPr>
            <a:r>
              <a:rPr lang="en-US" sz="1250" b="1" dirty="0">
                <a:solidFill>
                  <a:srgbClr val="003087"/>
                </a:solidFill>
                <a:latin typeface="Liter" pitchFamily="34" charset="0"/>
                <a:ea typeface="Liter" pitchFamily="34" charset="-122"/>
                <a:cs typeface="Liter" pitchFamily="34" charset="-120"/>
              </a:rPr>
              <a:t>Performance Metrics Gap</a:t>
            </a:r>
            <a:endParaRPr lang="en-US" sz="1600" dirty="0"/>
          </a:p>
        </p:txBody>
      </p:sp>
      <p:pic>
        <p:nvPicPr>
          <p:cNvPr id="32" name="Image 0" descr="https://kimi-img.moonshot.cn/pub/slides/26-03-07-03:54:50-d6lj22hrqpm57v4vbbc0.png"/>
          <p:cNvPicPr>
            <a:picLocks noChangeAspect="1"/>
          </p:cNvPicPr>
          <p:nvPr/>
        </p:nvPicPr>
        <p:blipFill>
          <a:blip r:embed="rId3"/>
          <a:srcRect/>
          <a:stretch/>
        </p:blipFill>
        <p:spPr>
          <a:xfrm>
            <a:off x="6334125" y="1651000"/>
            <a:ext cx="4365625" cy="1984375"/>
          </a:xfrm>
          <a:prstGeom prst="roundRect">
            <a:avLst>
              <a:gd name="adj" fmla="val 0"/>
            </a:avLst>
          </a:prstGeom>
        </p:spPr>
      </p:pic>
      <p:sp>
        <p:nvSpPr>
          <p:cNvPr id="33" name="Shape 30"/>
          <p:cNvSpPr/>
          <p:nvPr/>
        </p:nvSpPr>
        <p:spPr>
          <a:xfrm>
            <a:off x="6191250" y="3921125"/>
            <a:ext cx="5683250" cy="1587500"/>
          </a:xfrm>
          <a:custGeom>
            <a:avLst/>
            <a:gdLst/>
            <a:ahLst/>
            <a:cxnLst/>
            <a:rect l="l" t="t" r="r" b="b"/>
            <a:pathLst>
              <a:path w="5683250" h="1587500">
                <a:moveTo>
                  <a:pt x="31750" y="0"/>
                </a:moveTo>
                <a:lnTo>
                  <a:pt x="5588000" y="0"/>
                </a:lnTo>
                <a:cubicBezTo>
                  <a:pt x="5640570" y="0"/>
                  <a:pt x="5683250" y="42680"/>
                  <a:pt x="5683250" y="95250"/>
                </a:cubicBezTo>
                <a:lnTo>
                  <a:pt x="5683250" y="1492250"/>
                </a:lnTo>
                <a:cubicBezTo>
                  <a:pt x="5683250" y="1544820"/>
                  <a:pt x="5640570" y="1587500"/>
                  <a:pt x="5588000" y="1587500"/>
                </a:cubicBezTo>
                <a:lnTo>
                  <a:pt x="31750" y="1587500"/>
                </a:lnTo>
                <a:cubicBezTo>
                  <a:pt x="14227" y="1587500"/>
                  <a:pt x="0" y="1573273"/>
                  <a:pt x="0" y="1555750"/>
                </a:cubicBezTo>
                <a:lnTo>
                  <a:pt x="0" y="31750"/>
                </a:lnTo>
                <a:cubicBezTo>
                  <a:pt x="0" y="14227"/>
                  <a:pt x="14227" y="0"/>
                  <a:pt x="31750" y="0"/>
                </a:cubicBezTo>
                <a:close/>
              </a:path>
            </a:pathLst>
          </a:custGeom>
          <a:solidFill>
            <a:srgbClr val="FF6B00">
              <a:alpha val="10196"/>
            </a:srgbClr>
          </a:solidFill>
          <a:ln/>
        </p:spPr>
      </p:sp>
      <p:sp>
        <p:nvSpPr>
          <p:cNvPr id="34" name="Shape 31"/>
          <p:cNvSpPr/>
          <p:nvPr/>
        </p:nvSpPr>
        <p:spPr>
          <a:xfrm>
            <a:off x="6191250" y="3921125"/>
            <a:ext cx="31750" cy="1587500"/>
          </a:xfrm>
          <a:custGeom>
            <a:avLst/>
            <a:gdLst/>
            <a:ahLst/>
            <a:cxnLst/>
            <a:rect l="l" t="t" r="r" b="b"/>
            <a:pathLst>
              <a:path w="31750" h="1587500">
                <a:moveTo>
                  <a:pt x="31750" y="0"/>
                </a:moveTo>
                <a:lnTo>
                  <a:pt x="31750" y="0"/>
                </a:lnTo>
                <a:lnTo>
                  <a:pt x="31750" y="1587500"/>
                </a:lnTo>
                <a:lnTo>
                  <a:pt x="31750" y="1587500"/>
                </a:lnTo>
                <a:cubicBezTo>
                  <a:pt x="14227" y="1587500"/>
                  <a:pt x="0" y="1573273"/>
                  <a:pt x="0" y="1555750"/>
                </a:cubicBezTo>
                <a:lnTo>
                  <a:pt x="0" y="31750"/>
                </a:lnTo>
                <a:cubicBezTo>
                  <a:pt x="0" y="14227"/>
                  <a:pt x="14227" y="0"/>
                  <a:pt x="31750" y="0"/>
                </a:cubicBezTo>
                <a:close/>
              </a:path>
            </a:pathLst>
          </a:custGeom>
          <a:solidFill>
            <a:srgbClr val="FF6B00"/>
          </a:solidFill>
          <a:ln/>
        </p:spPr>
      </p:sp>
      <p:sp>
        <p:nvSpPr>
          <p:cNvPr id="35" name="Text 32"/>
          <p:cNvSpPr/>
          <p:nvPr/>
        </p:nvSpPr>
        <p:spPr>
          <a:xfrm>
            <a:off x="6365875" y="4079875"/>
            <a:ext cx="542131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Processing Efficiency Comparison</a:t>
            </a:r>
            <a:endParaRPr lang="en-US" sz="1600" dirty="0"/>
          </a:p>
        </p:txBody>
      </p:sp>
      <p:sp>
        <p:nvSpPr>
          <p:cNvPr id="36" name="Text 33"/>
          <p:cNvSpPr/>
          <p:nvPr/>
        </p:nvSpPr>
        <p:spPr>
          <a:xfrm>
            <a:off x="6365875" y="4397375"/>
            <a:ext cx="1055688" cy="158750"/>
          </a:xfrm>
          <a:prstGeom prst="rect">
            <a:avLst/>
          </a:prstGeom>
          <a:noFill/>
          <a:ln/>
        </p:spPr>
        <p:txBody>
          <a:bodyPr wrap="square" lIns="0" tIns="0" rIns="0" bIns="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Account Onboarding</a:t>
            </a:r>
            <a:endParaRPr lang="en-US" sz="1600" dirty="0"/>
          </a:p>
        </p:txBody>
      </p:sp>
      <p:sp>
        <p:nvSpPr>
          <p:cNvPr id="37" name="Text 34"/>
          <p:cNvSpPr/>
          <p:nvPr/>
        </p:nvSpPr>
        <p:spPr>
          <a:xfrm>
            <a:off x="10733484" y="4397375"/>
            <a:ext cx="1039812" cy="158750"/>
          </a:xfrm>
          <a:prstGeom prst="rect">
            <a:avLst/>
          </a:prstGeom>
          <a:noFill/>
          <a:ln/>
        </p:spPr>
        <p:txBody>
          <a:bodyPr wrap="square" lIns="0" tIns="0" rIns="0" bIns="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5-7 days → 1-2 days</a:t>
            </a:r>
            <a:endParaRPr lang="en-US" sz="1600" dirty="0"/>
          </a:p>
        </p:txBody>
      </p:sp>
      <p:sp>
        <p:nvSpPr>
          <p:cNvPr id="38" name="Shape 35"/>
          <p:cNvSpPr/>
          <p:nvPr/>
        </p:nvSpPr>
        <p:spPr>
          <a:xfrm>
            <a:off x="6365875" y="4587875"/>
            <a:ext cx="5349875" cy="63500"/>
          </a:xfrm>
          <a:custGeom>
            <a:avLst/>
            <a:gdLst/>
            <a:ahLst/>
            <a:cxnLst/>
            <a:rect l="l" t="t" r="r" b="b"/>
            <a:pathLst>
              <a:path w="5349875" h="63500">
                <a:moveTo>
                  <a:pt x="31750" y="0"/>
                </a:moveTo>
                <a:lnTo>
                  <a:pt x="5318125" y="0"/>
                </a:lnTo>
                <a:cubicBezTo>
                  <a:pt x="5335648" y="0"/>
                  <a:pt x="5349875" y="14227"/>
                  <a:pt x="5349875" y="31750"/>
                </a:cubicBezTo>
                <a:lnTo>
                  <a:pt x="5349875" y="31750"/>
                </a:lnTo>
                <a:cubicBezTo>
                  <a:pt x="5349875" y="49273"/>
                  <a:pt x="5335648" y="63500"/>
                  <a:pt x="5318125"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39" name="Shape 36"/>
          <p:cNvSpPr/>
          <p:nvPr/>
        </p:nvSpPr>
        <p:spPr>
          <a:xfrm>
            <a:off x="6365875" y="4587875"/>
            <a:ext cx="1603375" cy="63500"/>
          </a:xfrm>
          <a:custGeom>
            <a:avLst/>
            <a:gdLst/>
            <a:ahLst/>
            <a:cxnLst/>
            <a:rect l="l" t="t" r="r" b="b"/>
            <a:pathLst>
              <a:path w="1603375" h="63500">
                <a:moveTo>
                  <a:pt x="31750" y="0"/>
                </a:moveTo>
                <a:lnTo>
                  <a:pt x="1571625" y="0"/>
                </a:lnTo>
                <a:cubicBezTo>
                  <a:pt x="1589148" y="0"/>
                  <a:pt x="1603375" y="14227"/>
                  <a:pt x="1603375" y="31750"/>
                </a:cubicBezTo>
                <a:lnTo>
                  <a:pt x="1603375" y="31750"/>
                </a:lnTo>
                <a:cubicBezTo>
                  <a:pt x="1603375" y="49273"/>
                  <a:pt x="1589148" y="63500"/>
                  <a:pt x="1571625" y="63500"/>
                </a:cubicBezTo>
                <a:lnTo>
                  <a:pt x="31750" y="63500"/>
                </a:lnTo>
                <a:cubicBezTo>
                  <a:pt x="14227" y="63500"/>
                  <a:pt x="0" y="49273"/>
                  <a:pt x="0" y="31750"/>
                </a:cubicBezTo>
                <a:lnTo>
                  <a:pt x="0" y="31750"/>
                </a:lnTo>
                <a:cubicBezTo>
                  <a:pt x="0" y="14227"/>
                  <a:pt x="14227" y="0"/>
                  <a:pt x="31750" y="0"/>
                </a:cubicBezTo>
                <a:close/>
              </a:path>
            </a:pathLst>
          </a:custGeom>
          <a:solidFill>
            <a:srgbClr val="FF6B00"/>
          </a:solidFill>
          <a:ln/>
        </p:spPr>
      </p:sp>
      <p:sp>
        <p:nvSpPr>
          <p:cNvPr id="40" name="Text 37"/>
          <p:cNvSpPr/>
          <p:nvPr/>
        </p:nvSpPr>
        <p:spPr>
          <a:xfrm>
            <a:off x="6365875" y="4746625"/>
            <a:ext cx="825500" cy="158750"/>
          </a:xfrm>
          <a:prstGeom prst="rect">
            <a:avLst/>
          </a:prstGeom>
          <a:noFill/>
          <a:ln/>
        </p:spPr>
        <p:txBody>
          <a:bodyPr wrap="square" lIns="0" tIns="0" rIns="0" bIns="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Loan Processing</a:t>
            </a:r>
            <a:endParaRPr lang="en-US" sz="1600" dirty="0"/>
          </a:p>
        </p:txBody>
      </p:sp>
      <p:sp>
        <p:nvSpPr>
          <p:cNvPr id="41" name="Text 38"/>
          <p:cNvSpPr/>
          <p:nvPr/>
        </p:nvSpPr>
        <p:spPr>
          <a:xfrm>
            <a:off x="10618577" y="4746625"/>
            <a:ext cx="1150938" cy="158750"/>
          </a:xfrm>
          <a:prstGeom prst="rect">
            <a:avLst/>
          </a:prstGeom>
          <a:noFill/>
          <a:ln/>
        </p:spPr>
        <p:txBody>
          <a:bodyPr wrap="square" lIns="0" tIns="0" rIns="0" bIns="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2-3 weeks → 3-5 days</a:t>
            </a:r>
            <a:endParaRPr lang="en-US" sz="1600" dirty="0"/>
          </a:p>
        </p:txBody>
      </p:sp>
      <p:sp>
        <p:nvSpPr>
          <p:cNvPr id="42" name="Shape 39"/>
          <p:cNvSpPr/>
          <p:nvPr/>
        </p:nvSpPr>
        <p:spPr>
          <a:xfrm>
            <a:off x="6365875" y="4937125"/>
            <a:ext cx="5349875" cy="63500"/>
          </a:xfrm>
          <a:custGeom>
            <a:avLst/>
            <a:gdLst/>
            <a:ahLst/>
            <a:cxnLst/>
            <a:rect l="l" t="t" r="r" b="b"/>
            <a:pathLst>
              <a:path w="5349875" h="63500">
                <a:moveTo>
                  <a:pt x="31750" y="0"/>
                </a:moveTo>
                <a:lnTo>
                  <a:pt x="5318125" y="0"/>
                </a:lnTo>
                <a:cubicBezTo>
                  <a:pt x="5335648" y="0"/>
                  <a:pt x="5349875" y="14227"/>
                  <a:pt x="5349875" y="31750"/>
                </a:cubicBezTo>
                <a:lnTo>
                  <a:pt x="5349875" y="31750"/>
                </a:lnTo>
                <a:cubicBezTo>
                  <a:pt x="5349875" y="49273"/>
                  <a:pt x="5335648" y="63500"/>
                  <a:pt x="5318125"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43" name="Shape 40"/>
          <p:cNvSpPr/>
          <p:nvPr/>
        </p:nvSpPr>
        <p:spPr>
          <a:xfrm>
            <a:off x="6365875" y="4937125"/>
            <a:ext cx="1341438" cy="63500"/>
          </a:xfrm>
          <a:custGeom>
            <a:avLst/>
            <a:gdLst/>
            <a:ahLst/>
            <a:cxnLst/>
            <a:rect l="l" t="t" r="r" b="b"/>
            <a:pathLst>
              <a:path w="1341438" h="63500">
                <a:moveTo>
                  <a:pt x="31750" y="0"/>
                </a:moveTo>
                <a:lnTo>
                  <a:pt x="1309688" y="0"/>
                </a:lnTo>
                <a:cubicBezTo>
                  <a:pt x="1327211" y="0"/>
                  <a:pt x="1341438" y="14227"/>
                  <a:pt x="1341438" y="31750"/>
                </a:cubicBezTo>
                <a:lnTo>
                  <a:pt x="1341438" y="31750"/>
                </a:lnTo>
                <a:cubicBezTo>
                  <a:pt x="1341438" y="49273"/>
                  <a:pt x="1327211" y="63500"/>
                  <a:pt x="1309688" y="63500"/>
                </a:cubicBezTo>
                <a:lnTo>
                  <a:pt x="31750" y="63500"/>
                </a:lnTo>
                <a:cubicBezTo>
                  <a:pt x="14227" y="63500"/>
                  <a:pt x="0" y="49273"/>
                  <a:pt x="0" y="31750"/>
                </a:cubicBezTo>
                <a:lnTo>
                  <a:pt x="0" y="31750"/>
                </a:lnTo>
                <a:cubicBezTo>
                  <a:pt x="0" y="14227"/>
                  <a:pt x="14227" y="0"/>
                  <a:pt x="31750" y="0"/>
                </a:cubicBezTo>
                <a:close/>
              </a:path>
            </a:pathLst>
          </a:custGeom>
          <a:solidFill>
            <a:srgbClr val="FF6B00"/>
          </a:solidFill>
          <a:ln/>
        </p:spPr>
      </p:sp>
      <p:sp>
        <p:nvSpPr>
          <p:cNvPr id="44" name="Text 41"/>
          <p:cNvSpPr/>
          <p:nvPr/>
        </p:nvSpPr>
        <p:spPr>
          <a:xfrm>
            <a:off x="6365875" y="5095875"/>
            <a:ext cx="825500" cy="158750"/>
          </a:xfrm>
          <a:prstGeom prst="rect">
            <a:avLst/>
          </a:prstGeom>
          <a:noFill/>
          <a:ln/>
        </p:spPr>
        <p:txBody>
          <a:bodyPr wrap="square" lIns="0" tIns="0" rIns="0" bIns="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KYC Verification</a:t>
            </a:r>
            <a:endParaRPr lang="en-US" sz="1600" dirty="0"/>
          </a:p>
        </p:txBody>
      </p:sp>
      <p:sp>
        <p:nvSpPr>
          <p:cNvPr id="45" name="Text 42"/>
          <p:cNvSpPr/>
          <p:nvPr/>
        </p:nvSpPr>
        <p:spPr>
          <a:xfrm>
            <a:off x="10650141" y="5095875"/>
            <a:ext cx="1119188" cy="158750"/>
          </a:xfrm>
          <a:prstGeom prst="rect">
            <a:avLst/>
          </a:prstGeom>
          <a:noFill/>
          <a:ln/>
        </p:spPr>
        <p:txBody>
          <a:bodyPr wrap="square" lIns="0" tIns="0" rIns="0" bIns="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3-5 days → Same day</a:t>
            </a:r>
            <a:endParaRPr lang="en-US" sz="1600" dirty="0"/>
          </a:p>
        </p:txBody>
      </p:sp>
      <p:sp>
        <p:nvSpPr>
          <p:cNvPr id="46" name="Shape 43"/>
          <p:cNvSpPr/>
          <p:nvPr/>
        </p:nvSpPr>
        <p:spPr>
          <a:xfrm>
            <a:off x="6365875" y="5286375"/>
            <a:ext cx="5349875" cy="63500"/>
          </a:xfrm>
          <a:custGeom>
            <a:avLst/>
            <a:gdLst/>
            <a:ahLst/>
            <a:cxnLst/>
            <a:rect l="l" t="t" r="r" b="b"/>
            <a:pathLst>
              <a:path w="5349875" h="63500">
                <a:moveTo>
                  <a:pt x="31750" y="0"/>
                </a:moveTo>
                <a:lnTo>
                  <a:pt x="5318125" y="0"/>
                </a:lnTo>
                <a:cubicBezTo>
                  <a:pt x="5335648" y="0"/>
                  <a:pt x="5349875" y="14227"/>
                  <a:pt x="5349875" y="31750"/>
                </a:cubicBezTo>
                <a:lnTo>
                  <a:pt x="5349875" y="31750"/>
                </a:lnTo>
                <a:cubicBezTo>
                  <a:pt x="5349875" y="49273"/>
                  <a:pt x="5335648" y="63500"/>
                  <a:pt x="5318125"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47" name="Shape 44"/>
          <p:cNvSpPr/>
          <p:nvPr/>
        </p:nvSpPr>
        <p:spPr>
          <a:xfrm>
            <a:off x="6365875" y="5286375"/>
            <a:ext cx="1071563" cy="63500"/>
          </a:xfrm>
          <a:custGeom>
            <a:avLst/>
            <a:gdLst/>
            <a:ahLst/>
            <a:cxnLst/>
            <a:rect l="l" t="t" r="r" b="b"/>
            <a:pathLst>
              <a:path w="1071563" h="63500">
                <a:moveTo>
                  <a:pt x="31750" y="0"/>
                </a:moveTo>
                <a:lnTo>
                  <a:pt x="1039812" y="0"/>
                </a:lnTo>
                <a:cubicBezTo>
                  <a:pt x="1057336" y="0"/>
                  <a:pt x="1071563" y="14227"/>
                  <a:pt x="1071563" y="31750"/>
                </a:cubicBezTo>
                <a:lnTo>
                  <a:pt x="1071563" y="31750"/>
                </a:lnTo>
                <a:cubicBezTo>
                  <a:pt x="1071563" y="49273"/>
                  <a:pt x="1057336" y="63500"/>
                  <a:pt x="1039812" y="63500"/>
                </a:cubicBezTo>
                <a:lnTo>
                  <a:pt x="31750" y="63500"/>
                </a:lnTo>
                <a:cubicBezTo>
                  <a:pt x="14227" y="63500"/>
                  <a:pt x="0" y="49273"/>
                  <a:pt x="0" y="31750"/>
                </a:cubicBezTo>
                <a:lnTo>
                  <a:pt x="0" y="31750"/>
                </a:lnTo>
                <a:cubicBezTo>
                  <a:pt x="0" y="14227"/>
                  <a:pt x="14227" y="0"/>
                  <a:pt x="31750" y="0"/>
                </a:cubicBezTo>
                <a:close/>
              </a:path>
            </a:pathLst>
          </a:custGeom>
          <a:solidFill>
            <a:srgbClr val="FF6B00"/>
          </a:solidFill>
          <a:ln/>
        </p:spPr>
      </p:sp>
      <p:sp>
        <p:nvSpPr>
          <p:cNvPr id="48" name="Shape 45"/>
          <p:cNvSpPr/>
          <p:nvPr/>
        </p:nvSpPr>
        <p:spPr>
          <a:xfrm>
            <a:off x="6175375" y="5635625"/>
            <a:ext cx="5699125" cy="1301750"/>
          </a:xfrm>
          <a:custGeom>
            <a:avLst/>
            <a:gdLst/>
            <a:ahLst/>
            <a:cxnLst/>
            <a:rect l="l" t="t" r="r" b="b"/>
            <a:pathLst>
              <a:path w="5699125" h="1301750">
                <a:moveTo>
                  <a:pt x="95249" y="0"/>
                </a:moveTo>
                <a:lnTo>
                  <a:pt x="5603876" y="0"/>
                </a:lnTo>
                <a:cubicBezTo>
                  <a:pt x="5656481" y="0"/>
                  <a:pt x="5699125" y="42644"/>
                  <a:pt x="5699125" y="95249"/>
                </a:cubicBezTo>
                <a:lnTo>
                  <a:pt x="5699125" y="1206501"/>
                </a:lnTo>
                <a:cubicBezTo>
                  <a:pt x="5699125" y="1259106"/>
                  <a:pt x="5656481" y="1301750"/>
                  <a:pt x="5603876" y="1301750"/>
                </a:cubicBezTo>
                <a:lnTo>
                  <a:pt x="95249" y="1301750"/>
                </a:lnTo>
                <a:cubicBezTo>
                  <a:pt x="42644" y="1301750"/>
                  <a:pt x="0" y="1259106"/>
                  <a:pt x="0" y="1206501"/>
                </a:cubicBezTo>
                <a:lnTo>
                  <a:pt x="0" y="95249"/>
                </a:lnTo>
                <a:cubicBezTo>
                  <a:pt x="0" y="42680"/>
                  <a:pt x="42680" y="0"/>
                  <a:pt x="95249" y="0"/>
                </a:cubicBezTo>
                <a:close/>
              </a:path>
            </a:pathLst>
          </a:custGeom>
          <a:solidFill>
            <a:srgbClr val="F9FAFB"/>
          </a:solidFill>
          <a:ln/>
        </p:spPr>
      </p:sp>
      <p:sp>
        <p:nvSpPr>
          <p:cNvPr id="49" name="Text 46"/>
          <p:cNvSpPr/>
          <p:nvPr/>
        </p:nvSpPr>
        <p:spPr>
          <a:xfrm>
            <a:off x="6334125" y="5794375"/>
            <a:ext cx="545306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Error Rate Analysis</a:t>
            </a:r>
            <a:endParaRPr lang="en-US" sz="1600" dirty="0"/>
          </a:p>
        </p:txBody>
      </p:sp>
      <p:sp>
        <p:nvSpPr>
          <p:cNvPr id="50" name="Shape 47"/>
          <p:cNvSpPr/>
          <p:nvPr/>
        </p:nvSpPr>
        <p:spPr>
          <a:xfrm>
            <a:off x="6334125" y="6111875"/>
            <a:ext cx="2643188" cy="666750"/>
          </a:xfrm>
          <a:custGeom>
            <a:avLst/>
            <a:gdLst/>
            <a:ahLst/>
            <a:cxnLst/>
            <a:rect l="l" t="t" r="r" b="b"/>
            <a:pathLst>
              <a:path w="2643188" h="666750">
                <a:moveTo>
                  <a:pt x="63501" y="0"/>
                </a:moveTo>
                <a:lnTo>
                  <a:pt x="2579686" y="0"/>
                </a:lnTo>
                <a:cubicBezTo>
                  <a:pt x="2614757" y="0"/>
                  <a:pt x="2643188" y="28430"/>
                  <a:pt x="2643188" y="63501"/>
                </a:cubicBezTo>
                <a:lnTo>
                  <a:pt x="2643188" y="603249"/>
                </a:lnTo>
                <a:cubicBezTo>
                  <a:pt x="2643188" y="638320"/>
                  <a:pt x="2614757" y="666750"/>
                  <a:pt x="2579686"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solidFill>
          <a:ln/>
          <a:effectLst>
            <a:outerShdw blurRad="23813" dist="7938" dir="5400000" algn="bl" rotWithShape="0">
              <a:srgbClr val="000000">
                <a:alpha val="10196"/>
              </a:srgbClr>
            </a:outerShdw>
          </a:effectLst>
        </p:spPr>
      </p:sp>
      <p:sp>
        <p:nvSpPr>
          <p:cNvPr id="51" name="Text 48"/>
          <p:cNvSpPr/>
          <p:nvPr/>
        </p:nvSpPr>
        <p:spPr>
          <a:xfrm>
            <a:off x="6369844" y="6207125"/>
            <a:ext cx="2571750" cy="285750"/>
          </a:xfrm>
          <a:prstGeom prst="rect">
            <a:avLst/>
          </a:prstGeom>
          <a:noFill/>
          <a:ln/>
        </p:spPr>
        <p:txBody>
          <a:bodyPr wrap="square" lIns="0" tIns="0" rIns="0" bIns="0" rtlCol="0" anchor="ctr"/>
          <a:lstStyle/>
          <a:p>
            <a:pPr algn="ctr">
              <a:lnSpc>
                <a:spcPct val="100000"/>
              </a:lnSpc>
            </a:pPr>
            <a:r>
              <a:rPr lang="en-US" sz="1875" b="1" dirty="0">
                <a:solidFill>
                  <a:srgbClr val="003087"/>
                </a:solidFill>
                <a:latin typeface="Quattrocento Sans" pitchFamily="34" charset="0"/>
                <a:ea typeface="Quattrocento Sans" pitchFamily="34" charset="-122"/>
                <a:cs typeface="Quattrocento Sans" pitchFamily="34" charset="-120"/>
              </a:rPr>
              <a:t>8-12%</a:t>
            </a:r>
            <a:endParaRPr lang="en-US" sz="1600" dirty="0"/>
          </a:p>
        </p:txBody>
      </p:sp>
      <p:sp>
        <p:nvSpPr>
          <p:cNvPr id="52" name="Text 49"/>
          <p:cNvSpPr/>
          <p:nvPr/>
        </p:nvSpPr>
        <p:spPr>
          <a:xfrm>
            <a:off x="6401594" y="6524625"/>
            <a:ext cx="2508250" cy="158750"/>
          </a:xfrm>
          <a:prstGeom prst="rect">
            <a:avLst/>
          </a:prstGeom>
          <a:noFill/>
          <a:ln/>
        </p:spPr>
        <p:txBody>
          <a:bodyPr wrap="square" lIns="0" tIns="0" rIns="0" bIns="0" rtlCol="0" anchor="ctr"/>
          <a:lstStyle/>
          <a:p>
            <a:pPr algn="ct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Manual Data Entry</a:t>
            </a:r>
            <a:endParaRPr lang="en-US" sz="1600" dirty="0"/>
          </a:p>
        </p:txBody>
      </p:sp>
      <p:sp>
        <p:nvSpPr>
          <p:cNvPr id="53" name="Shape 50"/>
          <p:cNvSpPr/>
          <p:nvPr/>
        </p:nvSpPr>
        <p:spPr>
          <a:xfrm>
            <a:off x="9072563" y="6111875"/>
            <a:ext cx="2643188" cy="666750"/>
          </a:xfrm>
          <a:custGeom>
            <a:avLst/>
            <a:gdLst/>
            <a:ahLst/>
            <a:cxnLst/>
            <a:rect l="l" t="t" r="r" b="b"/>
            <a:pathLst>
              <a:path w="2643188" h="666750">
                <a:moveTo>
                  <a:pt x="63501" y="0"/>
                </a:moveTo>
                <a:lnTo>
                  <a:pt x="2579686" y="0"/>
                </a:lnTo>
                <a:cubicBezTo>
                  <a:pt x="2614757" y="0"/>
                  <a:pt x="2643188" y="28430"/>
                  <a:pt x="2643188" y="63501"/>
                </a:cubicBezTo>
                <a:lnTo>
                  <a:pt x="2643188" y="603249"/>
                </a:lnTo>
                <a:cubicBezTo>
                  <a:pt x="2643188" y="638320"/>
                  <a:pt x="2614757" y="666750"/>
                  <a:pt x="2579686"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solidFill>
          <a:ln/>
          <a:effectLst>
            <a:outerShdw blurRad="23813" dist="7938" dir="5400000" algn="bl" rotWithShape="0">
              <a:srgbClr val="000000">
                <a:alpha val="10196"/>
              </a:srgbClr>
            </a:outerShdw>
          </a:effectLst>
        </p:spPr>
      </p:sp>
      <p:sp>
        <p:nvSpPr>
          <p:cNvPr id="54" name="Text 51"/>
          <p:cNvSpPr/>
          <p:nvPr/>
        </p:nvSpPr>
        <p:spPr>
          <a:xfrm>
            <a:off x="9108281" y="6207125"/>
            <a:ext cx="2571750" cy="285750"/>
          </a:xfrm>
          <a:prstGeom prst="rect">
            <a:avLst/>
          </a:prstGeom>
          <a:noFill/>
          <a:ln/>
        </p:spPr>
        <p:txBody>
          <a:bodyPr wrap="square" lIns="0" tIns="0" rIns="0" bIns="0" rtlCol="0" anchor="ctr"/>
          <a:lstStyle/>
          <a:p>
            <a:pPr algn="ctr">
              <a:lnSpc>
                <a:spcPct val="100000"/>
              </a:lnSpc>
            </a:pPr>
            <a:r>
              <a:rPr lang="en-US" sz="1875" b="1" dirty="0">
                <a:solidFill>
                  <a:srgbClr val="FF6B00"/>
                </a:solidFill>
                <a:latin typeface="Quattrocento Sans" pitchFamily="34" charset="0"/>
                <a:ea typeface="Quattrocento Sans" pitchFamily="34" charset="-122"/>
                <a:cs typeface="Quattrocento Sans" pitchFamily="34" charset="-120"/>
              </a:rPr>
              <a:t>&lt;1%</a:t>
            </a:r>
            <a:endParaRPr lang="en-US" sz="1600" dirty="0"/>
          </a:p>
        </p:txBody>
      </p:sp>
      <p:sp>
        <p:nvSpPr>
          <p:cNvPr id="55" name="Text 52"/>
          <p:cNvSpPr/>
          <p:nvPr/>
        </p:nvSpPr>
        <p:spPr>
          <a:xfrm>
            <a:off x="9140031" y="6524625"/>
            <a:ext cx="2508250" cy="158750"/>
          </a:xfrm>
          <a:prstGeom prst="rect">
            <a:avLst/>
          </a:prstGeom>
          <a:noFill/>
          <a:ln/>
        </p:spPr>
        <p:txBody>
          <a:bodyPr wrap="square" lIns="0" tIns="0" rIns="0" bIns="0" rtlCol="0" anchor="ctr"/>
          <a:lstStyle/>
          <a:p>
            <a:pPr algn="ct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Automated Systems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FF6B00"/>
                </a:solidFill>
                <a:latin typeface="Liter" pitchFamily="34" charset="0"/>
                <a:ea typeface="Liter" pitchFamily="34" charset="-122"/>
                <a:cs typeface="Liter" pitchFamily="34" charset="-120"/>
              </a:rPr>
              <a:t>03 | GAP ANALYSIS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003087"/>
                </a:solidFill>
                <a:latin typeface="Liter" pitchFamily="34" charset="0"/>
                <a:ea typeface="Liter" pitchFamily="34" charset="-122"/>
                <a:cs typeface="Liter" pitchFamily="34" charset="-120"/>
              </a:rPr>
              <a:t>Root Cause Analysis</a:t>
            </a:r>
            <a:endParaRPr lang="en-US" sz="1600" dirty="0"/>
          </a:p>
        </p:txBody>
      </p:sp>
      <p:sp>
        <p:nvSpPr>
          <p:cNvPr id="4" name="Shape 2"/>
          <p:cNvSpPr/>
          <p:nvPr/>
        </p:nvSpPr>
        <p:spPr>
          <a:xfrm>
            <a:off x="317500" y="952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F6B00"/>
          </a:solidFill>
          <a:ln/>
        </p:spPr>
      </p:sp>
      <p:sp>
        <p:nvSpPr>
          <p:cNvPr id="5" name="Shape 3"/>
          <p:cNvSpPr/>
          <p:nvPr/>
        </p:nvSpPr>
        <p:spPr>
          <a:xfrm>
            <a:off x="317500" y="1143000"/>
            <a:ext cx="7596187" cy="5826125"/>
          </a:xfrm>
          <a:custGeom>
            <a:avLst/>
            <a:gdLst/>
            <a:ahLst/>
            <a:cxnLst/>
            <a:rect l="l" t="t" r="r" b="b"/>
            <a:pathLst>
              <a:path w="7596187" h="5826125">
                <a:moveTo>
                  <a:pt x="95257" y="0"/>
                </a:moveTo>
                <a:lnTo>
                  <a:pt x="7500930" y="0"/>
                </a:lnTo>
                <a:cubicBezTo>
                  <a:pt x="7553539" y="0"/>
                  <a:pt x="7596188" y="42648"/>
                  <a:pt x="7596188" y="95257"/>
                </a:cubicBezTo>
                <a:lnTo>
                  <a:pt x="7596187" y="5730868"/>
                </a:lnTo>
                <a:cubicBezTo>
                  <a:pt x="7596188" y="5783477"/>
                  <a:pt x="7553539" y="5826125"/>
                  <a:pt x="7500930" y="5826125"/>
                </a:cubicBezTo>
                <a:lnTo>
                  <a:pt x="95257" y="5826125"/>
                </a:lnTo>
                <a:cubicBezTo>
                  <a:pt x="42648" y="5826125"/>
                  <a:pt x="0" y="5783477"/>
                  <a:pt x="0" y="5730868"/>
                </a:cubicBezTo>
                <a:lnTo>
                  <a:pt x="0" y="95257"/>
                </a:lnTo>
                <a:cubicBezTo>
                  <a:pt x="0" y="42648"/>
                  <a:pt x="42648" y="0"/>
                  <a:pt x="95257" y="0"/>
                </a:cubicBezTo>
                <a:close/>
              </a:path>
            </a:pathLst>
          </a:custGeom>
          <a:solidFill>
            <a:srgbClr val="F9FAFB"/>
          </a:solidFill>
          <a:ln/>
        </p:spPr>
      </p:sp>
      <p:sp>
        <p:nvSpPr>
          <p:cNvPr id="6" name="Text 4"/>
          <p:cNvSpPr/>
          <p:nvPr/>
        </p:nvSpPr>
        <p:spPr>
          <a:xfrm>
            <a:off x="508000" y="1333500"/>
            <a:ext cx="7294563" cy="222250"/>
          </a:xfrm>
          <a:prstGeom prst="rect">
            <a:avLst/>
          </a:prstGeom>
          <a:noFill/>
          <a:ln/>
        </p:spPr>
        <p:txBody>
          <a:bodyPr wrap="square" lIns="0" tIns="0" rIns="0" bIns="0" rtlCol="0" anchor="ctr"/>
          <a:lstStyle/>
          <a:p>
            <a:pPr>
              <a:lnSpc>
                <a:spcPct val="120000"/>
              </a:lnSpc>
            </a:pPr>
            <a:r>
              <a:rPr lang="en-US" sz="1250" b="1" dirty="0">
                <a:solidFill>
                  <a:srgbClr val="003087"/>
                </a:solidFill>
                <a:latin typeface="Liter" pitchFamily="34" charset="0"/>
                <a:ea typeface="Liter" pitchFamily="34" charset="-122"/>
                <a:cs typeface="Liter" pitchFamily="34" charset="-120"/>
              </a:rPr>
              <a:t>Five Core Issues Identified</a:t>
            </a:r>
            <a:endParaRPr lang="en-US" sz="1600" dirty="0"/>
          </a:p>
        </p:txBody>
      </p:sp>
      <p:sp>
        <p:nvSpPr>
          <p:cNvPr id="7" name="Shape 5"/>
          <p:cNvSpPr/>
          <p:nvPr/>
        </p:nvSpPr>
        <p:spPr>
          <a:xfrm>
            <a:off x="523875" y="1714500"/>
            <a:ext cx="7199313" cy="1238250"/>
          </a:xfrm>
          <a:custGeom>
            <a:avLst/>
            <a:gdLst/>
            <a:ahLst/>
            <a:cxnLst/>
            <a:rect l="l" t="t" r="r" b="b"/>
            <a:pathLst>
              <a:path w="7199313" h="1238250">
                <a:moveTo>
                  <a:pt x="31750" y="0"/>
                </a:moveTo>
                <a:lnTo>
                  <a:pt x="7104066" y="0"/>
                </a:lnTo>
                <a:cubicBezTo>
                  <a:pt x="7156669" y="0"/>
                  <a:pt x="7199313" y="42643"/>
                  <a:pt x="7199313" y="95246"/>
                </a:cubicBezTo>
                <a:lnTo>
                  <a:pt x="7199313" y="1143004"/>
                </a:lnTo>
                <a:cubicBezTo>
                  <a:pt x="7199313" y="1195607"/>
                  <a:pt x="7156669" y="1238250"/>
                  <a:pt x="7104066" y="1238250"/>
                </a:cubicBezTo>
                <a:lnTo>
                  <a:pt x="31750" y="1238250"/>
                </a:lnTo>
                <a:cubicBezTo>
                  <a:pt x="14227" y="1238250"/>
                  <a:pt x="0" y="1224023"/>
                  <a:pt x="0" y="1206500"/>
                </a:cubicBezTo>
                <a:lnTo>
                  <a:pt x="0" y="31750"/>
                </a:lnTo>
                <a:cubicBezTo>
                  <a:pt x="0" y="14227"/>
                  <a:pt x="14227" y="0"/>
                  <a:pt x="31750" y="0"/>
                </a:cubicBezTo>
                <a:close/>
              </a:path>
            </a:pathLst>
          </a:custGeom>
          <a:solidFill>
            <a:srgbClr val="FFFFFF"/>
          </a:solidFill>
          <a:ln/>
          <a:effectLst>
            <a:outerShdw blurRad="23813" dist="7938" dir="5400000" algn="bl" rotWithShape="0">
              <a:srgbClr val="000000">
                <a:alpha val="10196"/>
              </a:srgbClr>
            </a:outerShdw>
          </a:effectLst>
        </p:spPr>
      </p:sp>
      <p:sp>
        <p:nvSpPr>
          <p:cNvPr id="8" name="Shape 6"/>
          <p:cNvSpPr/>
          <p:nvPr/>
        </p:nvSpPr>
        <p:spPr>
          <a:xfrm>
            <a:off x="523875" y="1714500"/>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003087"/>
          </a:solidFill>
          <a:ln/>
        </p:spPr>
      </p:sp>
      <p:sp>
        <p:nvSpPr>
          <p:cNvPr id="9" name="Shape 7"/>
          <p:cNvSpPr/>
          <p:nvPr/>
        </p:nvSpPr>
        <p:spPr>
          <a:xfrm>
            <a:off x="666750" y="18415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3087"/>
          </a:solidFill>
          <a:ln/>
        </p:spPr>
      </p:sp>
      <p:sp>
        <p:nvSpPr>
          <p:cNvPr id="10" name="Text 8"/>
          <p:cNvSpPr/>
          <p:nvPr/>
        </p:nvSpPr>
        <p:spPr>
          <a:xfrm>
            <a:off x="627063" y="184150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1</a:t>
            </a:r>
            <a:endParaRPr lang="en-US" sz="1600" dirty="0"/>
          </a:p>
        </p:txBody>
      </p:sp>
      <p:sp>
        <p:nvSpPr>
          <p:cNvPr id="11" name="Text 9"/>
          <p:cNvSpPr/>
          <p:nvPr/>
        </p:nvSpPr>
        <p:spPr>
          <a:xfrm>
            <a:off x="1174750" y="1841500"/>
            <a:ext cx="6492875"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Fragmented Technology Architecture</a:t>
            </a:r>
            <a:endParaRPr lang="en-US" sz="1600" dirty="0"/>
          </a:p>
        </p:txBody>
      </p:sp>
      <p:sp>
        <p:nvSpPr>
          <p:cNvPr id="12" name="Text 10"/>
          <p:cNvSpPr/>
          <p:nvPr/>
        </p:nvSpPr>
        <p:spPr>
          <a:xfrm>
            <a:off x="1174750" y="2127250"/>
            <a:ext cx="6484938" cy="41275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Legacy systems operating in silos create data inconsistencies and limit cross-functional visibility. Integration challenges between core banking platforms and digital channels result in manual workarounds.</a:t>
            </a:r>
            <a:endParaRPr lang="en-US" sz="1600" dirty="0"/>
          </a:p>
        </p:txBody>
      </p:sp>
      <p:sp>
        <p:nvSpPr>
          <p:cNvPr id="13" name="Shape 11"/>
          <p:cNvSpPr/>
          <p:nvPr/>
        </p:nvSpPr>
        <p:spPr>
          <a:xfrm>
            <a:off x="1174750" y="2603500"/>
            <a:ext cx="801688" cy="222250"/>
          </a:xfrm>
          <a:custGeom>
            <a:avLst/>
            <a:gdLst/>
            <a:ahLst/>
            <a:cxnLst/>
            <a:rect l="l" t="t" r="r" b="b"/>
            <a:pathLst>
              <a:path w="801688" h="222250">
                <a:moveTo>
                  <a:pt x="111125" y="0"/>
                </a:moveTo>
                <a:lnTo>
                  <a:pt x="690563" y="0"/>
                </a:lnTo>
                <a:cubicBezTo>
                  <a:pt x="751894" y="0"/>
                  <a:pt x="801688" y="49793"/>
                  <a:pt x="801688" y="111125"/>
                </a:cubicBezTo>
                <a:lnTo>
                  <a:pt x="801688" y="111125"/>
                </a:lnTo>
                <a:cubicBezTo>
                  <a:pt x="801688" y="172457"/>
                  <a:pt x="751894" y="222250"/>
                  <a:pt x="690563" y="222250"/>
                </a:cubicBezTo>
                <a:lnTo>
                  <a:pt x="111125" y="222250"/>
                </a:lnTo>
                <a:cubicBezTo>
                  <a:pt x="49793" y="222250"/>
                  <a:pt x="0" y="172457"/>
                  <a:pt x="0" y="111125"/>
                </a:cubicBezTo>
                <a:lnTo>
                  <a:pt x="0" y="111125"/>
                </a:lnTo>
                <a:cubicBezTo>
                  <a:pt x="0" y="49793"/>
                  <a:pt x="49793" y="0"/>
                  <a:pt x="111125" y="0"/>
                </a:cubicBezTo>
                <a:close/>
              </a:path>
            </a:pathLst>
          </a:custGeom>
          <a:solidFill>
            <a:srgbClr val="FF6B00">
              <a:alpha val="10196"/>
            </a:srgbClr>
          </a:solidFill>
          <a:ln/>
        </p:spPr>
      </p:sp>
      <p:sp>
        <p:nvSpPr>
          <p:cNvPr id="14" name="Text 12"/>
          <p:cNvSpPr/>
          <p:nvPr/>
        </p:nvSpPr>
        <p:spPr>
          <a:xfrm>
            <a:off x="1174750" y="2603500"/>
            <a:ext cx="857250" cy="222250"/>
          </a:xfrm>
          <a:prstGeom prst="rect">
            <a:avLst/>
          </a:prstGeom>
          <a:noFill/>
          <a:ln/>
        </p:spPr>
        <p:txBody>
          <a:bodyPr wrap="square" lIns="95250" tIns="31750" rIns="95250" bIns="3175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Impact: High</a:t>
            </a:r>
            <a:endParaRPr lang="en-US" sz="1600" dirty="0"/>
          </a:p>
        </p:txBody>
      </p:sp>
      <p:sp>
        <p:nvSpPr>
          <p:cNvPr id="15" name="Shape 13"/>
          <p:cNvSpPr/>
          <p:nvPr/>
        </p:nvSpPr>
        <p:spPr>
          <a:xfrm>
            <a:off x="2038635" y="2603500"/>
            <a:ext cx="1016000" cy="222250"/>
          </a:xfrm>
          <a:custGeom>
            <a:avLst/>
            <a:gdLst/>
            <a:ahLst/>
            <a:cxnLst/>
            <a:rect l="l" t="t" r="r" b="b"/>
            <a:pathLst>
              <a:path w="1016000" h="222250">
                <a:moveTo>
                  <a:pt x="111125" y="0"/>
                </a:moveTo>
                <a:lnTo>
                  <a:pt x="904875" y="0"/>
                </a:lnTo>
                <a:cubicBezTo>
                  <a:pt x="966207" y="0"/>
                  <a:pt x="1016000" y="49793"/>
                  <a:pt x="1016000" y="111125"/>
                </a:cubicBezTo>
                <a:lnTo>
                  <a:pt x="1016000" y="111125"/>
                </a:lnTo>
                <a:cubicBezTo>
                  <a:pt x="1016000" y="172457"/>
                  <a:pt x="966207" y="222250"/>
                  <a:pt x="904875" y="222250"/>
                </a:cubicBezTo>
                <a:lnTo>
                  <a:pt x="111125" y="222250"/>
                </a:lnTo>
                <a:cubicBezTo>
                  <a:pt x="49793" y="222250"/>
                  <a:pt x="0" y="172457"/>
                  <a:pt x="0" y="111125"/>
                </a:cubicBezTo>
                <a:lnTo>
                  <a:pt x="0" y="111125"/>
                </a:lnTo>
                <a:cubicBezTo>
                  <a:pt x="0" y="49793"/>
                  <a:pt x="49793" y="0"/>
                  <a:pt x="111125" y="0"/>
                </a:cubicBezTo>
                <a:close/>
              </a:path>
            </a:pathLst>
          </a:custGeom>
          <a:solidFill>
            <a:srgbClr val="003087">
              <a:alpha val="10196"/>
            </a:srgbClr>
          </a:solidFill>
          <a:ln/>
        </p:spPr>
      </p:sp>
      <p:sp>
        <p:nvSpPr>
          <p:cNvPr id="16" name="Text 14"/>
          <p:cNvSpPr/>
          <p:nvPr/>
        </p:nvSpPr>
        <p:spPr>
          <a:xfrm>
            <a:off x="2038635" y="2603500"/>
            <a:ext cx="1071563" cy="222250"/>
          </a:xfrm>
          <a:prstGeom prst="rect">
            <a:avLst/>
          </a:prstGeom>
          <a:noFill/>
          <a:ln/>
        </p:spPr>
        <p:txBody>
          <a:bodyPr wrap="square" lIns="95250" tIns="31750" rIns="95250" bIns="3175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Complexity: High</a:t>
            </a:r>
            <a:endParaRPr lang="en-US" sz="1600" dirty="0"/>
          </a:p>
        </p:txBody>
      </p:sp>
      <p:sp>
        <p:nvSpPr>
          <p:cNvPr id="17" name="Shape 15"/>
          <p:cNvSpPr/>
          <p:nvPr/>
        </p:nvSpPr>
        <p:spPr>
          <a:xfrm>
            <a:off x="523875" y="3079750"/>
            <a:ext cx="7199313" cy="1238250"/>
          </a:xfrm>
          <a:custGeom>
            <a:avLst/>
            <a:gdLst/>
            <a:ahLst/>
            <a:cxnLst/>
            <a:rect l="l" t="t" r="r" b="b"/>
            <a:pathLst>
              <a:path w="7199313" h="1238250">
                <a:moveTo>
                  <a:pt x="31750" y="0"/>
                </a:moveTo>
                <a:lnTo>
                  <a:pt x="7104066" y="0"/>
                </a:lnTo>
                <a:cubicBezTo>
                  <a:pt x="7156669" y="0"/>
                  <a:pt x="7199313" y="42643"/>
                  <a:pt x="7199313" y="95246"/>
                </a:cubicBezTo>
                <a:lnTo>
                  <a:pt x="7199313" y="1143004"/>
                </a:lnTo>
                <a:cubicBezTo>
                  <a:pt x="7199313" y="1195607"/>
                  <a:pt x="7156669" y="1238250"/>
                  <a:pt x="7104066" y="1238250"/>
                </a:cubicBezTo>
                <a:lnTo>
                  <a:pt x="31750" y="1238250"/>
                </a:lnTo>
                <a:cubicBezTo>
                  <a:pt x="14227" y="1238250"/>
                  <a:pt x="0" y="1224023"/>
                  <a:pt x="0" y="1206500"/>
                </a:cubicBezTo>
                <a:lnTo>
                  <a:pt x="0" y="31750"/>
                </a:lnTo>
                <a:cubicBezTo>
                  <a:pt x="0" y="14227"/>
                  <a:pt x="14227" y="0"/>
                  <a:pt x="31750" y="0"/>
                </a:cubicBezTo>
                <a:close/>
              </a:path>
            </a:pathLst>
          </a:custGeom>
          <a:solidFill>
            <a:srgbClr val="FFFFFF"/>
          </a:solidFill>
          <a:ln/>
          <a:effectLst>
            <a:outerShdw blurRad="23813" dist="7938" dir="5400000" algn="bl" rotWithShape="0">
              <a:srgbClr val="000000">
                <a:alpha val="10196"/>
              </a:srgbClr>
            </a:outerShdw>
          </a:effectLst>
        </p:spPr>
      </p:sp>
      <p:sp>
        <p:nvSpPr>
          <p:cNvPr id="18" name="Shape 16"/>
          <p:cNvSpPr/>
          <p:nvPr/>
        </p:nvSpPr>
        <p:spPr>
          <a:xfrm>
            <a:off x="523875" y="3079750"/>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FF6B00"/>
          </a:solidFill>
          <a:ln/>
        </p:spPr>
      </p:sp>
      <p:sp>
        <p:nvSpPr>
          <p:cNvPr id="19" name="Shape 17"/>
          <p:cNvSpPr/>
          <p:nvPr/>
        </p:nvSpPr>
        <p:spPr>
          <a:xfrm>
            <a:off x="666750" y="32067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6B00"/>
          </a:solidFill>
          <a:ln/>
        </p:spPr>
      </p:sp>
      <p:sp>
        <p:nvSpPr>
          <p:cNvPr id="20" name="Text 18"/>
          <p:cNvSpPr/>
          <p:nvPr/>
        </p:nvSpPr>
        <p:spPr>
          <a:xfrm>
            <a:off x="627063" y="32067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2</a:t>
            </a:r>
            <a:endParaRPr lang="en-US" sz="1600" dirty="0"/>
          </a:p>
        </p:txBody>
      </p:sp>
      <p:sp>
        <p:nvSpPr>
          <p:cNvPr id="21" name="Text 19"/>
          <p:cNvSpPr/>
          <p:nvPr/>
        </p:nvSpPr>
        <p:spPr>
          <a:xfrm>
            <a:off x="1174750" y="3206750"/>
            <a:ext cx="6492875"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Excessive Manual Intervention</a:t>
            </a:r>
            <a:endParaRPr lang="en-US" sz="1600" dirty="0"/>
          </a:p>
        </p:txBody>
      </p:sp>
      <p:sp>
        <p:nvSpPr>
          <p:cNvPr id="22" name="Text 20"/>
          <p:cNvSpPr/>
          <p:nvPr/>
        </p:nvSpPr>
        <p:spPr>
          <a:xfrm>
            <a:off x="1174750" y="3492500"/>
            <a:ext cx="6484938" cy="41275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Over 60% of routine processes require manual data entry, validation, or approval, creating bottlenecks and increasing error rates. Staff time consumed by repetitive tasks limits focus on value-added activities.</a:t>
            </a:r>
            <a:endParaRPr lang="en-US" sz="1600" dirty="0"/>
          </a:p>
        </p:txBody>
      </p:sp>
      <p:sp>
        <p:nvSpPr>
          <p:cNvPr id="23" name="Shape 21"/>
          <p:cNvSpPr/>
          <p:nvPr/>
        </p:nvSpPr>
        <p:spPr>
          <a:xfrm>
            <a:off x="1174750" y="3968750"/>
            <a:ext cx="801688" cy="222250"/>
          </a:xfrm>
          <a:custGeom>
            <a:avLst/>
            <a:gdLst/>
            <a:ahLst/>
            <a:cxnLst/>
            <a:rect l="l" t="t" r="r" b="b"/>
            <a:pathLst>
              <a:path w="801688" h="222250">
                <a:moveTo>
                  <a:pt x="111125" y="0"/>
                </a:moveTo>
                <a:lnTo>
                  <a:pt x="690563" y="0"/>
                </a:lnTo>
                <a:cubicBezTo>
                  <a:pt x="751894" y="0"/>
                  <a:pt x="801688" y="49793"/>
                  <a:pt x="801688" y="111125"/>
                </a:cubicBezTo>
                <a:lnTo>
                  <a:pt x="801688" y="111125"/>
                </a:lnTo>
                <a:cubicBezTo>
                  <a:pt x="801688" y="172457"/>
                  <a:pt x="751894" y="222250"/>
                  <a:pt x="690563" y="222250"/>
                </a:cubicBezTo>
                <a:lnTo>
                  <a:pt x="111125" y="222250"/>
                </a:lnTo>
                <a:cubicBezTo>
                  <a:pt x="49793" y="222250"/>
                  <a:pt x="0" y="172457"/>
                  <a:pt x="0" y="111125"/>
                </a:cubicBezTo>
                <a:lnTo>
                  <a:pt x="0" y="111125"/>
                </a:lnTo>
                <a:cubicBezTo>
                  <a:pt x="0" y="49793"/>
                  <a:pt x="49793" y="0"/>
                  <a:pt x="111125" y="0"/>
                </a:cubicBezTo>
                <a:close/>
              </a:path>
            </a:pathLst>
          </a:custGeom>
          <a:solidFill>
            <a:srgbClr val="FF6B00">
              <a:alpha val="10196"/>
            </a:srgbClr>
          </a:solidFill>
          <a:ln/>
        </p:spPr>
      </p:sp>
      <p:sp>
        <p:nvSpPr>
          <p:cNvPr id="24" name="Text 22"/>
          <p:cNvSpPr/>
          <p:nvPr/>
        </p:nvSpPr>
        <p:spPr>
          <a:xfrm>
            <a:off x="1174750" y="3968750"/>
            <a:ext cx="857250" cy="222250"/>
          </a:xfrm>
          <a:prstGeom prst="rect">
            <a:avLst/>
          </a:prstGeom>
          <a:noFill/>
          <a:ln/>
        </p:spPr>
        <p:txBody>
          <a:bodyPr wrap="square" lIns="95250" tIns="31750" rIns="95250" bIns="3175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Impact: High</a:t>
            </a:r>
            <a:endParaRPr lang="en-US" sz="1600" dirty="0"/>
          </a:p>
        </p:txBody>
      </p:sp>
      <p:sp>
        <p:nvSpPr>
          <p:cNvPr id="25" name="Shape 23"/>
          <p:cNvSpPr/>
          <p:nvPr/>
        </p:nvSpPr>
        <p:spPr>
          <a:xfrm>
            <a:off x="2038635" y="3968750"/>
            <a:ext cx="1190625" cy="222250"/>
          </a:xfrm>
          <a:custGeom>
            <a:avLst/>
            <a:gdLst/>
            <a:ahLst/>
            <a:cxnLst/>
            <a:rect l="l" t="t" r="r" b="b"/>
            <a:pathLst>
              <a:path w="1190625" h="222250">
                <a:moveTo>
                  <a:pt x="111125" y="0"/>
                </a:moveTo>
                <a:lnTo>
                  <a:pt x="1079500" y="0"/>
                </a:lnTo>
                <a:cubicBezTo>
                  <a:pt x="1140832" y="0"/>
                  <a:pt x="1190625" y="49793"/>
                  <a:pt x="1190625" y="111125"/>
                </a:cubicBezTo>
                <a:lnTo>
                  <a:pt x="1190625" y="111125"/>
                </a:lnTo>
                <a:cubicBezTo>
                  <a:pt x="1190625" y="172457"/>
                  <a:pt x="1140832" y="222250"/>
                  <a:pt x="1079500" y="222250"/>
                </a:cubicBezTo>
                <a:lnTo>
                  <a:pt x="111125" y="222250"/>
                </a:lnTo>
                <a:cubicBezTo>
                  <a:pt x="49793" y="222250"/>
                  <a:pt x="0" y="172457"/>
                  <a:pt x="0" y="111125"/>
                </a:cubicBezTo>
                <a:lnTo>
                  <a:pt x="0" y="111125"/>
                </a:lnTo>
                <a:cubicBezTo>
                  <a:pt x="0" y="49793"/>
                  <a:pt x="49793" y="0"/>
                  <a:pt x="111125" y="0"/>
                </a:cubicBezTo>
                <a:close/>
              </a:path>
            </a:pathLst>
          </a:custGeom>
          <a:solidFill>
            <a:srgbClr val="003087">
              <a:alpha val="10196"/>
            </a:srgbClr>
          </a:solidFill>
          <a:ln/>
        </p:spPr>
      </p:sp>
      <p:sp>
        <p:nvSpPr>
          <p:cNvPr id="26" name="Text 24"/>
          <p:cNvSpPr/>
          <p:nvPr/>
        </p:nvSpPr>
        <p:spPr>
          <a:xfrm>
            <a:off x="2038635" y="3968750"/>
            <a:ext cx="1246188" cy="222250"/>
          </a:xfrm>
          <a:prstGeom prst="rect">
            <a:avLst/>
          </a:prstGeom>
          <a:noFill/>
          <a:ln/>
        </p:spPr>
        <p:txBody>
          <a:bodyPr wrap="square" lIns="95250" tIns="31750" rIns="95250" bIns="3175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Complexity: Medium</a:t>
            </a:r>
            <a:endParaRPr lang="en-US" sz="1600" dirty="0"/>
          </a:p>
        </p:txBody>
      </p:sp>
      <p:sp>
        <p:nvSpPr>
          <p:cNvPr id="27" name="Shape 25"/>
          <p:cNvSpPr/>
          <p:nvPr/>
        </p:nvSpPr>
        <p:spPr>
          <a:xfrm>
            <a:off x="523875" y="4445000"/>
            <a:ext cx="7199313" cy="1238250"/>
          </a:xfrm>
          <a:custGeom>
            <a:avLst/>
            <a:gdLst/>
            <a:ahLst/>
            <a:cxnLst/>
            <a:rect l="l" t="t" r="r" b="b"/>
            <a:pathLst>
              <a:path w="7199313" h="1238250">
                <a:moveTo>
                  <a:pt x="31750" y="0"/>
                </a:moveTo>
                <a:lnTo>
                  <a:pt x="7104066" y="0"/>
                </a:lnTo>
                <a:cubicBezTo>
                  <a:pt x="7156669" y="0"/>
                  <a:pt x="7199313" y="42643"/>
                  <a:pt x="7199313" y="95246"/>
                </a:cubicBezTo>
                <a:lnTo>
                  <a:pt x="7199313" y="1143004"/>
                </a:lnTo>
                <a:cubicBezTo>
                  <a:pt x="7199313" y="1195607"/>
                  <a:pt x="7156669" y="1238250"/>
                  <a:pt x="7104066" y="1238250"/>
                </a:cubicBezTo>
                <a:lnTo>
                  <a:pt x="31750" y="1238250"/>
                </a:lnTo>
                <a:cubicBezTo>
                  <a:pt x="14227" y="1238250"/>
                  <a:pt x="0" y="1224023"/>
                  <a:pt x="0" y="1206500"/>
                </a:cubicBezTo>
                <a:lnTo>
                  <a:pt x="0" y="31750"/>
                </a:lnTo>
                <a:cubicBezTo>
                  <a:pt x="0" y="14227"/>
                  <a:pt x="14227" y="0"/>
                  <a:pt x="31750" y="0"/>
                </a:cubicBezTo>
                <a:close/>
              </a:path>
            </a:pathLst>
          </a:custGeom>
          <a:solidFill>
            <a:srgbClr val="FFFFFF"/>
          </a:solidFill>
          <a:ln/>
          <a:effectLst>
            <a:outerShdw blurRad="23813" dist="7938" dir="5400000" algn="bl" rotWithShape="0">
              <a:srgbClr val="000000">
                <a:alpha val="10196"/>
              </a:srgbClr>
            </a:outerShdw>
          </a:effectLst>
        </p:spPr>
      </p:sp>
      <p:sp>
        <p:nvSpPr>
          <p:cNvPr id="28" name="Shape 26"/>
          <p:cNvSpPr/>
          <p:nvPr/>
        </p:nvSpPr>
        <p:spPr>
          <a:xfrm>
            <a:off x="523875" y="4445000"/>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003087"/>
          </a:solidFill>
          <a:ln/>
        </p:spPr>
      </p:sp>
      <p:sp>
        <p:nvSpPr>
          <p:cNvPr id="29" name="Shape 27"/>
          <p:cNvSpPr/>
          <p:nvPr/>
        </p:nvSpPr>
        <p:spPr>
          <a:xfrm>
            <a:off x="66675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3087"/>
          </a:solidFill>
          <a:ln/>
        </p:spPr>
      </p:sp>
      <p:sp>
        <p:nvSpPr>
          <p:cNvPr id="30" name="Text 28"/>
          <p:cNvSpPr/>
          <p:nvPr/>
        </p:nvSpPr>
        <p:spPr>
          <a:xfrm>
            <a:off x="627063" y="457200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3</a:t>
            </a:r>
            <a:endParaRPr lang="en-US" sz="1600" dirty="0"/>
          </a:p>
        </p:txBody>
      </p:sp>
      <p:sp>
        <p:nvSpPr>
          <p:cNvPr id="31" name="Text 29"/>
          <p:cNvSpPr/>
          <p:nvPr/>
        </p:nvSpPr>
        <p:spPr>
          <a:xfrm>
            <a:off x="1174750" y="4572000"/>
            <a:ext cx="6492875"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Critical Skills Gap</a:t>
            </a:r>
            <a:endParaRPr lang="en-US" sz="1600" dirty="0"/>
          </a:p>
        </p:txBody>
      </p:sp>
      <p:sp>
        <p:nvSpPr>
          <p:cNvPr id="32" name="Text 30"/>
          <p:cNvSpPr/>
          <p:nvPr/>
        </p:nvSpPr>
        <p:spPr>
          <a:xfrm>
            <a:off x="1174750" y="4857750"/>
            <a:ext cx="6484938" cy="412750"/>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Shortage of professionals with expertise in AI, machine learning, data science, and automation technologies. Limited internal capability to design, implement, and maintain digital transformation initiatives.</a:t>
            </a:r>
            <a:endParaRPr lang="en-US" sz="1600" dirty="0"/>
          </a:p>
        </p:txBody>
      </p:sp>
      <p:sp>
        <p:nvSpPr>
          <p:cNvPr id="33" name="Shape 31"/>
          <p:cNvSpPr/>
          <p:nvPr/>
        </p:nvSpPr>
        <p:spPr>
          <a:xfrm>
            <a:off x="1174750" y="5334000"/>
            <a:ext cx="976312" cy="222250"/>
          </a:xfrm>
          <a:custGeom>
            <a:avLst/>
            <a:gdLst/>
            <a:ahLst/>
            <a:cxnLst/>
            <a:rect l="l" t="t" r="r" b="b"/>
            <a:pathLst>
              <a:path w="976312" h="222250">
                <a:moveTo>
                  <a:pt x="111125" y="0"/>
                </a:moveTo>
                <a:lnTo>
                  <a:pt x="865188" y="0"/>
                </a:lnTo>
                <a:cubicBezTo>
                  <a:pt x="926519" y="0"/>
                  <a:pt x="976312" y="49793"/>
                  <a:pt x="976312" y="111125"/>
                </a:cubicBezTo>
                <a:lnTo>
                  <a:pt x="976312" y="111125"/>
                </a:lnTo>
                <a:cubicBezTo>
                  <a:pt x="976312" y="172457"/>
                  <a:pt x="926519" y="222250"/>
                  <a:pt x="865188" y="222250"/>
                </a:cubicBezTo>
                <a:lnTo>
                  <a:pt x="111125" y="222250"/>
                </a:lnTo>
                <a:cubicBezTo>
                  <a:pt x="49793" y="222250"/>
                  <a:pt x="0" y="172457"/>
                  <a:pt x="0" y="111125"/>
                </a:cubicBezTo>
                <a:lnTo>
                  <a:pt x="0" y="111125"/>
                </a:lnTo>
                <a:cubicBezTo>
                  <a:pt x="0" y="49793"/>
                  <a:pt x="49793" y="0"/>
                  <a:pt x="111125" y="0"/>
                </a:cubicBezTo>
                <a:close/>
              </a:path>
            </a:pathLst>
          </a:custGeom>
          <a:solidFill>
            <a:srgbClr val="FF6B00">
              <a:alpha val="10196"/>
            </a:srgbClr>
          </a:solidFill>
          <a:ln/>
        </p:spPr>
      </p:sp>
      <p:sp>
        <p:nvSpPr>
          <p:cNvPr id="34" name="Text 32"/>
          <p:cNvSpPr/>
          <p:nvPr/>
        </p:nvSpPr>
        <p:spPr>
          <a:xfrm>
            <a:off x="1174750" y="5334000"/>
            <a:ext cx="1031875" cy="222250"/>
          </a:xfrm>
          <a:prstGeom prst="rect">
            <a:avLst/>
          </a:prstGeom>
          <a:noFill/>
          <a:ln/>
        </p:spPr>
        <p:txBody>
          <a:bodyPr wrap="square" lIns="95250" tIns="31750" rIns="95250" bIns="3175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Impact: Medium</a:t>
            </a:r>
            <a:endParaRPr lang="en-US" sz="1600" dirty="0"/>
          </a:p>
        </p:txBody>
      </p:sp>
      <p:sp>
        <p:nvSpPr>
          <p:cNvPr id="35" name="Shape 33"/>
          <p:cNvSpPr/>
          <p:nvPr/>
        </p:nvSpPr>
        <p:spPr>
          <a:xfrm>
            <a:off x="2214314" y="5334000"/>
            <a:ext cx="1016000" cy="222250"/>
          </a:xfrm>
          <a:custGeom>
            <a:avLst/>
            <a:gdLst/>
            <a:ahLst/>
            <a:cxnLst/>
            <a:rect l="l" t="t" r="r" b="b"/>
            <a:pathLst>
              <a:path w="1016000" h="222250">
                <a:moveTo>
                  <a:pt x="111125" y="0"/>
                </a:moveTo>
                <a:lnTo>
                  <a:pt x="904875" y="0"/>
                </a:lnTo>
                <a:cubicBezTo>
                  <a:pt x="966207" y="0"/>
                  <a:pt x="1016000" y="49793"/>
                  <a:pt x="1016000" y="111125"/>
                </a:cubicBezTo>
                <a:lnTo>
                  <a:pt x="1016000" y="111125"/>
                </a:lnTo>
                <a:cubicBezTo>
                  <a:pt x="1016000" y="172457"/>
                  <a:pt x="966207" y="222250"/>
                  <a:pt x="904875" y="222250"/>
                </a:cubicBezTo>
                <a:lnTo>
                  <a:pt x="111125" y="222250"/>
                </a:lnTo>
                <a:cubicBezTo>
                  <a:pt x="49793" y="222250"/>
                  <a:pt x="0" y="172457"/>
                  <a:pt x="0" y="111125"/>
                </a:cubicBezTo>
                <a:lnTo>
                  <a:pt x="0" y="111125"/>
                </a:lnTo>
                <a:cubicBezTo>
                  <a:pt x="0" y="49793"/>
                  <a:pt x="49793" y="0"/>
                  <a:pt x="111125" y="0"/>
                </a:cubicBezTo>
                <a:close/>
              </a:path>
            </a:pathLst>
          </a:custGeom>
          <a:solidFill>
            <a:srgbClr val="003087">
              <a:alpha val="10196"/>
            </a:srgbClr>
          </a:solidFill>
          <a:ln/>
        </p:spPr>
      </p:sp>
      <p:sp>
        <p:nvSpPr>
          <p:cNvPr id="36" name="Text 34"/>
          <p:cNvSpPr/>
          <p:nvPr/>
        </p:nvSpPr>
        <p:spPr>
          <a:xfrm>
            <a:off x="2214314" y="5334000"/>
            <a:ext cx="1071563" cy="222250"/>
          </a:xfrm>
          <a:prstGeom prst="rect">
            <a:avLst/>
          </a:prstGeom>
          <a:noFill/>
          <a:ln/>
        </p:spPr>
        <p:txBody>
          <a:bodyPr wrap="square" lIns="95250" tIns="31750" rIns="95250" bIns="3175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Complexity: High</a:t>
            </a:r>
            <a:endParaRPr lang="en-US" sz="1600" dirty="0"/>
          </a:p>
        </p:txBody>
      </p:sp>
      <p:sp>
        <p:nvSpPr>
          <p:cNvPr id="37" name="Shape 35"/>
          <p:cNvSpPr/>
          <p:nvPr/>
        </p:nvSpPr>
        <p:spPr>
          <a:xfrm>
            <a:off x="8075104" y="1143000"/>
            <a:ext cx="3802062" cy="2127250"/>
          </a:xfrm>
          <a:custGeom>
            <a:avLst/>
            <a:gdLst/>
            <a:ahLst/>
            <a:cxnLst/>
            <a:rect l="l" t="t" r="r" b="b"/>
            <a:pathLst>
              <a:path w="3802062" h="2127250">
                <a:moveTo>
                  <a:pt x="95258" y="0"/>
                </a:moveTo>
                <a:lnTo>
                  <a:pt x="3706804" y="0"/>
                </a:lnTo>
                <a:cubicBezTo>
                  <a:pt x="3759414" y="0"/>
                  <a:pt x="3802063" y="42649"/>
                  <a:pt x="3802063" y="95258"/>
                </a:cubicBezTo>
                <a:lnTo>
                  <a:pt x="3802062" y="2031992"/>
                </a:lnTo>
                <a:cubicBezTo>
                  <a:pt x="3802063" y="2084601"/>
                  <a:pt x="3759414" y="2127250"/>
                  <a:pt x="3706804" y="2127250"/>
                </a:cubicBezTo>
                <a:lnTo>
                  <a:pt x="95258" y="2127250"/>
                </a:lnTo>
                <a:cubicBezTo>
                  <a:pt x="42649" y="2127250"/>
                  <a:pt x="0" y="2084601"/>
                  <a:pt x="0" y="2031992"/>
                </a:cubicBezTo>
                <a:lnTo>
                  <a:pt x="0" y="95258"/>
                </a:lnTo>
                <a:cubicBezTo>
                  <a:pt x="0" y="42684"/>
                  <a:pt x="42684" y="0"/>
                  <a:pt x="95258" y="0"/>
                </a:cubicBezTo>
                <a:close/>
              </a:path>
            </a:pathLst>
          </a:custGeom>
          <a:gradFill flip="none" rotWithShape="1">
            <a:gsLst>
              <a:gs pos="0">
                <a:srgbClr val="003087"/>
              </a:gs>
              <a:gs pos="100000">
                <a:srgbClr val="003087">
                  <a:alpha val="90000"/>
                </a:srgbClr>
              </a:gs>
            </a:gsLst>
            <a:lin ang="2700000" scaled="1"/>
          </a:gradFill>
          <a:ln/>
        </p:spPr>
      </p:sp>
      <p:sp>
        <p:nvSpPr>
          <p:cNvPr id="38" name="Shape 36"/>
          <p:cNvSpPr/>
          <p:nvPr/>
        </p:nvSpPr>
        <p:spPr>
          <a:xfrm>
            <a:off x="8233854" y="13017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6B00"/>
          </a:solidFill>
          <a:ln/>
        </p:spPr>
      </p:sp>
      <p:sp>
        <p:nvSpPr>
          <p:cNvPr id="39" name="Text 37"/>
          <p:cNvSpPr/>
          <p:nvPr/>
        </p:nvSpPr>
        <p:spPr>
          <a:xfrm>
            <a:off x="8194167" y="13017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4</a:t>
            </a:r>
            <a:endParaRPr lang="en-US" sz="1600" dirty="0"/>
          </a:p>
        </p:txBody>
      </p:sp>
      <p:sp>
        <p:nvSpPr>
          <p:cNvPr id="40" name="Text 38"/>
          <p:cNvSpPr/>
          <p:nvPr/>
        </p:nvSpPr>
        <p:spPr>
          <a:xfrm>
            <a:off x="8233854" y="1778000"/>
            <a:ext cx="3556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Insufficient Performance Metrics</a:t>
            </a:r>
            <a:endParaRPr lang="en-US" sz="1600" dirty="0"/>
          </a:p>
        </p:txBody>
      </p:sp>
      <p:sp>
        <p:nvSpPr>
          <p:cNvPr id="41" name="Text 39"/>
          <p:cNvSpPr/>
          <p:nvPr/>
        </p:nvSpPr>
        <p:spPr>
          <a:xfrm>
            <a:off x="8233854" y="2063750"/>
            <a:ext cx="3548063" cy="412750"/>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Quattrocento Sans" pitchFamily="34" charset="0"/>
                <a:ea typeface="Quattrocento Sans" pitchFamily="34" charset="-122"/>
                <a:cs typeface="Quattrocento Sans" pitchFamily="34" charset="-120"/>
              </a:rPr>
              <a:t>Lack of standardized KPIs to measure transformation success and operational efficiency improvements.</a:t>
            </a:r>
            <a:endParaRPr lang="en-US" sz="1600" dirty="0"/>
          </a:p>
        </p:txBody>
      </p:sp>
      <p:sp>
        <p:nvSpPr>
          <p:cNvPr id="42" name="Shape 40"/>
          <p:cNvSpPr/>
          <p:nvPr/>
        </p:nvSpPr>
        <p:spPr>
          <a:xfrm>
            <a:off x="8233854" y="2571750"/>
            <a:ext cx="3484563" cy="539750"/>
          </a:xfrm>
          <a:custGeom>
            <a:avLst/>
            <a:gdLst/>
            <a:ahLst/>
            <a:cxnLst/>
            <a:rect l="l" t="t" r="r" b="b"/>
            <a:pathLst>
              <a:path w="3484563" h="539750">
                <a:moveTo>
                  <a:pt x="63502" y="0"/>
                </a:moveTo>
                <a:lnTo>
                  <a:pt x="3421061" y="0"/>
                </a:lnTo>
                <a:cubicBezTo>
                  <a:pt x="3456132" y="0"/>
                  <a:pt x="3484563" y="28431"/>
                  <a:pt x="3484563" y="63502"/>
                </a:cubicBezTo>
                <a:lnTo>
                  <a:pt x="3484563" y="476248"/>
                </a:lnTo>
                <a:cubicBezTo>
                  <a:pt x="3484562" y="511319"/>
                  <a:pt x="3456132" y="539750"/>
                  <a:pt x="3421061" y="539750"/>
                </a:cubicBezTo>
                <a:lnTo>
                  <a:pt x="63502" y="539750"/>
                </a:lnTo>
                <a:cubicBezTo>
                  <a:pt x="28431" y="539750"/>
                  <a:pt x="0" y="511319"/>
                  <a:pt x="0" y="476248"/>
                </a:cubicBezTo>
                <a:lnTo>
                  <a:pt x="0" y="63502"/>
                </a:lnTo>
                <a:cubicBezTo>
                  <a:pt x="0" y="28454"/>
                  <a:pt x="28454" y="0"/>
                  <a:pt x="63502" y="0"/>
                </a:cubicBezTo>
                <a:close/>
              </a:path>
            </a:pathLst>
          </a:custGeom>
          <a:solidFill>
            <a:srgbClr val="FFFFFF">
              <a:alpha val="10196"/>
            </a:srgbClr>
          </a:solidFill>
          <a:ln/>
        </p:spPr>
      </p:sp>
      <p:sp>
        <p:nvSpPr>
          <p:cNvPr id="43" name="Text 41"/>
          <p:cNvSpPr/>
          <p:nvPr/>
        </p:nvSpPr>
        <p:spPr>
          <a:xfrm>
            <a:off x="8329104" y="2667000"/>
            <a:ext cx="33496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Quattrocento Sans" pitchFamily="34" charset="0"/>
                <a:ea typeface="Quattrocento Sans" pitchFamily="34" charset="-122"/>
                <a:cs typeface="Quattrocento Sans" pitchFamily="34" charset="-120"/>
              </a:rPr>
              <a:t>Evidence</a:t>
            </a:r>
            <a:endParaRPr lang="en-US" sz="1600" dirty="0"/>
          </a:p>
        </p:txBody>
      </p:sp>
      <p:sp>
        <p:nvSpPr>
          <p:cNvPr id="44" name="Text 42"/>
          <p:cNvSpPr/>
          <p:nvPr/>
        </p:nvSpPr>
        <p:spPr>
          <a:xfrm>
            <a:off x="8329104" y="2857500"/>
            <a:ext cx="3349625"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Quattrocento Sans" pitchFamily="34" charset="0"/>
                <a:ea typeface="Quattrocento Sans" pitchFamily="34" charset="-122"/>
                <a:cs typeface="Quattrocento Sans" pitchFamily="34" charset="-120"/>
              </a:rPr>
              <a:t>Limited visibility into process-level performance and ROI tracking</a:t>
            </a:r>
            <a:endParaRPr lang="en-US" sz="1600" dirty="0"/>
          </a:p>
        </p:txBody>
      </p:sp>
      <p:sp>
        <p:nvSpPr>
          <p:cNvPr id="45" name="Shape 43"/>
          <p:cNvSpPr/>
          <p:nvPr/>
        </p:nvSpPr>
        <p:spPr>
          <a:xfrm>
            <a:off x="8075104" y="3397250"/>
            <a:ext cx="3802062" cy="2286000"/>
          </a:xfrm>
          <a:custGeom>
            <a:avLst/>
            <a:gdLst/>
            <a:ahLst/>
            <a:cxnLst/>
            <a:rect l="l" t="t" r="r" b="b"/>
            <a:pathLst>
              <a:path w="3802062" h="2286000">
                <a:moveTo>
                  <a:pt x="95258" y="0"/>
                </a:moveTo>
                <a:lnTo>
                  <a:pt x="3706805" y="0"/>
                </a:lnTo>
                <a:cubicBezTo>
                  <a:pt x="3759414" y="0"/>
                  <a:pt x="3802062" y="42648"/>
                  <a:pt x="3802062" y="95258"/>
                </a:cubicBezTo>
                <a:lnTo>
                  <a:pt x="3802062" y="2190742"/>
                </a:lnTo>
                <a:cubicBezTo>
                  <a:pt x="3802062" y="2243352"/>
                  <a:pt x="3759414" y="2286000"/>
                  <a:pt x="3706805" y="2286000"/>
                </a:cubicBezTo>
                <a:lnTo>
                  <a:pt x="95258" y="2286000"/>
                </a:lnTo>
                <a:cubicBezTo>
                  <a:pt x="42648" y="2286000"/>
                  <a:pt x="0" y="2243352"/>
                  <a:pt x="0" y="2190742"/>
                </a:cubicBezTo>
                <a:lnTo>
                  <a:pt x="0" y="95258"/>
                </a:lnTo>
                <a:cubicBezTo>
                  <a:pt x="0" y="42684"/>
                  <a:pt x="42684" y="0"/>
                  <a:pt x="95258" y="0"/>
                </a:cubicBezTo>
                <a:close/>
              </a:path>
            </a:pathLst>
          </a:custGeom>
          <a:gradFill flip="none" rotWithShape="1">
            <a:gsLst>
              <a:gs pos="0">
                <a:srgbClr val="FF6B00"/>
              </a:gs>
              <a:gs pos="100000">
                <a:srgbClr val="FF6B00">
                  <a:alpha val="80000"/>
                </a:srgbClr>
              </a:gs>
            </a:gsLst>
            <a:lin ang="2700000" scaled="1"/>
          </a:gradFill>
          <a:ln/>
        </p:spPr>
      </p:sp>
      <p:sp>
        <p:nvSpPr>
          <p:cNvPr id="46" name="Shape 44"/>
          <p:cNvSpPr/>
          <p:nvPr/>
        </p:nvSpPr>
        <p:spPr>
          <a:xfrm>
            <a:off x="8233854" y="3556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3087"/>
          </a:solidFill>
          <a:ln/>
        </p:spPr>
      </p:sp>
      <p:sp>
        <p:nvSpPr>
          <p:cNvPr id="47" name="Text 45"/>
          <p:cNvSpPr/>
          <p:nvPr/>
        </p:nvSpPr>
        <p:spPr>
          <a:xfrm>
            <a:off x="8194167" y="355600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5</a:t>
            </a:r>
            <a:endParaRPr lang="en-US" sz="1600" dirty="0"/>
          </a:p>
        </p:txBody>
      </p:sp>
      <p:sp>
        <p:nvSpPr>
          <p:cNvPr id="48" name="Text 46"/>
          <p:cNvSpPr/>
          <p:nvPr/>
        </p:nvSpPr>
        <p:spPr>
          <a:xfrm>
            <a:off x="8233854" y="4032250"/>
            <a:ext cx="3556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Organizational Change Resistance</a:t>
            </a:r>
            <a:endParaRPr lang="en-US" sz="1600" dirty="0"/>
          </a:p>
        </p:txBody>
      </p:sp>
      <p:sp>
        <p:nvSpPr>
          <p:cNvPr id="49" name="Text 47"/>
          <p:cNvSpPr/>
          <p:nvPr/>
        </p:nvSpPr>
        <p:spPr>
          <a:xfrm>
            <a:off x="8233854" y="4318000"/>
            <a:ext cx="3548063" cy="412750"/>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Quattrocento Sans" pitchFamily="34" charset="0"/>
                <a:ea typeface="Quattrocento Sans" pitchFamily="34" charset="-122"/>
                <a:cs typeface="Quattrocento Sans" pitchFamily="34" charset="-120"/>
              </a:rPr>
              <a:t>Staff reluctance to adopt new digital tools due to inadequate communication, training, and change management support.</a:t>
            </a:r>
            <a:endParaRPr lang="en-US" sz="1600" dirty="0"/>
          </a:p>
        </p:txBody>
      </p:sp>
      <p:sp>
        <p:nvSpPr>
          <p:cNvPr id="50" name="Shape 48"/>
          <p:cNvSpPr/>
          <p:nvPr/>
        </p:nvSpPr>
        <p:spPr>
          <a:xfrm>
            <a:off x="8233854" y="4826000"/>
            <a:ext cx="3484563" cy="698500"/>
          </a:xfrm>
          <a:custGeom>
            <a:avLst/>
            <a:gdLst/>
            <a:ahLst/>
            <a:cxnLst/>
            <a:rect l="l" t="t" r="r" b="b"/>
            <a:pathLst>
              <a:path w="3484563" h="698500">
                <a:moveTo>
                  <a:pt x="63501" y="0"/>
                </a:moveTo>
                <a:lnTo>
                  <a:pt x="3421062" y="0"/>
                </a:lnTo>
                <a:cubicBezTo>
                  <a:pt x="3456132" y="0"/>
                  <a:pt x="3484563" y="28430"/>
                  <a:pt x="3484563" y="63501"/>
                </a:cubicBezTo>
                <a:lnTo>
                  <a:pt x="3484563" y="634999"/>
                </a:lnTo>
                <a:cubicBezTo>
                  <a:pt x="3484563" y="670070"/>
                  <a:pt x="3456132" y="698500"/>
                  <a:pt x="3421062" y="698500"/>
                </a:cubicBezTo>
                <a:lnTo>
                  <a:pt x="63501" y="698500"/>
                </a:lnTo>
                <a:cubicBezTo>
                  <a:pt x="28430" y="698500"/>
                  <a:pt x="0" y="670070"/>
                  <a:pt x="0" y="634999"/>
                </a:cubicBezTo>
                <a:lnTo>
                  <a:pt x="0" y="63501"/>
                </a:lnTo>
                <a:cubicBezTo>
                  <a:pt x="0" y="28430"/>
                  <a:pt x="28430" y="0"/>
                  <a:pt x="63501" y="0"/>
                </a:cubicBezTo>
                <a:close/>
              </a:path>
            </a:pathLst>
          </a:custGeom>
          <a:solidFill>
            <a:srgbClr val="FFFFFF">
              <a:alpha val="10196"/>
            </a:srgbClr>
          </a:solidFill>
          <a:ln/>
        </p:spPr>
      </p:sp>
      <p:sp>
        <p:nvSpPr>
          <p:cNvPr id="51" name="Text 49"/>
          <p:cNvSpPr/>
          <p:nvPr/>
        </p:nvSpPr>
        <p:spPr>
          <a:xfrm>
            <a:off x="8329104" y="4921250"/>
            <a:ext cx="33496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Quattrocento Sans" pitchFamily="34" charset="0"/>
                <a:ea typeface="Quattrocento Sans" pitchFamily="34" charset="-122"/>
                <a:cs typeface="Quattrocento Sans" pitchFamily="34" charset="-120"/>
              </a:rPr>
              <a:t>Evidence</a:t>
            </a:r>
            <a:endParaRPr lang="en-US" sz="1600" dirty="0"/>
          </a:p>
        </p:txBody>
      </p:sp>
      <p:sp>
        <p:nvSpPr>
          <p:cNvPr id="52" name="Text 50"/>
          <p:cNvSpPr/>
          <p:nvPr/>
        </p:nvSpPr>
        <p:spPr>
          <a:xfrm>
            <a:off x="8329104" y="5111750"/>
            <a:ext cx="3349625" cy="317500"/>
          </a:xfrm>
          <a:prstGeom prst="rect">
            <a:avLst/>
          </a:prstGeom>
          <a:noFill/>
          <a:ln/>
        </p:spPr>
        <p:txBody>
          <a:bodyPr wrap="square" lIns="0" tIns="0" rIns="0" bIns="0" rtlCol="0" anchor="ctr"/>
          <a:lstStyle/>
          <a:p>
            <a:pPr>
              <a:lnSpc>
                <a:spcPct val="120000"/>
              </a:lnSpc>
            </a:pPr>
            <a:r>
              <a:rPr lang="en-US" sz="875" dirty="0">
                <a:solidFill>
                  <a:srgbClr val="FFFFFF"/>
                </a:solidFill>
                <a:latin typeface="Quattrocento Sans" pitchFamily="34" charset="0"/>
                <a:ea typeface="Quattrocento Sans" pitchFamily="34" charset="-122"/>
                <a:cs typeface="Quattrocento Sans" pitchFamily="34" charset="-120"/>
              </a:rPr>
              <a:t>Low adoption rates for new systems, feedback from employee surveys</a:t>
            </a:r>
            <a:endParaRPr lang="en-US" sz="1600" dirty="0"/>
          </a:p>
        </p:txBody>
      </p:sp>
      <p:sp>
        <p:nvSpPr>
          <p:cNvPr id="53" name="Shape 51"/>
          <p:cNvSpPr/>
          <p:nvPr/>
        </p:nvSpPr>
        <p:spPr>
          <a:xfrm>
            <a:off x="8083042" y="5818188"/>
            <a:ext cx="3786188" cy="1143000"/>
          </a:xfrm>
          <a:custGeom>
            <a:avLst/>
            <a:gdLst/>
            <a:ahLst/>
            <a:cxnLst/>
            <a:rect l="l" t="t" r="r" b="b"/>
            <a:pathLst>
              <a:path w="3786188" h="1143000">
                <a:moveTo>
                  <a:pt x="95246" y="0"/>
                </a:moveTo>
                <a:lnTo>
                  <a:pt x="3690941" y="0"/>
                </a:lnTo>
                <a:cubicBezTo>
                  <a:pt x="3743544" y="0"/>
                  <a:pt x="3786188" y="42643"/>
                  <a:pt x="3786188" y="95246"/>
                </a:cubicBezTo>
                <a:lnTo>
                  <a:pt x="3786188" y="1047754"/>
                </a:lnTo>
                <a:cubicBezTo>
                  <a:pt x="3786188" y="1100357"/>
                  <a:pt x="3743544" y="1143000"/>
                  <a:pt x="3690941" y="1143000"/>
                </a:cubicBezTo>
                <a:lnTo>
                  <a:pt x="95246" y="1143000"/>
                </a:lnTo>
                <a:cubicBezTo>
                  <a:pt x="42643" y="1143000"/>
                  <a:pt x="0" y="1100357"/>
                  <a:pt x="0" y="1047754"/>
                </a:cubicBezTo>
                <a:lnTo>
                  <a:pt x="0" y="95246"/>
                </a:lnTo>
                <a:cubicBezTo>
                  <a:pt x="0" y="42643"/>
                  <a:pt x="42643" y="0"/>
                  <a:pt x="95246" y="0"/>
                </a:cubicBezTo>
                <a:close/>
              </a:path>
            </a:pathLst>
          </a:custGeom>
          <a:solidFill>
            <a:srgbClr val="D4AF37">
              <a:alpha val="10196"/>
            </a:srgbClr>
          </a:solidFill>
          <a:ln w="25400">
            <a:solidFill>
              <a:srgbClr val="D4AF37"/>
            </a:solidFill>
            <a:prstDash val="solid"/>
          </a:ln>
        </p:spPr>
      </p:sp>
      <p:sp>
        <p:nvSpPr>
          <p:cNvPr id="54" name="Shape 52"/>
          <p:cNvSpPr/>
          <p:nvPr/>
        </p:nvSpPr>
        <p:spPr>
          <a:xfrm>
            <a:off x="8249729" y="5984875"/>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D4AF37"/>
          </a:solidFill>
          <a:ln/>
        </p:spPr>
      </p:sp>
      <p:sp>
        <p:nvSpPr>
          <p:cNvPr id="55" name="Text 53"/>
          <p:cNvSpPr/>
          <p:nvPr/>
        </p:nvSpPr>
        <p:spPr>
          <a:xfrm>
            <a:off x="8376729" y="5953125"/>
            <a:ext cx="3421063" cy="190500"/>
          </a:xfrm>
          <a:prstGeom prst="rect">
            <a:avLst/>
          </a:prstGeom>
          <a:noFill/>
          <a:ln/>
        </p:spPr>
        <p:txBody>
          <a:bodyPr wrap="square" lIns="0" tIns="0" rIns="0" bIns="0" rtlCol="0" anchor="ctr"/>
          <a:lstStyle/>
          <a:p>
            <a:pPr>
              <a:lnSpc>
                <a:spcPct val="130000"/>
              </a:lnSpc>
            </a:pPr>
            <a:r>
              <a:rPr lang="en-US" sz="1000" b="1" dirty="0">
                <a:solidFill>
                  <a:srgbClr val="003087"/>
                </a:solidFill>
                <a:latin typeface="Liter" pitchFamily="34" charset="0"/>
                <a:ea typeface="Liter" pitchFamily="34" charset="-122"/>
                <a:cs typeface="Liter" pitchFamily="34" charset="-120"/>
              </a:rPr>
              <a:t>Key Insight</a:t>
            </a:r>
            <a:endParaRPr lang="en-US" sz="1600" dirty="0"/>
          </a:p>
        </p:txBody>
      </p:sp>
      <p:sp>
        <p:nvSpPr>
          <p:cNvPr id="56" name="Text 54"/>
          <p:cNvSpPr/>
          <p:nvPr/>
        </p:nvSpPr>
        <p:spPr>
          <a:xfrm>
            <a:off x="8217979" y="6207125"/>
            <a:ext cx="3579813" cy="619125"/>
          </a:xfrm>
          <a:prstGeom prst="rect">
            <a:avLst/>
          </a:prstGeom>
          <a:noFill/>
          <a:ln/>
        </p:spPr>
        <p:txBody>
          <a:bodyPr wrap="square" lIns="0" tIns="0" rIns="0" bIns="0" rtlCol="0" anchor="ctr"/>
          <a:lstStyle/>
          <a:p>
            <a:pPr>
              <a:lnSpc>
                <a:spcPct val="140000"/>
              </a:lnSpc>
            </a:pPr>
            <a:r>
              <a:rPr lang="en-US" sz="1000" dirty="0">
                <a:solidFill>
                  <a:srgbClr val="1A1A1A">
                    <a:alpha val="80000"/>
                  </a:srgbClr>
                </a:solidFill>
                <a:latin typeface="Quattrocento Sans" pitchFamily="34" charset="0"/>
                <a:ea typeface="Quattrocento Sans" pitchFamily="34" charset="-122"/>
                <a:cs typeface="Quattrocento Sans" pitchFamily="34" charset="-120"/>
              </a:rPr>
              <a:t>These interconnected issues create a </a:t>
            </a:r>
            <a:r>
              <a:rPr lang="en-US" sz="1000" b="1" dirty="0">
                <a:solidFill>
                  <a:srgbClr val="003087"/>
                </a:solidFill>
                <a:latin typeface="Quattrocento Sans" pitchFamily="34" charset="0"/>
                <a:ea typeface="Quattrocento Sans" pitchFamily="34" charset="-122"/>
                <a:cs typeface="Quattrocento Sans" pitchFamily="34" charset="-120"/>
              </a:rPr>
              <a:t>compound effect</a:t>
            </a:r>
            <a:r>
              <a:rPr lang="en-US" sz="1000" dirty="0">
                <a:solidFill>
                  <a:srgbClr val="1A1A1A">
                    <a:alpha val="80000"/>
                  </a:srgbClr>
                </a:solidFill>
                <a:latin typeface="Quattrocento Sans" pitchFamily="34" charset="0"/>
                <a:ea typeface="Quattrocento Sans" pitchFamily="34" charset="-122"/>
                <a:cs typeface="Quattrocento Sans" pitchFamily="34" charset="-120"/>
              </a:rPr>
              <a:t>, where each problem amplifies others. Addressing them requires a holistic, integrated approach rather than isolated fixes.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8954" y="318954"/>
            <a:ext cx="11609910" cy="159477"/>
          </a:xfrm>
          <a:prstGeom prst="rect">
            <a:avLst/>
          </a:prstGeom>
          <a:noFill/>
          <a:ln/>
        </p:spPr>
        <p:txBody>
          <a:bodyPr wrap="square" lIns="0" tIns="0" rIns="0" bIns="0" rtlCol="0" anchor="ctr"/>
          <a:lstStyle/>
          <a:p>
            <a:pPr>
              <a:lnSpc>
                <a:spcPct val="120000"/>
              </a:lnSpc>
            </a:pPr>
            <a:r>
              <a:rPr lang="en-US" sz="879" b="1" kern="0" spc="44" dirty="0">
                <a:solidFill>
                  <a:srgbClr val="FF6B00"/>
                </a:solidFill>
                <a:latin typeface="Liter" pitchFamily="34" charset="0"/>
                <a:ea typeface="Liter" pitchFamily="34" charset="-122"/>
                <a:cs typeface="Liter" pitchFamily="34" charset="-120"/>
              </a:rPr>
              <a:t>04 | INNOVATION OPPORTUNITIES</a:t>
            </a:r>
            <a:endParaRPr lang="en-US" sz="1600" dirty="0"/>
          </a:p>
        </p:txBody>
      </p:sp>
      <p:sp>
        <p:nvSpPr>
          <p:cNvPr id="3" name="Text 1"/>
          <p:cNvSpPr/>
          <p:nvPr/>
        </p:nvSpPr>
        <p:spPr>
          <a:xfrm>
            <a:off x="318954" y="542221"/>
            <a:ext cx="11697622" cy="318954"/>
          </a:xfrm>
          <a:prstGeom prst="rect">
            <a:avLst/>
          </a:prstGeom>
          <a:noFill/>
          <a:ln/>
        </p:spPr>
        <p:txBody>
          <a:bodyPr wrap="square" lIns="0" tIns="0" rIns="0" bIns="0" rtlCol="0" anchor="ctr"/>
          <a:lstStyle/>
          <a:p>
            <a:pPr>
              <a:lnSpc>
                <a:spcPct val="90000"/>
              </a:lnSpc>
            </a:pPr>
            <a:r>
              <a:rPr lang="en-US" sz="2260" b="1" dirty="0">
                <a:solidFill>
                  <a:srgbClr val="003087"/>
                </a:solidFill>
                <a:latin typeface="Liter" pitchFamily="34" charset="0"/>
                <a:ea typeface="Liter" pitchFamily="34" charset="-122"/>
                <a:cs typeface="Liter" pitchFamily="34" charset="-120"/>
              </a:rPr>
              <a:t>Robotic Process Automation (RPA)</a:t>
            </a:r>
            <a:endParaRPr lang="en-US" sz="1600" dirty="0"/>
          </a:p>
        </p:txBody>
      </p:sp>
      <p:sp>
        <p:nvSpPr>
          <p:cNvPr id="4" name="Shape 2"/>
          <p:cNvSpPr/>
          <p:nvPr/>
        </p:nvSpPr>
        <p:spPr>
          <a:xfrm>
            <a:off x="318954" y="956861"/>
            <a:ext cx="765489" cy="31895"/>
          </a:xfrm>
          <a:custGeom>
            <a:avLst/>
            <a:gdLst/>
            <a:ahLst/>
            <a:cxnLst/>
            <a:rect l="l" t="t" r="r" b="b"/>
            <a:pathLst>
              <a:path w="765489" h="31895">
                <a:moveTo>
                  <a:pt x="0" y="0"/>
                </a:moveTo>
                <a:lnTo>
                  <a:pt x="765489" y="0"/>
                </a:lnTo>
                <a:lnTo>
                  <a:pt x="765489" y="31895"/>
                </a:lnTo>
                <a:lnTo>
                  <a:pt x="0" y="31895"/>
                </a:lnTo>
                <a:lnTo>
                  <a:pt x="0" y="0"/>
                </a:lnTo>
                <a:close/>
              </a:path>
            </a:pathLst>
          </a:custGeom>
          <a:solidFill>
            <a:srgbClr val="FF6B00"/>
          </a:solidFill>
          <a:ln/>
        </p:spPr>
      </p:sp>
      <p:sp>
        <p:nvSpPr>
          <p:cNvPr id="5" name="Shape 3"/>
          <p:cNvSpPr/>
          <p:nvPr/>
        </p:nvSpPr>
        <p:spPr>
          <a:xfrm>
            <a:off x="318954" y="1148233"/>
            <a:ext cx="7662859" cy="1945617"/>
          </a:xfrm>
          <a:custGeom>
            <a:avLst/>
            <a:gdLst/>
            <a:ahLst/>
            <a:cxnLst/>
            <a:rect l="l" t="t" r="r" b="b"/>
            <a:pathLst>
              <a:path w="7662859" h="1945617">
                <a:moveTo>
                  <a:pt x="95685" y="0"/>
                </a:moveTo>
                <a:lnTo>
                  <a:pt x="7567174" y="0"/>
                </a:lnTo>
                <a:cubicBezTo>
                  <a:pt x="7620020" y="0"/>
                  <a:pt x="7662859" y="42840"/>
                  <a:pt x="7662859" y="95685"/>
                </a:cubicBezTo>
                <a:lnTo>
                  <a:pt x="7662859" y="1849931"/>
                </a:lnTo>
                <a:cubicBezTo>
                  <a:pt x="7662859" y="1902777"/>
                  <a:pt x="7620020" y="1945617"/>
                  <a:pt x="7567174" y="1945617"/>
                </a:cubicBezTo>
                <a:lnTo>
                  <a:pt x="95685" y="1945617"/>
                </a:lnTo>
                <a:cubicBezTo>
                  <a:pt x="42840" y="1945617"/>
                  <a:pt x="0" y="1902777"/>
                  <a:pt x="0" y="1849931"/>
                </a:cubicBezTo>
                <a:lnTo>
                  <a:pt x="0" y="95685"/>
                </a:lnTo>
                <a:cubicBezTo>
                  <a:pt x="0" y="42840"/>
                  <a:pt x="42840" y="0"/>
                  <a:pt x="95685"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510326" y="1371500"/>
            <a:ext cx="199346" cy="159477"/>
          </a:xfrm>
          <a:custGeom>
            <a:avLst/>
            <a:gdLst/>
            <a:ahLst/>
            <a:cxnLst/>
            <a:rect l="l" t="t" r="r" b="b"/>
            <a:pathLst>
              <a:path w="199346" h="159477">
                <a:moveTo>
                  <a:pt x="109640" y="0"/>
                </a:moveTo>
                <a:cubicBezTo>
                  <a:pt x="109640" y="-5513"/>
                  <a:pt x="105186" y="-9967"/>
                  <a:pt x="99673" y="-9967"/>
                </a:cubicBezTo>
                <a:cubicBezTo>
                  <a:pt x="94160" y="-9967"/>
                  <a:pt x="89706" y="-5513"/>
                  <a:pt x="89706" y="0"/>
                </a:cubicBezTo>
                <a:lnTo>
                  <a:pt x="89706" y="19935"/>
                </a:lnTo>
                <a:lnTo>
                  <a:pt x="59804" y="19935"/>
                </a:lnTo>
                <a:cubicBezTo>
                  <a:pt x="43295" y="19935"/>
                  <a:pt x="29902" y="33328"/>
                  <a:pt x="29902" y="49836"/>
                </a:cubicBezTo>
                <a:lnTo>
                  <a:pt x="29902" y="119608"/>
                </a:lnTo>
                <a:cubicBezTo>
                  <a:pt x="29902" y="136116"/>
                  <a:pt x="43295" y="149509"/>
                  <a:pt x="59804" y="149509"/>
                </a:cubicBezTo>
                <a:lnTo>
                  <a:pt x="139542" y="149509"/>
                </a:lnTo>
                <a:cubicBezTo>
                  <a:pt x="156051" y="149509"/>
                  <a:pt x="169444" y="136116"/>
                  <a:pt x="169444" y="119608"/>
                </a:cubicBezTo>
                <a:lnTo>
                  <a:pt x="169444" y="49836"/>
                </a:lnTo>
                <a:cubicBezTo>
                  <a:pt x="169444" y="33328"/>
                  <a:pt x="156051" y="19935"/>
                  <a:pt x="139542" y="19935"/>
                </a:cubicBezTo>
                <a:lnTo>
                  <a:pt x="109640" y="19935"/>
                </a:lnTo>
                <a:lnTo>
                  <a:pt x="109640" y="0"/>
                </a:lnTo>
                <a:close/>
                <a:moveTo>
                  <a:pt x="49836" y="114624"/>
                </a:moveTo>
                <a:cubicBezTo>
                  <a:pt x="49836" y="110481"/>
                  <a:pt x="53169" y="107148"/>
                  <a:pt x="57312" y="107148"/>
                </a:cubicBezTo>
                <a:lnTo>
                  <a:pt x="67279" y="107148"/>
                </a:lnTo>
                <a:cubicBezTo>
                  <a:pt x="71422" y="107148"/>
                  <a:pt x="74755" y="110481"/>
                  <a:pt x="74755" y="114624"/>
                </a:cubicBezTo>
                <a:cubicBezTo>
                  <a:pt x="74755" y="118767"/>
                  <a:pt x="71422" y="122099"/>
                  <a:pt x="67279" y="122099"/>
                </a:cubicBezTo>
                <a:lnTo>
                  <a:pt x="57312" y="122099"/>
                </a:lnTo>
                <a:cubicBezTo>
                  <a:pt x="53169" y="122099"/>
                  <a:pt x="49836" y="118767"/>
                  <a:pt x="49836" y="114624"/>
                </a:cubicBezTo>
                <a:close/>
                <a:moveTo>
                  <a:pt x="87214" y="114624"/>
                </a:moveTo>
                <a:cubicBezTo>
                  <a:pt x="87214" y="110481"/>
                  <a:pt x="90547" y="107148"/>
                  <a:pt x="94689" y="107148"/>
                </a:cubicBezTo>
                <a:lnTo>
                  <a:pt x="104657" y="107148"/>
                </a:lnTo>
                <a:cubicBezTo>
                  <a:pt x="108799" y="107148"/>
                  <a:pt x="112132" y="110481"/>
                  <a:pt x="112132" y="114624"/>
                </a:cubicBezTo>
                <a:cubicBezTo>
                  <a:pt x="112132" y="118767"/>
                  <a:pt x="108799" y="122099"/>
                  <a:pt x="104657" y="122099"/>
                </a:cubicBezTo>
                <a:lnTo>
                  <a:pt x="94689" y="122099"/>
                </a:lnTo>
                <a:cubicBezTo>
                  <a:pt x="90547" y="122099"/>
                  <a:pt x="87214" y="118767"/>
                  <a:pt x="87214" y="114624"/>
                </a:cubicBezTo>
                <a:close/>
                <a:moveTo>
                  <a:pt x="124591" y="114624"/>
                </a:moveTo>
                <a:cubicBezTo>
                  <a:pt x="124591" y="110481"/>
                  <a:pt x="127924" y="107148"/>
                  <a:pt x="132067" y="107148"/>
                </a:cubicBezTo>
                <a:lnTo>
                  <a:pt x="142034" y="107148"/>
                </a:lnTo>
                <a:cubicBezTo>
                  <a:pt x="146177" y="107148"/>
                  <a:pt x="149509" y="110481"/>
                  <a:pt x="149509" y="114624"/>
                </a:cubicBezTo>
                <a:cubicBezTo>
                  <a:pt x="149509" y="118767"/>
                  <a:pt x="146177" y="122099"/>
                  <a:pt x="142034" y="122099"/>
                </a:cubicBezTo>
                <a:lnTo>
                  <a:pt x="132067" y="122099"/>
                </a:lnTo>
                <a:cubicBezTo>
                  <a:pt x="127924" y="122099"/>
                  <a:pt x="124591" y="118767"/>
                  <a:pt x="124591" y="114624"/>
                </a:cubicBezTo>
                <a:close/>
                <a:moveTo>
                  <a:pt x="69771" y="54820"/>
                </a:moveTo>
                <a:cubicBezTo>
                  <a:pt x="78023" y="54820"/>
                  <a:pt x="84722" y="61519"/>
                  <a:pt x="84722" y="69771"/>
                </a:cubicBezTo>
                <a:cubicBezTo>
                  <a:pt x="84722" y="78023"/>
                  <a:pt x="78023" y="84722"/>
                  <a:pt x="69771" y="84722"/>
                </a:cubicBezTo>
                <a:cubicBezTo>
                  <a:pt x="61519" y="84722"/>
                  <a:pt x="54820" y="78023"/>
                  <a:pt x="54820" y="69771"/>
                </a:cubicBezTo>
                <a:cubicBezTo>
                  <a:pt x="54820" y="61519"/>
                  <a:pt x="61519" y="54820"/>
                  <a:pt x="69771" y="54820"/>
                </a:cubicBezTo>
                <a:close/>
                <a:moveTo>
                  <a:pt x="114624" y="69771"/>
                </a:moveTo>
                <a:cubicBezTo>
                  <a:pt x="114624" y="61519"/>
                  <a:pt x="121323" y="54820"/>
                  <a:pt x="129575" y="54820"/>
                </a:cubicBezTo>
                <a:cubicBezTo>
                  <a:pt x="137827" y="54820"/>
                  <a:pt x="144526" y="61519"/>
                  <a:pt x="144526" y="69771"/>
                </a:cubicBezTo>
                <a:cubicBezTo>
                  <a:pt x="144526" y="78023"/>
                  <a:pt x="137827" y="84722"/>
                  <a:pt x="129575" y="84722"/>
                </a:cubicBezTo>
                <a:cubicBezTo>
                  <a:pt x="121323" y="84722"/>
                  <a:pt x="114624" y="78023"/>
                  <a:pt x="114624" y="69771"/>
                </a:cubicBezTo>
                <a:close/>
                <a:moveTo>
                  <a:pt x="19935" y="69771"/>
                </a:moveTo>
                <a:cubicBezTo>
                  <a:pt x="19935" y="64258"/>
                  <a:pt x="15480" y="59804"/>
                  <a:pt x="9967" y="59804"/>
                </a:cubicBezTo>
                <a:cubicBezTo>
                  <a:pt x="4454" y="59804"/>
                  <a:pt x="0" y="64258"/>
                  <a:pt x="0" y="69771"/>
                </a:cubicBezTo>
                <a:lnTo>
                  <a:pt x="0" y="99673"/>
                </a:lnTo>
                <a:cubicBezTo>
                  <a:pt x="0" y="105186"/>
                  <a:pt x="4454" y="109640"/>
                  <a:pt x="9967" y="109640"/>
                </a:cubicBezTo>
                <a:cubicBezTo>
                  <a:pt x="15480" y="109640"/>
                  <a:pt x="19935" y="105186"/>
                  <a:pt x="19935" y="99673"/>
                </a:cubicBezTo>
                <a:lnTo>
                  <a:pt x="19935" y="69771"/>
                </a:lnTo>
                <a:close/>
                <a:moveTo>
                  <a:pt x="189379" y="59804"/>
                </a:moveTo>
                <a:cubicBezTo>
                  <a:pt x="183866" y="59804"/>
                  <a:pt x="179411" y="64258"/>
                  <a:pt x="179411" y="69771"/>
                </a:cubicBezTo>
                <a:lnTo>
                  <a:pt x="179411" y="99673"/>
                </a:lnTo>
                <a:cubicBezTo>
                  <a:pt x="179411" y="105186"/>
                  <a:pt x="183866" y="109640"/>
                  <a:pt x="189379" y="109640"/>
                </a:cubicBezTo>
                <a:cubicBezTo>
                  <a:pt x="194892" y="109640"/>
                  <a:pt x="199346" y="105186"/>
                  <a:pt x="199346" y="99673"/>
                </a:cubicBezTo>
                <a:lnTo>
                  <a:pt x="199346" y="69771"/>
                </a:lnTo>
                <a:cubicBezTo>
                  <a:pt x="199346" y="64258"/>
                  <a:pt x="194892" y="59804"/>
                  <a:pt x="189379" y="59804"/>
                </a:cubicBezTo>
                <a:close/>
              </a:path>
            </a:pathLst>
          </a:custGeom>
          <a:solidFill>
            <a:srgbClr val="FF6B00"/>
          </a:solidFill>
          <a:ln/>
        </p:spPr>
      </p:sp>
      <p:sp>
        <p:nvSpPr>
          <p:cNvPr id="7" name="Text 5"/>
          <p:cNvSpPr/>
          <p:nvPr/>
        </p:nvSpPr>
        <p:spPr>
          <a:xfrm>
            <a:off x="709672" y="1339605"/>
            <a:ext cx="7160508" cy="223267"/>
          </a:xfrm>
          <a:prstGeom prst="rect">
            <a:avLst/>
          </a:prstGeom>
          <a:noFill/>
          <a:ln/>
        </p:spPr>
        <p:txBody>
          <a:bodyPr wrap="square" lIns="0" tIns="0" rIns="0" bIns="0" rtlCol="0" anchor="ctr"/>
          <a:lstStyle/>
          <a:p>
            <a:pPr>
              <a:lnSpc>
                <a:spcPct val="120000"/>
              </a:lnSpc>
            </a:pPr>
            <a:r>
              <a:rPr lang="en-US" sz="1256" b="1" dirty="0">
                <a:solidFill>
                  <a:srgbClr val="FFFFFF"/>
                </a:solidFill>
                <a:latin typeface="Liter" pitchFamily="34" charset="0"/>
                <a:ea typeface="Liter" pitchFamily="34" charset="-122"/>
                <a:cs typeface="Liter" pitchFamily="34" charset="-120"/>
              </a:rPr>
              <a:t>RPA Implementation Strategy</a:t>
            </a:r>
            <a:endParaRPr lang="en-US" sz="1600" dirty="0"/>
          </a:p>
        </p:txBody>
      </p:sp>
      <p:sp>
        <p:nvSpPr>
          <p:cNvPr id="8" name="Text 6"/>
          <p:cNvSpPr/>
          <p:nvPr/>
        </p:nvSpPr>
        <p:spPr>
          <a:xfrm>
            <a:off x="510326" y="1690454"/>
            <a:ext cx="7343906" cy="414640"/>
          </a:xfrm>
          <a:prstGeom prst="rect">
            <a:avLst/>
          </a:prstGeom>
          <a:noFill/>
          <a:ln/>
        </p:spPr>
        <p:txBody>
          <a:bodyPr wrap="square" lIns="0" tIns="0" rIns="0" bIns="0" rtlCol="0" anchor="ctr"/>
          <a:lstStyle/>
          <a:p>
            <a:pPr>
              <a:lnSpc>
                <a:spcPct val="140000"/>
              </a:lnSpc>
            </a:pPr>
            <a:r>
              <a:rPr lang="en-US" sz="1005" dirty="0">
                <a:solidFill>
                  <a:srgbClr val="FFFFFF"/>
                </a:solidFill>
                <a:latin typeface="Quattrocento Sans" pitchFamily="34" charset="0"/>
                <a:ea typeface="Quattrocento Sans" pitchFamily="34" charset="-122"/>
                <a:cs typeface="Quattrocento Sans" pitchFamily="34" charset="-120"/>
              </a:rPr>
              <a:t>Deploying software robots to automate repetitive, rule-based tasks, reducing processing time by </a:t>
            </a:r>
            <a:r>
              <a:rPr lang="en-US" sz="1005" b="1" dirty="0">
                <a:solidFill>
                  <a:srgbClr val="FFFFFF"/>
                </a:solidFill>
                <a:highlight>
                  <a:srgbClr val="FF6B00">
                    <a:alpha val="100000"/>
                  </a:srgbClr>
                </a:highlight>
                <a:latin typeface="Quattrocento Sans" pitchFamily="34" charset="0"/>
                <a:ea typeface="Quattrocento Sans" pitchFamily="34" charset="-122"/>
                <a:cs typeface="Quattrocento Sans" pitchFamily="34" charset="-120"/>
              </a:rPr>
              <a:t>30-70% </a:t>
            </a:r>
            <a:r>
              <a:rPr lang="en-US" sz="1005" dirty="0">
                <a:solidFill>
                  <a:srgbClr val="FFFFFF"/>
                </a:solidFill>
                <a:latin typeface="Quattrocento Sans" pitchFamily="34" charset="0"/>
                <a:ea typeface="Quattrocento Sans" pitchFamily="34" charset="-122"/>
                <a:cs typeface="Quattrocento Sans" pitchFamily="34" charset="-120"/>
              </a:rPr>
              <a:t>and minimizing human error. McKinsey research indicates up to </a:t>
            </a:r>
            <a:r>
              <a:rPr lang="en-US" sz="1005" b="1" dirty="0">
                <a:solidFill>
                  <a:srgbClr val="FFFFFF"/>
                </a:solidFill>
                <a:highlight>
                  <a:srgbClr val="FF6B00">
                    <a:alpha val="100000"/>
                  </a:srgbClr>
                </a:highlight>
                <a:latin typeface="Quattrocento Sans" pitchFamily="34" charset="0"/>
                <a:ea typeface="Quattrocento Sans" pitchFamily="34" charset="-122"/>
                <a:cs typeface="Quattrocento Sans" pitchFamily="34" charset="-120"/>
              </a:rPr>
              <a:t>30% of banking tasks </a:t>
            </a:r>
            <a:r>
              <a:rPr lang="en-US" sz="1005" dirty="0">
                <a:solidFill>
                  <a:srgbClr val="FFFFFF"/>
                </a:solidFill>
                <a:latin typeface="Quattrocento Sans" pitchFamily="34" charset="0"/>
                <a:ea typeface="Quattrocento Sans" pitchFamily="34" charset="-122"/>
                <a:cs typeface="Quattrocento Sans" pitchFamily="34" charset="-120"/>
              </a:rPr>
              <a:t>can be automated through RPA.</a:t>
            </a:r>
            <a:endParaRPr lang="en-US" sz="1600" dirty="0"/>
          </a:p>
        </p:txBody>
      </p:sp>
      <p:sp>
        <p:nvSpPr>
          <p:cNvPr id="9" name="Shape 7"/>
          <p:cNvSpPr/>
          <p:nvPr/>
        </p:nvSpPr>
        <p:spPr>
          <a:xfrm>
            <a:off x="510326" y="2232675"/>
            <a:ext cx="3588228" cy="669802"/>
          </a:xfrm>
          <a:custGeom>
            <a:avLst/>
            <a:gdLst/>
            <a:ahLst/>
            <a:cxnLst/>
            <a:rect l="l" t="t" r="r" b="b"/>
            <a:pathLst>
              <a:path w="3588228" h="669802">
                <a:moveTo>
                  <a:pt x="63792" y="0"/>
                </a:moveTo>
                <a:lnTo>
                  <a:pt x="3524436" y="0"/>
                </a:lnTo>
                <a:cubicBezTo>
                  <a:pt x="3559667" y="0"/>
                  <a:pt x="3588228" y="28561"/>
                  <a:pt x="3588228" y="63792"/>
                </a:cubicBezTo>
                <a:lnTo>
                  <a:pt x="3588228" y="606010"/>
                </a:lnTo>
                <a:cubicBezTo>
                  <a:pt x="3588228" y="641242"/>
                  <a:pt x="3559667" y="669802"/>
                  <a:pt x="3524436" y="669802"/>
                </a:cubicBezTo>
                <a:lnTo>
                  <a:pt x="63792" y="669802"/>
                </a:lnTo>
                <a:cubicBezTo>
                  <a:pt x="28561" y="669802"/>
                  <a:pt x="0" y="641242"/>
                  <a:pt x="0" y="606010"/>
                </a:cubicBezTo>
                <a:lnTo>
                  <a:pt x="0" y="63792"/>
                </a:lnTo>
                <a:cubicBezTo>
                  <a:pt x="0" y="28584"/>
                  <a:pt x="28584" y="0"/>
                  <a:pt x="63792" y="0"/>
                </a:cubicBezTo>
                <a:close/>
              </a:path>
            </a:pathLst>
          </a:custGeom>
          <a:solidFill>
            <a:srgbClr val="FFFFFF">
              <a:alpha val="10196"/>
            </a:srgbClr>
          </a:solidFill>
          <a:ln/>
        </p:spPr>
      </p:sp>
      <p:sp>
        <p:nvSpPr>
          <p:cNvPr id="10" name="Text 8"/>
          <p:cNvSpPr/>
          <p:nvPr/>
        </p:nvSpPr>
        <p:spPr>
          <a:xfrm>
            <a:off x="606012" y="2328361"/>
            <a:ext cx="3516463" cy="287058"/>
          </a:xfrm>
          <a:prstGeom prst="rect">
            <a:avLst/>
          </a:prstGeom>
          <a:noFill/>
          <a:ln/>
        </p:spPr>
        <p:txBody>
          <a:bodyPr wrap="square" lIns="0" tIns="0" rIns="0" bIns="0" rtlCol="0" anchor="ctr"/>
          <a:lstStyle/>
          <a:p>
            <a:pPr>
              <a:lnSpc>
                <a:spcPct val="100000"/>
              </a:lnSpc>
            </a:pPr>
            <a:r>
              <a:rPr lang="en-US" sz="1884" b="1" dirty="0">
                <a:solidFill>
                  <a:srgbClr val="FF6B00"/>
                </a:solidFill>
                <a:latin typeface="Quattrocento Sans" pitchFamily="34" charset="0"/>
                <a:ea typeface="Quattrocento Sans" pitchFamily="34" charset="-122"/>
                <a:cs typeface="Quattrocento Sans" pitchFamily="34" charset="-120"/>
              </a:rPr>
              <a:t>30-70%</a:t>
            </a:r>
            <a:endParaRPr lang="en-US" sz="1600" dirty="0"/>
          </a:p>
        </p:txBody>
      </p:sp>
      <p:sp>
        <p:nvSpPr>
          <p:cNvPr id="11" name="Text 9"/>
          <p:cNvSpPr/>
          <p:nvPr/>
        </p:nvSpPr>
        <p:spPr>
          <a:xfrm>
            <a:off x="606012" y="2647315"/>
            <a:ext cx="3452672" cy="159477"/>
          </a:xfrm>
          <a:prstGeom prst="rect">
            <a:avLst/>
          </a:prstGeom>
          <a:noFill/>
          <a:ln/>
        </p:spPr>
        <p:txBody>
          <a:bodyPr wrap="square" lIns="0" tIns="0" rIns="0" bIns="0" rtlCol="0" anchor="ctr"/>
          <a:lstStyle/>
          <a:p>
            <a:pPr>
              <a:lnSpc>
                <a:spcPct val="120000"/>
              </a:lnSpc>
            </a:pPr>
            <a:r>
              <a:rPr lang="en-US" sz="879" dirty="0">
                <a:solidFill>
                  <a:srgbClr val="FFFFFF">
                    <a:alpha val="80000"/>
                  </a:srgbClr>
                </a:solidFill>
                <a:latin typeface="Quattrocento Sans" pitchFamily="34" charset="0"/>
                <a:ea typeface="Quattrocento Sans" pitchFamily="34" charset="-122"/>
                <a:cs typeface="Quattrocento Sans" pitchFamily="34" charset="-120"/>
              </a:rPr>
              <a:t>Cost Reduction</a:t>
            </a:r>
            <a:endParaRPr lang="en-US" sz="1600" dirty="0"/>
          </a:p>
        </p:txBody>
      </p:sp>
      <p:sp>
        <p:nvSpPr>
          <p:cNvPr id="12" name="Shape 10"/>
          <p:cNvSpPr/>
          <p:nvPr/>
        </p:nvSpPr>
        <p:spPr>
          <a:xfrm>
            <a:off x="4196544" y="2232675"/>
            <a:ext cx="3588228" cy="669802"/>
          </a:xfrm>
          <a:custGeom>
            <a:avLst/>
            <a:gdLst/>
            <a:ahLst/>
            <a:cxnLst/>
            <a:rect l="l" t="t" r="r" b="b"/>
            <a:pathLst>
              <a:path w="3588228" h="669802">
                <a:moveTo>
                  <a:pt x="63792" y="0"/>
                </a:moveTo>
                <a:lnTo>
                  <a:pt x="3524436" y="0"/>
                </a:lnTo>
                <a:cubicBezTo>
                  <a:pt x="3559667" y="0"/>
                  <a:pt x="3588228" y="28561"/>
                  <a:pt x="3588228" y="63792"/>
                </a:cubicBezTo>
                <a:lnTo>
                  <a:pt x="3588228" y="606010"/>
                </a:lnTo>
                <a:cubicBezTo>
                  <a:pt x="3588228" y="641242"/>
                  <a:pt x="3559667" y="669802"/>
                  <a:pt x="3524436" y="669802"/>
                </a:cubicBezTo>
                <a:lnTo>
                  <a:pt x="63792" y="669802"/>
                </a:lnTo>
                <a:cubicBezTo>
                  <a:pt x="28561" y="669802"/>
                  <a:pt x="0" y="641242"/>
                  <a:pt x="0" y="606010"/>
                </a:cubicBezTo>
                <a:lnTo>
                  <a:pt x="0" y="63792"/>
                </a:lnTo>
                <a:cubicBezTo>
                  <a:pt x="0" y="28584"/>
                  <a:pt x="28584" y="0"/>
                  <a:pt x="63792" y="0"/>
                </a:cubicBezTo>
                <a:close/>
              </a:path>
            </a:pathLst>
          </a:custGeom>
          <a:solidFill>
            <a:srgbClr val="FFFFFF">
              <a:alpha val="10196"/>
            </a:srgbClr>
          </a:solidFill>
          <a:ln/>
        </p:spPr>
      </p:sp>
      <p:sp>
        <p:nvSpPr>
          <p:cNvPr id="13" name="Text 11"/>
          <p:cNvSpPr/>
          <p:nvPr/>
        </p:nvSpPr>
        <p:spPr>
          <a:xfrm>
            <a:off x="4292230" y="2328361"/>
            <a:ext cx="3516463" cy="287058"/>
          </a:xfrm>
          <a:prstGeom prst="rect">
            <a:avLst/>
          </a:prstGeom>
          <a:noFill/>
          <a:ln/>
        </p:spPr>
        <p:txBody>
          <a:bodyPr wrap="square" lIns="0" tIns="0" rIns="0" bIns="0" rtlCol="0" anchor="ctr"/>
          <a:lstStyle/>
          <a:p>
            <a:pPr>
              <a:lnSpc>
                <a:spcPct val="100000"/>
              </a:lnSpc>
            </a:pPr>
            <a:r>
              <a:rPr lang="en-US" sz="1884" b="1" dirty="0">
                <a:solidFill>
                  <a:srgbClr val="FF6B00"/>
                </a:solidFill>
                <a:latin typeface="Quattrocento Sans" pitchFamily="34" charset="0"/>
                <a:ea typeface="Quattrocento Sans" pitchFamily="34" charset="-122"/>
                <a:cs typeface="Quattrocento Sans" pitchFamily="34" charset="-120"/>
              </a:rPr>
              <a:t>60%+</a:t>
            </a:r>
            <a:endParaRPr lang="en-US" sz="1600" dirty="0"/>
          </a:p>
        </p:txBody>
      </p:sp>
      <p:sp>
        <p:nvSpPr>
          <p:cNvPr id="14" name="Text 12"/>
          <p:cNvSpPr/>
          <p:nvPr/>
        </p:nvSpPr>
        <p:spPr>
          <a:xfrm>
            <a:off x="4292230" y="2647315"/>
            <a:ext cx="3452672" cy="159477"/>
          </a:xfrm>
          <a:prstGeom prst="rect">
            <a:avLst/>
          </a:prstGeom>
          <a:noFill/>
          <a:ln/>
        </p:spPr>
        <p:txBody>
          <a:bodyPr wrap="square" lIns="0" tIns="0" rIns="0" bIns="0" rtlCol="0" anchor="ctr"/>
          <a:lstStyle/>
          <a:p>
            <a:pPr>
              <a:lnSpc>
                <a:spcPct val="120000"/>
              </a:lnSpc>
            </a:pPr>
            <a:r>
              <a:rPr lang="en-US" sz="879" dirty="0">
                <a:solidFill>
                  <a:srgbClr val="FFFFFF">
                    <a:alpha val="80000"/>
                  </a:srgbClr>
                </a:solidFill>
                <a:latin typeface="Quattrocento Sans" pitchFamily="34" charset="0"/>
                <a:ea typeface="Quattrocento Sans" pitchFamily="34" charset="-122"/>
                <a:cs typeface="Quattrocento Sans" pitchFamily="34" charset="-120"/>
              </a:rPr>
              <a:t>Error Reduction</a:t>
            </a:r>
            <a:endParaRPr lang="en-US" sz="1600" dirty="0"/>
          </a:p>
        </p:txBody>
      </p:sp>
      <p:sp>
        <p:nvSpPr>
          <p:cNvPr id="15" name="Shape 13"/>
          <p:cNvSpPr/>
          <p:nvPr/>
        </p:nvSpPr>
        <p:spPr>
          <a:xfrm>
            <a:off x="334901" y="3221431"/>
            <a:ext cx="3747704" cy="1307710"/>
          </a:xfrm>
          <a:custGeom>
            <a:avLst/>
            <a:gdLst/>
            <a:ahLst/>
            <a:cxnLst/>
            <a:rect l="l" t="t" r="r" b="b"/>
            <a:pathLst>
              <a:path w="3747704" h="1307710">
                <a:moveTo>
                  <a:pt x="31895" y="0"/>
                </a:moveTo>
                <a:lnTo>
                  <a:pt x="3652019" y="0"/>
                </a:lnTo>
                <a:cubicBezTo>
                  <a:pt x="3704865" y="0"/>
                  <a:pt x="3747704" y="42840"/>
                  <a:pt x="3747704" y="95685"/>
                </a:cubicBezTo>
                <a:lnTo>
                  <a:pt x="3747704" y="1212025"/>
                </a:lnTo>
                <a:cubicBezTo>
                  <a:pt x="3747704" y="1264870"/>
                  <a:pt x="3704865" y="1307710"/>
                  <a:pt x="3652019" y="1307710"/>
                </a:cubicBezTo>
                <a:lnTo>
                  <a:pt x="31895" y="1307710"/>
                </a:lnTo>
                <a:cubicBezTo>
                  <a:pt x="14280" y="1307710"/>
                  <a:pt x="0" y="1293430"/>
                  <a:pt x="0" y="1275814"/>
                </a:cubicBezTo>
                <a:lnTo>
                  <a:pt x="0" y="31895"/>
                </a:lnTo>
                <a:cubicBezTo>
                  <a:pt x="0" y="14280"/>
                  <a:pt x="14280" y="0"/>
                  <a:pt x="31895" y="0"/>
                </a:cubicBezTo>
                <a:close/>
              </a:path>
            </a:pathLst>
          </a:custGeom>
          <a:solidFill>
            <a:srgbClr val="FF6B00">
              <a:alpha val="10196"/>
            </a:srgbClr>
          </a:solidFill>
          <a:ln/>
        </p:spPr>
      </p:sp>
      <p:sp>
        <p:nvSpPr>
          <p:cNvPr id="16" name="Shape 14"/>
          <p:cNvSpPr/>
          <p:nvPr/>
        </p:nvSpPr>
        <p:spPr>
          <a:xfrm>
            <a:off x="334901" y="3221431"/>
            <a:ext cx="31895" cy="1307710"/>
          </a:xfrm>
          <a:custGeom>
            <a:avLst/>
            <a:gdLst/>
            <a:ahLst/>
            <a:cxnLst/>
            <a:rect l="l" t="t" r="r" b="b"/>
            <a:pathLst>
              <a:path w="31895" h="1307710">
                <a:moveTo>
                  <a:pt x="31895" y="0"/>
                </a:moveTo>
                <a:lnTo>
                  <a:pt x="31895" y="0"/>
                </a:lnTo>
                <a:lnTo>
                  <a:pt x="31895" y="1307710"/>
                </a:lnTo>
                <a:lnTo>
                  <a:pt x="31895" y="1307710"/>
                </a:lnTo>
                <a:cubicBezTo>
                  <a:pt x="14280" y="1307710"/>
                  <a:pt x="0" y="1293430"/>
                  <a:pt x="0" y="1275814"/>
                </a:cubicBezTo>
                <a:lnTo>
                  <a:pt x="0" y="31895"/>
                </a:lnTo>
                <a:cubicBezTo>
                  <a:pt x="0" y="14280"/>
                  <a:pt x="14280" y="0"/>
                  <a:pt x="31895" y="0"/>
                </a:cubicBezTo>
                <a:close/>
              </a:path>
            </a:pathLst>
          </a:custGeom>
          <a:solidFill>
            <a:srgbClr val="FF6B00"/>
          </a:solidFill>
          <a:ln/>
        </p:spPr>
      </p:sp>
      <p:sp>
        <p:nvSpPr>
          <p:cNvPr id="17" name="Shape 15"/>
          <p:cNvSpPr/>
          <p:nvPr/>
        </p:nvSpPr>
        <p:spPr>
          <a:xfrm>
            <a:off x="478430" y="3349012"/>
            <a:ext cx="239215" cy="191372"/>
          </a:xfrm>
          <a:custGeom>
            <a:avLst/>
            <a:gdLst/>
            <a:ahLst/>
            <a:cxnLst/>
            <a:rect l="l" t="t" r="r" b="b"/>
            <a:pathLst>
              <a:path w="239215" h="191372">
                <a:moveTo>
                  <a:pt x="50833" y="47843"/>
                </a:moveTo>
                <a:cubicBezTo>
                  <a:pt x="50833" y="23088"/>
                  <a:pt x="70931" y="2990"/>
                  <a:pt x="95686" y="2990"/>
                </a:cubicBezTo>
                <a:cubicBezTo>
                  <a:pt x="120441" y="2990"/>
                  <a:pt x="140539" y="23088"/>
                  <a:pt x="140539" y="47843"/>
                </a:cubicBezTo>
                <a:cubicBezTo>
                  <a:pt x="140539" y="72598"/>
                  <a:pt x="120441" y="92696"/>
                  <a:pt x="95686" y="92696"/>
                </a:cubicBezTo>
                <a:cubicBezTo>
                  <a:pt x="70931" y="92696"/>
                  <a:pt x="50833" y="72598"/>
                  <a:pt x="50833" y="47843"/>
                </a:cubicBezTo>
                <a:close/>
                <a:moveTo>
                  <a:pt x="17941" y="180271"/>
                </a:moveTo>
                <a:cubicBezTo>
                  <a:pt x="17941" y="143454"/>
                  <a:pt x="47768" y="113627"/>
                  <a:pt x="84585" y="113627"/>
                </a:cubicBezTo>
                <a:lnTo>
                  <a:pt x="106787" y="113627"/>
                </a:lnTo>
                <a:cubicBezTo>
                  <a:pt x="143604" y="113627"/>
                  <a:pt x="173431" y="143454"/>
                  <a:pt x="173431" y="180271"/>
                </a:cubicBezTo>
                <a:cubicBezTo>
                  <a:pt x="173431" y="186401"/>
                  <a:pt x="168460" y="191372"/>
                  <a:pt x="162330" y="191372"/>
                </a:cubicBezTo>
                <a:lnTo>
                  <a:pt x="29042" y="191372"/>
                </a:lnTo>
                <a:cubicBezTo>
                  <a:pt x="22912" y="191372"/>
                  <a:pt x="17941" y="186401"/>
                  <a:pt x="17941" y="180271"/>
                </a:cubicBezTo>
                <a:close/>
                <a:moveTo>
                  <a:pt x="228899" y="49600"/>
                </a:moveTo>
                <a:lnTo>
                  <a:pt x="198997" y="97443"/>
                </a:lnTo>
                <a:cubicBezTo>
                  <a:pt x="197427" y="99947"/>
                  <a:pt x="194736" y="101517"/>
                  <a:pt x="191783" y="101666"/>
                </a:cubicBezTo>
                <a:cubicBezTo>
                  <a:pt x="188830" y="101816"/>
                  <a:pt x="185990" y="100470"/>
                  <a:pt x="184233" y="98078"/>
                </a:cubicBezTo>
                <a:lnTo>
                  <a:pt x="166292" y="74157"/>
                </a:lnTo>
                <a:cubicBezTo>
                  <a:pt x="163302" y="70195"/>
                  <a:pt x="164124" y="64588"/>
                  <a:pt x="168086" y="61598"/>
                </a:cubicBezTo>
                <a:cubicBezTo>
                  <a:pt x="172048" y="58608"/>
                  <a:pt x="177655" y="59430"/>
                  <a:pt x="180645" y="63392"/>
                </a:cubicBezTo>
                <a:lnTo>
                  <a:pt x="190737" y="76848"/>
                </a:lnTo>
                <a:lnTo>
                  <a:pt x="213686" y="40106"/>
                </a:lnTo>
                <a:cubicBezTo>
                  <a:pt x="216303" y="35920"/>
                  <a:pt x="221835" y="34611"/>
                  <a:pt x="226058" y="37265"/>
                </a:cubicBezTo>
                <a:cubicBezTo>
                  <a:pt x="230282" y="39919"/>
                  <a:pt x="231553" y="45414"/>
                  <a:pt x="228899" y="49637"/>
                </a:cubicBezTo>
                <a:close/>
              </a:path>
            </a:pathLst>
          </a:custGeom>
          <a:solidFill>
            <a:srgbClr val="FF6B00"/>
          </a:solidFill>
          <a:ln/>
        </p:spPr>
      </p:sp>
      <p:sp>
        <p:nvSpPr>
          <p:cNvPr id="18" name="Text 16"/>
          <p:cNvSpPr/>
          <p:nvPr/>
        </p:nvSpPr>
        <p:spPr>
          <a:xfrm>
            <a:off x="813332" y="3349012"/>
            <a:ext cx="988756"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KYC Verification</a:t>
            </a:r>
            <a:endParaRPr lang="en-US" sz="1600" dirty="0"/>
          </a:p>
        </p:txBody>
      </p:sp>
      <p:sp>
        <p:nvSpPr>
          <p:cNvPr id="19" name="Text 17"/>
          <p:cNvSpPr/>
          <p:nvPr/>
        </p:nvSpPr>
        <p:spPr>
          <a:xfrm>
            <a:off x="478430" y="3636071"/>
            <a:ext cx="446535"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Current:</a:t>
            </a:r>
            <a:endParaRPr lang="en-US" sz="1600" dirty="0"/>
          </a:p>
        </p:txBody>
      </p:sp>
      <p:sp>
        <p:nvSpPr>
          <p:cNvPr id="20" name="Text 18"/>
          <p:cNvSpPr/>
          <p:nvPr/>
        </p:nvSpPr>
        <p:spPr>
          <a:xfrm>
            <a:off x="3528984" y="3636071"/>
            <a:ext cx="486404"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3-5 days</a:t>
            </a:r>
            <a:endParaRPr lang="en-US" sz="1600" dirty="0"/>
          </a:p>
        </p:txBody>
      </p:sp>
      <p:sp>
        <p:nvSpPr>
          <p:cNvPr id="21" name="Text 19"/>
          <p:cNvSpPr/>
          <p:nvPr/>
        </p:nvSpPr>
        <p:spPr>
          <a:xfrm>
            <a:off x="478430" y="3859338"/>
            <a:ext cx="390718"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Target:</a:t>
            </a:r>
            <a:endParaRPr lang="en-US" sz="1600" dirty="0"/>
          </a:p>
        </p:txBody>
      </p:sp>
      <p:sp>
        <p:nvSpPr>
          <p:cNvPr id="22" name="Text 20"/>
          <p:cNvSpPr/>
          <p:nvPr/>
        </p:nvSpPr>
        <p:spPr>
          <a:xfrm>
            <a:off x="3481515" y="3859338"/>
            <a:ext cx="534247" cy="159477"/>
          </a:xfrm>
          <a:prstGeom prst="rect">
            <a:avLst/>
          </a:prstGeom>
          <a:noFill/>
          <a:ln/>
        </p:spPr>
        <p:txBody>
          <a:bodyPr wrap="square" lIns="0" tIns="0" rIns="0" bIns="0" rtlCol="0" anchor="ctr"/>
          <a:lstStyle/>
          <a:p>
            <a:pPr>
              <a:lnSpc>
                <a:spcPct val="120000"/>
              </a:lnSpc>
            </a:pPr>
            <a:r>
              <a:rPr lang="en-US" sz="879" b="1" dirty="0">
                <a:solidFill>
                  <a:srgbClr val="FF6B00"/>
                </a:solidFill>
                <a:latin typeface="Quattrocento Sans" pitchFamily="34" charset="0"/>
                <a:ea typeface="Quattrocento Sans" pitchFamily="34" charset="-122"/>
                <a:cs typeface="Quattrocento Sans" pitchFamily="34" charset="-120"/>
              </a:rPr>
              <a:t>Same day</a:t>
            </a:r>
            <a:endParaRPr lang="en-US" sz="1600" dirty="0"/>
          </a:p>
        </p:txBody>
      </p:sp>
      <p:sp>
        <p:nvSpPr>
          <p:cNvPr id="23" name="Text 21"/>
          <p:cNvSpPr/>
          <p:nvPr/>
        </p:nvSpPr>
        <p:spPr>
          <a:xfrm>
            <a:off x="478430" y="4082606"/>
            <a:ext cx="3532411" cy="318954"/>
          </a:xfrm>
          <a:prstGeom prst="rect">
            <a:avLst/>
          </a:prstGeom>
          <a:noFill/>
          <a:ln/>
        </p:spPr>
        <p:txBody>
          <a:bodyPr wrap="square" lIns="0" tIns="0" rIns="0" bIns="0" rtlCol="0" anchor="ctr"/>
          <a:lstStyle/>
          <a:p>
            <a:pPr>
              <a:lnSpc>
                <a:spcPct val="120000"/>
              </a:lnSpc>
            </a:pPr>
            <a:r>
              <a:rPr lang="en-US" sz="879" b="1" dirty="0">
                <a:solidFill>
                  <a:srgbClr val="1A1A1A">
                    <a:alpha val="80000"/>
                  </a:srgbClr>
                </a:solidFill>
                <a:latin typeface="Quattrocento Sans" pitchFamily="34" charset="0"/>
                <a:ea typeface="Quattrocento Sans" pitchFamily="34" charset="-122"/>
                <a:cs typeface="Quattrocento Sans" pitchFamily="34" charset="-120"/>
              </a:rPr>
              <a:t>Impact:</a:t>
            </a:r>
            <a:r>
              <a:rPr lang="en-US" sz="879" dirty="0">
                <a:solidFill>
                  <a:srgbClr val="1A1A1A">
                    <a:alpha val="80000"/>
                  </a:srgbClr>
                </a:solidFill>
                <a:latin typeface="Quattrocento Sans" pitchFamily="34" charset="0"/>
                <a:ea typeface="Quattrocento Sans" pitchFamily="34" charset="-122"/>
                <a:cs typeface="Quattrocento Sans" pitchFamily="34" charset="-120"/>
              </a:rPr>
              <a:t> 70% time reduction, automated background checks, document verification</a:t>
            </a:r>
            <a:endParaRPr lang="en-US" sz="1600" dirty="0"/>
          </a:p>
        </p:txBody>
      </p:sp>
      <p:sp>
        <p:nvSpPr>
          <p:cNvPr id="24" name="Shape 22"/>
          <p:cNvSpPr/>
          <p:nvPr/>
        </p:nvSpPr>
        <p:spPr>
          <a:xfrm>
            <a:off x="4228440" y="3221431"/>
            <a:ext cx="3747704" cy="1307710"/>
          </a:xfrm>
          <a:custGeom>
            <a:avLst/>
            <a:gdLst/>
            <a:ahLst/>
            <a:cxnLst/>
            <a:rect l="l" t="t" r="r" b="b"/>
            <a:pathLst>
              <a:path w="3747704" h="1307710">
                <a:moveTo>
                  <a:pt x="31895" y="0"/>
                </a:moveTo>
                <a:lnTo>
                  <a:pt x="3652019" y="0"/>
                </a:lnTo>
                <a:cubicBezTo>
                  <a:pt x="3704865" y="0"/>
                  <a:pt x="3747704" y="42840"/>
                  <a:pt x="3747704" y="95685"/>
                </a:cubicBezTo>
                <a:lnTo>
                  <a:pt x="3747704" y="1212025"/>
                </a:lnTo>
                <a:cubicBezTo>
                  <a:pt x="3747704" y="1264870"/>
                  <a:pt x="3704865" y="1307710"/>
                  <a:pt x="3652019" y="1307710"/>
                </a:cubicBezTo>
                <a:lnTo>
                  <a:pt x="31895" y="1307710"/>
                </a:lnTo>
                <a:cubicBezTo>
                  <a:pt x="14280" y="1307710"/>
                  <a:pt x="0" y="1293430"/>
                  <a:pt x="0" y="1275814"/>
                </a:cubicBezTo>
                <a:lnTo>
                  <a:pt x="0" y="31895"/>
                </a:lnTo>
                <a:cubicBezTo>
                  <a:pt x="0" y="14280"/>
                  <a:pt x="14280" y="0"/>
                  <a:pt x="31895" y="0"/>
                </a:cubicBezTo>
                <a:close/>
              </a:path>
            </a:pathLst>
          </a:custGeom>
          <a:solidFill>
            <a:srgbClr val="003087">
              <a:alpha val="10196"/>
            </a:srgbClr>
          </a:solidFill>
          <a:ln/>
        </p:spPr>
      </p:sp>
      <p:sp>
        <p:nvSpPr>
          <p:cNvPr id="25" name="Shape 23"/>
          <p:cNvSpPr/>
          <p:nvPr/>
        </p:nvSpPr>
        <p:spPr>
          <a:xfrm>
            <a:off x="4228440" y="3221431"/>
            <a:ext cx="31895" cy="1307710"/>
          </a:xfrm>
          <a:custGeom>
            <a:avLst/>
            <a:gdLst/>
            <a:ahLst/>
            <a:cxnLst/>
            <a:rect l="l" t="t" r="r" b="b"/>
            <a:pathLst>
              <a:path w="31895" h="1307710">
                <a:moveTo>
                  <a:pt x="31895" y="0"/>
                </a:moveTo>
                <a:lnTo>
                  <a:pt x="31895" y="0"/>
                </a:lnTo>
                <a:lnTo>
                  <a:pt x="31895" y="1307710"/>
                </a:lnTo>
                <a:lnTo>
                  <a:pt x="31895" y="1307710"/>
                </a:lnTo>
                <a:cubicBezTo>
                  <a:pt x="14280" y="1307710"/>
                  <a:pt x="0" y="1293430"/>
                  <a:pt x="0" y="1275814"/>
                </a:cubicBezTo>
                <a:lnTo>
                  <a:pt x="0" y="31895"/>
                </a:lnTo>
                <a:cubicBezTo>
                  <a:pt x="0" y="14280"/>
                  <a:pt x="14280" y="0"/>
                  <a:pt x="31895" y="0"/>
                </a:cubicBezTo>
                <a:close/>
              </a:path>
            </a:pathLst>
          </a:custGeom>
          <a:solidFill>
            <a:srgbClr val="003087"/>
          </a:solidFill>
          <a:ln/>
        </p:spPr>
      </p:sp>
      <p:sp>
        <p:nvSpPr>
          <p:cNvPr id="26" name="Shape 24"/>
          <p:cNvSpPr/>
          <p:nvPr/>
        </p:nvSpPr>
        <p:spPr>
          <a:xfrm>
            <a:off x="4419812" y="3349012"/>
            <a:ext cx="143529" cy="191372"/>
          </a:xfrm>
          <a:custGeom>
            <a:avLst/>
            <a:gdLst/>
            <a:ahLst/>
            <a:cxnLst/>
            <a:rect l="l" t="t" r="r" b="b"/>
            <a:pathLst>
              <a:path w="143529" h="191372">
                <a:moveTo>
                  <a:pt x="0" y="23922"/>
                </a:moveTo>
                <a:cubicBezTo>
                  <a:pt x="0" y="10727"/>
                  <a:pt x="10727" y="0"/>
                  <a:pt x="23922" y="0"/>
                </a:cubicBezTo>
                <a:lnTo>
                  <a:pt x="79801" y="0"/>
                </a:lnTo>
                <a:cubicBezTo>
                  <a:pt x="86155" y="0"/>
                  <a:pt x="92247" y="2504"/>
                  <a:pt x="96733" y="6990"/>
                </a:cubicBezTo>
                <a:lnTo>
                  <a:pt x="136540" y="46834"/>
                </a:lnTo>
                <a:cubicBezTo>
                  <a:pt x="141025" y="51319"/>
                  <a:pt x="143529" y="57412"/>
                  <a:pt x="143529" y="63766"/>
                </a:cubicBezTo>
                <a:lnTo>
                  <a:pt x="143529" y="167451"/>
                </a:lnTo>
                <a:cubicBezTo>
                  <a:pt x="143529" y="180645"/>
                  <a:pt x="132802" y="191372"/>
                  <a:pt x="119608" y="191372"/>
                </a:cubicBezTo>
                <a:lnTo>
                  <a:pt x="23922" y="191372"/>
                </a:lnTo>
                <a:cubicBezTo>
                  <a:pt x="10727" y="191372"/>
                  <a:pt x="0" y="180645"/>
                  <a:pt x="0" y="167451"/>
                </a:cubicBezTo>
                <a:lnTo>
                  <a:pt x="0" y="23922"/>
                </a:lnTo>
                <a:close/>
                <a:moveTo>
                  <a:pt x="77745" y="21866"/>
                </a:moveTo>
                <a:lnTo>
                  <a:pt x="77745" y="56814"/>
                </a:lnTo>
                <a:cubicBezTo>
                  <a:pt x="77745" y="61785"/>
                  <a:pt x="81744" y="65784"/>
                  <a:pt x="86716" y="65784"/>
                </a:cubicBezTo>
                <a:lnTo>
                  <a:pt x="121663" y="65784"/>
                </a:lnTo>
                <a:lnTo>
                  <a:pt x="77745" y="21866"/>
                </a:lnTo>
                <a:close/>
                <a:moveTo>
                  <a:pt x="23922" y="32892"/>
                </a:moveTo>
                <a:cubicBezTo>
                  <a:pt x="23922" y="37863"/>
                  <a:pt x="27921" y="41863"/>
                  <a:pt x="32892" y="41863"/>
                </a:cubicBezTo>
                <a:lnTo>
                  <a:pt x="50833" y="41863"/>
                </a:lnTo>
                <a:cubicBezTo>
                  <a:pt x="55804" y="41863"/>
                  <a:pt x="59804" y="37863"/>
                  <a:pt x="59804" y="32892"/>
                </a:cubicBezTo>
                <a:cubicBezTo>
                  <a:pt x="59804" y="27921"/>
                  <a:pt x="55804" y="23922"/>
                  <a:pt x="50833" y="23922"/>
                </a:cubicBezTo>
                <a:lnTo>
                  <a:pt x="32892" y="23922"/>
                </a:lnTo>
                <a:cubicBezTo>
                  <a:pt x="27921" y="23922"/>
                  <a:pt x="23922" y="27921"/>
                  <a:pt x="23922" y="32892"/>
                </a:cubicBezTo>
                <a:close/>
                <a:moveTo>
                  <a:pt x="23922" y="68774"/>
                </a:moveTo>
                <a:cubicBezTo>
                  <a:pt x="23922" y="73746"/>
                  <a:pt x="27921" y="77745"/>
                  <a:pt x="32892" y="77745"/>
                </a:cubicBezTo>
                <a:lnTo>
                  <a:pt x="50833" y="77745"/>
                </a:lnTo>
                <a:cubicBezTo>
                  <a:pt x="55804" y="77745"/>
                  <a:pt x="59804" y="73746"/>
                  <a:pt x="59804" y="68774"/>
                </a:cubicBezTo>
                <a:cubicBezTo>
                  <a:pt x="59804" y="63803"/>
                  <a:pt x="55804" y="59804"/>
                  <a:pt x="50833" y="59804"/>
                </a:cubicBezTo>
                <a:lnTo>
                  <a:pt x="32892" y="59804"/>
                </a:lnTo>
                <a:cubicBezTo>
                  <a:pt x="27921" y="59804"/>
                  <a:pt x="23922" y="63803"/>
                  <a:pt x="23922" y="68774"/>
                </a:cubicBezTo>
                <a:close/>
                <a:moveTo>
                  <a:pt x="65784" y="97181"/>
                </a:moveTo>
                <a:lnTo>
                  <a:pt x="65784" y="98676"/>
                </a:lnTo>
                <a:cubicBezTo>
                  <a:pt x="55019" y="98788"/>
                  <a:pt x="46348" y="107535"/>
                  <a:pt x="46348" y="118299"/>
                </a:cubicBezTo>
                <a:cubicBezTo>
                  <a:pt x="46348" y="127905"/>
                  <a:pt x="53263" y="136091"/>
                  <a:pt x="62757" y="137661"/>
                </a:cubicBezTo>
                <a:lnTo>
                  <a:pt x="78343" y="140277"/>
                </a:lnTo>
                <a:cubicBezTo>
                  <a:pt x="80586" y="140651"/>
                  <a:pt x="82230" y="142595"/>
                  <a:pt x="82230" y="144875"/>
                </a:cubicBezTo>
                <a:cubicBezTo>
                  <a:pt x="82230" y="147454"/>
                  <a:pt x="80137" y="149547"/>
                  <a:pt x="77558" y="149547"/>
                </a:cubicBezTo>
                <a:lnTo>
                  <a:pt x="56814" y="149509"/>
                </a:lnTo>
                <a:cubicBezTo>
                  <a:pt x="52702" y="149509"/>
                  <a:pt x="49338" y="152873"/>
                  <a:pt x="49338" y="156985"/>
                </a:cubicBezTo>
                <a:cubicBezTo>
                  <a:pt x="49338" y="161096"/>
                  <a:pt x="52702" y="164460"/>
                  <a:pt x="56814" y="164460"/>
                </a:cubicBezTo>
                <a:lnTo>
                  <a:pt x="65784" y="164460"/>
                </a:lnTo>
                <a:lnTo>
                  <a:pt x="65784" y="165956"/>
                </a:lnTo>
                <a:cubicBezTo>
                  <a:pt x="65784" y="170067"/>
                  <a:pt x="69148" y="173431"/>
                  <a:pt x="73260" y="173431"/>
                </a:cubicBezTo>
                <a:cubicBezTo>
                  <a:pt x="77371" y="173431"/>
                  <a:pt x="80735" y="170067"/>
                  <a:pt x="80735" y="165956"/>
                </a:cubicBezTo>
                <a:lnTo>
                  <a:pt x="80735" y="164199"/>
                </a:lnTo>
                <a:cubicBezTo>
                  <a:pt x="90079" y="162666"/>
                  <a:pt x="97181" y="154593"/>
                  <a:pt x="97181" y="144837"/>
                </a:cubicBezTo>
                <a:cubicBezTo>
                  <a:pt x="97181" y="135231"/>
                  <a:pt x="90266" y="127046"/>
                  <a:pt x="80772" y="125476"/>
                </a:cubicBezTo>
                <a:lnTo>
                  <a:pt x="65186" y="122859"/>
                </a:lnTo>
                <a:cubicBezTo>
                  <a:pt x="62943" y="122486"/>
                  <a:pt x="61299" y="120542"/>
                  <a:pt x="61299" y="118262"/>
                </a:cubicBezTo>
                <a:cubicBezTo>
                  <a:pt x="61299" y="115683"/>
                  <a:pt x="63392" y="113590"/>
                  <a:pt x="65971" y="113590"/>
                </a:cubicBezTo>
                <a:lnTo>
                  <a:pt x="83725" y="113590"/>
                </a:lnTo>
                <a:cubicBezTo>
                  <a:pt x="87837" y="113590"/>
                  <a:pt x="91201" y="110226"/>
                  <a:pt x="91201" y="106114"/>
                </a:cubicBezTo>
                <a:cubicBezTo>
                  <a:pt x="91201" y="102003"/>
                  <a:pt x="87837" y="98639"/>
                  <a:pt x="83725" y="98639"/>
                </a:cubicBezTo>
                <a:lnTo>
                  <a:pt x="80735" y="98639"/>
                </a:lnTo>
                <a:lnTo>
                  <a:pt x="80735" y="97144"/>
                </a:lnTo>
                <a:cubicBezTo>
                  <a:pt x="80735" y="93032"/>
                  <a:pt x="77371" y="89668"/>
                  <a:pt x="73260" y="89668"/>
                </a:cubicBezTo>
                <a:cubicBezTo>
                  <a:pt x="69148" y="89668"/>
                  <a:pt x="65784" y="93032"/>
                  <a:pt x="65784" y="97144"/>
                </a:cubicBezTo>
                <a:close/>
              </a:path>
            </a:pathLst>
          </a:custGeom>
          <a:solidFill>
            <a:srgbClr val="003087"/>
          </a:solidFill>
          <a:ln/>
        </p:spPr>
      </p:sp>
      <p:sp>
        <p:nvSpPr>
          <p:cNvPr id="27" name="Text 25"/>
          <p:cNvSpPr/>
          <p:nvPr/>
        </p:nvSpPr>
        <p:spPr>
          <a:xfrm>
            <a:off x="4706870" y="3349012"/>
            <a:ext cx="996730"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Loan Processing</a:t>
            </a:r>
            <a:endParaRPr lang="en-US" sz="1600" dirty="0"/>
          </a:p>
        </p:txBody>
      </p:sp>
      <p:sp>
        <p:nvSpPr>
          <p:cNvPr id="28" name="Text 26"/>
          <p:cNvSpPr/>
          <p:nvPr/>
        </p:nvSpPr>
        <p:spPr>
          <a:xfrm>
            <a:off x="4371969" y="3636071"/>
            <a:ext cx="446535"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Current:</a:t>
            </a:r>
            <a:endParaRPr lang="en-US" sz="1600" dirty="0"/>
          </a:p>
        </p:txBody>
      </p:sp>
      <p:sp>
        <p:nvSpPr>
          <p:cNvPr id="29" name="Text 27"/>
          <p:cNvSpPr/>
          <p:nvPr/>
        </p:nvSpPr>
        <p:spPr>
          <a:xfrm>
            <a:off x="7343407" y="3636071"/>
            <a:ext cx="566143"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2-3 weeks</a:t>
            </a:r>
            <a:endParaRPr lang="en-US" sz="1600" dirty="0"/>
          </a:p>
        </p:txBody>
      </p:sp>
      <p:sp>
        <p:nvSpPr>
          <p:cNvPr id="30" name="Text 28"/>
          <p:cNvSpPr/>
          <p:nvPr/>
        </p:nvSpPr>
        <p:spPr>
          <a:xfrm>
            <a:off x="4371969" y="3859338"/>
            <a:ext cx="390718"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Target:</a:t>
            </a:r>
            <a:endParaRPr lang="en-US" sz="1600" dirty="0"/>
          </a:p>
        </p:txBody>
      </p:sp>
      <p:sp>
        <p:nvSpPr>
          <p:cNvPr id="31" name="Text 29"/>
          <p:cNvSpPr/>
          <p:nvPr/>
        </p:nvSpPr>
        <p:spPr>
          <a:xfrm>
            <a:off x="7422585" y="3859338"/>
            <a:ext cx="486404" cy="159477"/>
          </a:xfrm>
          <a:prstGeom prst="rect">
            <a:avLst/>
          </a:prstGeom>
          <a:noFill/>
          <a:ln/>
        </p:spPr>
        <p:txBody>
          <a:bodyPr wrap="square" lIns="0" tIns="0" rIns="0" bIns="0" rtlCol="0" anchor="ctr"/>
          <a:lstStyle/>
          <a:p>
            <a:pPr>
              <a:lnSpc>
                <a:spcPct val="120000"/>
              </a:lnSpc>
            </a:pPr>
            <a:r>
              <a:rPr lang="en-US" sz="879" b="1" dirty="0">
                <a:solidFill>
                  <a:srgbClr val="FF6B00"/>
                </a:solidFill>
                <a:latin typeface="Quattrocento Sans" pitchFamily="34" charset="0"/>
                <a:ea typeface="Quattrocento Sans" pitchFamily="34" charset="-122"/>
                <a:cs typeface="Quattrocento Sans" pitchFamily="34" charset="-120"/>
              </a:rPr>
              <a:t>3-5 days</a:t>
            </a:r>
            <a:endParaRPr lang="en-US" sz="1600" dirty="0"/>
          </a:p>
        </p:txBody>
      </p:sp>
      <p:sp>
        <p:nvSpPr>
          <p:cNvPr id="32" name="Text 30"/>
          <p:cNvSpPr/>
          <p:nvPr/>
        </p:nvSpPr>
        <p:spPr>
          <a:xfrm>
            <a:off x="4371969" y="4082606"/>
            <a:ext cx="3532411" cy="159477"/>
          </a:xfrm>
          <a:prstGeom prst="rect">
            <a:avLst/>
          </a:prstGeom>
          <a:noFill/>
          <a:ln/>
        </p:spPr>
        <p:txBody>
          <a:bodyPr wrap="square" lIns="0" tIns="0" rIns="0" bIns="0" rtlCol="0" anchor="ctr"/>
          <a:lstStyle/>
          <a:p>
            <a:pPr>
              <a:lnSpc>
                <a:spcPct val="120000"/>
              </a:lnSpc>
            </a:pPr>
            <a:r>
              <a:rPr lang="en-US" sz="879" b="1" dirty="0">
                <a:solidFill>
                  <a:srgbClr val="1A1A1A">
                    <a:alpha val="80000"/>
                  </a:srgbClr>
                </a:solidFill>
                <a:latin typeface="Quattrocento Sans" pitchFamily="34" charset="0"/>
                <a:ea typeface="Quattrocento Sans" pitchFamily="34" charset="-122"/>
                <a:cs typeface="Quattrocento Sans" pitchFamily="34" charset="-120"/>
              </a:rPr>
              <a:t>Impact:</a:t>
            </a:r>
            <a:r>
              <a:rPr lang="en-US" sz="879" dirty="0">
                <a:solidFill>
                  <a:srgbClr val="1A1A1A">
                    <a:alpha val="80000"/>
                  </a:srgbClr>
                </a:solidFill>
                <a:latin typeface="Quattrocento Sans" pitchFamily="34" charset="0"/>
                <a:ea typeface="Quattrocento Sans" pitchFamily="34" charset="-122"/>
                <a:cs typeface="Quattrocento Sans" pitchFamily="34" charset="-120"/>
              </a:rPr>
              <a:t> Automated data extraction, credit checks, eligibility assessment</a:t>
            </a:r>
            <a:endParaRPr lang="en-US" sz="1600" dirty="0"/>
          </a:p>
        </p:txBody>
      </p:sp>
      <p:sp>
        <p:nvSpPr>
          <p:cNvPr id="33" name="Shape 31"/>
          <p:cNvSpPr/>
          <p:nvPr/>
        </p:nvSpPr>
        <p:spPr>
          <a:xfrm>
            <a:off x="334901" y="4656722"/>
            <a:ext cx="3747704" cy="1148233"/>
          </a:xfrm>
          <a:custGeom>
            <a:avLst/>
            <a:gdLst/>
            <a:ahLst/>
            <a:cxnLst/>
            <a:rect l="l" t="t" r="r" b="b"/>
            <a:pathLst>
              <a:path w="3747704" h="1148233">
                <a:moveTo>
                  <a:pt x="31895" y="0"/>
                </a:moveTo>
                <a:lnTo>
                  <a:pt x="3652022" y="0"/>
                </a:lnTo>
                <a:cubicBezTo>
                  <a:pt x="3704866" y="0"/>
                  <a:pt x="3747704" y="42838"/>
                  <a:pt x="3747704" y="95682"/>
                </a:cubicBezTo>
                <a:lnTo>
                  <a:pt x="3747704" y="1052551"/>
                </a:lnTo>
                <a:cubicBezTo>
                  <a:pt x="3747704" y="1105394"/>
                  <a:pt x="3704866" y="1148233"/>
                  <a:pt x="3652022" y="1148233"/>
                </a:cubicBezTo>
                <a:lnTo>
                  <a:pt x="31895" y="1148233"/>
                </a:lnTo>
                <a:cubicBezTo>
                  <a:pt x="14280" y="1148233"/>
                  <a:pt x="0" y="1133953"/>
                  <a:pt x="0" y="1116337"/>
                </a:cubicBezTo>
                <a:lnTo>
                  <a:pt x="0" y="31895"/>
                </a:lnTo>
                <a:cubicBezTo>
                  <a:pt x="0" y="14280"/>
                  <a:pt x="14280" y="0"/>
                  <a:pt x="31895" y="0"/>
                </a:cubicBezTo>
                <a:close/>
              </a:path>
            </a:pathLst>
          </a:custGeom>
          <a:solidFill>
            <a:srgbClr val="FF6B00">
              <a:alpha val="10196"/>
            </a:srgbClr>
          </a:solidFill>
          <a:ln/>
        </p:spPr>
      </p:sp>
      <p:sp>
        <p:nvSpPr>
          <p:cNvPr id="34" name="Shape 32"/>
          <p:cNvSpPr/>
          <p:nvPr/>
        </p:nvSpPr>
        <p:spPr>
          <a:xfrm>
            <a:off x="334901" y="4656722"/>
            <a:ext cx="31895" cy="1148233"/>
          </a:xfrm>
          <a:custGeom>
            <a:avLst/>
            <a:gdLst/>
            <a:ahLst/>
            <a:cxnLst/>
            <a:rect l="l" t="t" r="r" b="b"/>
            <a:pathLst>
              <a:path w="31895" h="1148233">
                <a:moveTo>
                  <a:pt x="31895" y="0"/>
                </a:moveTo>
                <a:lnTo>
                  <a:pt x="31895" y="0"/>
                </a:lnTo>
                <a:lnTo>
                  <a:pt x="31895" y="1148233"/>
                </a:lnTo>
                <a:lnTo>
                  <a:pt x="31895" y="1148233"/>
                </a:lnTo>
                <a:cubicBezTo>
                  <a:pt x="14280" y="1148233"/>
                  <a:pt x="0" y="1133953"/>
                  <a:pt x="0" y="1116337"/>
                </a:cubicBezTo>
                <a:lnTo>
                  <a:pt x="0" y="31895"/>
                </a:lnTo>
                <a:cubicBezTo>
                  <a:pt x="0" y="14280"/>
                  <a:pt x="14280" y="0"/>
                  <a:pt x="31895" y="0"/>
                </a:cubicBezTo>
                <a:close/>
              </a:path>
            </a:pathLst>
          </a:custGeom>
          <a:solidFill>
            <a:srgbClr val="FF6B00"/>
          </a:solidFill>
          <a:ln/>
        </p:spPr>
      </p:sp>
      <p:sp>
        <p:nvSpPr>
          <p:cNvPr id="35" name="Shape 33"/>
          <p:cNvSpPr/>
          <p:nvPr/>
        </p:nvSpPr>
        <p:spPr>
          <a:xfrm>
            <a:off x="478430" y="4784303"/>
            <a:ext cx="239215" cy="191372"/>
          </a:xfrm>
          <a:custGeom>
            <a:avLst/>
            <a:gdLst/>
            <a:ahLst/>
            <a:cxnLst/>
            <a:rect l="l" t="t" r="r" b="b"/>
            <a:pathLst>
              <a:path w="239215" h="191372">
                <a:moveTo>
                  <a:pt x="50833" y="47843"/>
                </a:moveTo>
                <a:cubicBezTo>
                  <a:pt x="50833" y="23088"/>
                  <a:pt x="70931" y="2990"/>
                  <a:pt x="95686" y="2990"/>
                </a:cubicBezTo>
                <a:cubicBezTo>
                  <a:pt x="120441" y="2990"/>
                  <a:pt x="140539" y="23088"/>
                  <a:pt x="140539" y="47843"/>
                </a:cubicBezTo>
                <a:cubicBezTo>
                  <a:pt x="140539" y="72598"/>
                  <a:pt x="120441" y="92696"/>
                  <a:pt x="95686" y="92696"/>
                </a:cubicBezTo>
                <a:cubicBezTo>
                  <a:pt x="70931" y="92696"/>
                  <a:pt x="50833" y="72598"/>
                  <a:pt x="50833" y="47843"/>
                </a:cubicBezTo>
                <a:close/>
                <a:moveTo>
                  <a:pt x="17941" y="180271"/>
                </a:moveTo>
                <a:cubicBezTo>
                  <a:pt x="17941" y="143454"/>
                  <a:pt x="47768" y="113627"/>
                  <a:pt x="84585" y="113627"/>
                </a:cubicBezTo>
                <a:lnTo>
                  <a:pt x="106787" y="113627"/>
                </a:lnTo>
                <a:cubicBezTo>
                  <a:pt x="143604" y="113627"/>
                  <a:pt x="173431" y="143454"/>
                  <a:pt x="173431" y="180271"/>
                </a:cubicBezTo>
                <a:cubicBezTo>
                  <a:pt x="173431" y="186401"/>
                  <a:pt x="168460" y="191372"/>
                  <a:pt x="162330" y="191372"/>
                </a:cubicBezTo>
                <a:lnTo>
                  <a:pt x="29042" y="191372"/>
                </a:lnTo>
                <a:cubicBezTo>
                  <a:pt x="22912" y="191372"/>
                  <a:pt x="17941" y="186401"/>
                  <a:pt x="17941" y="180271"/>
                </a:cubicBezTo>
                <a:close/>
                <a:moveTo>
                  <a:pt x="203333" y="35882"/>
                </a:moveTo>
                <a:cubicBezTo>
                  <a:pt x="208304" y="35882"/>
                  <a:pt x="212303" y="39882"/>
                  <a:pt x="212303" y="44853"/>
                </a:cubicBezTo>
                <a:lnTo>
                  <a:pt x="212303" y="62794"/>
                </a:lnTo>
                <a:lnTo>
                  <a:pt x="230245" y="62794"/>
                </a:lnTo>
                <a:cubicBezTo>
                  <a:pt x="235216" y="62794"/>
                  <a:pt x="239215" y="66793"/>
                  <a:pt x="239215" y="71765"/>
                </a:cubicBezTo>
                <a:cubicBezTo>
                  <a:pt x="239215" y="76736"/>
                  <a:pt x="235216" y="80735"/>
                  <a:pt x="230245" y="80735"/>
                </a:cubicBezTo>
                <a:lnTo>
                  <a:pt x="212303" y="80735"/>
                </a:lnTo>
                <a:lnTo>
                  <a:pt x="212303" y="98676"/>
                </a:lnTo>
                <a:cubicBezTo>
                  <a:pt x="212303" y="103647"/>
                  <a:pt x="208304" y="107647"/>
                  <a:pt x="203333" y="107647"/>
                </a:cubicBezTo>
                <a:cubicBezTo>
                  <a:pt x="198362" y="107647"/>
                  <a:pt x="194362" y="103647"/>
                  <a:pt x="194362" y="98676"/>
                </a:cubicBezTo>
                <a:lnTo>
                  <a:pt x="194362" y="80735"/>
                </a:lnTo>
                <a:lnTo>
                  <a:pt x="176421" y="80735"/>
                </a:lnTo>
                <a:cubicBezTo>
                  <a:pt x="171450" y="80735"/>
                  <a:pt x="167451" y="76736"/>
                  <a:pt x="167451" y="71765"/>
                </a:cubicBezTo>
                <a:cubicBezTo>
                  <a:pt x="167451" y="66793"/>
                  <a:pt x="171450" y="62794"/>
                  <a:pt x="176421" y="62794"/>
                </a:cubicBezTo>
                <a:lnTo>
                  <a:pt x="194362" y="62794"/>
                </a:lnTo>
                <a:lnTo>
                  <a:pt x="194362" y="44853"/>
                </a:lnTo>
                <a:cubicBezTo>
                  <a:pt x="194362" y="39882"/>
                  <a:pt x="198362" y="35882"/>
                  <a:pt x="203333" y="35882"/>
                </a:cubicBezTo>
                <a:close/>
              </a:path>
            </a:pathLst>
          </a:custGeom>
          <a:solidFill>
            <a:srgbClr val="FF6B00"/>
          </a:solidFill>
          <a:ln/>
        </p:spPr>
      </p:sp>
      <p:sp>
        <p:nvSpPr>
          <p:cNvPr id="36" name="Text 34"/>
          <p:cNvSpPr/>
          <p:nvPr/>
        </p:nvSpPr>
        <p:spPr>
          <a:xfrm>
            <a:off x="813332" y="4784303"/>
            <a:ext cx="1227971"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Account Onboarding</a:t>
            </a:r>
            <a:endParaRPr lang="en-US" sz="1600" dirty="0"/>
          </a:p>
        </p:txBody>
      </p:sp>
      <p:sp>
        <p:nvSpPr>
          <p:cNvPr id="37" name="Text 35"/>
          <p:cNvSpPr/>
          <p:nvPr/>
        </p:nvSpPr>
        <p:spPr>
          <a:xfrm>
            <a:off x="478430" y="5071362"/>
            <a:ext cx="446535"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Current:</a:t>
            </a:r>
            <a:endParaRPr lang="en-US" sz="1600" dirty="0"/>
          </a:p>
        </p:txBody>
      </p:sp>
      <p:sp>
        <p:nvSpPr>
          <p:cNvPr id="38" name="Text 36"/>
          <p:cNvSpPr/>
          <p:nvPr/>
        </p:nvSpPr>
        <p:spPr>
          <a:xfrm>
            <a:off x="3537644" y="5071362"/>
            <a:ext cx="478430"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5-7 days</a:t>
            </a:r>
            <a:endParaRPr lang="en-US" sz="1600" dirty="0"/>
          </a:p>
        </p:txBody>
      </p:sp>
      <p:sp>
        <p:nvSpPr>
          <p:cNvPr id="39" name="Text 37"/>
          <p:cNvSpPr/>
          <p:nvPr/>
        </p:nvSpPr>
        <p:spPr>
          <a:xfrm>
            <a:off x="478430" y="5294629"/>
            <a:ext cx="390718"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Target:</a:t>
            </a:r>
            <a:endParaRPr lang="en-US" sz="1600" dirty="0"/>
          </a:p>
        </p:txBody>
      </p:sp>
      <p:sp>
        <p:nvSpPr>
          <p:cNvPr id="40" name="Text 38"/>
          <p:cNvSpPr/>
          <p:nvPr/>
        </p:nvSpPr>
        <p:spPr>
          <a:xfrm>
            <a:off x="3556519" y="5294629"/>
            <a:ext cx="454509" cy="159477"/>
          </a:xfrm>
          <a:prstGeom prst="rect">
            <a:avLst/>
          </a:prstGeom>
          <a:noFill/>
          <a:ln/>
        </p:spPr>
        <p:txBody>
          <a:bodyPr wrap="square" lIns="0" tIns="0" rIns="0" bIns="0" rtlCol="0" anchor="ctr"/>
          <a:lstStyle/>
          <a:p>
            <a:pPr>
              <a:lnSpc>
                <a:spcPct val="120000"/>
              </a:lnSpc>
            </a:pPr>
            <a:r>
              <a:rPr lang="en-US" sz="879" b="1" dirty="0">
                <a:solidFill>
                  <a:srgbClr val="FF6B00"/>
                </a:solidFill>
                <a:latin typeface="Quattrocento Sans" pitchFamily="34" charset="0"/>
                <a:ea typeface="Quattrocento Sans" pitchFamily="34" charset="-122"/>
                <a:cs typeface="Quattrocento Sans" pitchFamily="34" charset="-120"/>
              </a:rPr>
              <a:t>1-2 days</a:t>
            </a:r>
            <a:endParaRPr lang="en-US" sz="1600" dirty="0"/>
          </a:p>
        </p:txBody>
      </p:sp>
      <p:sp>
        <p:nvSpPr>
          <p:cNvPr id="41" name="Text 39"/>
          <p:cNvSpPr/>
          <p:nvPr/>
        </p:nvSpPr>
        <p:spPr>
          <a:xfrm>
            <a:off x="478430" y="5517897"/>
            <a:ext cx="3532411" cy="159477"/>
          </a:xfrm>
          <a:prstGeom prst="rect">
            <a:avLst/>
          </a:prstGeom>
          <a:noFill/>
          <a:ln/>
        </p:spPr>
        <p:txBody>
          <a:bodyPr wrap="square" lIns="0" tIns="0" rIns="0" bIns="0" rtlCol="0" anchor="ctr"/>
          <a:lstStyle/>
          <a:p>
            <a:pPr>
              <a:lnSpc>
                <a:spcPct val="120000"/>
              </a:lnSpc>
            </a:pPr>
            <a:r>
              <a:rPr lang="en-US" sz="879" b="1" dirty="0">
                <a:solidFill>
                  <a:srgbClr val="1A1A1A">
                    <a:alpha val="80000"/>
                  </a:srgbClr>
                </a:solidFill>
                <a:latin typeface="Quattrocento Sans" pitchFamily="34" charset="0"/>
                <a:ea typeface="Quattrocento Sans" pitchFamily="34" charset="-122"/>
                <a:cs typeface="Quattrocento Sans" pitchFamily="34" charset="-120"/>
              </a:rPr>
              <a:t>Impact:</a:t>
            </a:r>
            <a:r>
              <a:rPr lang="en-US" sz="879" dirty="0">
                <a:solidFill>
                  <a:srgbClr val="1A1A1A">
                    <a:alpha val="80000"/>
                  </a:srgbClr>
                </a:solidFill>
                <a:latin typeface="Quattrocento Sans" pitchFamily="34" charset="0"/>
                <a:ea typeface="Quattrocento Sans" pitchFamily="34" charset="-122"/>
                <a:cs typeface="Quattrocento Sans" pitchFamily="34" charset="-120"/>
              </a:rPr>
              <a:t> 80% automation of data entry, validation, system integration</a:t>
            </a:r>
            <a:endParaRPr lang="en-US" sz="1600" dirty="0"/>
          </a:p>
        </p:txBody>
      </p:sp>
      <p:sp>
        <p:nvSpPr>
          <p:cNvPr id="42" name="Shape 40"/>
          <p:cNvSpPr/>
          <p:nvPr/>
        </p:nvSpPr>
        <p:spPr>
          <a:xfrm>
            <a:off x="4228440" y="4656722"/>
            <a:ext cx="3747704" cy="1148233"/>
          </a:xfrm>
          <a:custGeom>
            <a:avLst/>
            <a:gdLst/>
            <a:ahLst/>
            <a:cxnLst/>
            <a:rect l="l" t="t" r="r" b="b"/>
            <a:pathLst>
              <a:path w="3747704" h="1148233">
                <a:moveTo>
                  <a:pt x="31895" y="0"/>
                </a:moveTo>
                <a:lnTo>
                  <a:pt x="3652022" y="0"/>
                </a:lnTo>
                <a:cubicBezTo>
                  <a:pt x="3704866" y="0"/>
                  <a:pt x="3747704" y="42838"/>
                  <a:pt x="3747704" y="95682"/>
                </a:cubicBezTo>
                <a:lnTo>
                  <a:pt x="3747704" y="1052551"/>
                </a:lnTo>
                <a:cubicBezTo>
                  <a:pt x="3747704" y="1105394"/>
                  <a:pt x="3704866" y="1148233"/>
                  <a:pt x="3652022" y="1148233"/>
                </a:cubicBezTo>
                <a:lnTo>
                  <a:pt x="31895" y="1148233"/>
                </a:lnTo>
                <a:cubicBezTo>
                  <a:pt x="14280" y="1148233"/>
                  <a:pt x="0" y="1133953"/>
                  <a:pt x="0" y="1116337"/>
                </a:cubicBezTo>
                <a:lnTo>
                  <a:pt x="0" y="31895"/>
                </a:lnTo>
                <a:cubicBezTo>
                  <a:pt x="0" y="14280"/>
                  <a:pt x="14280" y="0"/>
                  <a:pt x="31895" y="0"/>
                </a:cubicBezTo>
                <a:close/>
              </a:path>
            </a:pathLst>
          </a:custGeom>
          <a:solidFill>
            <a:srgbClr val="003087">
              <a:alpha val="10196"/>
            </a:srgbClr>
          </a:solidFill>
          <a:ln/>
        </p:spPr>
      </p:sp>
      <p:sp>
        <p:nvSpPr>
          <p:cNvPr id="43" name="Shape 41"/>
          <p:cNvSpPr/>
          <p:nvPr/>
        </p:nvSpPr>
        <p:spPr>
          <a:xfrm>
            <a:off x="4228440" y="4656722"/>
            <a:ext cx="31895" cy="1148233"/>
          </a:xfrm>
          <a:custGeom>
            <a:avLst/>
            <a:gdLst/>
            <a:ahLst/>
            <a:cxnLst/>
            <a:rect l="l" t="t" r="r" b="b"/>
            <a:pathLst>
              <a:path w="31895" h="1148233">
                <a:moveTo>
                  <a:pt x="31895" y="0"/>
                </a:moveTo>
                <a:lnTo>
                  <a:pt x="31895" y="0"/>
                </a:lnTo>
                <a:lnTo>
                  <a:pt x="31895" y="1148233"/>
                </a:lnTo>
                <a:lnTo>
                  <a:pt x="31895" y="1148233"/>
                </a:lnTo>
                <a:cubicBezTo>
                  <a:pt x="14280" y="1148233"/>
                  <a:pt x="0" y="1133953"/>
                  <a:pt x="0" y="1116337"/>
                </a:cubicBezTo>
                <a:lnTo>
                  <a:pt x="0" y="31895"/>
                </a:lnTo>
                <a:cubicBezTo>
                  <a:pt x="0" y="14280"/>
                  <a:pt x="14280" y="0"/>
                  <a:pt x="31895" y="0"/>
                </a:cubicBezTo>
                <a:close/>
              </a:path>
            </a:pathLst>
          </a:custGeom>
          <a:solidFill>
            <a:srgbClr val="003087"/>
          </a:solidFill>
          <a:ln/>
        </p:spPr>
      </p:sp>
      <p:sp>
        <p:nvSpPr>
          <p:cNvPr id="44" name="Shape 42"/>
          <p:cNvSpPr/>
          <p:nvPr/>
        </p:nvSpPr>
        <p:spPr>
          <a:xfrm>
            <a:off x="4395890" y="4784303"/>
            <a:ext cx="191372" cy="191372"/>
          </a:xfrm>
          <a:custGeom>
            <a:avLst/>
            <a:gdLst/>
            <a:ahLst/>
            <a:cxnLst/>
            <a:rect l="l" t="t" r="r" b="b"/>
            <a:pathLst>
              <a:path w="191372" h="191372">
                <a:moveTo>
                  <a:pt x="95686" y="0"/>
                </a:moveTo>
                <a:cubicBezTo>
                  <a:pt x="97405" y="0"/>
                  <a:pt x="99125" y="374"/>
                  <a:pt x="100695" y="1084"/>
                </a:cubicBezTo>
                <a:lnTo>
                  <a:pt x="171114" y="30948"/>
                </a:lnTo>
                <a:cubicBezTo>
                  <a:pt x="179337" y="34425"/>
                  <a:pt x="185467" y="42535"/>
                  <a:pt x="185429" y="52328"/>
                </a:cubicBezTo>
                <a:cubicBezTo>
                  <a:pt x="185242" y="89407"/>
                  <a:pt x="169992" y="157247"/>
                  <a:pt x="105591" y="188083"/>
                </a:cubicBezTo>
                <a:cubicBezTo>
                  <a:pt x="99349" y="191073"/>
                  <a:pt x="92098" y="191073"/>
                  <a:pt x="85856" y="188083"/>
                </a:cubicBezTo>
                <a:cubicBezTo>
                  <a:pt x="21417" y="157247"/>
                  <a:pt x="6205" y="89407"/>
                  <a:pt x="6018" y="52328"/>
                </a:cubicBezTo>
                <a:cubicBezTo>
                  <a:pt x="5980" y="42535"/>
                  <a:pt x="12110" y="34425"/>
                  <a:pt x="20333" y="30948"/>
                </a:cubicBezTo>
                <a:lnTo>
                  <a:pt x="90715" y="1084"/>
                </a:lnTo>
                <a:cubicBezTo>
                  <a:pt x="92285" y="374"/>
                  <a:pt x="93967" y="0"/>
                  <a:pt x="95686" y="0"/>
                </a:cubicBezTo>
                <a:close/>
                <a:moveTo>
                  <a:pt x="95686" y="24968"/>
                </a:moveTo>
                <a:lnTo>
                  <a:pt x="95686" y="166292"/>
                </a:lnTo>
                <a:cubicBezTo>
                  <a:pt x="147267" y="141324"/>
                  <a:pt x="161134" y="86005"/>
                  <a:pt x="161470" y="52889"/>
                </a:cubicBezTo>
                <a:lnTo>
                  <a:pt x="95686" y="25005"/>
                </a:lnTo>
                <a:lnTo>
                  <a:pt x="95686" y="25005"/>
                </a:lnTo>
                <a:close/>
              </a:path>
            </a:pathLst>
          </a:custGeom>
          <a:solidFill>
            <a:srgbClr val="003087"/>
          </a:solidFill>
          <a:ln/>
        </p:spPr>
      </p:sp>
      <p:sp>
        <p:nvSpPr>
          <p:cNvPr id="45" name="Text 43"/>
          <p:cNvSpPr/>
          <p:nvPr/>
        </p:nvSpPr>
        <p:spPr>
          <a:xfrm>
            <a:off x="4706870" y="4784303"/>
            <a:ext cx="964835"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Fraud Detection</a:t>
            </a:r>
            <a:endParaRPr lang="en-US" sz="1600" dirty="0"/>
          </a:p>
        </p:txBody>
      </p:sp>
      <p:sp>
        <p:nvSpPr>
          <p:cNvPr id="46" name="Text 44"/>
          <p:cNvSpPr/>
          <p:nvPr/>
        </p:nvSpPr>
        <p:spPr>
          <a:xfrm>
            <a:off x="4371969" y="5071362"/>
            <a:ext cx="446535"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Current:</a:t>
            </a:r>
            <a:endParaRPr lang="en-US" sz="1600" dirty="0"/>
          </a:p>
        </p:txBody>
      </p:sp>
      <p:sp>
        <p:nvSpPr>
          <p:cNvPr id="47" name="Text 45"/>
          <p:cNvSpPr/>
          <p:nvPr/>
        </p:nvSpPr>
        <p:spPr>
          <a:xfrm>
            <a:off x="7032490" y="5071362"/>
            <a:ext cx="877122"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Batch processing</a:t>
            </a:r>
            <a:endParaRPr lang="en-US" sz="1600" dirty="0"/>
          </a:p>
        </p:txBody>
      </p:sp>
      <p:sp>
        <p:nvSpPr>
          <p:cNvPr id="48" name="Text 46"/>
          <p:cNvSpPr/>
          <p:nvPr/>
        </p:nvSpPr>
        <p:spPr>
          <a:xfrm>
            <a:off x="4371969" y="5294629"/>
            <a:ext cx="390718" cy="159477"/>
          </a:xfrm>
          <a:prstGeom prst="rect">
            <a:avLst/>
          </a:prstGeom>
          <a:noFill/>
          <a:ln/>
        </p:spPr>
        <p:txBody>
          <a:bodyPr wrap="square" lIns="0" tIns="0" rIns="0" bIns="0" rtlCol="0" anchor="ctr"/>
          <a:lstStyle/>
          <a:p>
            <a:pPr>
              <a:lnSpc>
                <a:spcPct val="120000"/>
              </a:lnSpc>
            </a:pPr>
            <a:r>
              <a:rPr lang="en-US" sz="879" dirty="0">
                <a:solidFill>
                  <a:srgbClr val="1A1A1A">
                    <a:alpha val="70000"/>
                  </a:srgbClr>
                </a:solidFill>
                <a:latin typeface="Quattrocento Sans" pitchFamily="34" charset="0"/>
                <a:ea typeface="Quattrocento Sans" pitchFamily="34" charset="-122"/>
                <a:cs typeface="Quattrocento Sans" pitchFamily="34" charset="-120"/>
              </a:rPr>
              <a:t>Target:</a:t>
            </a:r>
            <a:endParaRPr lang="en-US" sz="1600" dirty="0"/>
          </a:p>
        </p:txBody>
      </p:sp>
      <p:sp>
        <p:nvSpPr>
          <p:cNvPr id="49" name="Text 47"/>
          <p:cNvSpPr/>
          <p:nvPr/>
        </p:nvSpPr>
        <p:spPr>
          <a:xfrm>
            <a:off x="7376549" y="5294629"/>
            <a:ext cx="526273" cy="159477"/>
          </a:xfrm>
          <a:prstGeom prst="rect">
            <a:avLst/>
          </a:prstGeom>
          <a:noFill/>
          <a:ln/>
        </p:spPr>
        <p:txBody>
          <a:bodyPr wrap="square" lIns="0" tIns="0" rIns="0" bIns="0" rtlCol="0" anchor="ctr"/>
          <a:lstStyle/>
          <a:p>
            <a:pPr>
              <a:lnSpc>
                <a:spcPct val="120000"/>
              </a:lnSpc>
            </a:pPr>
            <a:r>
              <a:rPr lang="en-US" sz="879" b="1" dirty="0">
                <a:solidFill>
                  <a:srgbClr val="FF6B00"/>
                </a:solidFill>
                <a:latin typeface="Quattrocento Sans" pitchFamily="34" charset="0"/>
                <a:ea typeface="Quattrocento Sans" pitchFamily="34" charset="-122"/>
                <a:cs typeface="Quattrocento Sans" pitchFamily="34" charset="-120"/>
              </a:rPr>
              <a:t>Real-time</a:t>
            </a:r>
            <a:endParaRPr lang="en-US" sz="1600" dirty="0"/>
          </a:p>
        </p:txBody>
      </p:sp>
      <p:sp>
        <p:nvSpPr>
          <p:cNvPr id="50" name="Text 48"/>
          <p:cNvSpPr/>
          <p:nvPr/>
        </p:nvSpPr>
        <p:spPr>
          <a:xfrm>
            <a:off x="4371969" y="5517897"/>
            <a:ext cx="3532411" cy="159477"/>
          </a:xfrm>
          <a:prstGeom prst="rect">
            <a:avLst/>
          </a:prstGeom>
          <a:noFill/>
          <a:ln/>
        </p:spPr>
        <p:txBody>
          <a:bodyPr wrap="square" lIns="0" tIns="0" rIns="0" bIns="0" rtlCol="0" anchor="ctr"/>
          <a:lstStyle/>
          <a:p>
            <a:pPr>
              <a:lnSpc>
                <a:spcPct val="120000"/>
              </a:lnSpc>
            </a:pPr>
            <a:r>
              <a:rPr lang="en-US" sz="879" b="1" dirty="0">
                <a:solidFill>
                  <a:srgbClr val="1A1A1A">
                    <a:alpha val="80000"/>
                  </a:srgbClr>
                </a:solidFill>
                <a:latin typeface="Quattrocento Sans" pitchFamily="34" charset="0"/>
                <a:ea typeface="Quattrocento Sans" pitchFamily="34" charset="-122"/>
                <a:cs typeface="Quattrocento Sans" pitchFamily="34" charset="-120"/>
              </a:rPr>
              <a:t>Impact:</a:t>
            </a:r>
            <a:r>
              <a:rPr lang="en-US" sz="879" dirty="0">
                <a:solidFill>
                  <a:srgbClr val="1A1A1A">
                    <a:alpha val="80000"/>
                  </a:srgbClr>
                </a:solidFill>
                <a:latin typeface="Quattrocento Sans" pitchFamily="34" charset="0"/>
                <a:ea typeface="Quattrocento Sans" pitchFamily="34" charset="-122"/>
                <a:cs typeface="Quattrocento Sans" pitchFamily="34" charset="-120"/>
              </a:rPr>
              <a:t> Continuous monitoring, pattern recognition, instant alerts</a:t>
            </a:r>
            <a:endParaRPr lang="en-US" sz="1600" dirty="0"/>
          </a:p>
        </p:txBody>
      </p:sp>
      <p:sp>
        <p:nvSpPr>
          <p:cNvPr id="51" name="Shape 49"/>
          <p:cNvSpPr/>
          <p:nvPr/>
        </p:nvSpPr>
        <p:spPr>
          <a:xfrm>
            <a:off x="8106093" y="1148233"/>
            <a:ext cx="3763652" cy="3253326"/>
          </a:xfrm>
          <a:custGeom>
            <a:avLst/>
            <a:gdLst/>
            <a:ahLst/>
            <a:cxnLst/>
            <a:rect l="l" t="t" r="r" b="b"/>
            <a:pathLst>
              <a:path w="3763652" h="3253326">
                <a:moveTo>
                  <a:pt x="95680" y="0"/>
                </a:moveTo>
                <a:lnTo>
                  <a:pt x="3667972" y="0"/>
                </a:lnTo>
                <a:cubicBezTo>
                  <a:pt x="3720815" y="0"/>
                  <a:pt x="3763652" y="42838"/>
                  <a:pt x="3763652" y="95680"/>
                </a:cubicBezTo>
                <a:lnTo>
                  <a:pt x="3763652" y="3157646"/>
                </a:lnTo>
                <a:cubicBezTo>
                  <a:pt x="3763652" y="3210489"/>
                  <a:pt x="3720815" y="3253326"/>
                  <a:pt x="3667972" y="3253326"/>
                </a:cubicBezTo>
                <a:lnTo>
                  <a:pt x="95680" y="3253326"/>
                </a:lnTo>
                <a:cubicBezTo>
                  <a:pt x="42838" y="3253326"/>
                  <a:pt x="0" y="3210489"/>
                  <a:pt x="0" y="3157646"/>
                </a:cubicBezTo>
                <a:lnTo>
                  <a:pt x="0" y="95680"/>
                </a:lnTo>
                <a:cubicBezTo>
                  <a:pt x="0" y="42838"/>
                  <a:pt x="42838" y="0"/>
                  <a:pt x="95680" y="0"/>
                </a:cubicBezTo>
                <a:close/>
              </a:path>
            </a:pathLst>
          </a:custGeom>
          <a:solidFill>
            <a:srgbClr val="F9FAFB"/>
          </a:solidFill>
          <a:ln/>
        </p:spPr>
      </p:sp>
      <p:sp>
        <p:nvSpPr>
          <p:cNvPr id="52" name="Text 50"/>
          <p:cNvSpPr/>
          <p:nvPr/>
        </p:nvSpPr>
        <p:spPr>
          <a:xfrm>
            <a:off x="8265569" y="1307710"/>
            <a:ext cx="3516463" cy="223267"/>
          </a:xfrm>
          <a:prstGeom prst="rect">
            <a:avLst/>
          </a:prstGeom>
          <a:noFill/>
          <a:ln/>
        </p:spPr>
        <p:txBody>
          <a:bodyPr wrap="square" lIns="0" tIns="0" rIns="0" bIns="0" rtlCol="0" anchor="ctr"/>
          <a:lstStyle/>
          <a:p>
            <a:pPr>
              <a:lnSpc>
                <a:spcPct val="130000"/>
              </a:lnSpc>
            </a:pPr>
            <a:r>
              <a:rPr lang="en-US" sz="1130" b="1" dirty="0">
                <a:solidFill>
                  <a:srgbClr val="003087"/>
                </a:solidFill>
                <a:latin typeface="Liter" pitchFamily="34" charset="0"/>
                <a:ea typeface="Liter" pitchFamily="34" charset="-122"/>
                <a:cs typeface="Liter" pitchFamily="34" charset="-120"/>
              </a:rPr>
              <a:t>Implementation Complexity Matrix</a:t>
            </a:r>
            <a:endParaRPr lang="en-US" sz="1600" dirty="0"/>
          </a:p>
        </p:txBody>
      </p:sp>
      <p:sp>
        <p:nvSpPr>
          <p:cNvPr id="53" name="Shape 51"/>
          <p:cNvSpPr/>
          <p:nvPr/>
        </p:nvSpPr>
        <p:spPr>
          <a:xfrm>
            <a:off x="8265569" y="1658559"/>
            <a:ext cx="3444698" cy="574116"/>
          </a:xfrm>
          <a:custGeom>
            <a:avLst/>
            <a:gdLst/>
            <a:ahLst/>
            <a:cxnLst/>
            <a:rect l="l" t="t" r="r" b="b"/>
            <a:pathLst>
              <a:path w="3444698" h="574116">
                <a:moveTo>
                  <a:pt x="63790" y="0"/>
                </a:moveTo>
                <a:lnTo>
                  <a:pt x="3380908" y="0"/>
                </a:lnTo>
                <a:cubicBezTo>
                  <a:pt x="3416139" y="0"/>
                  <a:pt x="3444698" y="28560"/>
                  <a:pt x="3444698" y="63790"/>
                </a:cubicBezTo>
                <a:lnTo>
                  <a:pt x="3444698" y="510326"/>
                </a:lnTo>
                <a:cubicBezTo>
                  <a:pt x="3444698" y="545557"/>
                  <a:pt x="3416139" y="574116"/>
                  <a:pt x="3380908" y="574116"/>
                </a:cubicBezTo>
                <a:lnTo>
                  <a:pt x="63790" y="574116"/>
                </a:lnTo>
                <a:cubicBezTo>
                  <a:pt x="28560" y="574116"/>
                  <a:pt x="0" y="545557"/>
                  <a:pt x="0" y="510326"/>
                </a:cubicBezTo>
                <a:lnTo>
                  <a:pt x="0" y="63790"/>
                </a:lnTo>
                <a:cubicBezTo>
                  <a:pt x="0" y="28560"/>
                  <a:pt x="28560" y="0"/>
                  <a:pt x="63790" y="0"/>
                </a:cubicBezTo>
                <a:close/>
              </a:path>
            </a:pathLst>
          </a:custGeom>
          <a:solidFill>
            <a:srgbClr val="FFFFFF"/>
          </a:solidFill>
          <a:ln/>
          <a:effectLst>
            <a:outerShdw blurRad="23922" dist="7974" dir="5400000" algn="bl" rotWithShape="0">
              <a:srgbClr val="000000">
                <a:alpha val="10196"/>
              </a:srgbClr>
            </a:outerShdw>
          </a:effectLst>
        </p:spPr>
      </p:sp>
      <p:sp>
        <p:nvSpPr>
          <p:cNvPr id="54" name="Text 52"/>
          <p:cNvSpPr/>
          <p:nvPr/>
        </p:nvSpPr>
        <p:spPr>
          <a:xfrm>
            <a:off x="8361256" y="1770192"/>
            <a:ext cx="853201"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KYC Automation</a:t>
            </a:r>
            <a:endParaRPr lang="en-US" sz="1600" dirty="0"/>
          </a:p>
        </p:txBody>
      </p:sp>
      <p:sp>
        <p:nvSpPr>
          <p:cNvPr id="55" name="Shape 53"/>
          <p:cNvSpPr/>
          <p:nvPr/>
        </p:nvSpPr>
        <p:spPr>
          <a:xfrm>
            <a:off x="11310517" y="1754245"/>
            <a:ext cx="303006" cy="191372"/>
          </a:xfrm>
          <a:custGeom>
            <a:avLst/>
            <a:gdLst/>
            <a:ahLst/>
            <a:cxnLst/>
            <a:rect l="l" t="t" r="r" b="b"/>
            <a:pathLst>
              <a:path w="303006" h="191372">
                <a:moveTo>
                  <a:pt x="31896" y="0"/>
                </a:moveTo>
                <a:lnTo>
                  <a:pt x="271110" y="0"/>
                </a:lnTo>
                <a:cubicBezTo>
                  <a:pt x="288726" y="0"/>
                  <a:pt x="303006" y="14280"/>
                  <a:pt x="303006" y="31896"/>
                </a:cubicBezTo>
                <a:lnTo>
                  <a:pt x="303006" y="159476"/>
                </a:lnTo>
                <a:cubicBezTo>
                  <a:pt x="303006" y="177092"/>
                  <a:pt x="288726" y="191372"/>
                  <a:pt x="271110" y="191372"/>
                </a:cubicBezTo>
                <a:lnTo>
                  <a:pt x="31896" y="191372"/>
                </a:lnTo>
                <a:cubicBezTo>
                  <a:pt x="14280" y="191372"/>
                  <a:pt x="0" y="177092"/>
                  <a:pt x="0" y="159476"/>
                </a:cubicBezTo>
                <a:lnTo>
                  <a:pt x="0" y="31896"/>
                </a:lnTo>
                <a:cubicBezTo>
                  <a:pt x="0" y="14292"/>
                  <a:pt x="14292" y="0"/>
                  <a:pt x="31896" y="0"/>
                </a:cubicBezTo>
                <a:close/>
              </a:path>
            </a:pathLst>
          </a:custGeom>
          <a:solidFill>
            <a:srgbClr val="DCFCE7"/>
          </a:solidFill>
          <a:ln/>
        </p:spPr>
      </p:sp>
      <p:sp>
        <p:nvSpPr>
          <p:cNvPr id="56" name="Text 54"/>
          <p:cNvSpPr/>
          <p:nvPr/>
        </p:nvSpPr>
        <p:spPr>
          <a:xfrm>
            <a:off x="11310517" y="1754245"/>
            <a:ext cx="350849" cy="191372"/>
          </a:xfrm>
          <a:prstGeom prst="rect">
            <a:avLst/>
          </a:prstGeom>
          <a:noFill/>
          <a:ln/>
        </p:spPr>
        <p:txBody>
          <a:bodyPr wrap="square" lIns="63791" tIns="31895" rIns="63791" bIns="31895" rtlCol="0" anchor="ctr"/>
          <a:lstStyle/>
          <a:p>
            <a:pPr>
              <a:lnSpc>
                <a:spcPct val="110000"/>
              </a:lnSpc>
            </a:pPr>
            <a:r>
              <a:rPr lang="en-US" sz="753" b="1" dirty="0">
                <a:solidFill>
                  <a:srgbClr val="008236"/>
                </a:solidFill>
                <a:latin typeface="Quattrocento Sans" pitchFamily="34" charset="0"/>
                <a:ea typeface="Quattrocento Sans" pitchFamily="34" charset="-122"/>
                <a:cs typeface="Quattrocento Sans" pitchFamily="34" charset="-120"/>
              </a:rPr>
              <a:t>Low</a:t>
            </a:r>
            <a:endParaRPr lang="en-US" sz="1600" dirty="0"/>
          </a:p>
        </p:txBody>
      </p:sp>
      <p:sp>
        <p:nvSpPr>
          <p:cNvPr id="57" name="Text 55"/>
          <p:cNvSpPr/>
          <p:nvPr/>
        </p:nvSpPr>
        <p:spPr>
          <a:xfrm>
            <a:off x="8361256" y="2009407"/>
            <a:ext cx="3301169" cy="127581"/>
          </a:xfrm>
          <a:prstGeom prst="rect">
            <a:avLst/>
          </a:prstGeom>
          <a:noFill/>
          <a:ln/>
        </p:spPr>
        <p:txBody>
          <a:bodyPr wrap="square" lIns="0" tIns="0" rIns="0" bIns="0" rtlCol="0" anchor="ctr"/>
          <a:lstStyle/>
          <a:p>
            <a:pPr>
              <a:lnSpc>
                <a:spcPct val="110000"/>
              </a:lnSpc>
            </a:pPr>
            <a:r>
              <a:rPr lang="en-US" sz="753" dirty="0">
                <a:solidFill>
                  <a:srgbClr val="1A1A1A">
                    <a:alpha val="70000"/>
                  </a:srgbClr>
                </a:solidFill>
                <a:latin typeface="Quattrocento Sans" pitchFamily="34" charset="0"/>
                <a:ea typeface="Quattrocento Sans" pitchFamily="34" charset="-122"/>
                <a:cs typeface="Quattrocento Sans" pitchFamily="34" charset="-120"/>
              </a:rPr>
              <a:t>High ROI, well-defined rules, clear compliance requirements</a:t>
            </a:r>
            <a:endParaRPr lang="en-US" sz="1600" dirty="0"/>
          </a:p>
        </p:txBody>
      </p:sp>
      <p:sp>
        <p:nvSpPr>
          <p:cNvPr id="58" name="Shape 56"/>
          <p:cNvSpPr/>
          <p:nvPr/>
        </p:nvSpPr>
        <p:spPr>
          <a:xfrm>
            <a:off x="8265569" y="2328361"/>
            <a:ext cx="3444698" cy="574116"/>
          </a:xfrm>
          <a:custGeom>
            <a:avLst/>
            <a:gdLst/>
            <a:ahLst/>
            <a:cxnLst/>
            <a:rect l="l" t="t" r="r" b="b"/>
            <a:pathLst>
              <a:path w="3444698" h="574116">
                <a:moveTo>
                  <a:pt x="63790" y="0"/>
                </a:moveTo>
                <a:lnTo>
                  <a:pt x="3380908" y="0"/>
                </a:lnTo>
                <a:cubicBezTo>
                  <a:pt x="3416139" y="0"/>
                  <a:pt x="3444698" y="28560"/>
                  <a:pt x="3444698" y="63790"/>
                </a:cubicBezTo>
                <a:lnTo>
                  <a:pt x="3444698" y="510326"/>
                </a:lnTo>
                <a:cubicBezTo>
                  <a:pt x="3444698" y="545557"/>
                  <a:pt x="3416139" y="574116"/>
                  <a:pt x="3380908" y="574116"/>
                </a:cubicBezTo>
                <a:lnTo>
                  <a:pt x="63790" y="574116"/>
                </a:lnTo>
                <a:cubicBezTo>
                  <a:pt x="28560" y="574116"/>
                  <a:pt x="0" y="545557"/>
                  <a:pt x="0" y="510326"/>
                </a:cubicBezTo>
                <a:lnTo>
                  <a:pt x="0" y="63790"/>
                </a:lnTo>
                <a:cubicBezTo>
                  <a:pt x="0" y="28560"/>
                  <a:pt x="28560" y="0"/>
                  <a:pt x="63790" y="0"/>
                </a:cubicBezTo>
                <a:close/>
              </a:path>
            </a:pathLst>
          </a:custGeom>
          <a:solidFill>
            <a:srgbClr val="FFFFFF"/>
          </a:solidFill>
          <a:ln/>
          <a:effectLst>
            <a:outerShdw blurRad="23922" dist="7974" dir="5400000" algn="bl" rotWithShape="0">
              <a:srgbClr val="000000">
                <a:alpha val="10196"/>
              </a:srgbClr>
            </a:outerShdw>
          </a:effectLst>
        </p:spPr>
      </p:sp>
      <p:sp>
        <p:nvSpPr>
          <p:cNvPr id="59" name="Text 57"/>
          <p:cNvSpPr/>
          <p:nvPr/>
        </p:nvSpPr>
        <p:spPr>
          <a:xfrm>
            <a:off x="8361256" y="2439995"/>
            <a:ext cx="1060521"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Account Onboarding</a:t>
            </a:r>
            <a:endParaRPr lang="en-US" sz="1600" dirty="0"/>
          </a:p>
        </p:txBody>
      </p:sp>
      <p:sp>
        <p:nvSpPr>
          <p:cNvPr id="60" name="Shape 58"/>
          <p:cNvSpPr/>
          <p:nvPr/>
        </p:nvSpPr>
        <p:spPr>
          <a:xfrm>
            <a:off x="11148299" y="2424047"/>
            <a:ext cx="470457" cy="191372"/>
          </a:xfrm>
          <a:custGeom>
            <a:avLst/>
            <a:gdLst/>
            <a:ahLst/>
            <a:cxnLst/>
            <a:rect l="l" t="t" r="r" b="b"/>
            <a:pathLst>
              <a:path w="470457" h="191372">
                <a:moveTo>
                  <a:pt x="31896" y="0"/>
                </a:moveTo>
                <a:lnTo>
                  <a:pt x="438561" y="0"/>
                </a:lnTo>
                <a:cubicBezTo>
                  <a:pt x="456176" y="0"/>
                  <a:pt x="470457" y="14280"/>
                  <a:pt x="470457" y="31896"/>
                </a:cubicBezTo>
                <a:lnTo>
                  <a:pt x="470457" y="159476"/>
                </a:lnTo>
                <a:cubicBezTo>
                  <a:pt x="470457" y="177092"/>
                  <a:pt x="456176" y="191372"/>
                  <a:pt x="438561" y="191372"/>
                </a:cubicBezTo>
                <a:lnTo>
                  <a:pt x="31896" y="191372"/>
                </a:lnTo>
                <a:cubicBezTo>
                  <a:pt x="14280" y="191372"/>
                  <a:pt x="0" y="177092"/>
                  <a:pt x="0" y="159476"/>
                </a:cubicBezTo>
                <a:lnTo>
                  <a:pt x="0" y="31896"/>
                </a:lnTo>
                <a:cubicBezTo>
                  <a:pt x="0" y="14292"/>
                  <a:pt x="14292" y="0"/>
                  <a:pt x="31896" y="0"/>
                </a:cubicBezTo>
                <a:close/>
              </a:path>
            </a:pathLst>
          </a:custGeom>
          <a:solidFill>
            <a:srgbClr val="FEF9C2"/>
          </a:solidFill>
          <a:ln/>
        </p:spPr>
      </p:sp>
      <p:sp>
        <p:nvSpPr>
          <p:cNvPr id="61" name="Text 59"/>
          <p:cNvSpPr/>
          <p:nvPr/>
        </p:nvSpPr>
        <p:spPr>
          <a:xfrm>
            <a:off x="11148299" y="2424047"/>
            <a:ext cx="518300" cy="191372"/>
          </a:xfrm>
          <a:prstGeom prst="rect">
            <a:avLst/>
          </a:prstGeom>
          <a:noFill/>
          <a:ln/>
        </p:spPr>
        <p:txBody>
          <a:bodyPr wrap="square" lIns="63791" tIns="31895" rIns="63791" bIns="31895" rtlCol="0" anchor="ctr"/>
          <a:lstStyle/>
          <a:p>
            <a:pPr>
              <a:lnSpc>
                <a:spcPct val="110000"/>
              </a:lnSpc>
            </a:pPr>
            <a:r>
              <a:rPr lang="en-US" sz="753" b="1" dirty="0">
                <a:solidFill>
                  <a:srgbClr val="A65F00"/>
                </a:solidFill>
                <a:latin typeface="Quattrocento Sans" pitchFamily="34" charset="0"/>
                <a:ea typeface="Quattrocento Sans" pitchFamily="34" charset="-122"/>
                <a:cs typeface="Quattrocento Sans" pitchFamily="34" charset="-120"/>
              </a:rPr>
              <a:t>Medium</a:t>
            </a:r>
            <a:endParaRPr lang="en-US" sz="1600" dirty="0"/>
          </a:p>
        </p:txBody>
      </p:sp>
      <p:sp>
        <p:nvSpPr>
          <p:cNvPr id="62" name="Text 60"/>
          <p:cNvSpPr/>
          <p:nvPr/>
        </p:nvSpPr>
        <p:spPr>
          <a:xfrm>
            <a:off x="8361256" y="2679210"/>
            <a:ext cx="3301169" cy="127581"/>
          </a:xfrm>
          <a:prstGeom prst="rect">
            <a:avLst/>
          </a:prstGeom>
          <a:noFill/>
          <a:ln/>
        </p:spPr>
        <p:txBody>
          <a:bodyPr wrap="square" lIns="0" tIns="0" rIns="0" bIns="0" rtlCol="0" anchor="ctr"/>
          <a:lstStyle/>
          <a:p>
            <a:pPr>
              <a:lnSpc>
                <a:spcPct val="110000"/>
              </a:lnSpc>
            </a:pPr>
            <a:r>
              <a:rPr lang="en-US" sz="753" dirty="0">
                <a:solidFill>
                  <a:srgbClr val="1A1A1A">
                    <a:alpha val="70000"/>
                  </a:srgbClr>
                </a:solidFill>
                <a:latin typeface="Quattrocento Sans" pitchFamily="34" charset="0"/>
                <a:ea typeface="Quattrocento Sans" pitchFamily="34" charset="-122"/>
                <a:cs typeface="Quattrocento Sans" pitchFamily="34" charset="-120"/>
              </a:rPr>
              <a:t>Multiple system integration, regulatory validation</a:t>
            </a:r>
            <a:endParaRPr lang="en-US" sz="1600" dirty="0"/>
          </a:p>
        </p:txBody>
      </p:sp>
      <p:sp>
        <p:nvSpPr>
          <p:cNvPr id="63" name="Shape 61"/>
          <p:cNvSpPr/>
          <p:nvPr/>
        </p:nvSpPr>
        <p:spPr>
          <a:xfrm>
            <a:off x="8265569" y="2998164"/>
            <a:ext cx="3444698" cy="574116"/>
          </a:xfrm>
          <a:custGeom>
            <a:avLst/>
            <a:gdLst/>
            <a:ahLst/>
            <a:cxnLst/>
            <a:rect l="l" t="t" r="r" b="b"/>
            <a:pathLst>
              <a:path w="3444698" h="574116">
                <a:moveTo>
                  <a:pt x="63790" y="0"/>
                </a:moveTo>
                <a:lnTo>
                  <a:pt x="3380908" y="0"/>
                </a:lnTo>
                <a:cubicBezTo>
                  <a:pt x="3416139" y="0"/>
                  <a:pt x="3444698" y="28560"/>
                  <a:pt x="3444698" y="63790"/>
                </a:cubicBezTo>
                <a:lnTo>
                  <a:pt x="3444698" y="510326"/>
                </a:lnTo>
                <a:cubicBezTo>
                  <a:pt x="3444698" y="545557"/>
                  <a:pt x="3416139" y="574116"/>
                  <a:pt x="3380908" y="574116"/>
                </a:cubicBezTo>
                <a:lnTo>
                  <a:pt x="63790" y="574116"/>
                </a:lnTo>
                <a:cubicBezTo>
                  <a:pt x="28560" y="574116"/>
                  <a:pt x="0" y="545557"/>
                  <a:pt x="0" y="510326"/>
                </a:cubicBezTo>
                <a:lnTo>
                  <a:pt x="0" y="63790"/>
                </a:lnTo>
                <a:cubicBezTo>
                  <a:pt x="0" y="28560"/>
                  <a:pt x="28560" y="0"/>
                  <a:pt x="63790" y="0"/>
                </a:cubicBezTo>
                <a:close/>
              </a:path>
            </a:pathLst>
          </a:custGeom>
          <a:solidFill>
            <a:srgbClr val="FFFFFF"/>
          </a:solidFill>
          <a:ln/>
          <a:effectLst>
            <a:outerShdw blurRad="23922" dist="7974" dir="5400000" algn="bl" rotWithShape="0">
              <a:srgbClr val="000000">
                <a:alpha val="10196"/>
              </a:srgbClr>
            </a:outerShdw>
          </a:effectLst>
        </p:spPr>
      </p:sp>
      <p:sp>
        <p:nvSpPr>
          <p:cNvPr id="64" name="Text 62"/>
          <p:cNvSpPr/>
          <p:nvPr/>
        </p:nvSpPr>
        <p:spPr>
          <a:xfrm>
            <a:off x="8361256" y="3109797"/>
            <a:ext cx="829279"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Loan Processing</a:t>
            </a:r>
            <a:endParaRPr lang="en-US" sz="1600" dirty="0"/>
          </a:p>
        </p:txBody>
      </p:sp>
      <p:sp>
        <p:nvSpPr>
          <p:cNvPr id="65" name="Shape 63"/>
          <p:cNvSpPr/>
          <p:nvPr/>
        </p:nvSpPr>
        <p:spPr>
          <a:xfrm>
            <a:off x="11148299" y="3093850"/>
            <a:ext cx="470457" cy="191372"/>
          </a:xfrm>
          <a:custGeom>
            <a:avLst/>
            <a:gdLst/>
            <a:ahLst/>
            <a:cxnLst/>
            <a:rect l="l" t="t" r="r" b="b"/>
            <a:pathLst>
              <a:path w="470457" h="191372">
                <a:moveTo>
                  <a:pt x="31896" y="0"/>
                </a:moveTo>
                <a:lnTo>
                  <a:pt x="438561" y="0"/>
                </a:lnTo>
                <a:cubicBezTo>
                  <a:pt x="456176" y="0"/>
                  <a:pt x="470457" y="14280"/>
                  <a:pt x="470457" y="31896"/>
                </a:cubicBezTo>
                <a:lnTo>
                  <a:pt x="470457" y="159476"/>
                </a:lnTo>
                <a:cubicBezTo>
                  <a:pt x="470457" y="177092"/>
                  <a:pt x="456176" y="191372"/>
                  <a:pt x="438561" y="191372"/>
                </a:cubicBezTo>
                <a:lnTo>
                  <a:pt x="31896" y="191372"/>
                </a:lnTo>
                <a:cubicBezTo>
                  <a:pt x="14280" y="191372"/>
                  <a:pt x="0" y="177092"/>
                  <a:pt x="0" y="159476"/>
                </a:cubicBezTo>
                <a:lnTo>
                  <a:pt x="0" y="31896"/>
                </a:lnTo>
                <a:cubicBezTo>
                  <a:pt x="0" y="14292"/>
                  <a:pt x="14292" y="0"/>
                  <a:pt x="31896" y="0"/>
                </a:cubicBezTo>
                <a:close/>
              </a:path>
            </a:pathLst>
          </a:custGeom>
          <a:solidFill>
            <a:srgbClr val="FEF9C2"/>
          </a:solidFill>
          <a:ln/>
        </p:spPr>
      </p:sp>
      <p:sp>
        <p:nvSpPr>
          <p:cNvPr id="66" name="Text 64"/>
          <p:cNvSpPr/>
          <p:nvPr/>
        </p:nvSpPr>
        <p:spPr>
          <a:xfrm>
            <a:off x="11148299" y="3093850"/>
            <a:ext cx="518300" cy="191372"/>
          </a:xfrm>
          <a:prstGeom prst="rect">
            <a:avLst/>
          </a:prstGeom>
          <a:noFill/>
          <a:ln/>
        </p:spPr>
        <p:txBody>
          <a:bodyPr wrap="square" lIns="63791" tIns="31895" rIns="63791" bIns="31895" rtlCol="0" anchor="ctr"/>
          <a:lstStyle/>
          <a:p>
            <a:pPr>
              <a:lnSpc>
                <a:spcPct val="110000"/>
              </a:lnSpc>
            </a:pPr>
            <a:r>
              <a:rPr lang="en-US" sz="753" b="1" dirty="0">
                <a:solidFill>
                  <a:srgbClr val="A65F00"/>
                </a:solidFill>
                <a:latin typeface="Quattrocento Sans" pitchFamily="34" charset="0"/>
                <a:ea typeface="Quattrocento Sans" pitchFamily="34" charset="-122"/>
                <a:cs typeface="Quattrocento Sans" pitchFamily="34" charset="-120"/>
              </a:rPr>
              <a:t>Medium</a:t>
            </a:r>
            <a:endParaRPr lang="en-US" sz="1600" dirty="0"/>
          </a:p>
        </p:txBody>
      </p:sp>
      <p:sp>
        <p:nvSpPr>
          <p:cNvPr id="67" name="Text 65"/>
          <p:cNvSpPr/>
          <p:nvPr/>
        </p:nvSpPr>
        <p:spPr>
          <a:xfrm>
            <a:off x="8361256" y="3349012"/>
            <a:ext cx="3301169" cy="127581"/>
          </a:xfrm>
          <a:prstGeom prst="rect">
            <a:avLst/>
          </a:prstGeom>
          <a:noFill/>
          <a:ln/>
        </p:spPr>
        <p:txBody>
          <a:bodyPr wrap="square" lIns="0" tIns="0" rIns="0" bIns="0" rtlCol="0" anchor="ctr"/>
          <a:lstStyle/>
          <a:p>
            <a:pPr>
              <a:lnSpc>
                <a:spcPct val="110000"/>
              </a:lnSpc>
            </a:pPr>
            <a:r>
              <a:rPr lang="en-US" sz="753" dirty="0">
                <a:solidFill>
                  <a:srgbClr val="1A1A1A">
                    <a:alpha val="70000"/>
                  </a:srgbClr>
                </a:solidFill>
                <a:latin typeface="Quattrocento Sans" pitchFamily="34" charset="0"/>
                <a:ea typeface="Quattrocento Sans" pitchFamily="34" charset="-122"/>
                <a:cs typeface="Quattrocento Sans" pitchFamily="34" charset="-120"/>
              </a:rPr>
              <a:t>Complex decision trees, credit risk assessment</a:t>
            </a:r>
            <a:endParaRPr lang="en-US" sz="1600" dirty="0"/>
          </a:p>
        </p:txBody>
      </p:sp>
      <p:sp>
        <p:nvSpPr>
          <p:cNvPr id="68" name="Shape 66"/>
          <p:cNvSpPr/>
          <p:nvPr/>
        </p:nvSpPr>
        <p:spPr>
          <a:xfrm>
            <a:off x="8265569" y="3667966"/>
            <a:ext cx="3444698" cy="574116"/>
          </a:xfrm>
          <a:custGeom>
            <a:avLst/>
            <a:gdLst/>
            <a:ahLst/>
            <a:cxnLst/>
            <a:rect l="l" t="t" r="r" b="b"/>
            <a:pathLst>
              <a:path w="3444698" h="574116">
                <a:moveTo>
                  <a:pt x="63790" y="0"/>
                </a:moveTo>
                <a:lnTo>
                  <a:pt x="3380908" y="0"/>
                </a:lnTo>
                <a:cubicBezTo>
                  <a:pt x="3416139" y="0"/>
                  <a:pt x="3444698" y="28560"/>
                  <a:pt x="3444698" y="63790"/>
                </a:cubicBezTo>
                <a:lnTo>
                  <a:pt x="3444698" y="510326"/>
                </a:lnTo>
                <a:cubicBezTo>
                  <a:pt x="3444698" y="545557"/>
                  <a:pt x="3416139" y="574116"/>
                  <a:pt x="3380908" y="574116"/>
                </a:cubicBezTo>
                <a:lnTo>
                  <a:pt x="63790" y="574116"/>
                </a:lnTo>
                <a:cubicBezTo>
                  <a:pt x="28560" y="574116"/>
                  <a:pt x="0" y="545557"/>
                  <a:pt x="0" y="510326"/>
                </a:cubicBezTo>
                <a:lnTo>
                  <a:pt x="0" y="63790"/>
                </a:lnTo>
                <a:cubicBezTo>
                  <a:pt x="0" y="28560"/>
                  <a:pt x="28560" y="0"/>
                  <a:pt x="63790" y="0"/>
                </a:cubicBezTo>
                <a:close/>
              </a:path>
            </a:pathLst>
          </a:custGeom>
          <a:solidFill>
            <a:srgbClr val="FFFFFF"/>
          </a:solidFill>
          <a:ln/>
          <a:effectLst>
            <a:outerShdw blurRad="23922" dist="7974" dir="5400000" algn="bl" rotWithShape="0">
              <a:srgbClr val="000000">
                <a:alpha val="10196"/>
              </a:srgbClr>
            </a:outerShdw>
          </a:effectLst>
        </p:spPr>
      </p:sp>
      <p:sp>
        <p:nvSpPr>
          <p:cNvPr id="69" name="Text 67"/>
          <p:cNvSpPr/>
          <p:nvPr/>
        </p:nvSpPr>
        <p:spPr>
          <a:xfrm>
            <a:off x="8361256" y="3779600"/>
            <a:ext cx="829279" cy="159477"/>
          </a:xfrm>
          <a:prstGeom prst="rect">
            <a:avLst/>
          </a:prstGeom>
          <a:noFill/>
          <a:ln/>
        </p:spPr>
        <p:txBody>
          <a:bodyPr wrap="square" lIns="0" tIns="0" rIns="0" bIns="0" rtlCol="0" anchor="ctr"/>
          <a:lstStyle/>
          <a:p>
            <a:pPr>
              <a:lnSpc>
                <a:spcPct val="120000"/>
              </a:lnSpc>
            </a:pPr>
            <a:r>
              <a:rPr lang="en-US" sz="879" b="1" dirty="0">
                <a:solidFill>
                  <a:srgbClr val="003087"/>
                </a:solidFill>
                <a:latin typeface="Quattrocento Sans" pitchFamily="34" charset="0"/>
                <a:ea typeface="Quattrocento Sans" pitchFamily="34" charset="-122"/>
                <a:cs typeface="Quattrocento Sans" pitchFamily="34" charset="-120"/>
              </a:rPr>
              <a:t>Fraud Detection</a:t>
            </a:r>
            <a:endParaRPr lang="en-US" sz="1600" dirty="0"/>
          </a:p>
        </p:txBody>
      </p:sp>
      <p:sp>
        <p:nvSpPr>
          <p:cNvPr id="70" name="Shape 68"/>
          <p:cNvSpPr/>
          <p:nvPr/>
        </p:nvSpPr>
        <p:spPr>
          <a:xfrm>
            <a:off x="11299615" y="3763652"/>
            <a:ext cx="318954" cy="191372"/>
          </a:xfrm>
          <a:custGeom>
            <a:avLst/>
            <a:gdLst/>
            <a:ahLst/>
            <a:cxnLst/>
            <a:rect l="l" t="t" r="r" b="b"/>
            <a:pathLst>
              <a:path w="318954" h="191372">
                <a:moveTo>
                  <a:pt x="31896" y="0"/>
                </a:moveTo>
                <a:lnTo>
                  <a:pt x="287058" y="0"/>
                </a:lnTo>
                <a:cubicBezTo>
                  <a:pt x="304673" y="0"/>
                  <a:pt x="318954" y="14280"/>
                  <a:pt x="318954" y="31896"/>
                </a:cubicBezTo>
                <a:lnTo>
                  <a:pt x="318954" y="159476"/>
                </a:lnTo>
                <a:cubicBezTo>
                  <a:pt x="318954" y="177092"/>
                  <a:pt x="304673" y="191372"/>
                  <a:pt x="287058" y="191372"/>
                </a:cubicBezTo>
                <a:lnTo>
                  <a:pt x="31896" y="191372"/>
                </a:lnTo>
                <a:cubicBezTo>
                  <a:pt x="14280" y="191372"/>
                  <a:pt x="0" y="177092"/>
                  <a:pt x="0" y="159476"/>
                </a:cubicBezTo>
                <a:lnTo>
                  <a:pt x="0" y="31896"/>
                </a:lnTo>
                <a:cubicBezTo>
                  <a:pt x="0" y="14292"/>
                  <a:pt x="14292" y="0"/>
                  <a:pt x="31896" y="0"/>
                </a:cubicBezTo>
                <a:close/>
              </a:path>
            </a:pathLst>
          </a:custGeom>
          <a:solidFill>
            <a:srgbClr val="FFE2E2"/>
          </a:solidFill>
          <a:ln/>
        </p:spPr>
      </p:sp>
      <p:sp>
        <p:nvSpPr>
          <p:cNvPr id="71" name="Text 69"/>
          <p:cNvSpPr/>
          <p:nvPr/>
        </p:nvSpPr>
        <p:spPr>
          <a:xfrm>
            <a:off x="11299615" y="3763652"/>
            <a:ext cx="366797" cy="191372"/>
          </a:xfrm>
          <a:prstGeom prst="rect">
            <a:avLst/>
          </a:prstGeom>
          <a:noFill/>
          <a:ln/>
        </p:spPr>
        <p:txBody>
          <a:bodyPr wrap="square" lIns="63791" tIns="31895" rIns="63791" bIns="31895" rtlCol="0" anchor="ctr"/>
          <a:lstStyle/>
          <a:p>
            <a:pPr>
              <a:lnSpc>
                <a:spcPct val="110000"/>
              </a:lnSpc>
            </a:pPr>
            <a:r>
              <a:rPr lang="en-US" sz="753" b="1" dirty="0">
                <a:solidFill>
                  <a:srgbClr val="C10007"/>
                </a:solidFill>
                <a:latin typeface="Quattrocento Sans" pitchFamily="34" charset="0"/>
                <a:ea typeface="Quattrocento Sans" pitchFamily="34" charset="-122"/>
                <a:cs typeface="Quattrocento Sans" pitchFamily="34" charset="-120"/>
              </a:rPr>
              <a:t>High</a:t>
            </a:r>
            <a:endParaRPr lang="en-US" sz="1600" dirty="0"/>
          </a:p>
        </p:txBody>
      </p:sp>
      <p:sp>
        <p:nvSpPr>
          <p:cNvPr id="72" name="Text 70"/>
          <p:cNvSpPr/>
          <p:nvPr/>
        </p:nvSpPr>
        <p:spPr>
          <a:xfrm>
            <a:off x="8361256" y="4018815"/>
            <a:ext cx="3301169" cy="127581"/>
          </a:xfrm>
          <a:prstGeom prst="rect">
            <a:avLst/>
          </a:prstGeom>
          <a:noFill/>
          <a:ln/>
        </p:spPr>
        <p:txBody>
          <a:bodyPr wrap="square" lIns="0" tIns="0" rIns="0" bIns="0" rtlCol="0" anchor="ctr"/>
          <a:lstStyle/>
          <a:p>
            <a:pPr>
              <a:lnSpc>
                <a:spcPct val="110000"/>
              </a:lnSpc>
            </a:pPr>
            <a:r>
              <a:rPr lang="en-US" sz="753" dirty="0">
                <a:solidFill>
                  <a:srgbClr val="1A1A1A">
                    <a:alpha val="70000"/>
                  </a:srgbClr>
                </a:solidFill>
                <a:latin typeface="Quattrocento Sans" pitchFamily="34" charset="0"/>
                <a:ea typeface="Quattrocento Sans" pitchFamily="34" charset="-122"/>
                <a:cs typeface="Quattrocento Sans" pitchFamily="34" charset="-120"/>
              </a:rPr>
              <a:t>AI/ML integration, real-time processing, high security</a:t>
            </a:r>
            <a:endParaRPr lang="en-US" sz="1600" dirty="0"/>
          </a:p>
        </p:txBody>
      </p:sp>
      <p:sp>
        <p:nvSpPr>
          <p:cNvPr id="73" name="Shape 71"/>
          <p:cNvSpPr/>
          <p:nvPr/>
        </p:nvSpPr>
        <p:spPr>
          <a:xfrm>
            <a:off x="8114067" y="4537114"/>
            <a:ext cx="3747704" cy="1243919"/>
          </a:xfrm>
          <a:custGeom>
            <a:avLst/>
            <a:gdLst/>
            <a:ahLst/>
            <a:cxnLst/>
            <a:rect l="l" t="t" r="r" b="b"/>
            <a:pathLst>
              <a:path w="3747704" h="1243919">
                <a:moveTo>
                  <a:pt x="95682" y="0"/>
                </a:moveTo>
                <a:lnTo>
                  <a:pt x="3652022" y="0"/>
                </a:lnTo>
                <a:cubicBezTo>
                  <a:pt x="3704866" y="0"/>
                  <a:pt x="3747704" y="42838"/>
                  <a:pt x="3747704" y="95682"/>
                </a:cubicBezTo>
                <a:lnTo>
                  <a:pt x="3747704" y="1148237"/>
                </a:lnTo>
                <a:cubicBezTo>
                  <a:pt x="3747704" y="1201081"/>
                  <a:pt x="3704866" y="1243919"/>
                  <a:pt x="3652022" y="1243919"/>
                </a:cubicBezTo>
                <a:lnTo>
                  <a:pt x="95682" y="1243919"/>
                </a:lnTo>
                <a:cubicBezTo>
                  <a:pt x="42838" y="1243919"/>
                  <a:pt x="0" y="1201081"/>
                  <a:pt x="0" y="1148237"/>
                </a:cubicBezTo>
                <a:lnTo>
                  <a:pt x="0" y="95682"/>
                </a:lnTo>
                <a:cubicBezTo>
                  <a:pt x="0" y="42874"/>
                  <a:pt x="42874" y="0"/>
                  <a:pt x="95682" y="0"/>
                </a:cubicBezTo>
                <a:close/>
              </a:path>
            </a:pathLst>
          </a:custGeom>
          <a:solidFill>
            <a:srgbClr val="D4AF37">
              <a:alpha val="10196"/>
            </a:srgbClr>
          </a:solidFill>
          <a:ln w="25400">
            <a:solidFill>
              <a:srgbClr val="D4AF37"/>
            </a:solidFill>
            <a:prstDash val="solid"/>
          </a:ln>
        </p:spPr>
      </p:sp>
      <p:sp>
        <p:nvSpPr>
          <p:cNvPr id="74" name="Text 72"/>
          <p:cNvSpPr/>
          <p:nvPr/>
        </p:nvSpPr>
        <p:spPr>
          <a:xfrm>
            <a:off x="8281517" y="4704565"/>
            <a:ext cx="3476594"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Recommended Approach</a:t>
            </a:r>
            <a:endParaRPr lang="en-US" sz="1600" dirty="0"/>
          </a:p>
        </p:txBody>
      </p:sp>
      <p:sp>
        <p:nvSpPr>
          <p:cNvPr id="75" name="Text 73"/>
          <p:cNvSpPr/>
          <p:nvPr/>
        </p:nvSpPr>
        <p:spPr>
          <a:xfrm>
            <a:off x="8281517" y="4991623"/>
            <a:ext cx="3476594" cy="621959"/>
          </a:xfrm>
          <a:prstGeom prst="rect">
            <a:avLst/>
          </a:prstGeom>
          <a:noFill/>
          <a:ln/>
        </p:spPr>
        <p:txBody>
          <a:bodyPr wrap="square" lIns="0" tIns="0" rIns="0" bIns="0" rtlCol="0" anchor="ctr"/>
          <a:lstStyle/>
          <a:p>
            <a:pPr>
              <a:lnSpc>
                <a:spcPct val="140000"/>
              </a:lnSpc>
            </a:pPr>
            <a:r>
              <a:rPr lang="en-US" sz="1005" dirty="0">
                <a:solidFill>
                  <a:srgbClr val="1A1A1A">
                    <a:alpha val="80000"/>
                  </a:srgbClr>
                </a:solidFill>
                <a:latin typeface="Quattrocento Sans" pitchFamily="34" charset="0"/>
                <a:ea typeface="Quattrocento Sans" pitchFamily="34" charset="-122"/>
                <a:cs typeface="Quattrocento Sans" pitchFamily="34" charset="-120"/>
              </a:rPr>
              <a:t>Start with </a:t>
            </a:r>
            <a:r>
              <a:rPr lang="en-US" sz="1005" b="1" dirty="0">
                <a:solidFill>
                  <a:srgbClr val="003087"/>
                </a:solidFill>
                <a:latin typeface="Quattrocento Sans" pitchFamily="34" charset="0"/>
                <a:ea typeface="Quattrocento Sans" pitchFamily="34" charset="-122"/>
                <a:cs typeface="Quattrocento Sans" pitchFamily="34" charset="-120"/>
              </a:rPr>
              <a:t>high-impact, low-complexity</a:t>
            </a:r>
            <a:r>
              <a:rPr lang="en-US" sz="1005" dirty="0">
                <a:solidFill>
                  <a:srgbClr val="1A1A1A">
                    <a:alpha val="80000"/>
                  </a:srgbClr>
                </a:solidFill>
                <a:latin typeface="Quattrocento Sans" pitchFamily="34" charset="0"/>
                <a:ea typeface="Quattrocento Sans" pitchFamily="34" charset="-122"/>
                <a:cs typeface="Quattrocento Sans" pitchFamily="34" charset="-120"/>
              </a:rPr>
              <a:t> processes (KYC, onboarding) to demonstrate quick wins, then scale to more complex automation (loan processing, fraud detection).</a:t>
            </a:r>
            <a:endParaRPr lang="en-US" sz="1600" dirty="0"/>
          </a:p>
        </p:txBody>
      </p:sp>
      <p:sp>
        <p:nvSpPr>
          <p:cNvPr id="76" name="Shape 74"/>
          <p:cNvSpPr/>
          <p:nvPr/>
        </p:nvSpPr>
        <p:spPr>
          <a:xfrm>
            <a:off x="8106093" y="5916589"/>
            <a:ext cx="3763652" cy="733593"/>
          </a:xfrm>
          <a:custGeom>
            <a:avLst/>
            <a:gdLst/>
            <a:ahLst/>
            <a:cxnLst/>
            <a:rect l="l" t="t" r="r" b="b"/>
            <a:pathLst>
              <a:path w="3763652" h="733593">
                <a:moveTo>
                  <a:pt x="95683" y="0"/>
                </a:moveTo>
                <a:lnTo>
                  <a:pt x="3667969" y="0"/>
                </a:lnTo>
                <a:cubicBezTo>
                  <a:pt x="3720814" y="0"/>
                  <a:pt x="3763652" y="42839"/>
                  <a:pt x="3763652" y="95683"/>
                </a:cubicBezTo>
                <a:lnTo>
                  <a:pt x="3763652" y="637911"/>
                </a:lnTo>
                <a:cubicBezTo>
                  <a:pt x="3763652" y="690755"/>
                  <a:pt x="3720814" y="733593"/>
                  <a:pt x="3667969" y="733593"/>
                </a:cubicBezTo>
                <a:lnTo>
                  <a:pt x="95683" y="733593"/>
                </a:lnTo>
                <a:cubicBezTo>
                  <a:pt x="42874" y="733593"/>
                  <a:pt x="0" y="690719"/>
                  <a:pt x="0" y="637911"/>
                </a:cubicBezTo>
                <a:lnTo>
                  <a:pt x="0" y="95683"/>
                </a:lnTo>
                <a:cubicBezTo>
                  <a:pt x="0" y="42874"/>
                  <a:pt x="42874" y="0"/>
                  <a:pt x="95683" y="0"/>
                </a:cubicBezTo>
                <a:close/>
              </a:path>
            </a:pathLst>
          </a:custGeom>
          <a:solidFill>
            <a:srgbClr val="F9FAFB"/>
          </a:solidFill>
          <a:ln/>
        </p:spPr>
      </p:sp>
      <p:sp>
        <p:nvSpPr>
          <p:cNvPr id="77" name="Text 75"/>
          <p:cNvSpPr/>
          <p:nvPr/>
        </p:nvSpPr>
        <p:spPr>
          <a:xfrm>
            <a:off x="8233674" y="6044170"/>
            <a:ext cx="3572280" cy="191372"/>
          </a:xfrm>
          <a:prstGeom prst="rect">
            <a:avLst/>
          </a:prstGeom>
          <a:noFill/>
          <a:ln/>
        </p:spPr>
        <p:txBody>
          <a:bodyPr wrap="square" lIns="0" tIns="0" rIns="0" bIns="0" rtlCol="0" anchor="ctr"/>
          <a:lstStyle/>
          <a:p>
            <a:pPr>
              <a:lnSpc>
                <a:spcPct val="130000"/>
              </a:lnSpc>
            </a:pPr>
            <a:r>
              <a:rPr lang="en-US" sz="1005" b="1" dirty="0">
                <a:solidFill>
                  <a:srgbClr val="003087"/>
                </a:solidFill>
                <a:latin typeface="Liter" pitchFamily="34" charset="0"/>
                <a:ea typeface="Liter" pitchFamily="34" charset="-122"/>
                <a:cs typeface="Liter" pitchFamily="34" charset="-120"/>
              </a:rPr>
              <a:t>Technology Partners</a:t>
            </a:r>
            <a:endParaRPr lang="en-US" sz="1600" dirty="0"/>
          </a:p>
        </p:txBody>
      </p:sp>
      <p:sp>
        <p:nvSpPr>
          <p:cNvPr id="78" name="Shape 76"/>
          <p:cNvSpPr/>
          <p:nvPr/>
        </p:nvSpPr>
        <p:spPr>
          <a:xfrm>
            <a:off x="8233674" y="6299333"/>
            <a:ext cx="502352" cy="223267"/>
          </a:xfrm>
          <a:custGeom>
            <a:avLst/>
            <a:gdLst/>
            <a:ahLst/>
            <a:cxnLst/>
            <a:rect l="l" t="t" r="r" b="b"/>
            <a:pathLst>
              <a:path w="502352" h="223267">
                <a:moveTo>
                  <a:pt x="111634" y="0"/>
                </a:moveTo>
                <a:lnTo>
                  <a:pt x="390718" y="0"/>
                </a:lnTo>
                <a:cubicBezTo>
                  <a:pt x="452372" y="0"/>
                  <a:pt x="502352" y="49980"/>
                  <a:pt x="502352" y="111634"/>
                </a:cubicBezTo>
                <a:lnTo>
                  <a:pt x="502352" y="111634"/>
                </a:lnTo>
                <a:cubicBezTo>
                  <a:pt x="502352" y="173287"/>
                  <a:pt x="452372" y="223267"/>
                  <a:pt x="390718" y="223267"/>
                </a:cubicBezTo>
                <a:lnTo>
                  <a:pt x="111634" y="223267"/>
                </a:lnTo>
                <a:cubicBezTo>
                  <a:pt x="50021" y="223267"/>
                  <a:pt x="0" y="173246"/>
                  <a:pt x="0" y="111634"/>
                </a:cubicBezTo>
                <a:lnTo>
                  <a:pt x="0" y="111634"/>
                </a:lnTo>
                <a:cubicBezTo>
                  <a:pt x="0" y="50021"/>
                  <a:pt x="50021" y="0"/>
                  <a:pt x="111634" y="0"/>
                </a:cubicBezTo>
                <a:close/>
              </a:path>
            </a:pathLst>
          </a:custGeom>
          <a:solidFill>
            <a:srgbClr val="003087"/>
          </a:solidFill>
          <a:ln/>
        </p:spPr>
      </p:sp>
      <p:sp>
        <p:nvSpPr>
          <p:cNvPr id="79" name="Text 77"/>
          <p:cNvSpPr/>
          <p:nvPr/>
        </p:nvSpPr>
        <p:spPr>
          <a:xfrm>
            <a:off x="8233674" y="6299333"/>
            <a:ext cx="558169" cy="223267"/>
          </a:xfrm>
          <a:prstGeom prst="rect">
            <a:avLst/>
          </a:prstGeom>
          <a:noFill/>
          <a:ln/>
        </p:spPr>
        <p:txBody>
          <a:bodyPr wrap="square" lIns="95686" tIns="31895" rIns="95686" bIns="31895" rtlCol="0" anchor="ctr"/>
          <a:lstStyle/>
          <a:p>
            <a:pPr>
              <a:lnSpc>
                <a:spcPct val="120000"/>
              </a:lnSpc>
            </a:pPr>
            <a:r>
              <a:rPr lang="en-US" sz="879" dirty="0">
                <a:solidFill>
                  <a:srgbClr val="FFFFFF"/>
                </a:solidFill>
                <a:latin typeface="Quattrocento Sans" pitchFamily="34" charset="0"/>
                <a:ea typeface="Quattrocento Sans" pitchFamily="34" charset="-122"/>
                <a:cs typeface="Quattrocento Sans" pitchFamily="34" charset="-120"/>
              </a:rPr>
              <a:t>UiPath</a:t>
            </a:r>
            <a:endParaRPr lang="en-US" sz="1600" dirty="0"/>
          </a:p>
        </p:txBody>
      </p:sp>
      <p:sp>
        <p:nvSpPr>
          <p:cNvPr id="80" name="Shape 78"/>
          <p:cNvSpPr/>
          <p:nvPr/>
        </p:nvSpPr>
        <p:spPr>
          <a:xfrm>
            <a:off x="8801312" y="6299333"/>
            <a:ext cx="1283788" cy="223267"/>
          </a:xfrm>
          <a:custGeom>
            <a:avLst/>
            <a:gdLst/>
            <a:ahLst/>
            <a:cxnLst/>
            <a:rect l="l" t="t" r="r" b="b"/>
            <a:pathLst>
              <a:path w="1283788" h="223267">
                <a:moveTo>
                  <a:pt x="111634" y="0"/>
                </a:moveTo>
                <a:lnTo>
                  <a:pt x="1172154" y="0"/>
                </a:lnTo>
                <a:cubicBezTo>
                  <a:pt x="1233808" y="0"/>
                  <a:pt x="1283788" y="49980"/>
                  <a:pt x="1283788" y="111634"/>
                </a:cubicBezTo>
                <a:lnTo>
                  <a:pt x="1283788" y="111634"/>
                </a:lnTo>
                <a:cubicBezTo>
                  <a:pt x="1283788" y="173287"/>
                  <a:pt x="1233808" y="223267"/>
                  <a:pt x="1172154" y="223267"/>
                </a:cubicBezTo>
                <a:lnTo>
                  <a:pt x="111634" y="223267"/>
                </a:lnTo>
                <a:cubicBezTo>
                  <a:pt x="50021" y="223267"/>
                  <a:pt x="0" y="173246"/>
                  <a:pt x="0" y="111634"/>
                </a:cubicBezTo>
                <a:lnTo>
                  <a:pt x="0" y="111634"/>
                </a:lnTo>
                <a:cubicBezTo>
                  <a:pt x="0" y="50021"/>
                  <a:pt x="50021" y="0"/>
                  <a:pt x="111634" y="0"/>
                </a:cubicBezTo>
                <a:close/>
              </a:path>
            </a:pathLst>
          </a:custGeom>
          <a:solidFill>
            <a:srgbClr val="003087"/>
          </a:solidFill>
          <a:ln/>
        </p:spPr>
      </p:sp>
      <p:sp>
        <p:nvSpPr>
          <p:cNvPr id="81" name="Text 79"/>
          <p:cNvSpPr/>
          <p:nvPr/>
        </p:nvSpPr>
        <p:spPr>
          <a:xfrm>
            <a:off x="8801312" y="6299333"/>
            <a:ext cx="1339605" cy="223267"/>
          </a:xfrm>
          <a:prstGeom prst="rect">
            <a:avLst/>
          </a:prstGeom>
          <a:noFill/>
          <a:ln/>
        </p:spPr>
        <p:txBody>
          <a:bodyPr wrap="square" lIns="95686" tIns="31895" rIns="95686" bIns="31895" rtlCol="0" anchor="ctr"/>
          <a:lstStyle/>
          <a:p>
            <a:pPr>
              <a:lnSpc>
                <a:spcPct val="120000"/>
              </a:lnSpc>
            </a:pPr>
            <a:r>
              <a:rPr lang="en-US" sz="879" dirty="0">
                <a:solidFill>
                  <a:srgbClr val="FFFFFF"/>
                </a:solidFill>
                <a:latin typeface="Quattrocento Sans" pitchFamily="34" charset="0"/>
                <a:ea typeface="Quattrocento Sans" pitchFamily="34" charset="-122"/>
                <a:cs typeface="Quattrocento Sans" pitchFamily="34" charset="-120"/>
              </a:rPr>
              <a:t>Automation Anywhere</a:t>
            </a:r>
            <a:endParaRPr lang="en-US" sz="1600" dirty="0"/>
          </a:p>
        </p:txBody>
      </p:sp>
      <p:sp>
        <p:nvSpPr>
          <p:cNvPr id="82" name="Shape 80"/>
          <p:cNvSpPr/>
          <p:nvPr/>
        </p:nvSpPr>
        <p:spPr>
          <a:xfrm>
            <a:off x="10147271" y="6299333"/>
            <a:ext cx="693724" cy="223267"/>
          </a:xfrm>
          <a:custGeom>
            <a:avLst/>
            <a:gdLst/>
            <a:ahLst/>
            <a:cxnLst/>
            <a:rect l="l" t="t" r="r" b="b"/>
            <a:pathLst>
              <a:path w="693724" h="223267">
                <a:moveTo>
                  <a:pt x="111634" y="0"/>
                </a:moveTo>
                <a:lnTo>
                  <a:pt x="582090" y="0"/>
                </a:lnTo>
                <a:cubicBezTo>
                  <a:pt x="643744" y="0"/>
                  <a:pt x="693724" y="49980"/>
                  <a:pt x="693724" y="111634"/>
                </a:cubicBezTo>
                <a:lnTo>
                  <a:pt x="693724" y="111634"/>
                </a:lnTo>
                <a:cubicBezTo>
                  <a:pt x="693724" y="173287"/>
                  <a:pt x="643744" y="223267"/>
                  <a:pt x="582090" y="223267"/>
                </a:cubicBezTo>
                <a:lnTo>
                  <a:pt x="111634" y="223267"/>
                </a:lnTo>
                <a:cubicBezTo>
                  <a:pt x="50021" y="223267"/>
                  <a:pt x="0" y="173246"/>
                  <a:pt x="0" y="111634"/>
                </a:cubicBezTo>
                <a:lnTo>
                  <a:pt x="0" y="111634"/>
                </a:lnTo>
                <a:cubicBezTo>
                  <a:pt x="0" y="50021"/>
                  <a:pt x="50021" y="0"/>
                  <a:pt x="111634" y="0"/>
                </a:cubicBezTo>
                <a:close/>
              </a:path>
            </a:pathLst>
          </a:custGeom>
          <a:solidFill>
            <a:srgbClr val="FF6B00"/>
          </a:solidFill>
          <a:ln/>
        </p:spPr>
      </p:sp>
      <p:sp>
        <p:nvSpPr>
          <p:cNvPr id="83" name="Text 81"/>
          <p:cNvSpPr/>
          <p:nvPr/>
        </p:nvSpPr>
        <p:spPr>
          <a:xfrm>
            <a:off x="10147271" y="6299333"/>
            <a:ext cx="749541" cy="223267"/>
          </a:xfrm>
          <a:prstGeom prst="rect">
            <a:avLst/>
          </a:prstGeom>
          <a:noFill/>
          <a:ln/>
        </p:spPr>
        <p:txBody>
          <a:bodyPr wrap="square" lIns="95686" tIns="31895" rIns="95686" bIns="31895" rtlCol="0" anchor="ctr"/>
          <a:lstStyle/>
          <a:p>
            <a:pPr>
              <a:lnSpc>
                <a:spcPct val="120000"/>
              </a:lnSpc>
            </a:pPr>
            <a:r>
              <a:rPr lang="en-US" sz="879" dirty="0">
                <a:solidFill>
                  <a:srgbClr val="FFFFFF"/>
                </a:solidFill>
                <a:latin typeface="Quattrocento Sans" pitchFamily="34" charset="0"/>
                <a:ea typeface="Quattrocento Sans" pitchFamily="34" charset="-122"/>
                <a:cs typeface="Quattrocento Sans" pitchFamily="34" charset="-120"/>
              </a:rPr>
              <a:t>Blue Prism</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2753" y="322753"/>
            <a:ext cx="11602976" cy="161377"/>
          </a:xfrm>
          <a:prstGeom prst="rect">
            <a:avLst/>
          </a:prstGeom>
          <a:noFill/>
          <a:ln/>
        </p:spPr>
        <p:txBody>
          <a:bodyPr wrap="square" lIns="0" tIns="0" rIns="0" bIns="0" rtlCol="0" anchor="ctr"/>
          <a:lstStyle/>
          <a:p>
            <a:pPr>
              <a:lnSpc>
                <a:spcPct val="120000"/>
              </a:lnSpc>
            </a:pPr>
            <a:r>
              <a:rPr lang="en-US" sz="889" b="1" kern="0" spc="44" dirty="0">
                <a:solidFill>
                  <a:srgbClr val="FF6B00"/>
                </a:solidFill>
                <a:latin typeface="Liter" pitchFamily="34" charset="0"/>
                <a:ea typeface="Liter" pitchFamily="34" charset="-122"/>
                <a:cs typeface="Liter" pitchFamily="34" charset="-120"/>
              </a:rPr>
              <a:t>04 | INNOVATION OPPORTUNITIES</a:t>
            </a:r>
            <a:endParaRPr lang="en-US" sz="1600" dirty="0"/>
          </a:p>
        </p:txBody>
      </p:sp>
      <p:sp>
        <p:nvSpPr>
          <p:cNvPr id="3" name="Text 1"/>
          <p:cNvSpPr/>
          <p:nvPr/>
        </p:nvSpPr>
        <p:spPr>
          <a:xfrm>
            <a:off x="322753" y="548680"/>
            <a:ext cx="11691733" cy="322753"/>
          </a:xfrm>
          <a:prstGeom prst="rect">
            <a:avLst/>
          </a:prstGeom>
          <a:noFill/>
          <a:ln/>
        </p:spPr>
        <p:txBody>
          <a:bodyPr wrap="square" lIns="0" tIns="0" rIns="0" bIns="0" rtlCol="0" anchor="ctr"/>
          <a:lstStyle/>
          <a:p>
            <a:pPr>
              <a:lnSpc>
                <a:spcPct val="90000"/>
              </a:lnSpc>
            </a:pPr>
            <a:r>
              <a:rPr lang="en-US" sz="2287" b="1" dirty="0">
                <a:solidFill>
                  <a:srgbClr val="003087"/>
                </a:solidFill>
                <a:latin typeface="Liter" pitchFamily="34" charset="0"/>
                <a:ea typeface="Liter" pitchFamily="34" charset="-122"/>
                <a:cs typeface="Liter" pitchFamily="34" charset="-120"/>
              </a:rPr>
              <a:t>Intelligent Process Optimization</a:t>
            </a:r>
            <a:endParaRPr lang="en-US" sz="1600" dirty="0"/>
          </a:p>
        </p:txBody>
      </p:sp>
      <p:sp>
        <p:nvSpPr>
          <p:cNvPr id="4" name="Shape 2"/>
          <p:cNvSpPr/>
          <p:nvPr/>
        </p:nvSpPr>
        <p:spPr>
          <a:xfrm>
            <a:off x="322753" y="968259"/>
            <a:ext cx="774608" cy="32275"/>
          </a:xfrm>
          <a:custGeom>
            <a:avLst/>
            <a:gdLst/>
            <a:ahLst/>
            <a:cxnLst/>
            <a:rect l="l" t="t" r="r" b="b"/>
            <a:pathLst>
              <a:path w="774608" h="32275">
                <a:moveTo>
                  <a:pt x="0" y="0"/>
                </a:moveTo>
                <a:lnTo>
                  <a:pt x="774608" y="0"/>
                </a:lnTo>
                <a:lnTo>
                  <a:pt x="774608" y="32275"/>
                </a:lnTo>
                <a:lnTo>
                  <a:pt x="0" y="32275"/>
                </a:lnTo>
                <a:lnTo>
                  <a:pt x="0" y="0"/>
                </a:lnTo>
                <a:close/>
              </a:path>
            </a:pathLst>
          </a:custGeom>
          <a:solidFill>
            <a:srgbClr val="FF6B00"/>
          </a:solidFill>
          <a:ln/>
        </p:spPr>
      </p:sp>
      <p:sp>
        <p:nvSpPr>
          <p:cNvPr id="5" name="Shape 3"/>
          <p:cNvSpPr/>
          <p:nvPr/>
        </p:nvSpPr>
        <p:spPr>
          <a:xfrm>
            <a:off x="322753" y="1161911"/>
            <a:ext cx="5696593" cy="2162446"/>
          </a:xfrm>
          <a:custGeom>
            <a:avLst/>
            <a:gdLst/>
            <a:ahLst/>
            <a:cxnLst/>
            <a:rect l="l" t="t" r="r" b="b"/>
            <a:pathLst>
              <a:path w="5696593" h="2162446">
                <a:moveTo>
                  <a:pt x="96834" y="0"/>
                </a:moveTo>
                <a:lnTo>
                  <a:pt x="5599759" y="0"/>
                </a:lnTo>
                <a:cubicBezTo>
                  <a:pt x="5653239" y="0"/>
                  <a:pt x="5696593" y="43354"/>
                  <a:pt x="5696593" y="96834"/>
                </a:cubicBezTo>
                <a:lnTo>
                  <a:pt x="5696593" y="2065612"/>
                </a:lnTo>
                <a:cubicBezTo>
                  <a:pt x="5696593" y="2119092"/>
                  <a:pt x="5653239" y="2162446"/>
                  <a:pt x="5599759" y="2162446"/>
                </a:cubicBezTo>
                <a:lnTo>
                  <a:pt x="96834" y="2162446"/>
                </a:lnTo>
                <a:cubicBezTo>
                  <a:pt x="43354" y="2162446"/>
                  <a:pt x="0" y="2119092"/>
                  <a:pt x="0" y="2065612"/>
                </a:cubicBezTo>
                <a:lnTo>
                  <a:pt x="0" y="96834"/>
                </a:lnTo>
                <a:cubicBezTo>
                  <a:pt x="0" y="43390"/>
                  <a:pt x="43390" y="0"/>
                  <a:pt x="96834" y="0"/>
                </a:cubicBezTo>
                <a:close/>
              </a:path>
            </a:pathLst>
          </a:custGeom>
          <a:gradFill flip="none" rotWithShape="1">
            <a:gsLst>
              <a:gs pos="0">
                <a:srgbClr val="FF6B00"/>
              </a:gs>
              <a:gs pos="100000">
                <a:srgbClr val="FF6B00">
                  <a:alpha val="80000"/>
                </a:srgbClr>
              </a:gs>
            </a:gsLst>
            <a:lin ang="2700000" scaled="1"/>
          </a:gradFill>
          <a:ln/>
        </p:spPr>
      </p:sp>
      <p:sp>
        <p:nvSpPr>
          <p:cNvPr id="6" name="Shape 4"/>
          <p:cNvSpPr/>
          <p:nvPr/>
        </p:nvSpPr>
        <p:spPr>
          <a:xfrm>
            <a:off x="536577" y="1387839"/>
            <a:ext cx="161377" cy="161377"/>
          </a:xfrm>
          <a:custGeom>
            <a:avLst/>
            <a:gdLst/>
            <a:ahLst/>
            <a:cxnLst/>
            <a:rect l="l" t="t" r="r" b="b"/>
            <a:pathLst>
              <a:path w="161377" h="161377">
                <a:moveTo>
                  <a:pt x="37823" y="17651"/>
                </a:moveTo>
                <a:cubicBezTo>
                  <a:pt x="37823" y="7911"/>
                  <a:pt x="45734" y="0"/>
                  <a:pt x="55473" y="0"/>
                </a:cubicBezTo>
                <a:lnTo>
                  <a:pt x="63038" y="0"/>
                </a:lnTo>
                <a:cubicBezTo>
                  <a:pt x="68617" y="0"/>
                  <a:pt x="73124" y="4507"/>
                  <a:pt x="73124" y="10086"/>
                </a:cubicBezTo>
                <a:lnTo>
                  <a:pt x="73124" y="151291"/>
                </a:lnTo>
                <a:cubicBezTo>
                  <a:pt x="73124" y="156869"/>
                  <a:pt x="68617" y="161377"/>
                  <a:pt x="63038" y="161377"/>
                </a:cubicBezTo>
                <a:lnTo>
                  <a:pt x="52952" y="161377"/>
                </a:lnTo>
                <a:cubicBezTo>
                  <a:pt x="43559" y="161377"/>
                  <a:pt x="35648" y="154947"/>
                  <a:pt x="33410" y="146248"/>
                </a:cubicBezTo>
                <a:cubicBezTo>
                  <a:pt x="33189" y="146248"/>
                  <a:pt x="33000" y="146248"/>
                  <a:pt x="32780" y="146248"/>
                </a:cubicBezTo>
                <a:cubicBezTo>
                  <a:pt x="18848" y="146248"/>
                  <a:pt x="7565" y="134964"/>
                  <a:pt x="7565" y="121032"/>
                </a:cubicBezTo>
                <a:cubicBezTo>
                  <a:pt x="7565" y="115359"/>
                  <a:pt x="9456" y="110127"/>
                  <a:pt x="12608" y="105903"/>
                </a:cubicBezTo>
                <a:cubicBezTo>
                  <a:pt x="6493" y="101302"/>
                  <a:pt x="2522" y="93989"/>
                  <a:pt x="2522" y="85731"/>
                </a:cubicBezTo>
                <a:cubicBezTo>
                  <a:pt x="2522" y="75992"/>
                  <a:pt x="8069" y="67513"/>
                  <a:pt x="16138" y="63321"/>
                </a:cubicBezTo>
                <a:cubicBezTo>
                  <a:pt x="13900" y="59539"/>
                  <a:pt x="12608" y="55126"/>
                  <a:pt x="12608" y="50430"/>
                </a:cubicBezTo>
                <a:cubicBezTo>
                  <a:pt x="12608" y="36499"/>
                  <a:pt x="23891" y="25215"/>
                  <a:pt x="37823" y="25215"/>
                </a:cubicBezTo>
                <a:lnTo>
                  <a:pt x="37823" y="17651"/>
                </a:lnTo>
                <a:close/>
                <a:moveTo>
                  <a:pt x="123554" y="17651"/>
                </a:moveTo>
                <a:lnTo>
                  <a:pt x="123554" y="25215"/>
                </a:lnTo>
                <a:cubicBezTo>
                  <a:pt x="137485" y="25215"/>
                  <a:pt x="148769" y="36499"/>
                  <a:pt x="148769" y="50430"/>
                </a:cubicBezTo>
                <a:cubicBezTo>
                  <a:pt x="148769" y="55158"/>
                  <a:pt x="147477" y="59571"/>
                  <a:pt x="145239" y="63321"/>
                </a:cubicBezTo>
                <a:cubicBezTo>
                  <a:pt x="153339" y="67513"/>
                  <a:pt x="158855" y="75960"/>
                  <a:pt x="158855" y="85731"/>
                </a:cubicBezTo>
                <a:cubicBezTo>
                  <a:pt x="158855" y="93989"/>
                  <a:pt x="154884" y="101302"/>
                  <a:pt x="148769" y="105903"/>
                </a:cubicBezTo>
                <a:cubicBezTo>
                  <a:pt x="151921" y="110127"/>
                  <a:pt x="153812" y="115359"/>
                  <a:pt x="153812" y="121032"/>
                </a:cubicBezTo>
                <a:cubicBezTo>
                  <a:pt x="153812" y="134964"/>
                  <a:pt x="142528" y="146248"/>
                  <a:pt x="128597" y="146248"/>
                </a:cubicBezTo>
                <a:cubicBezTo>
                  <a:pt x="128376" y="146248"/>
                  <a:pt x="128187" y="146248"/>
                  <a:pt x="127967" y="146248"/>
                </a:cubicBezTo>
                <a:cubicBezTo>
                  <a:pt x="125729" y="154947"/>
                  <a:pt x="117818" y="161377"/>
                  <a:pt x="108425" y="161377"/>
                </a:cubicBezTo>
                <a:lnTo>
                  <a:pt x="98339" y="161377"/>
                </a:lnTo>
                <a:cubicBezTo>
                  <a:pt x="92760" y="161377"/>
                  <a:pt x="88253" y="156869"/>
                  <a:pt x="88253" y="151291"/>
                </a:cubicBezTo>
                <a:lnTo>
                  <a:pt x="88253" y="10086"/>
                </a:lnTo>
                <a:cubicBezTo>
                  <a:pt x="88253" y="4507"/>
                  <a:pt x="92760" y="0"/>
                  <a:pt x="98339" y="0"/>
                </a:cubicBezTo>
                <a:lnTo>
                  <a:pt x="105903" y="0"/>
                </a:lnTo>
                <a:cubicBezTo>
                  <a:pt x="115643" y="0"/>
                  <a:pt x="123554" y="7911"/>
                  <a:pt x="123554" y="17651"/>
                </a:cubicBezTo>
                <a:close/>
              </a:path>
            </a:pathLst>
          </a:custGeom>
          <a:solidFill>
            <a:srgbClr val="FFFFFF"/>
          </a:solidFill>
          <a:ln/>
        </p:spPr>
      </p:sp>
      <p:sp>
        <p:nvSpPr>
          <p:cNvPr id="7" name="Text 5"/>
          <p:cNvSpPr/>
          <p:nvPr/>
        </p:nvSpPr>
        <p:spPr>
          <a:xfrm>
            <a:off x="718126" y="1355563"/>
            <a:ext cx="5188257" cy="225927"/>
          </a:xfrm>
          <a:prstGeom prst="rect">
            <a:avLst/>
          </a:prstGeom>
          <a:noFill/>
          <a:ln/>
        </p:spPr>
        <p:txBody>
          <a:bodyPr wrap="square" lIns="0" tIns="0" rIns="0" bIns="0" rtlCol="0" anchor="ctr"/>
          <a:lstStyle/>
          <a:p>
            <a:pPr>
              <a:lnSpc>
                <a:spcPct val="120000"/>
              </a:lnSpc>
            </a:pPr>
            <a:r>
              <a:rPr lang="en-US" sz="1271" b="1" dirty="0">
                <a:solidFill>
                  <a:srgbClr val="FFFFFF"/>
                </a:solidFill>
                <a:latin typeface="Liter" pitchFamily="34" charset="0"/>
                <a:ea typeface="Liter" pitchFamily="34" charset="-122"/>
                <a:cs typeface="Liter" pitchFamily="34" charset="-120"/>
              </a:rPr>
              <a:t>AI &amp; Advanced Analytics</a:t>
            </a:r>
            <a:endParaRPr lang="en-US" sz="1600" dirty="0"/>
          </a:p>
        </p:txBody>
      </p:sp>
      <p:sp>
        <p:nvSpPr>
          <p:cNvPr id="8" name="Text 6"/>
          <p:cNvSpPr/>
          <p:nvPr/>
        </p:nvSpPr>
        <p:spPr>
          <a:xfrm>
            <a:off x="516405" y="1710592"/>
            <a:ext cx="5373840" cy="629369"/>
          </a:xfrm>
          <a:prstGeom prst="rect">
            <a:avLst/>
          </a:prstGeom>
          <a:noFill/>
          <a:ln/>
        </p:spPr>
        <p:txBody>
          <a:bodyPr wrap="square" lIns="0" tIns="0" rIns="0" bIns="0" rtlCol="0" anchor="ctr"/>
          <a:lstStyle/>
          <a:p>
            <a:pPr>
              <a:lnSpc>
                <a:spcPct val="140000"/>
              </a:lnSpc>
            </a:pPr>
            <a:r>
              <a:rPr lang="en-US" sz="1017" dirty="0">
                <a:solidFill>
                  <a:srgbClr val="FFFFFF"/>
                </a:solidFill>
                <a:latin typeface="Quattrocento Sans" pitchFamily="34" charset="0"/>
                <a:ea typeface="Quattrocento Sans" pitchFamily="34" charset="-122"/>
                <a:cs typeface="Quattrocento Sans" pitchFamily="34" charset="-120"/>
              </a:rPr>
              <a:t>Leveraging artificial intelligence, machine learning, and predictive analytics to transform decision-making, enhance customer experiences, and optimize operational performance beyond basic automation.</a:t>
            </a:r>
            <a:endParaRPr lang="en-US" sz="1600" dirty="0"/>
          </a:p>
        </p:txBody>
      </p:sp>
      <p:sp>
        <p:nvSpPr>
          <p:cNvPr id="9" name="Shape 7"/>
          <p:cNvSpPr/>
          <p:nvPr/>
        </p:nvSpPr>
        <p:spPr>
          <a:xfrm>
            <a:off x="516405" y="2469062"/>
            <a:ext cx="2606232" cy="661644"/>
          </a:xfrm>
          <a:custGeom>
            <a:avLst/>
            <a:gdLst/>
            <a:ahLst/>
            <a:cxnLst/>
            <a:rect l="l" t="t" r="r" b="b"/>
            <a:pathLst>
              <a:path w="2606232" h="661644">
                <a:moveTo>
                  <a:pt x="64550" y="0"/>
                </a:moveTo>
                <a:lnTo>
                  <a:pt x="2541682" y="0"/>
                </a:lnTo>
                <a:cubicBezTo>
                  <a:pt x="2577332" y="0"/>
                  <a:pt x="2606232" y="28900"/>
                  <a:pt x="2606232" y="64550"/>
                </a:cubicBezTo>
                <a:lnTo>
                  <a:pt x="2606232" y="597094"/>
                </a:lnTo>
                <a:cubicBezTo>
                  <a:pt x="2606232" y="632744"/>
                  <a:pt x="2577332" y="661644"/>
                  <a:pt x="2541682" y="661644"/>
                </a:cubicBezTo>
                <a:lnTo>
                  <a:pt x="64550" y="661644"/>
                </a:lnTo>
                <a:cubicBezTo>
                  <a:pt x="28900" y="661644"/>
                  <a:pt x="0" y="632744"/>
                  <a:pt x="0" y="597094"/>
                </a:cubicBezTo>
                <a:lnTo>
                  <a:pt x="0" y="64550"/>
                </a:lnTo>
                <a:cubicBezTo>
                  <a:pt x="0" y="28924"/>
                  <a:pt x="28924" y="0"/>
                  <a:pt x="64550" y="0"/>
                </a:cubicBezTo>
                <a:close/>
              </a:path>
            </a:pathLst>
          </a:custGeom>
          <a:solidFill>
            <a:srgbClr val="FFFFFF">
              <a:alpha val="10196"/>
            </a:srgbClr>
          </a:solidFill>
          <a:ln/>
        </p:spPr>
      </p:sp>
      <p:sp>
        <p:nvSpPr>
          <p:cNvPr id="10" name="Shape 8"/>
          <p:cNvSpPr/>
          <p:nvPr/>
        </p:nvSpPr>
        <p:spPr>
          <a:xfrm>
            <a:off x="1699560" y="2565887"/>
            <a:ext cx="242065" cy="242065"/>
          </a:xfrm>
          <a:custGeom>
            <a:avLst/>
            <a:gdLst/>
            <a:ahLst/>
            <a:cxnLst/>
            <a:rect l="l" t="t" r="r" b="b"/>
            <a:pathLst>
              <a:path w="242065" h="242065">
                <a:moveTo>
                  <a:pt x="30258" y="30258"/>
                </a:moveTo>
                <a:cubicBezTo>
                  <a:pt x="30258" y="21890"/>
                  <a:pt x="23497" y="15129"/>
                  <a:pt x="15129" y="15129"/>
                </a:cubicBezTo>
                <a:cubicBezTo>
                  <a:pt x="6761" y="15129"/>
                  <a:pt x="0" y="21890"/>
                  <a:pt x="0" y="30258"/>
                </a:cubicBezTo>
                <a:lnTo>
                  <a:pt x="0" y="189113"/>
                </a:lnTo>
                <a:cubicBezTo>
                  <a:pt x="0" y="210010"/>
                  <a:pt x="16926" y="226936"/>
                  <a:pt x="37823" y="226936"/>
                </a:cubicBezTo>
                <a:lnTo>
                  <a:pt x="226936" y="226936"/>
                </a:lnTo>
                <a:cubicBezTo>
                  <a:pt x="235304" y="226936"/>
                  <a:pt x="242065" y="220175"/>
                  <a:pt x="242065" y="211807"/>
                </a:cubicBezTo>
                <a:cubicBezTo>
                  <a:pt x="242065" y="203438"/>
                  <a:pt x="235304" y="196678"/>
                  <a:pt x="226936" y="196678"/>
                </a:cubicBezTo>
                <a:lnTo>
                  <a:pt x="37823" y="196678"/>
                </a:lnTo>
                <a:cubicBezTo>
                  <a:pt x="33662" y="196678"/>
                  <a:pt x="30258" y="193274"/>
                  <a:pt x="30258" y="189113"/>
                </a:cubicBezTo>
                <a:lnTo>
                  <a:pt x="30258" y="30258"/>
                </a:lnTo>
                <a:close/>
                <a:moveTo>
                  <a:pt x="222492" y="71201"/>
                </a:moveTo>
                <a:cubicBezTo>
                  <a:pt x="228401" y="65291"/>
                  <a:pt x="228401" y="55694"/>
                  <a:pt x="222492" y="49784"/>
                </a:cubicBezTo>
                <a:cubicBezTo>
                  <a:pt x="216582" y="43874"/>
                  <a:pt x="206984" y="43874"/>
                  <a:pt x="201075" y="49784"/>
                </a:cubicBezTo>
                <a:lnTo>
                  <a:pt x="151291" y="99615"/>
                </a:lnTo>
                <a:lnTo>
                  <a:pt x="124153" y="72525"/>
                </a:lnTo>
                <a:cubicBezTo>
                  <a:pt x="118243" y="66615"/>
                  <a:pt x="108646" y="66615"/>
                  <a:pt x="102736" y="72525"/>
                </a:cubicBezTo>
                <a:lnTo>
                  <a:pt x="57349" y="117912"/>
                </a:lnTo>
                <a:cubicBezTo>
                  <a:pt x="51439" y="123822"/>
                  <a:pt x="51439" y="133419"/>
                  <a:pt x="57349" y="139329"/>
                </a:cubicBezTo>
                <a:cubicBezTo>
                  <a:pt x="63258" y="145239"/>
                  <a:pt x="72856" y="145239"/>
                  <a:pt x="78766" y="139329"/>
                </a:cubicBezTo>
                <a:lnTo>
                  <a:pt x="113468" y="104627"/>
                </a:lnTo>
                <a:lnTo>
                  <a:pt x="140606" y="131765"/>
                </a:lnTo>
                <a:cubicBezTo>
                  <a:pt x="146515" y="137674"/>
                  <a:pt x="156113" y="137674"/>
                  <a:pt x="162023" y="131765"/>
                </a:cubicBezTo>
                <a:lnTo>
                  <a:pt x="222539" y="71248"/>
                </a:lnTo>
                <a:close/>
              </a:path>
            </a:pathLst>
          </a:custGeom>
          <a:solidFill>
            <a:srgbClr val="FFFFFF"/>
          </a:solidFill>
          <a:ln/>
        </p:spPr>
      </p:sp>
      <p:sp>
        <p:nvSpPr>
          <p:cNvPr id="11" name="Text 9"/>
          <p:cNvSpPr/>
          <p:nvPr/>
        </p:nvSpPr>
        <p:spPr>
          <a:xfrm>
            <a:off x="584990" y="2872503"/>
            <a:ext cx="2469062" cy="161377"/>
          </a:xfrm>
          <a:prstGeom prst="rect">
            <a:avLst/>
          </a:prstGeom>
          <a:noFill/>
          <a:ln/>
        </p:spPr>
        <p:txBody>
          <a:bodyPr wrap="square" lIns="0" tIns="0" rIns="0" bIns="0" rtlCol="0" anchor="ctr"/>
          <a:lstStyle/>
          <a:p>
            <a:pPr algn="ctr">
              <a:lnSpc>
                <a:spcPct val="120000"/>
              </a:lnSpc>
            </a:pPr>
            <a:r>
              <a:rPr lang="en-US" sz="889" b="1" dirty="0">
                <a:solidFill>
                  <a:srgbClr val="FFFFFF"/>
                </a:solidFill>
                <a:latin typeface="Quattrocento Sans" pitchFamily="34" charset="0"/>
                <a:ea typeface="Quattrocento Sans" pitchFamily="34" charset="-122"/>
                <a:cs typeface="Quattrocento Sans" pitchFamily="34" charset="-120"/>
              </a:rPr>
              <a:t>Predictive Analytics</a:t>
            </a:r>
            <a:endParaRPr lang="en-US" sz="1600" dirty="0"/>
          </a:p>
        </p:txBody>
      </p:sp>
      <p:sp>
        <p:nvSpPr>
          <p:cNvPr id="12" name="Shape 10"/>
          <p:cNvSpPr/>
          <p:nvPr/>
        </p:nvSpPr>
        <p:spPr>
          <a:xfrm>
            <a:off x="3217635" y="2469062"/>
            <a:ext cx="2606232" cy="661644"/>
          </a:xfrm>
          <a:custGeom>
            <a:avLst/>
            <a:gdLst/>
            <a:ahLst/>
            <a:cxnLst/>
            <a:rect l="l" t="t" r="r" b="b"/>
            <a:pathLst>
              <a:path w="2606232" h="661644">
                <a:moveTo>
                  <a:pt x="64550" y="0"/>
                </a:moveTo>
                <a:lnTo>
                  <a:pt x="2541682" y="0"/>
                </a:lnTo>
                <a:cubicBezTo>
                  <a:pt x="2577332" y="0"/>
                  <a:pt x="2606232" y="28900"/>
                  <a:pt x="2606232" y="64550"/>
                </a:cubicBezTo>
                <a:lnTo>
                  <a:pt x="2606232" y="597094"/>
                </a:lnTo>
                <a:cubicBezTo>
                  <a:pt x="2606232" y="632744"/>
                  <a:pt x="2577332" y="661644"/>
                  <a:pt x="2541682" y="661644"/>
                </a:cubicBezTo>
                <a:lnTo>
                  <a:pt x="64550" y="661644"/>
                </a:lnTo>
                <a:cubicBezTo>
                  <a:pt x="28900" y="661644"/>
                  <a:pt x="0" y="632744"/>
                  <a:pt x="0" y="597094"/>
                </a:cubicBezTo>
                <a:lnTo>
                  <a:pt x="0" y="64550"/>
                </a:lnTo>
                <a:cubicBezTo>
                  <a:pt x="0" y="28924"/>
                  <a:pt x="28924" y="0"/>
                  <a:pt x="64550" y="0"/>
                </a:cubicBezTo>
                <a:close/>
              </a:path>
            </a:pathLst>
          </a:custGeom>
          <a:solidFill>
            <a:srgbClr val="FFFFFF">
              <a:alpha val="10196"/>
            </a:srgbClr>
          </a:solidFill>
          <a:ln/>
        </p:spPr>
      </p:sp>
      <p:sp>
        <p:nvSpPr>
          <p:cNvPr id="13" name="Shape 11"/>
          <p:cNvSpPr/>
          <p:nvPr/>
        </p:nvSpPr>
        <p:spPr>
          <a:xfrm>
            <a:off x="4385724" y="2565887"/>
            <a:ext cx="272323" cy="242065"/>
          </a:xfrm>
          <a:custGeom>
            <a:avLst/>
            <a:gdLst/>
            <a:ahLst/>
            <a:cxnLst/>
            <a:rect l="l" t="t" r="r" b="b"/>
            <a:pathLst>
              <a:path w="272323" h="242065">
                <a:moveTo>
                  <a:pt x="181549" y="68081"/>
                </a:moveTo>
                <a:cubicBezTo>
                  <a:pt x="181549" y="114035"/>
                  <a:pt x="140889" y="151291"/>
                  <a:pt x="90774" y="151291"/>
                </a:cubicBezTo>
                <a:cubicBezTo>
                  <a:pt x="78151" y="151291"/>
                  <a:pt x="66142" y="148927"/>
                  <a:pt x="55221" y="144672"/>
                </a:cubicBezTo>
                <a:lnTo>
                  <a:pt x="16642" y="165096"/>
                </a:lnTo>
                <a:cubicBezTo>
                  <a:pt x="12245" y="167412"/>
                  <a:pt x="6855" y="166609"/>
                  <a:pt x="3309" y="163110"/>
                </a:cubicBezTo>
                <a:cubicBezTo>
                  <a:pt x="-236" y="159612"/>
                  <a:pt x="-1040" y="154175"/>
                  <a:pt x="1324" y="149778"/>
                </a:cubicBezTo>
                <a:lnTo>
                  <a:pt x="18155" y="118007"/>
                </a:lnTo>
                <a:cubicBezTo>
                  <a:pt x="6761" y="104107"/>
                  <a:pt x="0" y="86803"/>
                  <a:pt x="0" y="68081"/>
                </a:cubicBezTo>
                <a:cubicBezTo>
                  <a:pt x="0" y="22126"/>
                  <a:pt x="40659" y="-15129"/>
                  <a:pt x="90774" y="-15129"/>
                </a:cubicBezTo>
                <a:cubicBezTo>
                  <a:pt x="140889" y="-15129"/>
                  <a:pt x="181549" y="22126"/>
                  <a:pt x="181549" y="68081"/>
                </a:cubicBezTo>
                <a:close/>
                <a:moveTo>
                  <a:pt x="181549" y="242065"/>
                </a:moveTo>
                <a:cubicBezTo>
                  <a:pt x="137060" y="242065"/>
                  <a:pt x="100041" y="212705"/>
                  <a:pt x="92287" y="173984"/>
                </a:cubicBezTo>
                <a:cubicBezTo>
                  <a:pt x="149021" y="173275"/>
                  <a:pt x="198332" y="132899"/>
                  <a:pt x="203769" y="78151"/>
                </a:cubicBezTo>
                <a:cubicBezTo>
                  <a:pt x="243152" y="87228"/>
                  <a:pt x="272323" y="119898"/>
                  <a:pt x="272323" y="158855"/>
                </a:cubicBezTo>
                <a:cubicBezTo>
                  <a:pt x="272323" y="177577"/>
                  <a:pt x="265562" y="194881"/>
                  <a:pt x="254168" y="208781"/>
                </a:cubicBezTo>
                <a:lnTo>
                  <a:pt x="270999" y="240552"/>
                </a:lnTo>
                <a:cubicBezTo>
                  <a:pt x="273316" y="244949"/>
                  <a:pt x="272512" y="250339"/>
                  <a:pt x="269013" y="253884"/>
                </a:cubicBezTo>
                <a:cubicBezTo>
                  <a:pt x="265515" y="257430"/>
                  <a:pt x="260078" y="258234"/>
                  <a:pt x="255681" y="255870"/>
                </a:cubicBezTo>
                <a:lnTo>
                  <a:pt x="217102" y="235446"/>
                </a:lnTo>
                <a:cubicBezTo>
                  <a:pt x="206181" y="239701"/>
                  <a:pt x="194172" y="242065"/>
                  <a:pt x="181549" y="242065"/>
                </a:cubicBezTo>
                <a:close/>
              </a:path>
            </a:pathLst>
          </a:custGeom>
          <a:solidFill>
            <a:srgbClr val="FFFFFF"/>
          </a:solidFill>
          <a:ln/>
        </p:spPr>
      </p:sp>
      <p:sp>
        <p:nvSpPr>
          <p:cNvPr id="14" name="Text 12"/>
          <p:cNvSpPr/>
          <p:nvPr/>
        </p:nvSpPr>
        <p:spPr>
          <a:xfrm>
            <a:off x="3286220" y="2872503"/>
            <a:ext cx="2469062" cy="161377"/>
          </a:xfrm>
          <a:prstGeom prst="rect">
            <a:avLst/>
          </a:prstGeom>
          <a:noFill/>
          <a:ln/>
        </p:spPr>
        <p:txBody>
          <a:bodyPr wrap="square" lIns="0" tIns="0" rIns="0" bIns="0" rtlCol="0" anchor="ctr"/>
          <a:lstStyle/>
          <a:p>
            <a:pPr algn="ctr">
              <a:lnSpc>
                <a:spcPct val="120000"/>
              </a:lnSpc>
            </a:pPr>
            <a:r>
              <a:rPr lang="en-US" sz="889" b="1" dirty="0">
                <a:solidFill>
                  <a:srgbClr val="FFFFFF"/>
                </a:solidFill>
                <a:latin typeface="Quattrocento Sans" pitchFamily="34" charset="0"/>
                <a:ea typeface="Quattrocento Sans" pitchFamily="34" charset="-122"/>
                <a:cs typeface="Quattrocento Sans" pitchFamily="34" charset="-120"/>
              </a:rPr>
              <a:t>Conversational AI</a:t>
            </a:r>
            <a:endParaRPr lang="en-US" sz="1600" dirty="0"/>
          </a:p>
        </p:txBody>
      </p:sp>
      <p:sp>
        <p:nvSpPr>
          <p:cNvPr id="15" name="Shape 13"/>
          <p:cNvSpPr/>
          <p:nvPr/>
        </p:nvSpPr>
        <p:spPr>
          <a:xfrm>
            <a:off x="338891" y="3453459"/>
            <a:ext cx="5680455" cy="1387839"/>
          </a:xfrm>
          <a:custGeom>
            <a:avLst/>
            <a:gdLst/>
            <a:ahLst/>
            <a:cxnLst/>
            <a:rect l="l" t="t" r="r" b="b"/>
            <a:pathLst>
              <a:path w="5680455" h="1387839">
                <a:moveTo>
                  <a:pt x="32275" y="0"/>
                </a:moveTo>
                <a:lnTo>
                  <a:pt x="5583626" y="0"/>
                </a:lnTo>
                <a:cubicBezTo>
                  <a:pt x="5637103" y="0"/>
                  <a:pt x="5680455" y="43352"/>
                  <a:pt x="5680455" y="96829"/>
                </a:cubicBezTo>
                <a:lnTo>
                  <a:pt x="5680455" y="1291009"/>
                </a:lnTo>
                <a:cubicBezTo>
                  <a:pt x="5680455" y="1344486"/>
                  <a:pt x="5637103" y="1387839"/>
                  <a:pt x="5583626" y="1387839"/>
                </a:cubicBezTo>
                <a:lnTo>
                  <a:pt x="32275" y="1387839"/>
                </a:lnTo>
                <a:cubicBezTo>
                  <a:pt x="14450" y="1387839"/>
                  <a:pt x="0" y="1373388"/>
                  <a:pt x="0" y="1355563"/>
                </a:cubicBezTo>
                <a:lnTo>
                  <a:pt x="0" y="32275"/>
                </a:lnTo>
                <a:cubicBezTo>
                  <a:pt x="0" y="14462"/>
                  <a:pt x="14462" y="0"/>
                  <a:pt x="32275" y="0"/>
                </a:cubicBezTo>
                <a:close/>
              </a:path>
            </a:pathLst>
          </a:custGeom>
          <a:solidFill>
            <a:srgbClr val="003087">
              <a:alpha val="10196"/>
            </a:srgbClr>
          </a:solidFill>
          <a:ln/>
        </p:spPr>
      </p:sp>
      <p:sp>
        <p:nvSpPr>
          <p:cNvPr id="16" name="Shape 14"/>
          <p:cNvSpPr/>
          <p:nvPr/>
        </p:nvSpPr>
        <p:spPr>
          <a:xfrm>
            <a:off x="338891" y="3453459"/>
            <a:ext cx="32275" cy="1387839"/>
          </a:xfrm>
          <a:custGeom>
            <a:avLst/>
            <a:gdLst/>
            <a:ahLst/>
            <a:cxnLst/>
            <a:rect l="l" t="t" r="r" b="b"/>
            <a:pathLst>
              <a:path w="32275" h="1387839">
                <a:moveTo>
                  <a:pt x="32275" y="0"/>
                </a:moveTo>
                <a:lnTo>
                  <a:pt x="32275" y="0"/>
                </a:lnTo>
                <a:lnTo>
                  <a:pt x="32275" y="1387839"/>
                </a:lnTo>
                <a:lnTo>
                  <a:pt x="32275" y="1387839"/>
                </a:lnTo>
                <a:cubicBezTo>
                  <a:pt x="14450" y="1387839"/>
                  <a:pt x="0" y="1373388"/>
                  <a:pt x="0" y="1355563"/>
                </a:cubicBezTo>
                <a:lnTo>
                  <a:pt x="0" y="32275"/>
                </a:lnTo>
                <a:cubicBezTo>
                  <a:pt x="0" y="14462"/>
                  <a:pt x="14462" y="0"/>
                  <a:pt x="32275" y="0"/>
                </a:cubicBezTo>
                <a:close/>
              </a:path>
            </a:pathLst>
          </a:custGeom>
          <a:solidFill>
            <a:srgbClr val="003087"/>
          </a:solidFill>
          <a:ln/>
        </p:spPr>
      </p:sp>
      <p:sp>
        <p:nvSpPr>
          <p:cNvPr id="17" name="Text 15"/>
          <p:cNvSpPr/>
          <p:nvPr/>
        </p:nvSpPr>
        <p:spPr>
          <a:xfrm>
            <a:off x="516405" y="3614835"/>
            <a:ext cx="5414184" cy="225927"/>
          </a:xfrm>
          <a:prstGeom prst="rect">
            <a:avLst/>
          </a:prstGeom>
          <a:noFill/>
          <a:ln/>
        </p:spPr>
        <p:txBody>
          <a:bodyPr wrap="square" lIns="0" tIns="0" rIns="0" bIns="0" rtlCol="0" anchor="ctr"/>
          <a:lstStyle/>
          <a:p>
            <a:pPr>
              <a:lnSpc>
                <a:spcPct val="130000"/>
              </a:lnSpc>
            </a:pPr>
            <a:r>
              <a:rPr lang="en-US" sz="1144" b="1" dirty="0">
                <a:solidFill>
                  <a:srgbClr val="003087"/>
                </a:solidFill>
                <a:latin typeface="Liter" pitchFamily="34" charset="0"/>
                <a:ea typeface="Liter" pitchFamily="34" charset="-122"/>
                <a:cs typeface="Liter" pitchFamily="34" charset="-120"/>
              </a:rPr>
              <a:t>Predictive Credit Decisioning</a:t>
            </a:r>
            <a:endParaRPr lang="en-US" sz="1600" dirty="0"/>
          </a:p>
        </p:txBody>
      </p:sp>
      <p:sp>
        <p:nvSpPr>
          <p:cNvPr id="18" name="Text 16"/>
          <p:cNvSpPr/>
          <p:nvPr/>
        </p:nvSpPr>
        <p:spPr>
          <a:xfrm>
            <a:off x="516405" y="3937588"/>
            <a:ext cx="5406115" cy="419579"/>
          </a:xfrm>
          <a:prstGeom prst="rect">
            <a:avLst/>
          </a:prstGeom>
          <a:noFill/>
          <a:ln/>
        </p:spPr>
        <p:txBody>
          <a:bodyPr wrap="square" lIns="0" tIns="0" rIns="0" bIns="0" rtlCol="0" anchor="ctr"/>
          <a:lstStyle/>
          <a:p>
            <a:pPr>
              <a:lnSpc>
                <a:spcPct val="140000"/>
              </a:lnSpc>
            </a:pPr>
            <a:r>
              <a:rPr lang="en-US" sz="1017" dirty="0">
                <a:solidFill>
                  <a:srgbClr val="1A1A1A">
                    <a:alpha val="80000"/>
                  </a:srgbClr>
                </a:solidFill>
                <a:latin typeface="Quattrocento Sans" pitchFamily="34" charset="0"/>
                <a:ea typeface="Quattrocento Sans" pitchFamily="34" charset="-122"/>
                <a:cs typeface="Quattrocento Sans" pitchFamily="34" charset="-120"/>
              </a:rPr>
              <a:t>AI models analyze alternative data (income patterns, spending behavior, digital footprint) for faster, fairer lending decisions while reducing default risk.</a:t>
            </a:r>
            <a:endParaRPr lang="en-US" sz="1600" dirty="0"/>
          </a:p>
        </p:txBody>
      </p:sp>
      <p:sp>
        <p:nvSpPr>
          <p:cNvPr id="19" name="Shape 17"/>
          <p:cNvSpPr/>
          <p:nvPr/>
        </p:nvSpPr>
        <p:spPr>
          <a:xfrm>
            <a:off x="516405" y="4453993"/>
            <a:ext cx="1218393" cy="225927"/>
          </a:xfrm>
          <a:custGeom>
            <a:avLst/>
            <a:gdLst/>
            <a:ahLst/>
            <a:cxnLst/>
            <a:rect l="l" t="t" r="r" b="b"/>
            <a:pathLst>
              <a:path w="1218393" h="225927">
                <a:moveTo>
                  <a:pt x="112964" y="0"/>
                </a:moveTo>
                <a:lnTo>
                  <a:pt x="1105430" y="0"/>
                </a:lnTo>
                <a:cubicBezTo>
                  <a:pt x="1167818" y="0"/>
                  <a:pt x="1218393" y="50576"/>
                  <a:pt x="1218393" y="112964"/>
                </a:cubicBezTo>
                <a:lnTo>
                  <a:pt x="1218393" y="112964"/>
                </a:lnTo>
                <a:cubicBezTo>
                  <a:pt x="1218393" y="175352"/>
                  <a:pt x="1167818" y="225927"/>
                  <a:pt x="1105430" y="225927"/>
                </a:cubicBezTo>
                <a:lnTo>
                  <a:pt x="112964" y="225927"/>
                </a:lnTo>
                <a:cubicBezTo>
                  <a:pt x="50576" y="225927"/>
                  <a:pt x="0" y="175352"/>
                  <a:pt x="0" y="112964"/>
                </a:cubicBezTo>
                <a:lnTo>
                  <a:pt x="0" y="112964"/>
                </a:lnTo>
                <a:cubicBezTo>
                  <a:pt x="0" y="50576"/>
                  <a:pt x="50576" y="0"/>
                  <a:pt x="112964" y="0"/>
                </a:cubicBezTo>
                <a:close/>
              </a:path>
            </a:pathLst>
          </a:custGeom>
          <a:solidFill>
            <a:srgbClr val="FF6B00">
              <a:alpha val="10196"/>
            </a:srgbClr>
          </a:solidFill>
          <a:ln/>
        </p:spPr>
      </p:sp>
      <p:sp>
        <p:nvSpPr>
          <p:cNvPr id="20" name="Text 18"/>
          <p:cNvSpPr/>
          <p:nvPr/>
        </p:nvSpPr>
        <p:spPr>
          <a:xfrm>
            <a:off x="516405" y="4453993"/>
            <a:ext cx="1274875" cy="225927"/>
          </a:xfrm>
          <a:prstGeom prst="rect">
            <a:avLst/>
          </a:prstGeom>
          <a:noFill/>
          <a:ln/>
        </p:spPr>
        <p:txBody>
          <a:bodyPr wrap="square" lIns="96826" tIns="32275" rIns="96826" bIns="32275" rtlCol="0" anchor="ctr"/>
          <a:lstStyle/>
          <a:p>
            <a:pPr>
              <a:lnSpc>
                <a:spcPct val="120000"/>
              </a:lnSpc>
            </a:pPr>
            <a:r>
              <a:rPr lang="en-US" sz="889" b="1" dirty="0">
                <a:solidFill>
                  <a:srgbClr val="FF6B00"/>
                </a:solidFill>
                <a:latin typeface="Quattrocento Sans" pitchFamily="34" charset="0"/>
                <a:ea typeface="Quattrocento Sans" pitchFamily="34" charset="-122"/>
                <a:cs typeface="Quattrocento Sans" pitchFamily="34" charset="-120"/>
              </a:rPr>
              <a:t>35% faster approvals</a:t>
            </a:r>
            <a:endParaRPr lang="en-US" sz="1600" dirty="0"/>
          </a:p>
        </p:txBody>
      </p:sp>
      <p:sp>
        <p:nvSpPr>
          <p:cNvPr id="21" name="Shape 19"/>
          <p:cNvSpPr/>
          <p:nvPr/>
        </p:nvSpPr>
        <p:spPr>
          <a:xfrm>
            <a:off x="1799097" y="4453993"/>
            <a:ext cx="1137705" cy="225927"/>
          </a:xfrm>
          <a:custGeom>
            <a:avLst/>
            <a:gdLst/>
            <a:ahLst/>
            <a:cxnLst/>
            <a:rect l="l" t="t" r="r" b="b"/>
            <a:pathLst>
              <a:path w="1137705" h="225927">
                <a:moveTo>
                  <a:pt x="112964" y="0"/>
                </a:moveTo>
                <a:lnTo>
                  <a:pt x="1024741" y="0"/>
                </a:lnTo>
                <a:cubicBezTo>
                  <a:pt x="1087129" y="0"/>
                  <a:pt x="1137705" y="50576"/>
                  <a:pt x="1137705" y="112964"/>
                </a:cubicBezTo>
                <a:lnTo>
                  <a:pt x="1137705" y="112964"/>
                </a:lnTo>
                <a:cubicBezTo>
                  <a:pt x="1137705" y="175352"/>
                  <a:pt x="1087129" y="225927"/>
                  <a:pt x="1024741" y="225927"/>
                </a:cubicBezTo>
                <a:lnTo>
                  <a:pt x="112964" y="225927"/>
                </a:lnTo>
                <a:cubicBezTo>
                  <a:pt x="50576" y="225927"/>
                  <a:pt x="0" y="175352"/>
                  <a:pt x="0" y="112964"/>
                </a:cubicBezTo>
                <a:lnTo>
                  <a:pt x="0" y="112964"/>
                </a:lnTo>
                <a:cubicBezTo>
                  <a:pt x="0" y="50576"/>
                  <a:pt x="50576" y="0"/>
                  <a:pt x="112964" y="0"/>
                </a:cubicBezTo>
                <a:close/>
              </a:path>
            </a:pathLst>
          </a:custGeom>
          <a:solidFill>
            <a:srgbClr val="003087">
              <a:alpha val="10196"/>
            </a:srgbClr>
          </a:solidFill>
          <a:ln/>
        </p:spPr>
      </p:sp>
      <p:sp>
        <p:nvSpPr>
          <p:cNvPr id="22" name="Text 20"/>
          <p:cNvSpPr/>
          <p:nvPr/>
        </p:nvSpPr>
        <p:spPr>
          <a:xfrm>
            <a:off x="1799097" y="4453993"/>
            <a:ext cx="1194187" cy="225927"/>
          </a:xfrm>
          <a:prstGeom prst="rect">
            <a:avLst/>
          </a:prstGeom>
          <a:noFill/>
          <a:ln/>
        </p:spPr>
        <p:txBody>
          <a:bodyPr wrap="square" lIns="96826" tIns="32275" rIns="96826" bIns="32275" rtlCol="0" anchor="ctr"/>
          <a:lstStyle/>
          <a:p>
            <a:pPr>
              <a:lnSpc>
                <a:spcPct val="120000"/>
              </a:lnSpc>
            </a:pPr>
            <a:r>
              <a:rPr lang="en-US" sz="889" b="1" dirty="0">
                <a:solidFill>
                  <a:srgbClr val="003087"/>
                </a:solidFill>
                <a:latin typeface="Quattrocento Sans" pitchFamily="34" charset="0"/>
                <a:ea typeface="Quattrocento Sans" pitchFamily="34" charset="-122"/>
                <a:cs typeface="Quattrocento Sans" pitchFamily="34" charset="-120"/>
              </a:rPr>
              <a:t>20% lower defaults</a:t>
            </a:r>
            <a:endParaRPr lang="en-US" sz="1600" dirty="0"/>
          </a:p>
        </p:txBody>
      </p:sp>
      <p:sp>
        <p:nvSpPr>
          <p:cNvPr id="23" name="Shape 21"/>
          <p:cNvSpPr/>
          <p:nvPr/>
        </p:nvSpPr>
        <p:spPr>
          <a:xfrm>
            <a:off x="338891" y="4970398"/>
            <a:ext cx="5680455" cy="1387839"/>
          </a:xfrm>
          <a:custGeom>
            <a:avLst/>
            <a:gdLst/>
            <a:ahLst/>
            <a:cxnLst/>
            <a:rect l="l" t="t" r="r" b="b"/>
            <a:pathLst>
              <a:path w="5680455" h="1387839">
                <a:moveTo>
                  <a:pt x="32275" y="0"/>
                </a:moveTo>
                <a:lnTo>
                  <a:pt x="5583626" y="0"/>
                </a:lnTo>
                <a:cubicBezTo>
                  <a:pt x="5637103" y="0"/>
                  <a:pt x="5680455" y="43352"/>
                  <a:pt x="5680455" y="96829"/>
                </a:cubicBezTo>
                <a:lnTo>
                  <a:pt x="5680455" y="1291009"/>
                </a:lnTo>
                <a:cubicBezTo>
                  <a:pt x="5680455" y="1344486"/>
                  <a:pt x="5637103" y="1387839"/>
                  <a:pt x="5583626" y="1387839"/>
                </a:cubicBezTo>
                <a:lnTo>
                  <a:pt x="32275" y="1387839"/>
                </a:lnTo>
                <a:cubicBezTo>
                  <a:pt x="14450" y="1387839"/>
                  <a:pt x="0" y="1373388"/>
                  <a:pt x="0" y="1355563"/>
                </a:cubicBezTo>
                <a:lnTo>
                  <a:pt x="0" y="32275"/>
                </a:lnTo>
                <a:cubicBezTo>
                  <a:pt x="0" y="14462"/>
                  <a:pt x="14462" y="0"/>
                  <a:pt x="32275" y="0"/>
                </a:cubicBezTo>
                <a:close/>
              </a:path>
            </a:pathLst>
          </a:custGeom>
          <a:solidFill>
            <a:srgbClr val="FF6B00">
              <a:alpha val="10196"/>
            </a:srgbClr>
          </a:solidFill>
          <a:ln/>
        </p:spPr>
      </p:sp>
      <p:sp>
        <p:nvSpPr>
          <p:cNvPr id="24" name="Shape 22"/>
          <p:cNvSpPr/>
          <p:nvPr/>
        </p:nvSpPr>
        <p:spPr>
          <a:xfrm>
            <a:off x="338891" y="4970398"/>
            <a:ext cx="32275" cy="1387839"/>
          </a:xfrm>
          <a:custGeom>
            <a:avLst/>
            <a:gdLst/>
            <a:ahLst/>
            <a:cxnLst/>
            <a:rect l="l" t="t" r="r" b="b"/>
            <a:pathLst>
              <a:path w="32275" h="1387839">
                <a:moveTo>
                  <a:pt x="32275" y="0"/>
                </a:moveTo>
                <a:lnTo>
                  <a:pt x="32275" y="0"/>
                </a:lnTo>
                <a:lnTo>
                  <a:pt x="32275" y="1387839"/>
                </a:lnTo>
                <a:lnTo>
                  <a:pt x="32275" y="1387839"/>
                </a:lnTo>
                <a:cubicBezTo>
                  <a:pt x="14450" y="1387839"/>
                  <a:pt x="0" y="1373388"/>
                  <a:pt x="0" y="1355563"/>
                </a:cubicBezTo>
                <a:lnTo>
                  <a:pt x="0" y="32275"/>
                </a:lnTo>
                <a:cubicBezTo>
                  <a:pt x="0" y="14462"/>
                  <a:pt x="14462" y="0"/>
                  <a:pt x="32275" y="0"/>
                </a:cubicBezTo>
                <a:close/>
              </a:path>
            </a:pathLst>
          </a:custGeom>
          <a:solidFill>
            <a:srgbClr val="FF6B00"/>
          </a:solidFill>
          <a:ln/>
        </p:spPr>
      </p:sp>
      <p:sp>
        <p:nvSpPr>
          <p:cNvPr id="25" name="Text 23"/>
          <p:cNvSpPr/>
          <p:nvPr/>
        </p:nvSpPr>
        <p:spPr>
          <a:xfrm>
            <a:off x="516405" y="5131775"/>
            <a:ext cx="5414184" cy="225927"/>
          </a:xfrm>
          <a:prstGeom prst="rect">
            <a:avLst/>
          </a:prstGeom>
          <a:noFill/>
          <a:ln/>
        </p:spPr>
        <p:txBody>
          <a:bodyPr wrap="square" lIns="0" tIns="0" rIns="0" bIns="0" rtlCol="0" anchor="ctr"/>
          <a:lstStyle/>
          <a:p>
            <a:pPr>
              <a:lnSpc>
                <a:spcPct val="130000"/>
              </a:lnSpc>
            </a:pPr>
            <a:r>
              <a:rPr lang="en-US" sz="1144" b="1" dirty="0">
                <a:solidFill>
                  <a:srgbClr val="003087"/>
                </a:solidFill>
                <a:latin typeface="Liter" pitchFamily="34" charset="0"/>
                <a:ea typeface="Liter" pitchFamily="34" charset="-122"/>
                <a:cs typeface="Liter" pitchFamily="34" charset="-120"/>
              </a:rPr>
              <a:t>Intelligent Document Processing</a:t>
            </a:r>
            <a:endParaRPr lang="en-US" sz="1600" dirty="0"/>
          </a:p>
        </p:txBody>
      </p:sp>
      <p:sp>
        <p:nvSpPr>
          <p:cNvPr id="26" name="Text 24"/>
          <p:cNvSpPr/>
          <p:nvPr/>
        </p:nvSpPr>
        <p:spPr>
          <a:xfrm>
            <a:off x="516405" y="5454528"/>
            <a:ext cx="5406115" cy="419579"/>
          </a:xfrm>
          <a:prstGeom prst="rect">
            <a:avLst/>
          </a:prstGeom>
          <a:noFill/>
          <a:ln/>
        </p:spPr>
        <p:txBody>
          <a:bodyPr wrap="square" lIns="0" tIns="0" rIns="0" bIns="0" rtlCol="0" anchor="ctr"/>
          <a:lstStyle/>
          <a:p>
            <a:pPr>
              <a:lnSpc>
                <a:spcPct val="140000"/>
              </a:lnSpc>
            </a:pPr>
            <a:r>
              <a:rPr lang="en-US" sz="1017" dirty="0">
                <a:solidFill>
                  <a:srgbClr val="1A1A1A">
                    <a:alpha val="80000"/>
                  </a:srgbClr>
                </a:solidFill>
                <a:latin typeface="Quattrocento Sans" pitchFamily="34" charset="0"/>
                <a:ea typeface="Quattrocento Sans" pitchFamily="34" charset="-122"/>
                <a:cs typeface="Quattrocento Sans" pitchFamily="34" charset="-120"/>
              </a:rPr>
              <a:t>AI-powered OCR and NLP extract, classify, and validate information from trade finance documents, contracts, and forms with 95%+ accuracy.</a:t>
            </a:r>
            <a:endParaRPr lang="en-US" sz="1600" dirty="0"/>
          </a:p>
        </p:txBody>
      </p:sp>
      <p:sp>
        <p:nvSpPr>
          <p:cNvPr id="27" name="Shape 25"/>
          <p:cNvSpPr/>
          <p:nvPr/>
        </p:nvSpPr>
        <p:spPr>
          <a:xfrm>
            <a:off x="516405" y="5970933"/>
            <a:ext cx="1161911" cy="225927"/>
          </a:xfrm>
          <a:custGeom>
            <a:avLst/>
            <a:gdLst/>
            <a:ahLst/>
            <a:cxnLst/>
            <a:rect l="l" t="t" r="r" b="b"/>
            <a:pathLst>
              <a:path w="1161911" h="225927">
                <a:moveTo>
                  <a:pt x="112964" y="0"/>
                </a:moveTo>
                <a:lnTo>
                  <a:pt x="1048948" y="0"/>
                </a:lnTo>
                <a:cubicBezTo>
                  <a:pt x="1111336" y="0"/>
                  <a:pt x="1161911" y="50576"/>
                  <a:pt x="1161911" y="112964"/>
                </a:cubicBezTo>
                <a:lnTo>
                  <a:pt x="1161911" y="112964"/>
                </a:lnTo>
                <a:cubicBezTo>
                  <a:pt x="1161911" y="175352"/>
                  <a:pt x="1111336" y="225927"/>
                  <a:pt x="1048948" y="225927"/>
                </a:cubicBezTo>
                <a:lnTo>
                  <a:pt x="112964" y="225927"/>
                </a:lnTo>
                <a:cubicBezTo>
                  <a:pt x="50576" y="225927"/>
                  <a:pt x="0" y="175352"/>
                  <a:pt x="0" y="112964"/>
                </a:cubicBezTo>
                <a:lnTo>
                  <a:pt x="0" y="112964"/>
                </a:lnTo>
                <a:cubicBezTo>
                  <a:pt x="0" y="50576"/>
                  <a:pt x="50576" y="0"/>
                  <a:pt x="112964" y="0"/>
                </a:cubicBezTo>
                <a:close/>
              </a:path>
            </a:pathLst>
          </a:custGeom>
          <a:solidFill>
            <a:srgbClr val="FF6B00">
              <a:alpha val="10196"/>
            </a:srgbClr>
          </a:solidFill>
          <a:ln/>
        </p:spPr>
      </p:sp>
      <p:sp>
        <p:nvSpPr>
          <p:cNvPr id="28" name="Text 26"/>
          <p:cNvSpPr/>
          <p:nvPr/>
        </p:nvSpPr>
        <p:spPr>
          <a:xfrm>
            <a:off x="516405" y="5970933"/>
            <a:ext cx="1218393" cy="225927"/>
          </a:xfrm>
          <a:prstGeom prst="rect">
            <a:avLst/>
          </a:prstGeom>
          <a:noFill/>
          <a:ln/>
        </p:spPr>
        <p:txBody>
          <a:bodyPr wrap="square" lIns="96826" tIns="32275" rIns="96826" bIns="32275" rtlCol="0" anchor="ctr"/>
          <a:lstStyle/>
          <a:p>
            <a:pPr>
              <a:lnSpc>
                <a:spcPct val="120000"/>
              </a:lnSpc>
            </a:pPr>
            <a:r>
              <a:rPr lang="en-US" sz="889" b="1" dirty="0">
                <a:solidFill>
                  <a:srgbClr val="FF6B00"/>
                </a:solidFill>
                <a:latin typeface="Quattrocento Sans" pitchFamily="34" charset="0"/>
                <a:ea typeface="Quattrocento Sans" pitchFamily="34" charset="-122"/>
                <a:cs typeface="Quattrocento Sans" pitchFamily="34" charset="-120"/>
              </a:rPr>
              <a:t>90% time reduction</a:t>
            </a:r>
            <a:endParaRPr lang="en-US" sz="1600" dirty="0"/>
          </a:p>
        </p:txBody>
      </p:sp>
      <p:sp>
        <p:nvSpPr>
          <p:cNvPr id="29" name="Shape 27"/>
          <p:cNvSpPr/>
          <p:nvPr/>
        </p:nvSpPr>
        <p:spPr>
          <a:xfrm>
            <a:off x="1741858" y="5970933"/>
            <a:ext cx="879502" cy="225927"/>
          </a:xfrm>
          <a:custGeom>
            <a:avLst/>
            <a:gdLst/>
            <a:ahLst/>
            <a:cxnLst/>
            <a:rect l="l" t="t" r="r" b="b"/>
            <a:pathLst>
              <a:path w="879502" h="225927">
                <a:moveTo>
                  <a:pt x="112964" y="0"/>
                </a:moveTo>
                <a:lnTo>
                  <a:pt x="766539" y="0"/>
                </a:lnTo>
                <a:cubicBezTo>
                  <a:pt x="828927" y="0"/>
                  <a:pt x="879502" y="50576"/>
                  <a:pt x="879502" y="112964"/>
                </a:cubicBezTo>
                <a:lnTo>
                  <a:pt x="879502" y="112964"/>
                </a:lnTo>
                <a:cubicBezTo>
                  <a:pt x="879502" y="175352"/>
                  <a:pt x="828927" y="225927"/>
                  <a:pt x="766539" y="225927"/>
                </a:cubicBezTo>
                <a:lnTo>
                  <a:pt x="112964" y="225927"/>
                </a:lnTo>
                <a:cubicBezTo>
                  <a:pt x="50576" y="225927"/>
                  <a:pt x="0" y="175352"/>
                  <a:pt x="0" y="112964"/>
                </a:cubicBezTo>
                <a:lnTo>
                  <a:pt x="0" y="112964"/>
                </a:lnTo>
                <a:cubicBezTo>
                  <a:pt x="0" y="50576"/>
                  <a:pt x="50576" y="0"/>
                  <a:pt x="112964" y="0"/>
                </a:cubicBezTo>
                <a:close/>
              </a:path>
            </a:pathLst>
          </a:custGeom>
          <a:solidFill>
            <a:srgbClr val="003087">
              <a:alpha val="10196"/>
            </a:srgbClr>
          </a:solidFill>
          <a:ln/>
        </p:spPr>
      </p:sp>
      <p:sp>
        <p:nvSpPr>
          <p:cNvPr id="30" name="Text 28"/>
          <p:cNvSpPr/>
          <p:nvPr/>
        </p:nvSpPr>
        <p:spPr>
          <a:xfrm>
            <a:off x="1741858" y="5970933"/>
            <a:ext cx="935984" cy="225927"/>
          </a:xfrm>
          <a:prstGeom prst="rect">
            <a:avLst/>
          </a:prstGeom>
          <a:noFill/>
          <a:ln/>
        </p:spPr>
        <p:txBody>
          <a:bodyPr wrap="square" lIns="96826" tIns="32275" rIns="96826" bIns="32275" rtlCol="0" anchor="ctr"/>
          <a:lstStyle/>
          <a:p>
            <a:pPr>
              <a:lnSpc>
                <a:spcPct val="120000"/>
              </a:lnSpc>
            </a:pPr>
            <a:r>
              <a:rPr lang="en-US" sz="889" b="1" dirty="0">
                <a:solidFill>
                  <a:srgbClr val="003087"/>
                </a:solidFill>
                <a:latin typeface="Quattrocento Sans" pitchFamily="34" charset="0"/>
                <a:ea typeface="Quattrocento Sans" pitchFamily="34" charset="-122"/>
                <a:cs typeface="Quattrocento Sans" pitchFamily="34" charset="-120"/>
              </a:rPr>
              <a:t>95% accuracy</a:t>
            </a:r>
            <a:endParaRPr lang="en-US" sz="1600" dirty="0"/>
          </a:p>
        </p:txBody>
      </p:sp>
      <p:sp>
        <p:nvSpPr>
          <p:cNvPr id="31" name="Shape 29"/>
          <p:cNvSpPr/>
          <p:nvPr/>
        </p:nvSpPr>
        <p:spPr>
          <a:xfrm>
            <a:off x="6177130" y="1161911"/>
            <a:ext cx="5696593" cy="3195256"/>
          </a:xfrm>
          <a:custGeom>
            <a:avLst/>
            <a:gdLst/>
            <a:ahLst/>
            <a:cxnLst/>
            <a:rect l="l" t="t" r="r" b="b"/>
            <a:pathLst>
              <a:path w="5696593" h="3195256">
                <a:moveTo>
                  <a:pt x="96816" y="0"/>
                </a:moveTo>
                <a:lnTo>
                  <a:pt x="5599777" y="0"/>
                </a:lnTo>
                <a:cubicBezTo>
                  <a:pt x="5653247" y="0"/>
                  <a:pt x="5696593" y="43346"/>
                  <a:pt x="5696593" y="96816"/>
                </a:cubicBezTo>
                <a:lnTo>
                  <a:pt x="5696593" y="3098440"/>
                </a:lnTo>
                <a:cubicBezTo>
                  <a:pt x="5696593" y="3151910"/>
                  <a:pt x="5653247" y="3195256"/>
                  <a:pt x="5599777" y="3195256"/>
                </a:cubicBezTo>
                <a:lnTo>
                  <a:pt x="96816" y="3195256"/>
                </a:lnTo>
                <a:cubicBezTo>
                  <a:pt x="43346" y="3195256"/>
                  <a:pt x="0" y="3151910"/>
                  <a:pt x="0" y="3098440"/>
                </a:cubicBezTo>
                <a:lnTo>
                  <a:pt x="0" y="96816"/>
                </a:lnTo>
                <a:cubicBezTo>
                  <a:pt x="0" y="43382"/>
                  <a:pt x="43382" y="0"/>
                  <a:pt x="96816" y="0"/>
                </a:cubicBezTo>
                <a:close/>
              </a:path>
            </a:pathLst>
          </a:custGeom>
          <a:solidFill>
            <a:srgbClr val="F9FAFB"/>
          </a:solidFill>
          <a:ln/>
        </p:spPr>
      </p:sp>
      <p:sp>
        <p:nvSpPr>
          <p:cNvPr id="32" name="Text 30"/>
          <p:cNvSpPr/>
          <p:nvPr/>
        </p:nvSpPr>
        <p:spPr>
          <a:xfrm>
            <a:off x="6338506" y="1323288"/>
            <a:ext cx="5446459" cy="225927"/>
          </a:xfrm>
          <a:prstGeom prst="rect">
            <a:avLst/>
          </a:prstGeom>
          <a:noFill/>
          <a:ln/>
        </p:spPr>
        <p:txBody>
          <a:bodyPr wrap="square" lIns="0" tIns="0" rIns="0" bIns="0" rtlCol="0" anchor="ctr"/>
          <a:lstStyle/>
          <a:p>
            <a:pPr>
              <a:lnSpc>
                <a:spcPct val="130000"/>
              </a:lnSpc>
            </a:pPr>
            <a:r>
              <a:rPr lang="en-US" sz="1144" b="1" dirty="0">
                <a:solidFill>
                  <a:srgbClr val="003087"/>
                </a:solidFill>
                <a:latin typeface="Liter" pitchFamily="34" charset="0"/>
                <a:ea typeface="Liter" pitchFamily="34" charset="-122"/>
                <a:cs typeface="Liter" pitchFamily="34" charset="-120"/>
              </a:rPr>
              <a:t>Integration with Existing Platforms</a:t>
            </a:r>
            <a:endParaRPr lang="en-US" sz="1600" dirty="0"/>
          </a:p>
        </p:txBody>
      </p:sp>
      <p:sp>
        <p:nvSpPr>
          <p:cNvPr id="33" name="Shape 31"/>
          <p:cNvSpPr/>
          <p:nvPr/>
        </p:nvSpPr>
        <p:spPr>
          <a:xfrm>
            <a:off x="6338506" y="1678316"/>
            <a:ext cx="5373840" cy="774608"/>
          </a:xfrm>
          <a:custGeom>
            <a:avLst/>
            <a:gdLst/>
            <a:ahLst/>
            <a:cxnLst/>
            <a:rect l="l" t="t" r="r" b="b"/>
            <a:pathLst>
              <a:path w="5373840" h="774608">
                <a:moveTo>
                  <a:pt x="64548" y="0"/>
                </a:moveTo>
                <a:lnTo>
                  <a:pt x="5309292" y="0"/>
                </a:lnTo>
                <a:cubicBezTo>
                  <a:pt x="5344941" y="0"/>
                  <a:pt x="5373840" y="28899"/>
                  <a:pt x="5373840" y="64548"/>
                </a:cubicBezTo>
                <a:lnTo>
                  <a:pt x="5373840" y="710059"/>
                </a:lnTo>
                <a:cubicBezTo>
                  <a:pt x="5373840" y="745708"/>
                  <a:pt x="5344941" y="774608"/>
                  <a:pt x="5309292" y="774608"/>
                </a:cubicBezTo>
                <a:lnTo>
                  <a:pt x="64548" y="774608"/>
                </a:lnTo>
                <a:cubicBezTo>
                  <a:pt x="28923" y="774608"/>
                  <a:pt x="0" y="745685"/>
                  <a:pt x="0" y="710059"/>
                </a:cubicBezTo>
                <a:lnTo>
                  <a:pt x="0" y="64548"/>
                </a:lnTo>
                <a:cubicBezTo>
                  <a:pt x="0" y="28923"/>
                  <a:pt x="28923" y="0"/>
                  <a:pt x="64548" y="0"/>
                </a:cubicBezTo>
                <a:close/>
              </a:path>
            </a:pathLst>
          </a:custGeom>
          <a:solidFill>
            <a:srgbClr val="FFFFFF"/>
          </a:solidFill>
          <a:ln/>
          <a:effectLst>
            <a:outerShdw blurRad="24206" dist="8069" dir="5400000" algn="bl" rotWithShape="0">
              <a:srgbClr val="000000">
                <a:alpha val="10196"/>
              </a:srgbClr>
            </a:outerShdw>
          </a:effectLst>
        </p:spPr>
      </p:sp>
      <p:sp>
        <p:nvSpPr>
          <p:cNvPr id="34" name="Shape 32"/>
          <p:cNvSpPr/>
          <p:nvPr/>
        </p:nvSpPr>
        <p:spPr>
          <a:xfrm>
            <a:off x="6467607" y="1839693"/>
            <a:ext cx="451854" cy="451854"/>
          </a:xfrm>
          <a:custGeom>
            <a:avLst/>
            <a:gdLst/>
            <a:ahLst/>
            <a:cxnLst/>
            <a:rect l="l" t="t" r="r" b="b"/>
            <a:pathLst>
              <a:path w="451854" h="451854">
                <a:moveTo>
                  <a:pt x="64552" y="0"/>
                </a:moveTo>
                <a:lnTo>
                  <a:pt x="387302" y="0"/>
                </a:lnTo>
                <a:cubicBezTo>
                  <a:pt x="422954" y="0"/>
                  <a:pt x="451854" y="28901"/>
                  <a:pt x="451854" y="64552"/>
                </a:cubicBezTo>
                <a:lnTo>
                  <a:pt x="451854" y="387302"/>
                </a:lnTo>
                <a:cubicBezTo>
                  <a:pt x="451854" y="422954"/>
                  <a:pt x="422954" y="451854"/>
                  <a:pt x="387302" y="451854"/>
                </a:cubicBezTo>
                <a:lnTo>
                  <a:pt x="64552" y="451854"/>
                </a:lnTo>
                <a:cubicBezTo>
                  <a:pt x="28901" y="451854"/>
                  <a:pt x="0" y="422954"/>
                  <a:pt x="0" y="387302"/>
                </a:cubicBezTo>
                <a:lnTo>
                  <a:pt x="0" y="64552"/>
                </a:lnTo>
                <a:cubicBezTo>
                  <a:pt x="0" y="28901"/>
                  <a:pt x="28901" y="0"/>
                  <a:pt x="64552" y="0"/>
                </a:cubicBezTo>
                <a:close/>
              </a:path>
            </a:pathLst>
          </a:custGeom>
          <a:solidFill>
            <a:srgbClr val="003087"/>
          </a:solidFill>
          <a:ln/>
        </p:spPr>
      </p:sp>
      <p:sp>
        <p:nvSpPr>
          <p:cNvPr id="35" name="Shape 33"/>
          <p:cNvSpPr/>
          <p:nvPr/>
        </p:nvSpPr>
        <p:spPr>
          <a:xfrm>
            <a:off x="6620915" y="1968794"/>
            <a:ext cx="145239" cy="193652"/>
          </a:xfrm>
          <a:custGeom>
            <a:avLst/>
            <a:gdLst/>
            <a:ahLst/>
            <a:cxnLst/>
            <a:rect l="l" t="t" r="r" b="b"/>
            <a:pathLst>
              <a:path w="145239" h="193652">
                <a:moveTo>
                  <a:pt x="6052" y="24206"/>
                </a:moveTo>
                <a:cubicBezTo>
                  <a:pt x="6052" y="10855"/>
                  <a:pt x="16907" y="0"/>
                  <a:pt x="30258" y="0"/>
                </a:cubicBezTo>
                <a:lnTo>
                  <a:pt x="114981" y="0"/>
                </a:lnTo>
                <a:cubicBezTo>
                  <a:pt x="128332" y="0"/>
                  <a:pt x="139187" y="10855"/>
                  <a:pt x="139187" y="24206"/>
                </a:cubicBezTo>
                <a:lnTo>
                  <a:pt x="139187" y="169445"/>
                </a:lnTo>
                <a:cubicBezTo>
                  <a:pt x="139187" y="182797"/>
                  <a:pt x="128332" y="193652"/>
                  <a:pt x="114981" y="193652"/>
                </a:cubicBezTo>
                <a:lnTo>
                  <a:pt x="30258" y="193652"/>
                </a:lnTo>
                <a:cubicBezTo>
                  <a:pt x="16907" y="193652"/>
                  <a:pt x="6052" y="182797"/>
                  <a:pt x="6052" y="169445"/>
                </a:cubicBezTo>
                <a:lnTo>
                  <a:pt x="6052" y="24206"/>
                </a:lnTo>
                <a:close/>
                <a:moveTo>
                  <a:pt x="30258" y="24206"/>
                </a:moveTo>
                <a:lnTo>
                  <a:pt x="30258" y="139187"/>
                </a:lnTo>
                <a:lnTo>
                  <a:pt x="114981" y="139187"/>
                </a:lnTo>
                <a:lnTo>
                  <a:pt x="114981" y="24206"/>
                </a:lnTo>
                <a:lnTo>
                  <a:pt x="30258" y="24206"/>
                </a:lnTo>
                <a:close/>
                <a:moveTo>
                  <a:pt x="72619" y="178523"/>
                </a:moveTo>
                <a:cubicBezTo>
                  <a:pt x="79314" y="178523"/>
                  <a:pt x="84723" y="173114"/>
                  <a:pt x="84723" y="166420"/>
                </a:cubicBezTo>
                <a:cubicBezTo>
                  <a:pt x="84723" y="159725"/>
                  <a:pt x="79314" y="154316"/>
                  <a:pt x="72619" y="154316"/>
                </a:cubicBezTo>
                <a:cubicBezTo>
                  <a:pt x="65925" y="154316"/>
                  <a:pt x="60516" y="159725"/>
                  <a:pt x="60516" y="166420"/>
                </a:cubicBezTo>
                <a:cubicBezTo>
                  <a:pt x="60516" y="173114"/>
                  <a:pt x="65925" y="178523"/>
                  <a:pt x="72619" y="178523"/>
                </a:cubicBezTo>
                <a:close/>
              </a:path>
            </a:pathLst>
          </a:custGeom>
          <a:solidFill>
            <a:srgbClr val="FFFFFF"/>
          </a:solidFill>
          <a:ln/>
        </p:spPr>
      </p:sp>
      <p:sp>
        <p:nvSpPr>
          <p:cNvPr id="36" name="Text 34"/>
          <p:cNvSpPr/>
          <p:nvPr/>
        </p:nvSpPr>
        <p:spPr>
          <a:xfrm>
            <a:off x="7048563" y="1807418"/>
            <a:ext cx="4599232" cy="193652"/>
          </a:xfrm>
          <a:prstGeom prst="rect">
            <a:avLst/>
          </a:prstGeom>
          <a:noFill/>
          <a:ln/>
        </p:spPr>
        <p:txBody>
          <a:bodyPr wrap="square" lIns="0" tIns="0" rIns="0" bIns="0" rtlCol="0" anchor="ctr"/>
          <a:lstStyle/>
          <a:p>
            <a:pPr>
              <a:lnSpc>
                <a:spcPct val="130000"/>
              </a:lnSpc>
            </a:pPr>
            <a:r>
              <a:rPr lang="en-US" sz="1017" b="1" dirty="0">
                <a:solidFill>
                  <a:srgbClr val="003087"/>
                </a:solidFill>
                <a:latin typeface="Liter" pitchFamily="34" charset="0"/>
                <a:ea typeface="Liter" pitchFamily="34" charset="-122"/>
                <a:cs typeface="Liter" pitchFamily="34" charset="-120"/>
              </a:rPr>
              <a:t>Access More App</a:t>
            </a:r>
            <a:endParaRPr lang="en-US" sz="1600" dirty="0"/>
          </a:p>
        </p:txBody>
      </p:sp>
      <p:sp>
        <p:nvSpPr>
          <p:cNvPr id="37" name="Text 35"/>
          <p:cNvSpPr/>
          <p:nvPr/>
        </p:nvSpPr>
        <p:spPr>
          <a:xfrm>
            <a:off x="7048563" y="2001069"/>
            <a:ext cx="4591163" cy="322753"/>
          </a:xfrm>
          <a:prstGeom prst="rect">
            <a:avLst/>
          </a:prstGeom>
          <a:noFill/>
          <a:ln/>
        </p:spPr>
        <p:txBody>
          <a:bodyPr wrap="square" lIns="0" tIns="0" rIns="0" bIns="0" rtlCol="0" anchor="ctr"/>
          <a:lstStyle/>
          <a:p>
            <a:pPr>
              <a:lnSpc>
                <a:spcPct val="120000"/>
              </a:lnSpc>
            </a:pPr>
            <a:r>
              <a:rPr lang="en-US" sz="889" dirty="0">
                <a:solidFill>
                  <a:srgbClr val="1A1A1A">
                    <a:alpha val="70000"/>
                  </a:srgbClr>
                </a:solidFill>
                <a:latin typeface="Quattrocento Sans" pitchFamily="34" charset="0"/>
                <a:ea typeface="Quattrocento Sans" pitchFamily="34" charset="-122"/>
                <a:cs typeface="Quattrocento Sans" pitchFamily="34" charset="-120"/>
              </a:rPr>
              <a:t>Enhance with AI-powered financial insights, personalized recommendations, and chatbot support</a:t>
            </a:r>
            <a:endParaRPr lang="en-US" sz="1600" dirty="0"/>
          </a:p>
        </p:txBody>
      </p:sp>
      <p:sp>
        <p:nvSpPr>
          <p:cNvPr id="38" name="Shape 36"/>
          <p:cNvSpPr/>
          <p:nvPr/>
        </p:nvSpPr>
        <p:spPr>
          <a:xfrm>
            <a:off x="6338506" y="2549750"/>
            <a:ext cx="5373840" cy="774608"/>
          </a:xfrm>
          <a:custGeom>
            <a:avLst/>
            <a:gdLst/>
            <a:ahLst/>
            <a:cxnLst/>
            <a:rect l="l" t="t" r="r" b="b"/>
            <a:pathLst>
              <a:path w="5373840" h="774608">
                <a:moveTo>
                  <a:pt x="64548" y="0"/>
                </a:moveTo>
                <a:lnTo>
                  <a:pt x="5309292" y="0"/>
                </a:lnTo>
                <a:cubicBezTo>
                  <a:pt x="5344941" y="0"/>
                  <a:pt x="5373840" y="28899"/>
                  <a:pt x="5373840" y="64548"/>
                </a:cubicBezTo>
                <a:lnTo>
                  <a:pt x="5373840" y="710059"/>
                </a:lnTo>
                <a:cubicBezTo>
                  <a:pt x="5373840" y="745708"/>
                  <a:pt x="5344941" y="774608"/>
                  <a:pt x="5309292" y="774608"/>
                </a:cubicBezTo>
                <a:lnTo>
                  <a:pt x="64548" y="774608"/>
                </a:lnTo>
                <a:cubicBezTo>
                  <a:pt x="28923" y="774608"/>
                  <a:pt x="0" y="745685"/>
                  <a:pt x="0" y="710059"/>
                </a:cubicBezTo>
                <a:lnTo>
                  <a:pt x="0" y="64548"/>
                </a:lnTo>
                <a:cubicBezTo>
                  <a:pt x="0" y="28923"/>
                  <a:pt x="28923" y="0"/>
                  <a:pt x="64548" y="0"/>
                </a:cubicBezTo>
                <a:close/>
              </a:path>
            </a:pathLst>
          </a:custGeom>
          <a:solidFill>
            <a:srgbClr val="FFFFFF"/>
          </a:solidFill>
          <a:ln/>
          <a:effectLst>
            <a:outerShdw blurRad="24206" dist="8069" dir="5400000" algn="bl" rotWithShape="0">
              <a:srgbClr val="000000">
                <a:alpha val="10196"/>
              </a:srgbClr>
            </a:outerShdw>
          </a:effectLst>
        </p:spPr>
      </p:sp>
      <p:sp>
        <p:nvSpPr>
          <p:cNvPr id="39" name="Shape 37"/>
          <p:cNvSpPr/>
          <p:nvPr/>
        </p:nvSpPr>
        <p:spPr>
          <a:xfrm>
            <a:off x="6467607" y="2711126"/>
            <a:ext cx="451854" cy="451854"/>
          </a:xfrm>
          <a:custGeom>
            <a:avLst/>
            <a:gdLst/>
            <a:ahLst/>
            <a:cxnLst/>
            <a:rect l="l" t="t" r="r" b="b"/>
            <a:pathLst>
              <a:path w="451854" h="451854">
                <a:moveTo>
                  <a:pt x="64552" y="0"/>
                </a:moveTo>
                <a:lnTo>
                  <a:pt x="387302" y="0"/>
                </a:lnTo>
                <a:cubicBezTo>
                  <a:pt x="422954" y="0"/>
                  <a:pt x="451854" y="28901"/>
                  <a:pt x="451854" y="64552"/>
                </a:cubicBezTo>
                <a:lnTo>
                  <a:pt x="451854" y="387302"/>
                </a:lnTo>
                <a:cubicBezTo>
                  <a:pt x="451854" y="422954"/>
                  <a:pt x="422954" y="451854"/>
                  <a:pt x="387302" y="451854"/>
                </a:cubicBezTo>
                <a:lnTo>
                  <a:pt x="64552" y="451854"/>
                </a:lnTo>
                <a:cubicBezTo>
                  <a:pt x="28901" y="451854"/>
                  <a:pt x="0" y="422954"/>
                  <a:pt x="0" y="387302"/>
                </a:cubicBezTo>
                <a:lnTo>
                  <a:pt x="0" y="64552"/>
                </a:lnTo>
                <a:cubicBezTo>
                  <a:pt x="0" y="28901"/>
                  <a:pt x="28901" y="0"/>
                  <a:pt x="64552" y="0"/>
                </a:cubicBezTo>
                <a:close/>
              </a:path>
            </a:pathLst>
          </a:custGeom>
          <a:solidFill>
            <a:srgbClr val="FF6B00"/>
          </a:solidFill>
          <a:ln/>
        </p:spPr>
      </p:sp>
      <p:sp>
        <p:nvSpPr>
          <p:cNvPr id="40" name="Shape 38"/>
          <p:cNvSpPr/>
          <p:nvPr/>
        </p:nvSpPr>
        <p:spPr>
          <a:xfrm>
            <a:off x="6620915" y="2840228"/>
            <a:ext cx="145239" cy="193652"/>
          </a:xfrm>
          <a:custGeom>
            <a:avLst/>
            <a:gdLst/>
            <a:ahLst/>
            <a:cxnLst/>
            <a:rect l="l" t="t" r="r" b="b"/>
            <a:pathLst>
              <a:path w="145239" h="193652">
                <a:moveTo>
                  <a:pt x="24206" y="0"/>
                </a:moveTo>
                <a:cubicBezTo>
                  <a:pt x="10855" y="0"/>
                  <a:pt x="0" y="10855"/>
                  <a:pt x="0" y="24206"/>
                </a:cubicBezTo>
                <a:lnTo>
                  <a:pt x="0" y="169445"/>
                </a:lnTo>
                <a:cubicBezTo>
                  <a:pt x="0" y="182797"/>
                  <a:pt x="10855" y="193652"/>
                  <a:pt x="24206" y="193652"/>
                </a:cubicBezTo>
                <a:lnTo>
                  <a:pt x="121032" y="193652"/>
                </a:lnTo>
                <a:cubicBezTo>
                  <a:pt x="134384" y="193652"/>
                  <a:pt x="145239" y="182797"/>
                  <a:pt x="145239" y="169445"/>
                </a:cubicBezTo>
                <a:lnTo>
                  <a:pt x="145239" y="24206"/>
                </a:lnTo>
                <a:cubicBezTo>
                  <a:pt x="145239" y="10855"/>
                  <a:pt x="134384" y="0"/>
                  <a:pt x="121032" y="0"/>
                </a:cubicBezTo>
                <a:lnTo>
                  <a:pt x="24206" y="0"/>
                </a:lnTo>
                <a:close/>
                <a:moveTo>
                  <a:pt x="66568" y="133136"/>
                </a:moveTo>
                <a:lnTo>
                  <a:pt x="78671" y="133136"/>
                </a:lnTo>
                <a:cubicBezTo>
                  <a:pt x="85366" y="133136"/>
                  <a:pt x="90774" y="138544"/>
                  <a:pt x="90774" y="145239"/>
                </a:cubicBezTo>
                <a:lnTo>
                  <a:pt x="90774" y="175497"/>
                </a:lnTo>
                <a:lnTo>
                  <a:pt x="54465" y="175497"/>
                </a:lnTo>
                <a:lnTo>
                  <a:pt x="54465" y="145239"/>
                </a:lnTo>
                <a:cubicBezTo>
                  <a:pt x="54465" y="138544"/>
                  <a:pt x="59873" y="133136"/>
                  <a:pt x="66568" y="133136"/>
                </a:cubicBezTo>
                <a:close/>
                <a:moveTo>
                  <a:pt x="36310" y="42361"/>
                </a:moveTo>
                <a:cubicBezTo>
                  <a:pt x="36310" y="39033"/>
                  <a:pt x="39033" y="36310"/>
                  <a:pt x="42361" y="36310"/>
                </a:cubicBezTo>
                <a:lnTo>
                  <a:pt x="54465" y="36310"/>
                </a:lnTo>
                <a:cubicBezTo>
                  <a:pt x="57793" y="36310"/>
                  <a:pt x="60516" y="39033"/>
                  <a:pt x="60516" y="42361"/>
                </a:cubicBezTo>
                <a:lnTo>
                  <a:pt x="60516" y="54465"/>
                </a:lnTo>
                <a:cubicBezTo>
                  <a:pt x="60516" y="57793"/>
                  <a:pt x="57793" y="60516"/>
                  <a:pt x="54465" y="60516"/>
                </a:cubicBezTo>
                <a:lnTo>
                  <a:pt x="42361" y="60516"/>
                </a:lnTo>
                <a:cubicBezTo>
                  <a:pt x="39033" y="60516"/>
                  <a:pt x="36310" y="57793"/>
                  <a:pt x="36310" y="54465"/>
                </a:cubicBezTo>
                <a:lnTo>
                  <a:pt x="36310" y="42361"/>
                </a:lnTo>
                <a:close/>
                <a:moveTo>
                  <a:pt x="90774" y="36310"/>
                </a:moveTo>
                <a:lnTo>
                  <a:pt x="102878" y="36310"/>
                </a:lnTo>
                <a:cubicBezTo>
                  <a:pt x="106206" y="36310"/>
                  <a:pt x="108929" y="39033"/>
                  <a:pt x="108929" y="42361"/>
                </a:cubicBezTo>
                <a:lnTo>
                  <a:pt x="108929" y="54465"/>
                </a:lnTo>
                <a:cubicBezTo>
                  <a:pt x="108929" y="57793"/>
                  <a:pt x="106206" y="60516"/>
                  <a:pt x="102878" y="60516"/>
                </a:cubicBezTo>
                <a:lnTo>
                  <a:pt x="90774" y="60516"/>
                </a:lnTo>
                <a:cubicBezTo>
                  <a:pt x="87446" y="60516"/>
                  <a:pt x="84723" y="57793"/>
                  <a:pt x="84723" y="54465"/>
                </a:cubicBezTo>
                <a:lnTo>
                  <a:pt x="84723" y="42361"/>
                </a:lnTo>
                <a:cubicBezTo>
                  <a:pt x="84723" y="39033"/>
                  <a:pt x="87446" y="36310"/>
                  <a:pt x="90774" y="36310"/>
                </a:cubicBezTo>
                <a:close/>
                <a:moveTo>
                  <a:pt x="36310" y="90774"/>
                </a:moveTo>
                <a:cubicBezTo>
                  <a:pt x="36310" y="87446"/>
                  <a:pt x="39033" y="84723"/>
                  <a:pt x="42361" y="84723"/>
                </a:cubicBezTo>
                <a:lnTo>
                  <a:pt x="54465" y="84723"/>
                </a:lnTo>
                <a:cubicBezTo>
                  <a:pt x="57793" y="84723"/>
                  <a:pt x="60516" y="87446"/>
                  <a:pt x="60516" y="90774"/>
                </a:cubicBezTo>
                <a:lnTo>
                  <a:pt x="60516" y="102878"/>
                </a:lnTo>
                <a:cubicBezTo>
                  <a:pt x="60516" y="106206"/>
                  <a:pt x="57793" y="108929"/>
                  <a:pt x="54465" y="108929"/>
                </a:cubicBezTo>
                <a:lnTo>
                  <a:pt x="42361" y="108929"/>
                </a:lnTo>
                <a:cubicBezTo>
                  <a:pt x="39033" y="108929"/>
                  <a:pt x="36310" y="106206"/>
                  <a:pt x="36310" y="102878"/>
                </a:cubicBezTo>
                <a:lnTo>
                  <a:pt x="36310" y="90774"/>
                </a:lnTo>
                <a:close/>
                <a:moveTo>
                  <a:pt x="90774" y="84723"/>
                </a:moveTo>
                <a:lnTo>
                  <a:pt x="102878" y="84723"/>
                </a:lnTo>
                <a:cubicBezTo>
                  <a:pt x="106206" y="84723"/>
                  <a:pt x="108929" y="87446"/>
                  <a:pt x="108929" y="90774"/>
                </a:cubicBezTo>
                <a:lnTo>
                  <a:pt x="108929" y="102878"/>
                </a:lnTo>
                <a:cubicBezTo>
                  <a:pt x="108929" y="106206"/>
                  <a:pt x="106206" y="108929"/>
                  <a:pt x="102878" y="108929"/>
                </a:cubicBezTo>
                <a:lnTo>
                  <a:pt x="90774" y="108929"/>
                </a:lnTo>
                <a:cubicBezTo>
                  <a:pt x="87446" y="108929"/>
                  <a:pt x="84723" y="106206"/>
                  <a:pt x="84723" y="102878"/>
                </a:cubicBezTo>
                <a:lnTo>
                  <a:pt x="84723" y="90774"/>
                </a:lnTo>
                <a:cubicBezTo>
                  <a:pt x="84723" y="87446"/>
                  <a:pt x="87446" y="84723"/>
                  <a:pt x="90774" y="84723"/>
                </a:cubicBezTo>
                <a:close/>
              </a:path>
            </a:pathLst>
          </a:custGeom>
          <a:solidFill>
            <a:srgbClr val="FFFFFF"/>
          </a:solidFill>
          <a:ln/>
        </p:spPr>
      </p:sp>
      <p:sp>
        <p:nvSpPr>
          <p:cNvPr id="41" name="Text 39"/>
          <p:cNvSpPr/>
          <p:nvPr/>
        </p:nvSpPr>
        <p:spPr>
          <a:xfrm>
            <a:off x="7048563" y="2678851"/>
            <a:ext cx="4599232" cy="193652"/>
          </a:xfrm>
          <a:prstGeom prst="rect">
            <a:avLst/>
          </a:prstGeom>
          <a:noFill/>
          <a:ln/>
        </p:spPr>
        <p:txBody>
          <a:bodyPr wrap="square" lIns="0" tIns="0" rIns="0" bIns="0" rtlCol="0" anchor="ctr"/>
          <a:lstStyle/>
          <a:p>
            <a:pPr>
              <a:lnSpc>
                <a:spcPct val="130000"/>
              </a:lnSpc>
            </a:pPr>
            <a:r>
              <a:rPr lang="en-US" sz="1017" b="1" dirty="0">
                <a:solidFill>
                  <a:srgbClr val="003087"/>
                </a:solidFill>
                <a:latin typeface="Liter" pitchFamily="34" charset="0"/>
                <a:ea typeface="Liter" pitchFamily="34" charset="-122"/>
                <a:cs typeface="Liter" pitchFamily="34" charset="-120"/>
              </a:rPr>
              <a:t>PrimusPlus Platform</a:t>
            </a:r>
            <a:endParaRPr lang="en-US" sz="1600" dirty="0"/>
          </a:p>
        </p:txBody>
      </p:sp>
      <p:sp>
        <p:nvSpPr>
          <p:cNvPr id="42" name="Text 40"/>
          <p:cNvSpPr/>
          <p:nvPr/>
        </p:nvSpPr>
        <p:spPr>
          <a:xfrm>
            <a:off x="7048563" y="2872503"/>
            <a:ext cx="4591163" cy="322753"/>
          </a:xfrm>
          <a:prstGeom prst="rect">
            <a:avLst/>
          </a:prstGeom>
          <a:noFill/>
          <a:ln/>
        </p:spPr>
        <p:txBody>
          <a:bodyPr wrap="square" lIns="0" tIns="0" rIns="0" bIns="0" rtlCol="0" anchor="ctr"/>
          <a:lstStyle/>
          <a:p>
            <a:pPr>
              <a:lnSpc>
                <a:spcPct val="120000"/>
              </a:lnSpc>
            </a:pPr>
            <a:r>
              <a:rPr lang="en-US" sz="889" dirty="0">
                <a:solidFill>
                  <a:srgbClr val="1A1A1A">
                    <a:alpha val="70000"/>
                  </a:srgbClr>
                </a:solidFill>
                <a:latin typeface="Quattrocento Sans" pitchFamily="34" charset="0"/>
                <a:ea typeface="Quattrocento Sans" pitchFamily="34" charset="-122"/>
                <a:cs typeface="Quattrocento Sans" pitchFamily="34" charset="-120"/>
              </a:rPr>
              <a:t>Integrate intelligent analytics for corporate clients, automated reporting, and predictive cash flow management</a:t>
            </a:r>
            <a:endParaRPr lang="en-US" sz="1600" dirty="0"/>
          </a:p>
        </p:txBody>
      </p:sp>
      <p:sp>
        <p:nvSpPr>
          <p:cNvPr id="43" name="Shape 41"/>
          <p:cNvSpPr/>
          <p:nvPr/>
        </p:nvSpPr>
        <p:spPr>
          <a:xfrm>
            <a:off x="6338506" y="3421183"/>
            <a:ext cx="5373840" cy="774608"/>
          </a:xfrm>
          <a:custGeom>
            <a:avLst/>
            <a:gdLst/>
            <a:ahLst/>
            <a:cxnLst/>
            <a:rect l="l" t="t" r="r" b="b"/>
            <a:pathLst>
              <a:path w="5373840" h="774608">
                <a:moveTo>
                  <a:pt x="64548" y="0"/>
                </a:moveTo>
                <a:lnTo>
                  <a:pt x="5309292" y="0"/>
                </a:lnTo>
                <a:cubicBezTo>
                  <a:pt x="5344941" y="0"/>
                  <a:pt x="5373840" y="28899"/>
                  <a:pt x="5373840" y="64548"/>
                </a:cubicBezTo>
                <a:lnTo>
                  <a:pt x="5373840" y="710059"/>
                </a:lnTo>
                <a:cubicBezTo>
                  <a:pt x="5373840" y="745708"/>
                  <a:pt x="5344941" y="774608"/>
                  <a:pt x="5309292" y="774608"/>
                </a:cubicBezTo>
                <a:lnTo>
                  <a:pt x="64548" y="774608"/>
                </a:lnTo>
                <a:cubicBezTo>
                  <a:pt x="28923" y="774608"/>
                  <a:pt x="0" y="745685"/>
                  <a:pt x="0" y="710059"/>
                </a:cubicBezTo>
                <a:lnTo>
                  <a:pt x="0" y="64548"/>
                </a:lnTo>
                <a:cubicBezTo>
                  <a:pt x="0" y="28923"/>
                  <a:pt x="28923" y="0"/>
                  <a:pt x="64548" y="0"/>
                </a:cubicBezTo>
                <a:close/>
              </a:path>
            </a:pathLst>
          </a:custGeom>
          <a:solidFill>
            <a:srgbClr val="FFFFFF"/>
          </a:solidFill>
          <a:ln/>
          <a:effectLst>
            <a:outerShdw blurRad="24206" dist="8069" dir="5400000" algn="bl" rotWithShape="0">
              <a:srgbClr val="000000">
                <a:alpha val="10196"/>
              </a:srgbClr>
            </a:outerShdw>
          </a:effectLst>
        </p:spPr>
      </p:sp>
      <p:sp>
        <p:nvSpPr>
          <p:cNvPr id="44" name="Shape 42"/>
          <p:cNvSpPr/>
          <p:nvPr/>
        </p:nvSpPr>
        <p:spPr>
          <a:xfrm>
            <a:off x="6467607" y="3582560"/>
            <a:ext cx="451854" cy="451854"/>
          </a:xfrm>
          <a:custGeom>
            <a:avLst/>
            <a:gdLst/>
            <a:ahLst/>
            <a:cxnLst/>
            <a:rect l="l" t="t" r="r" b="b"/>
            <a:pathLst>
              <a:path w="451854" h="451854">
                <a:moveTo>
                  <a:pt x="64552" y="0"/>
                </a:moveTo>
                <a:lnTo>
                  <a:pt x="387302" y="0"/>
                </a:lnTo>
                <a:cubicBezTo>
                  <a:pt x="422954" y="0"/>
                  <a:pt x="451854" y="28901"/>
                  <a:pt x="451854" y="64552"/>
                </a:cubicBezTo>
                <a:lnTo>
                  <a:pt x="451854" y="387302"/>
                </a:lnTo>
                <a:cubicBezTo>
                  <a:pt x="451854" y="422954"/>
                  <a:pt x="422954" y="451854"/>
                  <a:pt x="387302" y="451854"/>
                </a:cubicBezTo>
                <a:lnTo>
                  <a:pt x="64552" y="451854"/>
                </a:lnTo>
                <a:cubicBezTo>
                  <a:pt x="28901" y="451854"/>
                  <a:pt x="0" y="422954"/>
                  <a:pt x="0" y="387302"/>
                </a:cubicBezTo>
                <a:lnTo>
                  <a:pt x="0" y="64552"/>
                </a:lnTo>
                <a:cubicBezTo>
                  <a:pt x="0" y="28901"/>
                  <a:pt x="28901" y="0"/>
                  <a:pt x="64552" y="0"/>
                </a:cubicBezTo>
                <a:close/>
              </a:path>
            </a:pathLst>
          </a:custGeom>
          <a:solidFill>
            <a:srgbClr val="003087"/>
          </a:solidFill>
          <a:ln/>
        </p:spPr>
      </p:sp>
      <p:sp>
        <p:nvSpPr>
          <p:cNvPr id="45" name="Shape 43"/>
          <p:cNvSpPr/>
          <p:nvPr/>
        </p:nvSpPr>
        <p:spPr>
          <a:xfrm>
            <a:off x="6608812" y="3711661"/>
            <a:ext cx="169445" cy="193652"/>
          </a:xfrm>
          <a:custGeom>
            <a:avLst/>
            <a:gdLst/>
            <a:ahLst/>
            <a:cxnLst/>
            <a:rect l="l" t="t" r="r" b="b"/>
            <a:pathLst>
              <a:path w="169445" h="193652">
                <a:moveTo>
                  <a:pt x="24206" y="12103"/>
                </a:moveTo>
                <a:cubicBezTo>
                  <a:pt x="10855" y="12103"/>
                  <a:pt x="0" y="22958"/>
                  <a:pt x="0" y="36310"/>
                </a:cubicBezTo>
                <a:lnTo>
                  <a:pt x="0" y="60516"/>
                </a:lnTo>
                <a:cubicBezTo>
                  <a:pt x="0" y="73868"/>
                  <a:pt x="10855" y="84723"/>
                  <a:pt x="24206" y="84723"/>
                </a:cubicBezTo>
                <a:lnTo>
                  <a:pt x="145239" y="84723"/>
                </a:lnTo>
                <a:cubicBezTo>
                  <a:pt x="158590" y="84723"/>
                  <a:pt x="169445" y="73868"/>
                  <a:pt x="169445" y="60516"/>
                </a:cubicBezTo>
                <a:lnTo>
                  <a:pt x="169445" y="36310"/>
                </a:lnTo>
                <a:cubicBezTo>
                  <a:pt x="169445" y="22958"/>
                  <a:pt x="158590" y="12103"/>
                  <a:pt x="145239" y="12103"/>
                </a:cubicBezTo>
                <a:lnTo>
                  <a:pt x="24206" y="12103"/>
                </a:lnTo>
                <a:close/>
                <a:moveTo>
                  <a:pt x="105903" y="39336"/>
                </a:moveTo>
                <a:cubicBezTo>
                  <a:pt x="110913" y="39336"/>
                  <a:pt x="114981" y="43403"/>
                  <a:pt x="114981" y="48413"/>
                </a:cubicBezTo>
                <a:cubicBezTo>
                  <a:pt x="114981" y="53423"/>
                  <a:pt x="110913" y="57490"/>
                  <a:pt x="105903" y="57490"/>
                </a:cubicBezTo>
                <a:cubicBezTo>
                  <a:pt x="100893" y="57490"/>
                  <a:pt x="96826" y="53423"/>
                  <a:pt x="96826" y="48413"/>
                </a:cubicBezTo>
                <a:cubicBezTo>
                  <a:pt x="96826" y="43403"/>
                  <a:pt x="100893" y="39336"/>
                  <a:pt x="105903" y="39336"/>
                </a:cubicBezTo>
                <a:close/>
                <a:moveTo>
                  <a:pt x="127084" y="48413"/>
                </a:moveTo>
                <a:cubicBezTo>
                  <a:pt x="127084" y="43403"/>
                  <a:pt x="131152" y="39336"/>
                  <a:pt x="136161" y="39336"/>
                </a:cubicBezTo>
                <a:cubicBezTo>
                  <a:pt x="141171" y="39336"/>
                  <a:pt x="145239" y="43403"/>
                  <a:pt x="145239" y="48413"/>
                </a:cubicBezTo>
                <a:cubicBezTo>
                  <a:pt x="145239" y="53423"/>
                  <a:pt x="141171" y="57490"/>
                  <a:pt x="136161" y="57490"/>
                </a:cubicBezTo>
                <a:cubicBezTo>
                  <a:pt x="131152" y="57490"/>
                  <a:pt x="127084" y="53423"/>
                  <a:pt x="127084" y="48413"/>
                </a:cubicBezTo>
                <a:close/>
                <a:moveTo>
                  <a:pt x="24206" y="108929"/>
                </a:moveTo>
                <a:cubicBezTo>
                  <a:pt x="10855" y="108929"/>
                  <a:pt x="0" y="119784"/>
                  <a:pt x="0" y="133136"/>
                </a:cubicBezTo>
                <a:lnTo>
                  <a:pt x="0" y="157342"/>
                </a:lnTo>
                <a:cubicBezTo>
                  <a:pt x="0" y="170694"/>
                  <a:pt x="10855" y="181549"/>
                  <a:pt x="24206" y="181549"/>
                </a:cubicBezTo>
                <a:lnTo>
                  <a:pt x="145239" y="181549"/>
                </a:lnTo>
                <a:cubicBezTo>
                  <a:pt x="158590" y="181549"/>
                  <a:pt x="169445" y="170694"/>
                  <a:pt x="169445" y="157342"/>
                </a:cubicBezTo>
                <a:lnTo>
                  <a:pt x="169445" y="133136"/>
                </a:lnTo>
                <a:cubicBezTo>
                  <a:pt x="169445" y="119784"/>
                  <a:pt x="158590" y="108929"/>
                  <a:pt x="145239" y="108929"/>
                </a:cubicBezTo>
                <a:lnTo>
                  <a:pt x="24206" y="108929"/>
                </a:lnTo>
                <a:close/>
                <a:moveTo>
                  <a:pt x="105903" y="136161"/>
                </a:moveTo>
                <a:cubicBezTo>
                  <a:pt x="110913" y="136161"/>
                  <a:pt x="114981" y="140229"/>
                  <a:pt x="114981" y="145239"/>
                </a:cubicBezTo>
                <a:cubicBezTo>
                  <a:pt x="114981" y="150249"/>
                  <a:pt x="110913" y="154316"/>
                  <a:pt x="105903" y="154316"/>
                </a:cubicBezTo>
                <a:cubicBezTo>
                  <a:pt x="100893" y="154316"/>
                  <a:pt x="96826" y="150249"/>
                  <a:pt x="96826" y="145239"/>
                </a:cubicBezTo>
                <a:cubicBezTo>
                  <a:pt x="96826" y="140229"/>
                  <a:pt x="100893" y="136161"/>
                  <a:pt x="105903" y="136161"/>
                </a:cubicBezTo>
                <a:close/>
                <a:moveTo>
                  <a:pt x="127084" y="145239"/>
                </a:moveTo>
                <a:cubicBezTo>
                  <a:pt x="127084" y="140229"/>
                  <a:pt x="131152" y="136161"/>
                  <a:pt x="136161" y="136161"/>
                </a:cubicBezTo>
                <a:cubicBezTo>
                  <a:pt x="141171" y="136161"/>
                  <a:pt x="145239" y="140229"/>
                  <a:pt x="145239" y="145239"/>
                </a:cubicBezTo>
                <a:cubicBezTo>
                  <a:pt x="145239" y="150249"/>
                  <a:pt x="141171" y="154316"/>
                  <a:pt x="136161" y="154316"/>
                </a:cubicBezTo>
                <a:cubicBezTo>
                  <a:pt x="131152" y="154316"/>
                  <a:pt x="127084" y="150249"/>
                  <a:pt x="127084" y="145239"/>
                </a:cubicBezTo>
                <a:close/>
              </a:path>
            </a:pathLst>
          </a:custGeom>
          <a:solidFill>
            <a:srgbClr val="FFFFFF"/>
          </a:solidFill>
          <a:ln/>
        </p:spPr>
      </p:sp>
      <p:sp>
        <p:nvSpPr>
          <p:cNvPr id="46" name="Text 44"/>
          <p:cNvSpPr/>
          <p:nvPr/>
        </p:nvSpPr>
        <p:spPr>
          <a:xfrm>
            <a:off x="7048563" y="3550285"/>
            <a:ext cx="4599232" cy="193652"/>
          </a:xfrm>
          <a:prstGeom prst="rect">
            <a:avLst/>
          </a:prstGeom>
          <a:noFill/>
          <a:ln/>
        </p:spPr>
        <p:txBody>
          <a:bodyPr wrap="square" lIns="0" tIns="0" rIns="0" bIns="0" rtlCol="0" anchor="ctr"/>
          <a:lstStyle/>
          <a:p>
            <a:pPr>
              <a:lnSpc>
                <a:spcPct val="130000"/>
              </a:lnSpc>
            </a:pPr>
            <a:r>
              <a:rPr lang="en-US" sz="1017" b="1" dirty="0">
                <a:solidFill>
                  <a:srgbClr val="003087"/>
                </a:solidFill>
                <a:latin typeface="Liter" pitchFamily="34" charset="0"/>
                <a:ea typeface="Liter" pitchFamily="34" charset="-122"/>
                <a:cs typeface="Liter" pitchFamily="34" charset="-120"/>
              </a:rPr>
              <a:t>Core Banking System</a:t>
            </a:r>
            <a:endParaRPr lang="en-US" sz="1600" dirty="0"/>
          </a:p>
        </p:txBody>
      </p:sp>
      <p:sp>
        <p:nvSpPr>
          <p:cNvPr id="47" name="Text 45"/>
          <p:cNvSpPr/>
          <p:nvPr/>
        </p:nvSpPr>
        <p:spPr>
          <a:xfrm>
            <a:off x="7048563" y="3743936"/>
            <a:ext cx="4591163" cy="322753"/>
          </a:xfrm>
          <a:prstGeom prst="rect">
            <a:avLst/>
          </a:prstGeom>
          <a:noFill/>
          <a:ln/>
        </p:spPr>
        <p:txBody>
          <a:bodyPr wrap="square" lIns="0" tIns="0" rIns="0" bIns="0" rtlCol="0" anchor="ctr"/>
          <a:lstStyle/>
          <a:p>
            <a:pPr>
              <a:lnSpc>
                <a:spcPct val="120000"/>
              </a:lnSpc>
            </a:pPr>
            <a:r>
              <a:rPr lang="en-US" sz="889" dirty="0">
                <a:solidFill>
                  <a:srgbClr val="1A1A1A">
                    <a:alpha val="70000"/>
                  </a:srgbClr>
                </a:solidFill>
                <a:latin typeface="Quattrocento Sans" pitchFamily="34" charset="0"/>
                <a:ea typeface="Quattrocento Sans" pitchFamily="34" charset="-122"/>
                <a:cs typeface="Quattrocento Sans" pitchFamily="34" charset="-120"/>
              </a:rPr>
              <a:t>API-first integration ensuring seamless data flow and real-time synchronization across all channels</a:t>
            </a:r>
            <a:endParaRPr lang="en-US" sz="1600" dirty="0"/>
          </a:p>
        </p:txBody>
      </p:sp>
      <p:sp>
        <p:nvSpPr>
          <p:cNvPr id="48" name="Shape 46"/>
          <p:cNvSpPr/>
          <p:nvPr/>
        </p:nvSpPr>
        <p:spPr>
          <a:xfrm>
            <a:off x="6185198" y="4494338"/>
            <a:ext cx="5680455" cy="1291013"/>
          </a:xfrm>
          <a:custGeom>
            <a:avLst/>
            <a:gdLst/>
            <a:ahLst/>
            <a:cxnLst/>
            <a:rect l="l" t="t" r="r" b="b"/>
            <a:pathLst>
              <a:path w="5680455" h="1291013">
                <a:moveTo>
                  <a:pt x="96826" y="0"/>
                </a:moveTo>
                <a:lnTo>
                  <a:pt x="5583629" y="0"/>
                </a:lnTo>
                <a:cubicBezTo>
                  <a:pt x="5637105" y="0"/>
                  <a:pt x="5680455" y="43350"/>
                  <a:pt x="5680455" y="96826"/>
                </a:cubicBezTo>
                <a:lnTo>
                  <a:pt x="5680455" y="1194187"/>
                </a:lnTo>
                <a:cubicBezTo>
                  <a:pt x="5680455" y="1247662"/>
                  <a:pt x="5637105" y="1291013"/>
                  <a:pt x="5583629" y="1291013"/>
                </a:cubicBezTo>
                <a:lnTo>
                  <a:pt x="96826" y="1291013"/>
                </a:lnTo>
                <a:cubicBezTo>
                  <a:pt x="43386" y="1291013"/>
                  <a:pt x="0" y="1247626"/>
                  <a:pt x="0" y="1194187"/>
                </a:cubicBezTo>
                <a:lnTo>
                  <a:pt x="0" y="96826"/>
                </a:lnTo>
                <a:cubicBezTo>
                  <a:pt x="0" y="43386"/>
                  <a:pt x="43386" y="0"/>
                  <a:pt x="96826" y="0"/>
                </a:cubicBezTo>
                <a:close/>
              </a:path>
            </a:pathLst>
          </a:custGeom>
          <a:solidFill>
            <a:srgbClr val="D4AF37">
              <a:alpha val="10196"/>
            </a:srgbClr>
          </a:solidFill>
          <a:ln w="25400">
            <a:solidFill>
              <a:srgbClr val="D4AF37"/>
            </a:solidFill>
            <a:prstDash val="solid"/>
          </a:ln>
        </p:spPr>
      </p:sp>
      <p:sp>
        <p:nvSpPr>
          <p:cNvPr id="49" name="Text 47"/>
          <p:cNvSpPr/>
          <p:nvPr/>
        </p:nvSpPr>
        <p:spPr>
          <a:xfrm>
            <a:off x="6354644" y="4663783"/>
            <a:ext cx="5414184" cy="225927"/>
          </a:xfrm>
          <a:prstGeom prst="rect">
            <a:avLst/>
          </a:prstGeom>
          <a:noFill/>
          <a:ln/>
        </p:spPr>
        <p:txBody>
          <a:bodyPr wrap="square" lIns="0" tIns="0" rIns="0" bIns="0" rtlCol="0" anchor="ctr"/>
          <a:lstStyle/>
          <a:p>
            <a:pPr>
              <a:lnSpc>
                <a:spcPct val="130000"/>
              </a:lnSpc>
            </a:pPr>
            <a:r>
              <a:rPr lang="en-US" sz="1144" b="1" dirty="0">
                <a:solidFill>
                  <a:srgbClr val="003087"/>
                </a:solidFill>
                <a:latin typeface="Liter" pitchFamily="34" charset="0"/>
                <a:ea typeface="Liter" pitchFamily="34" charset="-122"/>
                <a:cs typeface="Liter" pitchFamily="34" charset="-120"/>
              </a:rPr>
              <a:t>Human + Machine Collaboration</a:t>
            </a:r>
            <a:endParaRPr lang="en-US" sz="1600" dirty="0"/>
          </a:p>
        </p:txBody>
      </p:sp>
      <p:sp>
        <p:nvSpPr>
          <p:cNvPr id="50" name="Text 48"/>
          <p:cNvSpPr/>
          <p:nvPr/>
        </p:nvSpPr>
        <p:spPr>
          <a:xfrm>
            <a:off x="6354644" y="4986536"/>
            <a:ext cx="5406115" cy="629369"/>
          </a:xfrm>
          <a:prstGeom prst="rect">
            <a:avLst/>
          </a:prstGeom>
          <a:noFill/>
          <a:ln/>
        </p:spPr>
        <p:txBody>
          <a:bodyPr wrap="square" lIns="0" tIns="0" rIns="0" bIns="0" rtlCol="0" anchor="ctr"/>
          <a:lstStyle/>
          <a:p>
            <a:pPr>
              <a:lnSpc>
                <a:spcPct val="140000"/>
              </a:lnSpc>
            </a:pPr>
            <a:r>
              <a:rPr lang="en-US" sz="1017" dirty="0">
                <a:solidFill>
                  <a:srgbClr val="1A1A1A">
                    <a:alpha val="80000"/>
                  </a:srgbClr>
                </a:solidFill>
                <a:latin typeface="Quattrocento Sans" pitchFamily="34" charset="0"/>
                <a:ea typeface="Quattrocento Sans" pitchFamily="34" charset="-122"/>
                <a:cs typeface="Quattrocento Sans" pitchFamily="34" charset="-120"/>
              </a:rPr>
              <a:t>AI enhances rather than replaces human expertise, enabling staff to focus on </a:t>
            </a:r>
            <a:r>
              <a:rPr lang="en-US" sz="1017" b="1" dirty="0">
                <a:solidFill>
                  <a:srgbClr val="003087"/>
                </a:solidFill>
                <a:latin typeface="Quattrocento Sans" pitchFamily="34" charset="0"/>
                <a:ea typeface="Quattrocento Sans" pitchFamily="34" charset="-122"/>
                <a:cs typeface="Quattrocento Sans" pitchFamily="34" charset="-120"/>
              </a:rPr>
              <a:t>high-value advisory roles</a:t>
            </a:r>
            <a:r>
              <a:rPr lang="en-US" sz="1017" dirty="0">
                <a:solidFill>
                  <a:srgbClr val="1A1A1A">
                    <a:alpha val="80000"/>
                  </a:srgbClr>
                </a:solidFill>
                <a:latin typeface="Quattrocento Sans" pitchFamily="34" charset="0"/>
                <a:ea typeface="Quattrocento Sans" pitchFamily="34" charset="-122"/>
                <a:cs typeface="Quattrocento Sans" pitchFamily="34" charset="-120"/>
              </a:rPr>
              <a:t>, complex problem-solving, and relationship building while automation handles routine tasks.</a:t>
            </a:r>
            <a:endParaRPr lang="en-US" sz="1600" dirty="0"/>
          </a:p>
        </p:txBody>
      </p:sp>
      <p:sp>
        <p:nvSpPr>
          <p:cNvPr id="51" name="Shape 49"/>
          <p:cNvSpPr/>
          <p:nvPr/>
        </p:nvSpPr>
        <p:spPr>
          <a:xfrm>
            <a:off x="6177130" y="5922520"/>
            <a:ext cx="5696593" cy="935984"/>
          </a:xfrm>
          <a:custGeom>
            <a:avLst/>
            <a:gdLst/>
            <a:ahLst/>
            <a:cxnLst/>
            <a:rect l="l" t="t" r="r" b="b"/>
            <a:pathLst>
              <a:path w="5696593" h="935984">
                <a:moveTo>
                  <a:pt x="96828" y="0"/>
                </a:moveTo>
                <a:lnTo>
                  <a:pt x="5599765" y="0"/>
                </a:lnTo>
                <a:cubicBezTo>
                  <a:pt x="5653242" y="0"/>
                  <a:pt x="5696593" y="43351"/>
                  <a:pt x="5696593" y="96828"/>
                </a:cubicBezTo>
                <a:lnTo>
                  <a:pt x="5696593" y="839157"/>
                </a:lnTo>
                <a:cubicBezTo>
                  <a:pt x="5696593" y="892633"/>
                  <a:pt x="5653242" y="935984"/>
                  <a:pt x="5599765" y="935984"/>
                </a:cubicBezTo>
                <a:lnTo>
                  <a:pt x="96828" y="935984"/>
                </a:lnTo>
                <a:cubicBezTo>
                  <a:pt x="43351" y="935984"/>
                  <a:pt x="0" y="892633"/>
                  <a:pt x="0" y="839157"/>
                </a:cubicBezTo>
                <a:lnTo>
                  <a:pt x="0" y="96828"/>
                </a:lnTo>
                <a:cubicBezTo>
                  <a:pt x="0" y="43387"/>
                  <a:pt x="43387" y="0"/>
                  <a:pt x="96828" y="0"/>
                </a:cubicBezTo>
                <a:close/>
              </a:path>
            </a:pathLst>
          </a:custGeom>
          <a:solidFill>
            <a:srgbClr val="F9FAFB"/>
          </a:solidFill>
          <a:ln/>
        </p:spPr>
      </p:sp>
      <p:sp>
        <p:nvSpPr>
          <p:cNvPr id="52" name="Text 50"/>
          <p:cNvSpPr/>
          <p:nvPr/>
        </p:nvSpPr>
        <p:spPr>
          <a:xfrm>
            <a:off x="6306231" y="6051621"/>
            <a:ext cx="5502941" cy="193652"/>
          </a:xfrm>
          <a:prstGeom prst="rect">
            <a:avLst/>
          </a:prstGeom>
          <a:noFill/>
          <a:ln/>
        </p:spPr>
        <p:txBody>
          <a:bodyPr wrap="square" lIns="0" tIns="0" rIns="0" bIns="0" rtlCol="0" anchor="ctr"/>
          <a:lstStyle/>
          <a:p>
            <a:pPr>
              <a:lnSpc>
                <a:spcPct val="130000"/>
              </a:lnSpc>
            </a:pPr>
            <a:r>
              <a:rPr lang="en-US" sz="1017" b="1" dirty="0">
                <a:solidFill>
                  <a:srgbClr val="003087"/>
                </a:solidFill>
                <a:latin typeface="Liter" pitchFamily="34" charset="0"/>
                <a:ea typeface="Liter" pitchFamily="34" charset="-122"/>
                <a:cs typeface="Liter" pitchFamily="34" charset="-120"/>
              </a:rPr>
              <a:t>Key Capabilities</a:t>
            </a:r>
            <a:endParaRPr lang="en-US" sz="1600" dirty="0"/>
          </a:p>
        </p:txBody>
      </p:sp>
      <p:sp>
        <p:nvSpPr>
          <p:cNvPr id="53" name="Shape 51"/>
          <p:cNvSpPr/>
          <p:nvPr/>
        </p:nvSpPr>
        <p:spPr>
          <a:xfrm>
            <a:off x="6322368" y="6366306"/>
            <a:ext cx="112964" cy="112964"/>
          </a:xfrm>
          <a:custGeom>
            <a:avLst/>
            <a:gdLst/>
            <a:ahLst/>
            <a:cxnLst/>
            <a:rect l="l" t="t" r="r" b="b"/>
            <a:pathLst>
              <a:path w="112964" h="112964">
                <a:moveTo>
                  <a:pt x="56482" y="112964"/>
                </a:moveTo>
                <a:cubicBezTo>
                  <a:pt x="87655" y="112964"/>
                  <a:pt x="112964" y="87655"/>
                  <a:pt x="112964" y="56482"/>
                </a:cubicBezTo>
                <a:cubicBezTo>
                  <a:pt x="112964" y="25309"/>
                  <a:pt x="87655" y="0"/>
                  <a:pt x="56482" y="0"/>
                </a:cubicBezTo>
                <a:cubicBezTo>
                  <a:pt x="25309" y="0"/>
                  <a:pt x="0" y="25309"/>
                  <a:pt x="0" y="56482"/>
                </a:cubicBezTo>
                <a:cubicBezTo>
                  <a:pt x="0" y="87655"/>
                  <a:pt x="25309" y="112964"/>
                  <a:pt x="56482" y="112964"/>
                </a:cubicBezTo>
                <a:close/>
                <a:moveTo>
                  <a:pt x="75103" y="46928"/>
                </a:moveTo>
                <a:lnTo>
                  <a:pt x="57453" y="75169"/>
                </a:lnTo>
                <a:cubicBezTo>
                  <a:pt x="56526" y="76648"/>
                  <a:pt x="54937" y="77574"/>
                  <a:pt x="53194" y="77662"/>
                </a:cubicBezTo>
                <a:cubicBezTo>
                  <a:pt x="51451" y="77751"/>
                  <a:pt x="49775" y="76956"/>
                  <a:pt x="48738" y="75544"/>
                </a:cubicBezTo>
                <a:lnTo>
                  <a:pt x="38147" y="61424"/>
                </a:lnTo>
                <a:cubicBezTo>
                  <a:pt x="36382" y="59085"/>
                  <a:pt x="36868" y="55776"/>
                  <a:pt x="39206" y="54011"/>
                </a:cubicBezTo>
                <a:cubicBezTo>
                  <a:pt x="41545" y="52246"/>
                  <a:pt x="44854" y="52731"/>
                  <a:pt x="46620" y="55070"/>
                </a:cubicBezTo>
                <a:lnTo>
                  <a:pt x="52577" y="63013"/>
                </a:lnTo>
                <a:lnTo>
                  <a:pt x="66123" y="41324"/>
                </a:lnTo>
                <a:cubicBezTo>
                  <a:pt x="67668" y="38853"/>
                  <a:pt x="70933" y="38081"/>
                  <a:pt x="73426" y="39648"/>
                </a:cubicBezTo>
                <a:cubicBezTo>
                  <a:pt x="75919" y="41214"/>
                  <a:pt x="76670" y="44457"/>
                  <a:pt x="75103" y="46950"/>
                </a:cubicBezTo>
                <a:close/>
              </a:path>
            </a:pathLst>
          </a:custGeom>
          <a:solidFill>
            <a:srgbClr val="FF6B00"/>
          </a:solidFill>
          <a:ln/>
        </p:spPr>
      </p:sp>
      <p:sp>
        <p:nvSpPr>
          <p:cNvPr id="54" name="Text 52"/>
          <p:cNvSpPr/>
          <p:nvPr/>
        </p:nvSpPr>
        <p:spPr>
          <a:xfrm>
            <a:off x="6511986" y="6342099"/>
            <a:ext cx="992466" cy="161377"/>
          </a:xfrm>
          <a:prstGeom prst="rect">
            <a:avLst/>
          </a:prstGeom>
          <a:noFill/>
          <a:ln/>
        </p:spPr>
        <p:txBody>
          <a:bodyPr wrap="square" lIns="0" tIns="0" rIns="0" bIns="0" rtlCol="0" anchor="ctr"/>
          <a:lstStyle/>
          <a:p>
            <a:pPr>
              <a:lnSpc>
                <a:spcPct val="120000"/>
              </a:lnSpc>
            </a:pPr>
            <a:r>
              <a:rPr lang="en-US" sz="889" dirty="0">
                <a:solidFill>
                  <a:srgbClr val="1A1A1A">
                    <a:alpha val="80000"/>
                  </a:srgbClr>
                </a:solidFill>
                <a:latin typeface="Quattrocento Sans" pitchFamily="34" charset="0"/>
                <a:ea typeface="Quattrocento Sans" pitchFamily="34" charset="-122"/>
                <a:cs typeface="Quattrocento Sans" pitchFamily="34" charset="-120"/>
              </a:rPr>
              <a:t>Real-time analytics</a:t>
            </a:r>
            <a:endParaRPr lang="en-US" sz="1600" dirty="0"/>
          </a:p>
        </p:txBody>
      </p:sp>
      <p:sp>
        <p:nvSpPr>
          <p:cNvPr id="55" name="Shape 53"/>
          <p:cNvSpPr/>
          <p:nvPr/>
        </p:nvSpPr>
        <p:spPr>
          <a:xfrm>
            <a:off x="9072011" y="6366306"/>
            <a:ext cx="112964" cy="112964"/>
          </a:xfrm>
          <a:custGeom>
            <a:avLst/>
            <a:gdLst/>
            <a:ahLst/>
            <a:cxnLst/>
            <a:rect l="l" t="t" r="r" b="b"/>
            <a:pathLst>
              <a:path w="112964" h="112964">
                <a:moveTo>
                  <a:pt x="56482" y="112964"/>
                </a:moveTo>
                <a:cubicBezTo>
                  <a:pt x="87655" y="112964"/>
                  <a:pt x="112964" y="87655"/>
                  <a:pt x="112964" y="56482"/>
                </a:cubicBezTo>
                <a:cubicBezTo>
                  <a:pt x="112964" y="25309"/>
                  <a:pt x="87655" y="0"/>
                  <a:pt x="56482" y="0"/>
                </a:cubicBezTo>
                <a:cubicBezTo>
                  <a:pt x="25309" y="0"/>
                  <a:pt x="0" y="25309"/>
                  <a:pt x="0" y="56482"/>
                </a:cubicBezTo>
                <a:cubicBezTo>
                  <a:pt x="0" y="87655"/>
                  <a:pt x="25309" y="112964"/>
                  <a:pt x="56482" y="112964"/>
                </a:cubicBezTo>
                <a:close/>
                <a:moveTo>
                  <a:pt x="75103" y="46928"/>
                </a:moveTo>
                <a:lnTo>
                  <a:pt x="57453" y="75169"/>
                </a:lnTo>
                <a:cubicBezTo>
                  <a:pt x="56526" y="76648"/>
                  <a:pt x="54937" y="77574"/>
                  <a:pt x="53194" y="77662"/>
                </a:cubicBezTo>
                <a:cubicBezTo>
                  <a:pt x="51451" y="77751"/>
                  <a:pt x="49775" y="76956"/>
                  <a:pt x="48738" y="75544"/>
                </a:cubicBezTo>
                <a:lnTo>
                  <a:pt x="38147" y="61424"/>
                </a:lnTo>
                <a:cubicBezTo>
                  <a:pt x="36382" y="59085"/>
                  <a:pt x="36868" y="55776"/>
                  <a:pt x="39206" y="54011"/>
                </a:cubicBezTo>
                <a:cubicBezTo>
                  <a:pt x="41545" y="52246"/>
                  <a:pt x="44854" y="52731"/>
                  <a:pt x="46620" y="55070"/>
                </a:cubicBezTo>
                <a:lnTo>
                  <a:pt x="52577" y="63013"/>
                </a:lnTo>
                <a:lnTo>
                  <a:pt x="66123" y="41324"/>
                </a:lnTo>
                <a:cubicBezTo>
                  <a:pt x="67668" y="38853"/>
                  <a:pt x="70933" y="38081"/>
                  <a:pt x="73426" y="39648"/>
                </a:cubicBezTo>
                <a:cubicBezTo>
                  <a:pt x="75919" y="41214"/>
                  <a:pt x="76670" y="44457"/>
                  <a:pt x="75103" y="46950"/>
                </a:cubicBezTo>
                <a:close/>
              </a:path>
            </a:pathLst>
          </a:custGeom>
          <a:solidFill>
            <a:srgbClr val="FF6B00"/>
          </a:solidFill>
          <a:ln/>
        </p:spPr>
      </p:sp>
      <p:sp>
        <p:nvSpPr>
          <p:cNvPr id="56" name="Text 54"/>
          <p:cNvSpPr/>
          <p:nvPr/>
        </p:nvSpPr>
        <p:spPr>
          <a:xfrm>
            <a:off x="9261628" y="6342099"/>
            <a:ext cx="976328" cy="161377"/>
          </a:xfrm>
          <a:prstGeom prst="rect">
            <a:avLst/>
          </a:prstGeom>
          <a:noFill/>
          <a:ln/>
        </p:spPr>
        <p:txBody>
          <a:bodyPr wrap="square" lIns="0" tIns="0" rIns="0" bIns="0" rtlCol="0" anchor="ctr"/>
          <a:lstStyle/>
          <a:p>
            <a:pPr>
              <a:lnSpc>
                <a:spcPct val="120000"/>
              </a:lnSpc>
            </a:pPr>
            <a:r>
              <a:rPr lang="en-US" sz="889" dirty="0">
                <a:solidFill>
                  <a:srgbClr val="1A1A1A">
                    <a:alpha val="80000"/>
                  </a:srgbClr>
                </a:solidFill>
                <a:latin typeface="Quattrocento Sans" pitchFamily="34" charset="0"/>
                <a:ea typeface="Quattrocento Sans" pitchFamily="34" charset="-122"/>
                <a:cs typeface="Quattrocento Sans" pitchFamily="34" charset="-120"/>
              </a:rPr>
              <a:t>Pattern recognition</a:t>
            </a:r>
            <a:endParaRPr lang="en-US" sz="1600" dirty="0"/>
          </a:p>
        </p:txBody>
      </p:sp>
      <p:sp>
        <p:nvSpPr>
          <p:cNvPr id="57" name="Shape 55"/>
          <p:cNvSpPr/>
          <p:nvPr/>
        </p:nvSpPr>
        <p:spPr>
          <a:xfrm>
            <a:off x="6322368" y="6592233"/>
            <a:ext cx="112964" cy="112964"/>
          </a:xfrm>
          <a:custGeom>
            <a:avLst/>
            <a:gdLst/>
            <a:ahLst/>
            <a:cxnLst/>
            <a:rect l="l" t="t" r="r" b="b"/>
            <a:pathLst>
              <a:path w="112964" h="112964">
                <a:moveTo>
                  <a:pt x="56482" y="112964"/>
                </a:moveTo>
                <a:cubicBezTo>
                  <a:pt x="87655" y="112964"/>
                  <a:pt x="112964" y="87655"/>
                  <a:pt x="112964" y="56482"/>
                </a:cubicBezTo>
                <a:cubicBezTo>
                  <a:pt x="112964" y="25309"/>
                  <a:pt x="87655" y="0"/>
                  <a:pt x="56482" y="0"/>
                </a:cubicBezTo>
                <a:cubicBezTo>
                  <a:pt x="25309" y="0"/>
                  <a:pt x="0" y="25309"/>
                  <a:pt x="0" y="56482"/>
                </a:cubicBezTo>
                <a:cubicBezTo>
                  <a:pt x="0" y="87655"/>
                  <a:pt x="25309" y="112964"/>
                  <a:pt x="56482" y="112964"/>
                </a:cubicBezTo>
                <a:close/>
                <a:moveTo>
                  <a:pt x="75103" y="46928"/>
                </a:moveTo>
                <a:lnTo>
                  <a:pt x="57453" y="75169"/>
                </a:lnTo>
                <a:cubicBezTo>
                  <a:pt x="56526" y="76648"/>
                  <a:pt x="54937" y="77574"/>
                  <a:pt x="53194" y="77662"/>
                </a:cubicBezTo>
                <a:cubicBezTo>
                  <a:pt x="51451" y="77751"/>
                  <a:pt x="49775" y="76956"/>
                  <a:pt x="48738" y="75544"/>
                </a:cubicBezTo>
                <a:lnTo>
                  <a:pt x="38147" y="61424"/>
                </a:lnTo>
                <a:cubicBezTo>
                  <a:pt x="36382" y="59085"/>
                  <a:pt x="36868" y="55776"/>
                  <a:pt x="39206" y="54011"/>
                </a:cubicBezTo>
                <a:cubicBezTo>
                  <a:pt x="41545" y="52246"/>
                  <a:pt x="44854" y="52731"/>
                  <a:pt x="46620" y="55070"/>
                </a:cubicBezTo>
                <a:lnTo>
                  <a:pt x="52577" y="63013"/>
                </a:lnTo>
                <a:lnTo>
                  <a:pt x="66123" y="41324"/>
                </a:lnTo>
                <a:cubicBezTo>
                  <a:pt x="67668" y="38853"/>
                  <a:pt x="70933" y="38081"/>
                  <a:pt x="73426" y="39648"/>
                </a:cubicBezTo>
                <a:cubicBezTo>
                  <a:pt x="75919" y="41214"/>
                  <a:pt x="76670" y="44457"/>
                  <a:pt x="75103" y="46950"/>
                </a:cubicBezTo>
                <a:close/>
              </a:path>
            </a:pathLst>
          </a:custGeom>
          <a:solidFill>
            <a:srgbClr val="FF6B00"/>
          </a:solidFill>
          <a:ln/>
        </p:spPr>
      </p:sp>
      <p:sp>
        <p:nvSpPr>
          <p:cNvPr id="58" name="Text 56"/>
          <p:cNvSpPr/>
          <p:nvPr/>
        </p:nvSpPr>
        <p:spPr>
          <a:xfrm>
            <a:off x="6511986" y="6568026"/>
            <a:ext cx="1428183" cy="161377"/>
          </a:xfrm>
          <a:prstGeom prst="rect">
            <a:avLst/>
          </a:prstGeom>
          <a:noFill/>
          <a:ln/>
        </p:spPr>
        <p:txBody>
          <a:bodyPr wrap="square" lIns="0" tIns="0" rIns="0" bIns="0" rtlCol="0" anchor="ctr"/>
          <a:lstStyle/>
          <a:p>
            <a:pPr>
              <a:lnSpc>
                <a:spcPct val="120000"/>
              </a:lnSpc>
            </a:pPr>
            <a:r>
              <a:rPr lang="en-US" sz="889" dirty="0">
                <a:solidFill>
                  <a:srgbClr val="1A1A1A">
                    <a:alpha val="80000"/>
                  </a:srgbClr>
                </a:solidFill>
                <a:latin typeface="Quattrocento Sans" pitchFamily="34" charset="0"/>
                <a:ea typeface="Quattrocento Sans" pitchFamily="34" charset="-122"/>
                <a:cs typeface="Quattrocento Sans" pitchFamily="34" charset="-120"/>
              </a:rPr>
              <a:t>Natural language processing</a:t>
            </a:r>
            <a:endParaRPr lang="en-US" sz="1600" dirty="0"/>
          </a:p>
        </p:txBody>
      </p:sp>
      <p:sp>
        <p:nvSpPr>
          <p:cNvPr id="59" name="Shape 57"/>
          <p:cNvSpPr/>
          <p:nvPr/>
        </p:nvSpPr>
        <p:spPr>
          <a:xfrm>
            <a:off x="9072011" y="6592233"/>
            <a:ext cx="112964" cy="112964"/>
          </a:xfrm>
          <a:custGeom>
            <a:avLst/>
            <a:gdLst/>
            <a:ahLst/>
            <a:cxnLst/>
            <a:rect l="l" t="t" r="r" b="b"/>
            <a:pathLst>
              <a:path w="112964" h="112964">
                <a:moveTo>
                  <a:pt x="56482" y="112964"/>
                </a:moveTo>
                <a:cubicBezTo>
                  <a:pt x="87655" y="112964"/>
                  <a:pt x="112964" y="87655"/>
                  <a:pt x="112964" y="56482"/>
                </a:cubicBezTo>
                <a:cubicBezTo>
                  <a:pt x="112964" y="25309"/>
                  <a:pt x="87655" y="0"/>
                  <a:pt x="56482" y="0"/>
                </a:cubicBezTo>
                <a:cubicBezTo>
                  <a:pt x="25309" y="0"/>
                  <a:pt x="0" y="25309"/>
                  <a:pt x="0" y="56482"/>
                </a:cubicBezTo>
                <a:cubicBezTo>
                  <a:pt x="0" y="87655"/>
                  <a:pt x="25309" y="112964"/>
                  <a:pt x="56482" y="112964"/>
                </a:cubicBezTo>
                <a:close/>
                <a:moveTo>
                  <a:pt x="75103" y="46928"/>
                </a:moveTo>
                <a:lnTo>
                  <a:pt x="57453" y="75169"/>
                </a:lnTo>
                <a:cubicBezTo>
                  <a:pt x="56526" y="76648"/>
                  <a:pt x="54937" y="77574"/>
                  <a:pt x="53194" y="77662"/>
                </a:cubicBezTo>
                <a:cubicBezTo>
                  <a:pt x="51451" y="77751"/>
                  <a:pt x="49775" y="76956"/>
                  <a:pt x="48738" y="75544"/>
                </a:cubicBezTo>
                <a:lnTo>
                  <a:pt x="38147" y="61424"/>
                </a:lnTo>
                <a:cubicBezTo>
                  <a:pt x="36382" y="59085"/>
                  <a:pt x="36868" y="55776"/>
                  <a:pt x="39206" y="54011"/>
                </a:cubicBezTo>
                <a:cubicBezTo>
                  <a:pt x="41545" y="52246"/>
                  <a:pt x="44854" y="52731"/>
                  <a:pt x="46620" y="55070"/>
                </a:cubicBezTo>
                <a:lnTo>
                  <a:pt x="52577" y="63013"/>
                </a:lnTo>
                <a:lnTo>
                  <a:pt x="66123" y="41324"/>
                </a:lnTo>
                <a:cubicBezTo>
                  <a:pt x="67668" y="38853"/>
                  <a:pt x="70933" y="38081"/>
                  <a:pt x="73426" y="39648"/>
                </a:cubicBezTo>
                <a:cubicBezTo>
                  <a:pt x="75919" y="41214"/>
                  <a:pt x="76670" y="44457"/>
                  <a:pt x="75103" y="46950"/>
                </a:cubicBezTo>
                <a:close/>
              </a:path>
            </a:pathLst>
          </a:custGeom>
          <a:solidFill>
            <a:srgbClr val="FF6B00"/>
          </a:solidFill>
          <a:ln/>
        </p:spPr>
      </p:sp>
      <p:sp>
        <p:nvSpPr>
          <p:cNvPr id="60" name="Text 58"/>
          <p:cNvSpPr/>
          <p:nvPr/>
        </p:nvSpPr>
        <p:spPr>
          <a:xfrm>
            <a:off x="9261628" y="6568026"/>
            <a:ext cx="1024741" cy="161377"/>
          </a:xfrm>
          <a:prstGeom prst="rect">
            <a:avLst/>
          </a:prstGeom>
          <a:noFill/>
          <a:ln/>
        </p:spPr>
        <p:txBody>
          <a:bodyPr wrap="square" lIns="0" tIns="0" rIns="0" bIns="0" rtlCol="0" anchor="ctr"/>
          <a:lstStyle/>
          <a:p>
            <a:pPr>
              <a:lnSpc>
                <a:spcPct val="120000"/>
              </a:lnSpc>
            </a:pPr>
            <a:r>
              <a:rPr lang="en-US" sz="889" dirty="0">
                <a:solidFill>
                  <a:srgbClr val="1A1A1A">
                    <a:alpha val="80000"/>
                  </a:srgbClr>
                </a:solidFill>
                <a:latin typeface="Quattrocento Sans" pitchFamily="34" charset="0"/>
                <a:ea typeface="Quattrocento Sans" pitchFamily="34" charset="-122"/>
                <a:cs typeface="Quattrocento Sans" pitchFamily="34" charset="-120"/>
              </a:rPr>
              <a:t>Predictive modeling</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419" y="354419"/>
            <a:ext cx="11545186" cy="177209"/>
          </a:xfrm>
          <a:prstGeom prst="rect">
            <a:avLst/>
          </a:prstGeom>
          <a:noFill/>
          <a:ln/>
        </p:spPr>
        <p:txBody>
          <a:bodyPr wrap="square" lIns="0" tIns="0" rIns="0" bIns="0" rtlCol="0" anchor="ctr"/>
          <a:lstStyle/>
          <a:p>
            <a:pPr>
              <a:lnSpc>
                <a:spcPct val="120000"/>
              </a:lnSpc>
            </a:pPr>
            <a:r>
              <a:rPr lang="en-US" sz="977" b="1" kern="0" spc="49" dirty="0">
                <a:solidFill>
                  <a:srgbClr val="FF6B00"/>
                </a:solidFill>
                <a:latin typeface="Liter" pitchFamily="34" charset="0"/>
                <a:ea typeface="Liter" pitchFamily="34" charset="-122"/>
                <a:cs typeface="Liter" pitchFamily="34" charset="-120"/>
              </a:rPr>
              <a:t>04 | INNOVATION OPPORTUNITIES</a:t>
            </a:r>
            <a:endParaRPr lang="en-US" sz="1600" dirty="0"/>
          </a:p>
        </p:txBody>
      </p:sp>
      <p:sp>
        <p:nvSpPr>
          <p:cNvPr id="3" name="Text 1"/>
          <p:cNvSpPr/>
          <p:nvPr/>
        </p:nvSpPr>
        <p:spPr>
          <a:xfrm>
            <a:off x="354419" y="602512"/>
            <a:ext cx="11642651" cy="354419"/>
          </a:xfrm>
          <a:prstGeom prst="rect">
            <a:avLst/>
          </a:prstGeom>
          <a:noFill/>
          <a:ln/>
        </p:spPr>
        <p:txBody>
          <a:bodyPr wrap="square" lIns="0" tIns="0" rIns="0" bIns="0" rtlCol="0" anchor="ctr"/>
          <a:lstStyle/>
          <a:p>
            <a:pPr>
              <a:lnSpc>
                <a:spcPct val="90000"/>
              </a:lnSpc>
            </a:pPr>
            <a:r>
              <a:rPr lang="en-US" sz="2512" b="1" dirty="0">
                <a:solidFill>
                  <a:srgbClr val="003087"/>
                </a:solidFill>
                <a:latin typeface="Liter" pitchFamily="34" charset="0"/>
                <a:ea typeface="Liter" pitchFamily="34" charset="-122"/>
                <a:cs typeface="Liter" pitchFamily="34" charset="-120"/>
              </a:rPr>
              <a:t>Performance Management System</a:t>
            </a:r>
            <a:endParaRPr lang="en-US" sz="1600" dirty="0"/>
          </a:p>
        </p:txBody>
      </p:sp>
      <p:sp>
        <p:nvSpPr>
          <p:cNvPr id="4" name="Shape 2"/>
          <p:cNvSpPr/>
          <p:nvPr/>
        </p:nvSpPr>
        <p:spPr>
          <a:xfrm>
            <a:off x="354419" y="1063256"/>
            <a:ext cx="850605" cy="35442"/>
          </a:xfrm>
          <a:custGeom>
            <a:avLst/>
            <a:gdLst/>
            <a:ahLst/>
            <a:cxnLst/>
            <a:rect l="l" t="t" r="r" b="b"/>
            <a:pathLst>
              <a:path w="850605" h="35442">
                <a:moveTo>
                  <a:pt x="0" y="0"/>
                </a:moveTo>
                <a:lnTo>
                  <a:pt x="850605" y="0"/>
                </a:lnTo>
                <a:lnTo>
                  <a:pt x="850605" y="35442"/>
                </a:lnTo>
                <a:lnTo>
                  <a:pt x="0" y="35442"/>
                </a:lnTo>
                <a:lnTo>
                  <a:pt x="0" y="0"/>
                </a:lnTo>
                <a:close/>
              </a:path>
            </a:pathLst>
          </a:custGeom>
          <a:solidFill>
            <a:srgbClr val="FF6B00"/>
          </a:solidFill>
          <a:ln/>
        </p:spPr>
      </p:sp>
      <p:sp>
        <p:nvSpPr>
          <p:cNvPr id="5" name="Shape 3"/>
          <p:cNvSpPr/>
          <p:nvPr/>
        </p:nvSpPr>
        <p:spPr>
          <a:xfrm>
            <a:off x="354419" y="1275907"/>
            <a:ext cx="6822558" cy="2392326"/>
          </a:xfrm>
          <a:custGeom>
            <a:avLst/>
            <a:gdLst/>
            <a:ahLst/>
            <a:cxnLst/>
            <a:rect l="l" t="t" r="r" b="b"/>
            <a:pathLst>
              <a:path w="6822558" h="2392326">
                <a:moveTo>
                  <a:pt x="106315" y="0"/>
                </a:moveTo>
                <a:lnTo>
                  <a:pt x="6716243" y="0"/>
                </a:lnTo>
                <a:cubicBezTo>
                  <a:pt x="6774959" y="0"/>
                  <a:pt x="6822558" y="47599"/>
                  <a:pt x="6822558" y="106315"/>
                </a:cubicBezTo>
                <a:lnTo>
                  <a:pt x="6822558" y="2286011"/>
                </a:lnTo>
                <a:cubicBezTo>
                  <a:pt x="6822558" y="2344727"/>
                  <a:pt x="6774959" y="2392326"/>
                  <a:pt x="6716243" y="2392326"/>
                </a:cubicBezTo>
                <a:lnTo>
                  <a:pt x="106315" y="2392326"/>
                </a:lnTo>
                <a:cubicBezTo>
                  <a:pt x="47599" y="2392326"/>
                  <a:pt x="0" y="2344727"/>
                  <a:pt x="0" y="2286011"/>
                </a:cubicBezTo>
                <a:lnTo>
                  <a:pt x="0" y="106315"/>
                </a:lnTo>
                <a:cubicBezTo>
                  <a:pt x="0" y="47638"/>
                  <a:pt x="47638" y="0"/>
                  <a:pt x="106315"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589221" y="1524000"/>
            <a:ext cx="177209" cy="177209"/>
          </a:xfrm>
          <a:custGeom>
            <a:avLst/>
            <a:gdLst/>
            <a:ahLst/>
            <a:cxnLst/>
            <a:rect l="l" t="t" r="r" b="b"/>
            <a:pathLst>
              <a:path w="177209" h="177209">
                <a:moveTo>
                  <a:pt x="0" y="88605"/>
                </a:moveTo>
                <a:cubicBezTo>
                  <a:pt x="0" y="39702"/>
                  <a:pt x="39702" y="0"/>
                  <a:pt x="88605" y="0"/>
                </a:cubicBezTo>
                <a:cubicBezTo>
                  <a:pt x="137507" y="0"/>
                  <a:pt x="177209" y="39702"/>
                  <a:pt x="177209" y="88605"/>
                </a:cubicBezTo>
                <a:cubicBezTo>
                  <a:pt x="177209" y="137507"/>
                  <a:pt x="137507" y="177209"/>
                  <a:pt x="88605" y="177209"/>
                </a:cubicBezTo>
                <a:cubicBezTo>
                  <a:pt x="39702" y="177209"/>
                  <a:pt x="0" y="137507"/>
                  <a:pt x="0" y="88605"/>
                </a:cubicBezTo>
                <a:close/>
                <a:moveTo>
                  <a:pt x="99680" y="33227"/>
                </a:moveTo>
                <a:cubicBezTo>
                  <a:pt x="99680" y="27114"/>
                  <a:pt x="94717" y="22151"/>
                  <a:pt x="88605" y="22151"/>
                </a:cubicBezTo>
                <a:cubicBezTo>
                  <a:pt x="82492" y="22151"/>
                  <a:pt x="77529" y="27114"/>
                  <a:pt x="77529" y="33227"/>
                </a:cubicBezTo>
                <a:cubicBezTo>
                  <a:pt x="77529" y="39340"/>
                  <a:pt x="82492" y="44302"/>
                  <a:pt x="88605" y="44302"/>
                </a:cubicBezTo>
                <a:cubicBezTo>
                  <a:pt x="94717" y="44302"/>
                  <a:pt x="99680" y="39340"/>
                  <a:pt x="99680" y="33227"/>
                </a:cubicBezTo>
                <a:close/>
                <a:moveTo>
                  <a:pt x="88605" y="143983"/>
                </a:moveTo>
                <a:cubicBezTo>
                  <a:pt x="100822" y="143983"/>
                  <a:pt x="110756" y="134049"/>
                  <a:pt x="110756" y="121831"/>
                </a:cubicBezTo>
                <a:cubicBezTo>
                  <a:pt x="110756" y="116224"/>
                  <a:pt x="108679" y="111067"/>
                  <a:pt x="105218" y="107191"/>
                </a:cubicBezTo>
                <a:lnTo>
                  <a:pt x="129273" y="59116"/>
                </a:lnTo>
                <a:cubicBezTo>
                  <a:pt x="131315" y="54997"/>
                  <a:pt x="129654" y="50013"/>
                  <a:pt x="125569" y="47971"/>
                </a:cubicBezTo>
                <a:cubicBezTo>
                  <a:pt x="121485" y="45929"/>
                  <a:pt x="116467" y="47590"/>
                  <a:pt x="114425" y="51675"/>
                </a:cubicBezTo>
                <a:lnTo>
                  <a:pt x="90370" y="99749"/>
                </a:lnTo>
                <a:cubicBezTo>
                  <a:pt x="89781" y="99715"/>
                  <a:pt x="89193" y="99680"/>
                  <a:pt x="88605" y="99680"/>
                </a:cubicBezTo>
                <a:cubicBezTo>
                  <a:pt x="76387" y="99680"/>
                  <a:pt x="66453" y="109614"/>
                  <a:pt x="66453" y="121831"/>
                </a:cubicBezTo>
                <a:cubicBezTo>
                  <a:pt x="66453" y="134049"/>
                  <a:pt x="76387" y="143983"/>
                  <a:pt x="88605" y="143983"/>
                </a:cubicBezTo>
                <a:close/>
                <a:moveTo>
                  <a:pt x="60916" y="49840"/>
                </a:moveTo>
                <a:cubicBezTo>
                  <a:pt x="60916" y="43727"/>
                  <a:pt x="55953" y="38765"/>
                  <a:pt x="49840" y="38765"/>
                </a:cubicBezTo>
                <a:cubicBezTo>
                  <a:pt x="43727" y="38765"/>
                  <a:pt x="38765" y="43727"/>
                  <a:pt x="38765" y="49840"/>
                </a:cubicBezTo>
                <a:cubicBezTo>
                  <a:pt x="38765" y="55953"/>
                  <a:pt x="43727" y="60916"/>
                  <a:pt x="49840" y="60916"/>
                </a:cubicBezTo>
                <a:cubicBezTo>
                  <a:pt x="55953" y="60916"/>
                  <a:pt x="60916" y="55953"/>
                  <a:pt x="60916" y="49840"/>
                </a:cubicBezTo>
                <a:close/>
                <a:moveTo>
                  <a:pt x="33227" y="99680"/>
                </a:moveTo>
                <a:cubicBezTo>
                  <a:pt x="39340" y="99680"/>
                  <a:pt x="44302" y="94717"/>
                  <a:pt x="44302" y="88605"/>
                </a:cubicBezTo>
                <a:cubicBezTo>
                  <a:pt x="44302" y="82492"/>
                  <a:pt x="39340" y="77529"/>
                  <a:pt x="33227" y="77529"/>
                </a:cubicBezTo>
                <a:cubicBezTo>
                  <a:pt x="27114" y="77529"/>
                  <a:pt x="22151" y="82492"/>
                  <a:pt x="22151" y="88605"/>
                </a:cubicBezTo>
                <a:cubicBezTo>
                  <a:pt x="22151" y="94717"/>
                  <a:pt x="27114" y="99680"/>
                  <a:pt x="33227" y="99680"/>
                </a:cubicBezTo>
                <a:close/>
                <a:moveTo>
                  <a:pt x="155058" y="88605"/>
                </a:moveTo>
                <a:cubicBezTo>
                  <a:pt x="155058" y="82492"/>
                  <a:pt x="150095" y="77529"/>
                  <a:pt x="143983" y="77529"/>
                </a:cubicBezTo>
                <a:cubicBezTo>
                  <a:pt x="137870" y="77529"/>
                  <a:pt x="132907" y="82492"/>
                  <a:pt x="132907" y="88605"/>
                </a:cubicBezTo>
                <a:cubicBezTo>
                  <a:pt x="132907" y="94717"/>
                  <a:pt x="137870" y="99680"/>
                  <a:pt x="143983" y="99680"/>
                </a:cubicBezTo>
                <a:cubicBezTo>
                  <a:pt x="150095" y="99680"/>
                  <a:pt x="155058" y="94717"/>
                  <a:pt x="155058" y="88605"/>
                </a:cubicBezTo>
                <a:close/>
              </a:path>
            </a:pathLst>
          </a:custGeom>
          <a:solidFill>
            <a:srgbClr val="FF6B00"/>
          </a:solidFill>
          <a:ln/>
        </p:spPr>
      </p:sp>
      <p:sp>
        <p:nvSpPr>
          <p:cNvPr id="7" name="Text 5"/>
          <p:cNvSpPr/>
          <p:nvPr/>
        </p:nvSpPr>
        <p:spPr>
          <a:xfrm>
            <a:off x="788581" y="1488558"/>
            <a:ext cx="6264349" cy="248093"/>
          </a:xfrm>
          <a:prstGeom prst="rect">
            <a:avLst/>
          </a:prstGeom>
          <a:noFill/>
          <a:ln/>
        </p:spPr>
        <p:txBody>
          <a:bodyPr wrap="square" lIns="0" tIns="0" rIns="0" bIns="0" rtlCol="0" anchor="ctr"/>
          <a:lstStyle/>
          <a:p>
            <a:pPr>
              <a:lnSpc>
                <a:spcPct val="120000"/>
              </a:lnSpc>
            </a:pPr>
            <a:r>
              <a:rPr lang="en-US" sz="1395" b="1" dirty="0">
                <a:solidFill>
                  <a:srgbClr val="FFFFFF"/>
                </a:solidFill>
                <a:latin typeface="Liter" pitchFamily="34" charset="0"/>
                <a:ea typeface="Liter" pitchFamily="34" charset="-122"/>
                <a:cs typeface="Liter" pitchFamily="34" charset="-120"/>
              </a:rPr>
              <a:t>Comprehensive KPI Dashboard</a:t>
            </a:r>
            <a:endParaRPr lang="en-US" sz="1600" dirty="0"/>
          </a:p>
        </p:txBody>
      </p:sp>
      <p:sp>
        <p:nvSpPr>
          <p:cNvPr id="8" name="Text 6"/>
          <p:cNvSpPr/>
          <p:nvPr/>
        </p:nvSpPr>
        <p:spPr>
          <a:xfrm>
            <a:off x="567070" y="1878419"/>
            <a:ext cx="6468140" cy="691116"/>
          </a:xfrm>
          <a:prstGeom prst="rect">
            <a:avLst/>
          </a:prstGeom>
          <a:noFill/>
          <a:ln/>
        </p:spPr>
        <p:txBody>
          <a:bodyPr wrap="square" lIns="0" tIns="0" rIns="0" bIns="0" rtlCol="0" anchor="ctr"/>
          <a:lstStyle/>
          <a:p>
            <a:pPr>
              <a:lnSpc>
                <a:spcPct val="140000"/>
              </a:lnSpc>
            </a:pPr>
            <a:r>
              <a:rPr lang="en-US" sz="1116" dirty="0">
                <a:solidFill>
                  <a:srgbClr val="FFFFFF"/>
                </a:solidFill>
                <a:latin typeface="Quattrocento Sans" pitchFamily="34" charset="0"/>
                <a:ea typeface="Quattrocento Sans" pitchFamily="34" charset="-122"/>
                <a:cs typeface="Quattrocento Sans" pitchFamily="34" charset="-120"/>
              </a:rPr>
              <a:t>Real-time performance monitoring system providing executive visibility into operational efficiency, financial performance, and transformation progress through integrated data visualization and automated reporting.</a:t>
            </a:r>
            <a:endParaRPr lang="en-US" sz="1600" dirty="0"/>
          </a:p>
        </p:txBody>
      </p:sp>
      <p:sp>
        <p:nvSpPr>
          <p:cNvPr id="9" name="Shape 7"/>
          <p:cNvSpPr/>
          <p:nvPr/>
        </p:nvSpPr>
        <p:spPr>
          <a:xfrm>
            <a:off x="567070" y="2711302"/>
            <a:ext cx="3145465" cy="744279"/>
          </a:xfrm>
          <a:custGeom>
            <a:avLst/>
            <a:gdLst/>
            <a:ahLst/>
            <a:cxnLst/>
            <a:rect l="l" t="t" r="r" b="b"/>
            <a:pathLst>
              <a:path w="3145465" h="744279">
                <a:moveTo>
                  <a:pt x="70885" y="0"/>
                </a:moveTo>
                <a:lnTo>
                  <a:pt x="3074580" y="0"/>
                </a:lnTo>
                <a:cubicBezTo>
                  <a:pt x="3113729" y="0"/>
                  <a:pt x="3145465" y="31736"/>
                  <a:pt x="3145465" y="70885"/>
                </a:cubicBezTo>
                <a:lnTo>
                  <a:pt x="3145465" y="673394"/>
                </a:lnTo>
                <a:cubicBezTo>
                  <a:pt x="3145465" y="712543"/>
                  <a:pt x="3113729" y="744279"/>
                  <a:pt x="3074580" y="744279"/>
                </a:cubicBezTo>
                <a:lnTo>
                  <a:pt x="70885" y="744279"/>
                </a:lnTo>
                <a:cubicBezTo>
                  <a:pt x="31736" y="744279"/>
                  <a:pt x="0" y="712543"/>
                  <a:pt x="0" y="673394"/>
                </a:cubicBezTo>
                <a:lnTo>
                  <a:pt x="0" y="70885"/>
                </a:lnTo>
                <a:cubicBezTo>
                  <a:pt x="0" y="31763"/>
                  <a:pt x="31763" y="0"/>
                  <a:pt x="70885" y="0"/>
                </a:cubicBezTo>
                <a:close/>
              </a:path>
            </a:pathLst>
          </a:custGeom>
          <a:solidFill>
            <a:srgbClr val="FFFFFF">
              <a:alpha val="10196"/>
            </a:srgbClr>
          </a:solidFill>
          <a:ln/>
        </p:spPr>
      </p:sp>
      <p:sp>
        <p:nvSpPr>
          <p:cNvPr id="10" name="Text 8"/>
          <p:cNvSpPr/>
          <p:nvPr/>
        </p:nvSpPr>
        <p:spPr>
          <a:xfrm>
            <a:off x="606942" y="2817628"/>
            <a:ext cx="3065721" cy="318977"/>
          </a:xfrm>
          <a:prstGeom prst="rect">
            <a:avLst/>
          </a:prstGeom>
          <a:noFill/>
          <a:ln/>
        </p:spPr>
        <p:txBody>
          <a:bodyPr wrap="square" lIns="0" tIns="0" rIns="0" bIns="0" rtlCol="0" anchor="ctr"/>
          <a:lstStyle/>
          <a:p>
            <a:pPr algn="ctr">
              <a:lnSpc>
                <a:spcPct val="100000"/>
              </a:lnSpc>
            </a:pPr>
            <a:r>
              <a:rPr lang="en-US" sz="2093" b="1" dirty="0">
                <a:solidFill>
                  <a:srgbClr val="FF6B00"/>
                </a:solidFill>
                <a:latin typeface="Quattrocento Sans" pitchFamily="34" charset="0"/>
                <a:ea typeface="Quattrocento Sans" pitchFamily="34" charset="-122"/>
                <a:cs typeface="Quattrocento Sans" pitchFamily="34" charset="-120"/>
              </a:rPr>
              <a:t>Real-time</a:t>
            </a:r>
            <a:endParaRPr lang="en-US" sz="1600" dirty="0"/>
          </a:p>
        </p:txBody>
      </p:sp>
      <p:sp>
        <p:nvSpPr>
          <p:cNvPr id="11" name="Text 9"/>
          <p:cNvSpPr/>
          <p:nvPr/>
        </p:nvSpPr>
        <p:spPr>
          <a:xfrm>
            <a:off x="642384" y="3172047"/>
            <a:ext cx="299483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Data Updates</a:t>
            </a:r>
            <a:endParaRPr lang="en-US" sz="1600" dirty="0"/>
          </a:p>
        </p:txBody>
      </p:sp>
      <p:sp>
        <p:nvSpPr>
          <p:cNvPr id="12" name="Shape 10"/>
          <p:cNvSpPr/>
          <p:nvPr/>
        </p:nvSpPr>
        <p:spPr>
          <a:xfrm>
            <a:off x="3817061" y="2711302"/>
            <a:ext cx="3145465" cy="744279"/>
          </a:xfrm>
          <a:custGeom>
            <a:avLst/>
            <a:gdLst/>
            <a:ahLst/>
            <a:cxnLst/>
            <a:rect l="l" t="t" r="r" b="b"/>
            <a:pathLst>
              <a:path w="3145465" h="744279">
                <a:moveTo>
                  <a:pt x="70885" y="0"/>
                </a:moveTo>
                <a:lnTo>
                  <a:pt x="3074580" y="0"/>
                </a:lnTo>
                <a:cubicBezTo>
                  <a:pt x="3113729" y="0"/>
                  <a:pt x="3145465" y="31736"/>
                  <a:pt x="3145465" y="70885"/>
                </a:cubicBezTo>
                <a:lnTo>
                  <a:pt x="3145465" y="673394"/>
                </a:lnTo>
                <a:cubicBezTo>
                  <a:pt x="3145465" y="712543"/>
                  <a:pt x="3113729" y="744279"/>
                  <a:pt x="3074580" y="744279"/>
                </a:cubicBezTo>
                <a:lnTo>
                  <a:pt x="70885" y="744279"/>
                </a:lnTo>
                <a:cubicBezTo>
                  <a:pt x="31736" y="744279"/>
                  <a:pt x="0" y="712543"/>
                  <a:pt x="0" y="673394"/>
                </a:cubicBezTo>
                <a:lnTo>
                  <a:pt x="0" y="70885"/>
                </a:lnTo>
                <a:cubicBezTo>
                  <a:pt x="0" y="31763"/>
                  <a:pt x="31763" y="0"/>
                  <a:pt x="70885" y="0"/>
                </a:cubicBezTo>
                <a:close/>
              </a:path>
            </a:pathLst>
          </a:custGeom>
          <a:solidFill>
            <a:srgbClr val="FFFFFF">
              <a:alpha val="10196"/>
            </a:srgbClr>
          </a:solidFill>
          <a:ln/>
        </p:spPr>
      </p:sp>
      <p:sp>
        <p:nvSpPr>
          <p:cNvPr id="13" name="Text 11"/>
          <p:cNvSpPr/>
          <p:nvPr/>
        </p:nvSpPr>
        <p:spPr>
          <a:xfrm>
            <a:off x="3856933" y="2817628"/>
            <a:ext cx="3065721" cy="318977"/>
          </a:xfrm>
          <a:prstGeom prst="rect">
            <a:avLst/>
          </a:prstGeom>
          <a:noFill/>
          <a:ln/>
        </p:spPr>
        <p:txBody>
          <a:bodyPr wrap="square" lIns="0" tIns="0" rIns="0" bIns="0" rtlCol="0" anchor="ctr"/>
          <a:lstStyle/>
          <a:p>
            <a:pPr algn="ctr">
              <a:lnSpc>
                <a:spcPct val="100000"/>
              </a:lnSpc>
            </a:pPr>
            <a:r>
              <a:rPr lang="en-US" sz="2093" b="1" dirty="0">
                <a:solidFill>
                  <a:srgbClr val="FF6B00"/>
                </a:solidFill>
                <a:latin typeface="Quattrocento Sans" pitchFamily="34" charset="0"/>
                <a:ea typeface="Quattrocento Sans" pitchFamily="34" charset="-122"/>
                <a:cs typeface="Quattrocento Sans" pitchFamily="34" charset="-120"/>
              </a:rPr>
              <a:t>360°</a:t>
            </a:r>
            <a:endParaRPr lang="en-US" sz="1600" dirty="0"/>
          </a:p>
        </p:txBody>
      </p:sp>
      <p:sp>
        <p:nvSpPr>
          <p:cNvPr id="14" name="Text 12"/>
          <p:cNvSpPr/>
          <p:nvPr/>
        </p:nvSpPr>
        <p:spPr>
          <a:xfrm>
            <a:off x="3892375" y="3172047"/>
            <a:ext cx="299483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Performance View</a:t>
            </a:r>
            <a:endParaRPr lang="en-US" sz="1600" dirty="0"/>
          </a:p>
        </p:txBody>
      </p:sp>
      <p:sp>
        <p:nvSpPr>
          <p:cNvPr id="15" name="Shape 13"/>
          <p:cNvSpPr/>
          <p:nvPr/>
        </p:nvSpPr>
        <p:spPr>
          <a:xfrm>
            <a:off x="354419" y="3810000"/>
            <a:ext cx="6822558" cy="2693581"/>
          </a:xfrm>
          <a:custGeom>
            <a:avLst/>
            <a:gdLst/>
            <a:ahLst/>
            <a:cxnLst/>
            <a:rect l="l" t="t" r="r" b="b"/>
            <a:pathLst>
              <a:path w="6822558" h="2693581">
                <a:moveTo>
                  <a:pt x="106316" y="0"/>
                </a:moveTo>
                <a:lnTo>
                  <a:pt x="6716242" y="0"/>
                </a:lnTo>
                <a:cubicBezTo>
                  <a:pt x="6774959" y="0"/>
                  <a:pt x="6822558" y="47599"/>
                  <a:pt x="6822558" y="106316"/>
                </a:cubicBezTo>
                <a:lnTo>
                  <a:pt x="6822558" y="2587266"/>
                </a:lnTo>
                <a:cubicBezTo>
                  <a:pt x="6822558" y="2645982"/>
                  <a:pt x="6774959" y="2693581"/>
                  <a:pt x="6716242" y="2693581"/>
                </a:cubicBezTo>
                <a:lnTo>
                  <a:pt x="106316" y="2693581"/>
                </a:lnTo>
                <a:cubicBezTo>
                  <a:pt x="47638" y="2693581"/>
                  <a:pt x="0" y="2645943"/>
                  <a:pt x="0" y="2587266"/>
                </a:cubicBezTo>
                <a:lnTo>
                  <a:pt x="0" y="106316"/>
                </a:lnTo>
                <a:cubicBezTo>
                  <a:pt x="0" y="47638"/>
                  <a:pt x="47638" y="0"/>
                  <a:pt x="106316" y="0"/>
                </a:cubicBezTo>
                <a:close/>
              </a:path>
            </a:pathLst>
          </a:custGeom>
          <a:solidFill>
            <a:srgbClr val="F9FAFB"/>
          </a:solidFill>
          <a:ln/>
        </p:spPr>
      </p:sp>
      <p:sp>
        <p:nvSpPr>
          <p:cNvPr id="16" name="Text 14"/>
          <p:cNvSpPr/>
          <p:nvPr/>
        </p:nvSpPr>
        <p:spPr>
          <a:xfrm>
            <a:off x="531628" y="3987209"/>
            <a:ext cx="6547884" cy="248093"/>
          </a:xfrm>
          <a:prstGeom prst="rect">
            <a:avLst/>
          </a:prstGeom>
          <a:noFill/>
          <a:ln/>
        </p:spPr>
        <p:txBody>
          <a:bodyPr wrap="square" lIns="0" tIns="0" rIns="0" bIns="0" rtlCol="0" anchor="ctr"/>
          <a:lstStyle/>
          <a:p>
            <a:pPr>
              <a:lnSpc>
                <a:spcPct val="130000"/>
              </a:lnSpc>
            </a:pPr>
            <a:r>
              <a:rPr lang="en-US" sz="1256" b="1" dirty="0">
                <a:solidFill>
                  <a:srgbClr val="003087"/>
                </a:solidFill>
                <a:latin typeface="Liter" pitchFamily="34" charset="0"/>
                <a:ea typeface="Liter" pitchFamily="34" charset="-122"/>
                <a:cs typeface="Liter" pitchFamily="34" charset="-120"/>
              </a:rPr>
              <a:t>Key Performance Indicators</a:t>
            </a:r>
            <a:endParaRPr lang="en-US" sz="1600" dirty="0"/>
          </a:p>
        </p:txBody>
      </p:sp>
      <p:sp>
        <p:nvSpPr>
          <p:cNvPr id="17" name="Shape 15"/>
          <p:cNvSpPr/>
          <p:nvPr/>
        </p:nvSpPr>
        <p:spPr>
          <a:xfrm>
            <a:off x="549349" y="4377070"/>
            <a:ext cx="3163186" cy="921488"/>
          </a:xfrm>
          <a:custGeom>
            <a:avLst/>
            <a:gdLst/>
            <a:ahLst/>
            <a:cxnLst/>
            <a:rect l="l" t="t" r="r" b="b"/>
            <a:pathLst>
              <a:path w="3163186" h="921488">
                <a:moveTo>
                  <a:pt x="35442" y="0"/>
                </a:moveTo>
                <a:lnTo>
                  <a:pt x="3092305" y="0"/>
                </a:lnTo>
                <a:cubicBezTo>
                  <a:pt x="3131452" y="0"/>
                  <a:pt x="3163186" y="31734"/>
                  <a:pt x="3163186" y="70881"/>
                </a:cubicBezTo>
                <a:lnTo>
                  <a:pt x="3163186" y="850607"/>
                </a:lnTo>
                <a:cubicBezTo>
                  <a:pt x="3163186" y="889754"/>
                  <a:pt x="3131452" y="921488"/>
                  <a:pt x="3092305" y="921488"/>
                </a:cubicBezTo>
                <a:lnTo>
                  <a:pt x="35442" y="921488"/>
                </a:lnTo>
                <a:cubicBezTo>
                  <a:pt x="15868" y="921488"/>
                  <a:pt x="0" y="905621"/>
                  <a:pt x="0" y="886047"/>
                </a:cubicBezTo>
                <a:lnTo>
                  <a:pt x="0" y="35442"/>
                </a:lnTo>
                <a:cubicBezTo>
                  <a:pt x="0" y="15881"/>
                  <a:pt x="15881" y="0"/>
                  <a:pt x="35442" y="0"/>
                </a:cubicBezTo>
                <a:close/>
              </a:path>
            </a:pathLst>
          </a:custGeom>
          <a:solidFill>
            <a:srgbClr val="FFFFFF"/>
          </a:solidFill>
          <a:ln/>
          <a:effectLst>
            <a:outerShdw blurRad="26581" dist="8860" dir="5400000" algn="bl" rotWithShape="0">
              <a:srgbClr val="000000">
                <a:alpha val="10196"/>
              </a:srgbClr>
            </a:outerShdw>
          </a:effectLst>
        </p:spPr>
      </p:sp>
      <p:sp>
        <p:nvSpPr>
          <p:cNvPr id="18" name="Shape 16"/>
          <p:cNvSpPr/>
          <p:nvPr/>
        </p:nvSpPr>
        <p:spPr>
          <a:xfrm>
            <a:off x="549349" y="4377070"/>
            <a:ext cx="35442" cy="921488"/>
          </a:xfrm>
          <a:custGeom>
            <a:avLst/>
            <a:gdLst/>
            <a:ahLst/>
            <a:cxnLst/>
            <a:rect l="l" t="t" r="r" b="b"/>
            <a:pathLst>
              <a:path w="35442" h="921488">
                <a:moveTo>
                  <a:pt x="35442" y="0"/>
                </a:moveTo>
                <a:lnTo>
                  <a:pt x="35442" y="0"/>
                </a:lnTo>
                <a:lnTo>
                  <a:pt x="35442" y="921488"/>
                </a:lnTo>
                <a:lnTo>
                  <a:pt x="35442" y="921488"/>
                </a:lnTo>
                <a:cubicBezTo>
                  <a:pt x="15868" y="921488"/>
                  <a:pt x="0" y="905621"/>
                  <a:pt x="0" y="886047"/>
                </a:cubicBezTo>
                <a:lnTo>
                  <a:pt x="0" y="35442"/>
                </a:lnTo>
                <a:cubicBezTo>
                  <a:pt x="0" y="15881"/>
                  <a:pt x="15881" y="0"/>
                  <a:pt x="35442" y="0"/>
                </a:cubicBezTo>
                <a:close/>
              </a:path>
            </a:pathLst>
          </a:custGeom>
          <a:solidFill>
            <a:srgbClr val="003087"/>
          </a:solidFill>
          <a:ln/>
        </p:spPr>
      </p:sp>
      <p:sp>
        <p:nvSpPr>
          <p:cNvPr id="19" name="Text 17"/>
          <p:cNvSpPr/>
          <p:nvPr/>
        </p:nvSpPr>
        <p:spPr>
          <a:xfrm>
            <a:off x="673395" y="4483395"/>
            <a:ext cx="1240465"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Cost-to-Income Ratio</a:t>
            </a:r>
            <a:endParaRPr lang="en-US" sz="1600" dirty="0"/>
          </a:p>
        </p:txBody>
      </p:sp>
      <p:sp>
        <p:nvSpPr>
          <p:cNvPr id="20" name="Shape 18"/>
          <p:cNvSpPr/>
          <p:nvPr/>
        </p:nvSpPr>
        <p:spPr>
          <a:xfrm>
            <a:off x="3444921" y="4483395"/>
            <a:ext cx="141767" cy="141767"/>
          </a:xfrm>
          <a:custGeom>
            <a:avLst/>
            <a:gdLst/>
            <a:ahLst/>
            <a:cxnLst/>
            <a:rect l="l" t="t" r="r" b="b"/>
            <a:pathLst>
              <a:path w="141767" h="141767">
                <a:moveTo>
                  <a:pt x="17721" y="17721"/>
                </a:moveTo>
                <a:cubicBezTo>
                  <a:pt x="17721" y="12820"/>
                  <a:pt x="13761" y="8860"/>
                  <a:pt x="8860" y="8860"/>
                </a:cubicBezTo>
                <a:cubicBezTo>
                  <a:pt x="3960" y="8860"/>
                  <a:pt x="0" y="12820"/>
                  <a:pt x="0" y="17721"/>
                </a:cubicBezTo>
                <a:lnTo>
                  <a:pt x="0" y="110756"/>
                </a:lnTo>
                <a:cubicBezTo>
                  <a:pt x="0" y="122994"/>
                  <a:pt x="9913" y="132907"/>
                  <a:pt x="22151" y="132907"/>
                </a:cubicBezTo>
                <a:lnTo>
                  <a:pt x="132907" y="132907"/>
                </a:lnTo>
                <a:cubicBezTo>
                  <a:pt x="137808" y="132907"/>
                  <a:pt x="141767" y="128947"/>
                  <a:pt x="141767" y="124047"/>
                </a:cubicBezTo>
                <a:cubicBezTo>
                  <a:pt x="141767" y="119146"/>
                  <a:pt x="137808" y="115186"/>
                  <a:pt x="132907" y="115186"/>
                </a:cubicBezTo>
                <a:lnTo>
                  <a:pt x="22151" y="115186"/>
                </a:lnTo>
                <a:cubicBezTo>
                  <a:pt x="19715" y="115186"/>
                  <a:pt x="17721" y="113192"/>
                  <a:pt x="17721" y="110756"/>
                </a:cubicBezTo>
                <a:lnTo>
                  <a:pt x="17721" y="17721"/>
                </a:lnTo>
                <a:close/>
                <a:moveTo>
                  <a:pt x="130304" y="41700"/>
                </a:moveTo>
                <a:cubicBezTo>
                  <a:pt x="133765" y="38238"/>
                  <a:pt x="133765" y="32618"/>
                  <a:pt x="130304" y="29156"/>
                </a:cubicBezTo>
                <a:cubicBezTo>
                  <a:pt x="126843" y="25695"/>
                  <a:pt x="121222" y="25695"/>
                  <a:pt x="117761" y="29156"/>
                </a:cubicBezTo>
                <a:lnTo>
                  <a:pt x="88605" y="58341"/>
                </a:lnTo>
                <a:lnTo>
                  <a:pt x="72711" y="42475"/>
                </a:lnTo>
                <a:cubicBezTo>
                  <a:pt x="69250" y="39014"/>
                  <a:pt x="63629" y="39014"/>
                  <a:pt x="60168" y="42475"/>
                </a:cubicBezTo>
                <a:lnTo>
                  <a:pt x="33587" y="69056"/>
                </a:lnTo>
                <a:cubicBezTo>
                  <a:pt x="30126" y="72517"/>
                  <a:pt x="30126" y="78138"/>
                  <a:pt x="33587" y="81599"/>
                </a:cubicBezTo>
                <a:cubicBezTo>
                  <a:pt x="37048" y="85060"/>
                  <a:pt x="42669" y="85060"/>
                  <a:pt x="46130" y="81599"/>
                </a:cubicBezTo>
                <a:lnTo>
                  <a:pt x="66453" y="61276"/>
                </a:lnTo>
                <a:lnTo>
                  <a:pt x="82347" y="77169"/>
                </a:lnTo>
                <a:cubicBezTo>
                  <a:pt x="85808" y="80630"/>
                  <a:pt x="91429" y="80630"/>
                  <a:pt x="94890" y="77169"/>
                </a:cubicBezTo>
                <a:lnTo>
                  <a:pt x="130332" y="41727"/>
                </a:lnTo>
                <a:close/>
              </a:path>
            </a:pathLst>
          </a:custGeom>
          <a:solidFill>
            <a:srgbClr val="FF6B00"/>
          </a:solidFill>
          <a:ln/>
        </p:spPr>
      </p:sp>
      <p:sp>
        <p:nvSpPr>
          <p:cNvPr id="21" name="Text 19"/>
          <p:cNvSpPr/>
          <p:nvPr/>
        </p:nvSpPr>
        <p:spPr>
          <a:xfrm>
            <a:off x="673395" y="4731488"/>
            <a:ext cx="3039140" cy="283535"/>
          </a:xfrm>
          <a:prstGeom prst="rect">
            <a:avLst/>
          </a:prstGeom>
          <a:noFill/>
          <a:ln/>
        </p:spPr>
        <p:txBody>
          <a:bodyPr wrap="square" lIns="0" tIns="0" rIns="0" bIns="0" rtlCol="0" anchor="ctr"/>
          <a:lstStyle/>
          <a:p>
            <a:pPr>
              <a:lnSpc>
                <a:spcPct val="110000"/>
              </a:lnSpc>
            </a:pPr>
            <a:r>
              <a:rPr lang="en-US" sz="1674" b="1" dirty="0">
                <a:solidFill>
                  <a:srgbClr val="FF6B00"/>
                </a:solidFill>
                <a:latin typeface="Quattrocento Sans" pitchFamily="34" charset="0"/>
                <a:ea typeface="Quattrocento Sans" pitchFamily="34" charset="-122"/>
                <a:cs typeface="Quattrocento Sans" pitchFamily="34" charset="-120"/>
              </a:rPr>
              <a:t>50-55%</a:t>
            </a:r>
            <a:endParaRPr lang="en-US" sz="1600" dirty="0"/>
          </a:p>
        </p:txBody>
      </p:sp>
      <p:sp>
        <p:nvSpPr>
          <p:cNvPr id="22" name="Text 20"/>
          <p:cNvSpPr/>
          <p:nvPr/>
        </p:nvSpPr>
        <p:spPr>
          <a:xfrm>
            <a:off x="673395" y="5050465"/>
            <a:ext cx="298597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From current 65%</a:t>
            </a:r>
            <a:endParaRPr lang="en-US" sz="1600" dirty="0"/>
          </a:p>
        </p:txBody>
      </p:sp>
      <p:sp>
        <p:nvSpPr>
          <p:cNvPr id="23" name="Shape 21"/>
          <p:cNvSpPr/>
          <p:nvPr/>
        </p:nvSpPr>
        <p:spPr>
          <a:xfrm>
            <a:off x="3834782" y="4377070"/>
            <a:ext cx="3163186" cy="921488"/>
          </a:xfrm>
          <a:custGeom>
            <a:avLst/>
            <a:gdLst/>
            <a:ahLst/>
            <a:cxnLst/>
            <a:rect l="l" t="t" r="r" b="b"/>
            <a:pathLst>
              <a:path w="3163186" h="921488">
                <a:moveTo>
                  <a:pt x="35442" y="0"/>
                </a:moveTo>
                <a:lnTo>
                  <a:pt x="3092305" y="0"/>
                </a:lnTo>
                <a:cubicBezTo>
                  <a:pt x="3131452" y="0"/>
                  <a:pt x="3163186" y="31734"/>
                  <a:pt x="3163186" y="70881"/>
                </a:cubicBezTo>
                <a:lnTo>
                  <a:pt x="3163186" y="850607"/>
                </a:lnTo>
                <a:cubicBezTo>
                  <a:pt x="3163186" y="889754"/>
                  <a:pt x="3131452" y="921488"/>
                  <a:pt x="3092305" y="921488"/>
                </a:cubicBezTo>
                <a:lnTo>
                  <a:pt x="35442" y="921488"/>
                </a:lnTo>
                <a:cubicBezTo>
                  <a:pt x="15868" y="921488"/>
                  <a:pt x="0" y="905621"/>
                  <a:pt x="0" y="886047"/>
                </a:cubicBezTo>
                <a:lnTo>
                  <a:pt x="0" y="35442"/>
                </a:lnTo>
                <a:cubicBezTo>
                  <a:pt x="0" y="15881"/>
                  <a:pt x="15881" y="0"/>
                  <a:pt x="35442" y="0"/>
                </a:cubicBezTo>
                <a:close/>
              </a:path>
            </a:pathLst>
          </a:custGeom>
          <a:solidFill>
            <a:srgbClr val="FFFFFF"/>
          </a:solidFill>
          <a:ln/>
          <a:effectLst>
            <a:outerShdw blurRad="26581" dist="8860" dir="5400000" algn="bl" rotWithShape="0">
              <a:srgbClr val="000000">
                <a:alpha val="10196"/>
              </a:srgbClr>
            </a:outerShdw>
          </a:effectLst>
        </p:spPr>
      </p:sp>
      <p:sp>
        <p:nvSpPr>
          <p:cNvPr id="24" name="Shape 22"/>
          <p:cNvSpPr/>
          <p:nvPr/>
        </p:nvSpPr>
        <p:spPr>
          <a:xfrm>
            <a:off x="3834782" y="4377070"/>
            <a:ext cx="35442" cy="921488"/>
          </a:xfrm>
          <a:custGeom>
            <a:avLst/>
            <a:gdLst/>
            <a:ahLst/>
            <a:cxnLst/>
            <a:rect l="l" t="t" r="r" b="b"/>
            <a:pathLst>
              <a:path w="35442" h="921488">
                <a:moveTo>
                  <a:pt x="35442" y="0"/>
                </a:moveTo>
                <a:lnTo>
                  <a:pt x="35442" y="0"/>
                </a:lnTo>
                <a:lnTo>
                  <a:pt x="35442" y="921488"/>
                </a:lnTo>
                <a:lnTo>
                  <a:pt x="35442" y="921488"/>
                </a:lnTo>
                <a:cubicBezTo>
                  <a:pt x="15868" y="921488"/>
                  <a:pt x="0" y="905621"/>
                  <a:pt x="0" y="886047"/>
                </a:cubicBezTo>
                <a:lnTo>
                  <a:pt x="0" y="35442"/>
                </a:lnTo>
                <a:cubicBezTo>
                  <a:pt x="0" y="15881"/>
                  <a:pt x="15881" y="0"/>
                  <a:pt x="35442" y="0"/>
                </a:cubicBezTo>
                <a:close/>
              </a:path>
            </a:pathLst>
          </a:custGeom>
          <a:solidFill>
            <a:srgbClr val="FF6B00"/>
          </a:solidFill>
          <a:ln/>
        </p:spPr>
      </p:sp>
      <p:sp>
        <p:nvSpPr>
          <p:cNvPr id="25" name="Text 23"/>
          <p:cNvSpPr/>
          <p:nvPr/>
        </p:nvSpPr>
        <p:spPr>
          <a:xfrm>
            <a:off x="3958828" y="4483395"/>
            <a:ext cx="930349"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Processing Time</a:t>
            </a:r>
            <a:endParaRPr lang="en-US" sz="1600" dirty="0"/>
          </a:p>
        </p:txBody>
      </p:sp>
      <p:sp>
        <p:nvSpPr>
          <p:cNvPr id="26" name="Shape 24"/>
          <p:cNvSpPr/>
          <p:nvPr/>
        </p:nvSpPr>
        <p:spPr>
          <a:xfrm>
            <a:off x="6730354" y="4483395"/>
            <a:ext cx="141767" cy="141767"/>
          </a:xfrm>
          <a:custGeom>
            <a:avLst/>
            <a:gdLst/>
            <a:ahLst/>
            <a:cxnLst/>
            <a:rect l="l" t="t" r="r" b="b"/>
            <a:pathLst>
              <a:path w="141767" h="141767">
                <a:moveTo>
                  <a:pt x="70884" y="0"/>
                </a:moveTo>
                <a:cubicBezTo>
                  <a:pt x="110006" y="0"/>
                  <a:pt x="141767" y="31762"/>
                  <a:pt x="141767" y="70884"/>
                </a:cubicBezTo>
                <a:cubicBezTo>
                  <a:pt x="141767" y="110006"/>
                  <a:pt x="110006" y="141767"/>
                  <a:pt x="70884" y="141767"/>
                </a:cubicBezTo>
                <a:cubicBezTo>
                  <a:pt x="31762" y="141767"/>
                  <a:pt x="0" y="110006"/>
                  <a:pt x="0" y="70884"/>
                </a:cubicBezTo>
                <a:cubicBezTo>
                  <a:pt x="0" y="31762"/>
                  <a:pt x="31762" y="0"/>
                  <a:pt x="70884" y="0"/>
                </a:cubicBezTo>
                <a:close/>
                <a:moveTo>
                  <a:pt x="64238" y="33227"/>
                </a:moveTo>
                <a:lnTo>
                  <a:pt x="64238" y="70884"/>
                </a:lnTo>
                <a:cubicBezTo>
                  <a:pt x="64238" y="73099"/>
                  <a:pt x="65346" y="75176"/>
                  <a:pt x="67201" y="76422"/>
                </a:cubicBezTo>
                <a:lnTo>
                  <a:pt x="93782" y="94142"/>
                </a:lnTo>
                <a:cubicBezTo>
                  <a:pt x="96828" y="96191"/>
                  <a:pt x="100954" y="95361"/>
                  <a:pt x="103003" y="92287"/>
                </a:cubicBezTo>
                <a:cubicBezTo>
                  <a:pt x="105052" y="89214"/>
                  <a:pt x="104221" y="85116"/>
                  <a:pt x="101148" y="83067"/>
                </a:cubicBezTo>
                <a:lnTo>
                  <a:pt x="77529" y="67340"/>
                </a:lnTo>
                <a:lnTo>
                  <a:pt x="77529" y="33227"/>
                </a:lnTo>
                <a:cubicBezTo>
                  <a:pt x="77529" y="29544"/>
                  <a:pt x="74566" y="26581"/>
                  <a:pt x="70884" y="26581"/>
                </a:cubicBezTo>
                <a:cubicBezTo>
                  <a:pt x="67201" y="26581"/>
                  <a:pt x="64238" y="29544"/>
                  <a:pt x="64238" y="33227"/>
                </a:cubicBezTo>
                <a:close/>
              </a:path>
            </a:pathLst>
          </a:custGeom>
          <a:solidFill>
            <a:srgbClr val="FF6B00"/>
          </a:solidFill>
          <a:ln/>
        </p:spPr>
      </p:sp>
      <p:sp>
        <p:nvSpPr>
          <p:cNvPr id="27" name="Text 25"/>
          <p:cNvSpPr/>
          <p:nvPr/>
        </p:nvSpPr>
        <p:spPr>
          <a:xfrm>
            <a:off x="3958828" y="4731488"/>
            <a:ext cx="3039140" cy="283535"/>
          </a:xfrm>
          <a:prstGeom prst="rect">
            <a:avLst/>
          </a:prstGeom>
          <a:noFill/>
          <a:ln/>
        </p:spPr>
        <p:txBody>
          <a:bodyPr wrap="square" lIns="0" tIns="0" rIns="0" bIns="0" rtlCol="0" anchor="ctr"/>
          <a:lstStyle/>
          <a:p>
            <a:pPr>
              <a:lnSpc>
                <a:spcPct val="110000"/>
              </a:lnSpc>
            </a:pPr>
            <a:r>
              <a:rPr lang="en-US" sz="1674" b="1" dirty="0">
                <a:solidFill>
                  <a:srgbClr val="FF6B00"/>
                </a:solidFill>
                <a:latin typeface="Quattrocento Sans" pitchFamily="34" charset="0"/>
                <a:ea typeface="Quattrocento Sans" pitchFamily="34" charset="-122"/>
                <a:cs typeface="Quattrocento Sans" pitchFamily="34" charset="-120"/>
              </a:rPr>
              <a:t>-50%</a:t>
            </a:r>
            <a:endParaRPr lang="en-US" sz="1600" dirty="0"/>
          </a:p>
        </p:txBody>
      </p:sp>
      <p:sp>
        <p:nvSpPr>
          <p:cNvPr id="28" name="Text 26"/>
          <p:cNvSpPr/>
          <p:nvPr/>
        </p:nvSpPr>
        <p:spPr>
          <a:xfrm>
            <a:off x="3958828" y="5050465"/>
            <a:ext cx="298597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Across key processes</a:t>
            </a:r>
            <a:endParaRPr lang="en-US" sz="1600" dirty="0"/>
          </a:p>
        </p:txBody>
      </p:sp>
      <p:sp>
        <p:nvSpPr>
          <p:cNvPr id="29" name="Shape 27"/>
          <p:cNvSpPr/>
          <p:nvPr/>
        </p:nvSpPr>
        <p:spPr>
          <a:xfrm>
            <a:off x="549349" y="5404884"/>
            <a:ext cx="3163186" cy="921488"/>
          </a:xfrm>
          <a:custGeom>
            <a:avLst/>
            <a:gdLst/>
            <a:ahLst/>
            <a:cxnLst/>
            <a:rect l="l" t="t" r="r" b="b"/>
            <a:pathLst>
              <a:path w="3163186" h="921488">
                <a:moveTo>
                  <a:pt x="35442" y="0"/>
                </a:moveTo>
                <a:lnTo>
                  <a:pt x="3092305" y="0"/>
                </a:lnTo>
                <a:cubicBezTo>
                  <a:pt x="3131452" y="0"/>
                  <a:pt x="3163186" y="31734"/>
                  <a:pt x="3163186" y="70881"/>
                </a:cubicBezTo>
                <a:lnTo>
                  <a:pt x="3163186" y="850607"/>
                </a:lnTo>
                <a:cubicBezTo>
                  <a:pt x="3163186" y="889754"/>
                  <a:pt x="3131452" y="921488"/>
                  <a:pt x="3092305" y="921488"/>
                </a:cubicBezTo>
                <a:lnTo>
                  <a:pt x="35442" y="921488"/>
                </a:lnTo>
                <a:cubicBezTo>
                  <a:pt x="15868" y="921488"/>
                  <a:pt x="0" y="905621"/>
                  <a:pt x="0" y="886047"/>
                </a:cubicBezTo>
                <a:lnTo>
                  <a:pt x="0" y="35442"/>
                </a:lnTo>
                <a:cubicBezTo>
                  <a:pt x="0" y="15881"/>
                  <a:pt x="15881" y="0"/>
                  <a:pt x="35442" y="0"/>
                </a:cubicBezTo>
                <a:close/>
              </a:path>
            </a:pathLst>
          </a:custGeom>
          <a:solidFill>
            <a:srgbClr val="FFFFFF"/>
          </a:solidFill>
          <a:ln/>
          <a:effectLst>
            <a:outerShdw blurRad="26581" dist="8860" dir="5400000" algn="bl" rotWithShape="0">
              <a:srgbClr val="000000">
                <a:alpha val="10196"/>
              </a:srgbClr>
            </a:outerShdw>
          </a:effectLst>
        </p:spPr>
      </p:sp>
      <p:sp>
        <p:nvSpPr>
          <p:cNvPr id="30" name="Shape 28"/>
          <p:cNvSpPr/>
          <p:nvPr/>
        </p:nvSpPr>
        <p:spPr>
          <a:xfrm>
            <a:off x="549349" y="5404884"/>
            <a:ext cx="35442" cy="921488"/>
          </a:xfrm>
          <a:custGeom>
            <a:avLst/>
            <a:gdLst/>
            <a:ahLst/>
            <a:cxnLst/>
            <a:rect l="l" t="t" r="r" b="b"/>
            <a:pathLst>
              <a:path w="35442" h="921488">
                <a:moveTo>
                  <a:pt x="35442" y="0"/>
                </a:moveTo>
                <a:lnTo>
                  <a:pt x="35442" y="0"/>
                </a:lnTo>
                <a:lnTo>
                  <a:pt x="35442" y="921488"/>
                </a:lnTo>
                <a:lnTo>
                  <a:pt x="35442" y="921488"/>
                </a:lnTo>
                <a:cubicBezTo>
                  <a:pt x="15868" y="921488"/>
                  <a:pt x="0" y="905621"/>
                  <a:pt x="0" y="886047"/>
                </a:cubicBezTo>
                <a:lnTo>
                  <a:pt x="0" y="35442"/>
                </a:lnTo>
                <a:cubicBezTo>
                  <a:pt x="0" y="15881"/>
                  <a:pt x="15881" y="0"/>
                  <a:pt x="35442" y="0"/>
                </a:cubicBezTo>
                <a:close/>
              </a:path>
            </a:pathLst>
          </a:custGeom>
          <a:solidFill>
            <a:srgbClr val="003087"/>
          </a:solidFill>
          <a:ln/>
        </p:spPr>
      </p:sp>
      <p:sp>
        <p:nvSpPr>
          <p:cNvPr id="31" name="Text 29"/>
          <p:cNvSpPr/>
          <p:nvPr/>
        </p:nvSpPr>
        <p:spPr>
          <a:xfrm>
            <a:off x="673395" y="5511209"/>
            <a:ext cx="602512"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Error Rate</a:t>
            </a:r>
            <a:endParaRPr lang="en-US" sz="1600" dirty="0"/>
          </a:p>
        </p:txBody>
      </p:sp>
      <p:sp>
        <p:nvSpPr>
          <p:cNvPr id="32" name="Shape 30"/>
          <p:cNvSpPr/>
          <p:nvPr/>
        </p:nvSpPr>
        <p:spPr>
          <a:xfrm>
            <a:off x="3444921" y="5511209"/>
            <a:ext cx="141767" cy="141767"/>
          </a:xfrm>
          <a:custGeom>
            <a:avLst/>
            <a:gdLst/>
            <a:ahLst/>
            <a:cxnLst/>
            <a:rect l="l" t="t" r="r" b="b"/>
            <a:pathLst>
              <a:path w="141767" h="141767">
                <a:moveTo>
                  <a:pt x="70884" y="141767"/>
                </a:moveTo>
                <a:cubicBezTo>
                  <a:pt x="110006" y="141767"/>
                  <a:pt x="141767" y="110006"/>
                  <a:pt x="141767" y="70884"/>
                </a:cubicBezTo>
                <a:cubicBezTo>
                  <a:pt x="141767" y="31762"/>
                  <a:pt x="110006" y="0"/>
                  <a:pt x="70884" y="0"/>
                </a:cubicBezTo>
                <a:cubicBezTo>
                  <a:pt x="31762" y="0"/>
                  <a:pt x="0" y="31762"/>
                  <a:pt x="0" y="70884"/>
                </a:cubicBezTo>
                <a:cubicBezTo>
                  <a:pt x="0" y="110006"/>
                  <a:pt x="31762" y="141767"/>
                  <a:pt x="70884" y="141767"/>
                </a:cubicBezTo>
                <a:close/>
                <a:moveTo>
                  <a:pt x="70884" y="37657"/>
                </a:moveTo>
                <a:cubicBezTo>
                  <a:pt x="74566" y="37657"/>
                  <a:pt x="77529" y="40620"/>
                  <a:pt x="77529" y="44302"/>
                </a:cubicBezTo>
                <a:lnTo>
                  <a:pt x="77529" y="75314"/>
                </a:lnTo>
                <a:cubicBezTo>
                  <a:pt x="77529" y="78997"/>
                  <a:pt x="74566" y="81959"/>
                  <a:pt x="70884" y="81959"/>
                </a:cubicBezTo>
                <a:cubicBezTo>
                  <a:pt x="67201" y="81959"/>
                  <a:pt x="64238" y="78997"/>
                  <a:pt x="64238" y="75314"/>
                </a:cubicBezTo>
                <a:lnTo>
                  <a:pt x="64238" y="44302"/>
                </a:lnTo>
                <a:cubicBezTo>
                  <a:pt x="64238" y="40620"/>
                  <a:pt x="67201" y="37657"/>
                  <a:pt x="70884" y="37657"/>
                </a:cubicBezTo>
                <a:close/>
                <a:moveTo>
                  <a:pt x="63491" y="97465"/>
                </a:moveTo>
                <a:cubicBezTo>
                  <a:pt x="63323" y="94721"/>
                  <a:pt x="64691" y="92110"/>
                  <a:pt x="67044" y="90687"/>
                </a:cubicBezTo>
                <a:cubicBezTo>
                  <a:pt x="69396" y="89264"/>
                  <a:pt x="72344" y="89264"/>
                  <a:pt x="74696" y="90687"/>
                </a:cubicBezTo>
                <a:cubicBezTo>
                  <a:pt x="77049" y="92110"/>
                  <a:pt x="78417" y="94721"/>
                  <a:pt x="78249" y="97465"/>
                </a:cubicBezTo>
                <a:cubicBezTo>
                  <a:pt x="78417" y="100209"/>
                  <a:pt x="77049" y="102820"/>
                  <a:pt x="74696" y="104243"/>
                </a:cubicBezTo>
                <a:cubicBezTo>
                  <a:pt x="72344" y="105666"/>
                  <a:pt x="69396" y="105666"/>
                  <a:pt x="67044" y="104243"/>
                </a:cubicBezTo>
                <a:cubicBezTo>
                  <a:pt x="64691" y="102820"/>
                  <a:pt x="63323" y="100209"/>
                  <a:pt x="63491" y="97465"/>
                </a:cubicBezTo>
                <a:close/>
              </a:path>
            </a:pathLst>
          </a:custGeom>
          <a:solidFill>
            <a:srgbClr val="FF6B00"/>
          </a:solidFill>
          <a:ln/>
        </p:spPr>
      </p:sp>
      <p:sp>
        <p:nvSpPr>
          <p:cNvPr id="33" name="Text 31"/>
          <p:cNvSpPr/>
          <p:nvPr/>
        </p:nvSpPr>
        <p:spPr>
          <a:xfrm>
            <a:off x="673395" y="5759302"/>
            <a:ext cx="3039140" cy="283535"/>
          </a:xfrm>
          <a:prstGeom prst="rect">
            <a:avLst/>
          </a:prstGeom>
          <a:noFill/>
          <a:ln/>
        </p:spPr>
        <p:txBody>
          <a:bodyPr wrap="square" lIns="0" tIns="0" rIns="0" bIns="0" rtlCol="0" anchor="ctr"/>
          <a:lstStyle/>
          <a:p>
            <a:pPr>
              <a:lnSpc>
                <a:spcPct val="110000"/>
              </a:lnSpc>
            </a:pPr>
            <a:r>
              <a:rPr lang="en-US" sz="1674" b="1" dirty="0">
                <a:solidFill>
                  <a:srgbClr val="FF6B00"/>
                </a:solidFill>
                <a:latin typeface="Quattrocento Sans" pitchFamily="34" charset="0"/>
                <a:ea typeface="Quattrocento Sans" pitchFamily="34" charset="-122"/>
                <a:cs typeface="Quattrocento Sans" pitchFamily="34" charset="-120"/>
              </a:rPr>
              <a:t>-60%</a:t>
            </a:r>
            <a:endParaRPr lang="en-US" sz="1600" dirty="0"/>
          </a:p>
        </p:txBody>
      </p:sp>
      <p:sp>
        <p:nvSpPr>
          <p:cNvPr id="34" name="Text 32"/>
          <p:cNvSpPr/>
          <p:nvPr/>
        </p:nvSpPr>
        <p:spPr>
          <a:xfrm>
            <a:off x="673395" y="6078279"/>
            <a:ext cx="298597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Through automation</a:t>
            </a:r>
            <a:endParaRPr lang="en-US" sz="1600" dirty="0"/>
          </a:p>
        </p:txBody>
      </p:sp>
      <p:sp>
        <p:nvSpPr>
          <p:cNvPr id="35" name="Shape 33"/>
          <p:cNvSpPr/>
          <p:nvPr/>
        </p:nvSpPr>
        <p:spPr>
          <a:xfrm>
            <a:off x="3834782" y="5404884"/>
            <a:ext cx="3163186" cy="921488"/>
          </a:xfrm>
          <a:custGeom>
            <a:avLst/>
            <a:gdLst/>
            <a:ahLst/>
            <a:cxnLst/>
            <a:rect l="l" t="t" r="r" b="b"/>
            <a:pathLst>
              <a:path w="3163186" h="921488">
                <a:moveTo>
                  <a:pt x="35442" y="0"/>
                </a:moveTo>
                <a:lnTo>
                  <a:pt x="3092305" y="0"/>
                </a:lnTo>
                <a:cubicBezTo>
                  <a:pt x="3131452" y="0"/>
                  <a:pt x="3163186" y="31734"/>
                  <a:pt x="3163186" y="70881"/>
                </a:cubicBezTo>
                <a:lnTo>
                  <a:pt x="3163186" y="850607"/>
                </a:lnTo>
                <a:cubicBezTo>
                  <a:pt x="3163186" y="889754"/>
                  <a:pt x="3131452" y="921488"/>
                  <a:pt x="3092305" y="921488"/>
                </a:cubicBezTo>
                <a:lnTo>
                  <a:pt x="35442" y="921488"/>
                </a:lnTo>
                <a:cubicBezTo>
                  <a:pt x="15868" y="921488"/>
                  <a:pt x="0" y="905621"/>
                  <a:pt x="0" y="886047"/>
                </a:cubicBezTo>
                <a:lnTo>
                  <a:pt x="0" y="35442"/>
                </a:lnTo>
                <a:cubicBezTo>
                  <a:pt x="0" y="15881"/>
                  <a:pt x="15881" y="0"/>
                  <a:pt x="35442" y="0"/>
                </a:cubicBezTo>
                <a:close/>
              </a:path>
            </a:pathLst>
          </a:custGeom>
          <a:solidFill>
            <a:srgbClr val="FFFFFF"/>
          </a:solidFill>
          <a:ln/>
          <a:effectLst>
            <a:outerShdw blurRad="26581" dist="8860" dir="5400000" algn="bl" rotWithShape="0">
              <a:srgbClr val="000000">
                <a:alpha val="10196"/>
              </a:srgbClr>
            </a:outerShdw>
          </a:effectLst>
        </p:spPr>
      </p:sp>
      <p:sp>
        <p:nvSpPr>
          <p:cNvPr id="36" name="Shape 34"/>
          <p:cNvSpPr/>
          <p:nvPr/>
        </p:nvSpPr>
        <p:spPr>
          <a:xfrm>
            <a:off x="3834782" y="5404884"/>
            <a:ext cx="35442" cy="921488"/>
          </a:xfrm>
          <a:custGeom>
            <a:avLst/>
            <a:gdLst/>
            <a:ahLst/>
            <a:cxnLst/>
            <a:rect l="l" t="t" r="r" b="b"/>
            <a:pathLst>
              <a:path w="35442" h="921488">
                <a:moveTo>
                  <a:pt x="35442" y="0"/>
                </a:moveTo>
                <a:lnTo>
                  <a:pt x="35442" y="0"/>
                </a:lnTo>
                <a:lnTo>
                  <a:pt x="35442" y="921488"/>
                </a:lnTo>
                <a:lnTo>
                  <a:pt x="35442" y="921488"/>
                </a:lnTo>
                <a:cubicBezTo>
                  <a:pt x="15868" y="921488"/>
                  <a:pt x="0" y="905621"/>
                  <a:pt x="0" y="886047"/>
                </a:cubicBezTo>
                <a:lnTo>
                  <a:pt x="0" y="35442"/>
                </a:lnTo>
                <a:cubicBezTo>
                  <a:pt x="0" y="15881"/>
                  <a:pt x="15881" y="0"/>
                  <a:pt x="35442" y="0"/>
                </a:cubicBezTo>
                <a:close/>
              </a:path>
            </a:pathLst>
          </a:custGeom>
          <a:solidFill>
            <a:srgbClr val="FF6B00"/>
          </a:solidFill>
          <a:ln/>
        </p:spPr>
      </p:sp>
      <p:sp>
        <p:nvSpPr>
          <p:cNvPr id="37" name="Text 35"/>
          <p:cNvSpPr/>
          <p:nvPr/>
        </p:nvSpPr>
        <p:spPr>
          <a:xfrm>
            <a:off x="3958828" y="5511209"/>
            <a:ext cx="841744"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Customer NPS</a:t>
            </a:r>
            <a:endParaRPr lang="en-US" sz="1600" dirty="0"/>
          </a:p>
        </p:txBody>
      </p:sp>
      <p:sp>
        <p:nvSpPr>
          <p:cNvPr id="38" name="Shape 36"/>
          <p:cNvSpPr/>
          <p:nvPr/>
        </p:nvSpPr>
        <p:spPr>
          <a:xfrm>
            <a:off x="6730354" y="5511209"/>
            <a:ext cx="141767" cy="141767"/>
          </a:xfrm>
          <a:custGeom>
            <a:avLst/>
            <a:gdLst/>
            <a:ahLst/>
            <a:cxnLst/>
            <a:rect l="l" t="t" r="r" b="b"/>
            <a:pathLst>
              <a:path w="141767" h="141767">
                <a:moveTo>
                  <a:pt x="70884" y="141767"/>
                </a:moveTo>
                <a:cubicBezTo>
                  <a:pt x="110006" y="141767"/>
                  <a:pt x="141767" y="110006"/>
                  <a:pt x="141767" y="70884"/>
                </a:cubicBezTo>
                <a:cubicBezTo>
                  <a:pt x="141767" y="31762"/>
                  <a:pt x="110006" y="0"/>
                  <a:pt x="70884" y="0"/>
                </a:cubicBezTo>
                <a:cubicBezTo>
                  <a:pt x="31762" y="0"/>
                  <a:pt x="0" y="31762"/>
                  <a:pt x="0" y="70884"/>
                </a:cubicBezTo>
                <a:cubicBezTo>
                  <a:pt x="0" y="110006"/>
                  <a:pt x="31762" y="141767"/>
                  <a:pt x="70884" y="141767"/>
                </a:cubicBezTo>
                <a:close/>
                <a:moveTo>
                  <a:pt x="45798" y="89131"/>
                </a:moveTo>
                <a:cubicBezTo>
                  <a:pt x="51446" y="96884"/>
                  <a:pt x="60583" y="101895"/>
                  <a:pt x="70884" y="101895"/>
                </a:cubicBezTo>
                <a:cubicBezTo>
                  <a:pt x="81184" y="101895"/>
                  <a:pt x="90321" y="96884"/>
                  <a:pt x="95970" y="89131"/>
                </a:cubicBezTo>
                <a:cubicBezTo>
                  <a:pt x="98130" y="86168"/>
                  <a:pt x="102283" y="85503"/>
                  <a:pt x="105246" y="87663"/>
                </a:cubicBezTo>
                <a:cubicBezTo>
                  <a:pt x="108208" y="89823"/>
                  <a:pt x="108873" y="93976"/>
                  <a:pt x="106713" y="96939"/>
                </a:cubicBezTo>
                <a:cubicBezTo>
                  <a:pt x="98656" y="107987"/>
                  <a:pt x="85614" y="115186"/>
                  <a:pt x="70884" y="115186"/>
                </a:cubicBezTo>
                <a:cubicBezTo>
                  <a:pt x="56153" y="115186"/>
                  <a:pt x="43112" y="107987"/>
                  <a:pt x="35054" y="96939"/>
                </a:cubicBezTo>
                <a:cubicBezTo>
                  <a:pt x="32894" y="93976"/>
                  <a:pt x="33559" y="89823"/>
                  <a:pt x="36522" y="87663"/>
                </a:cubicBezTo>
                <a:cubicBezTo>
                  <a:pt x="39484" y="85503"/>
                  <a:pt x="43638" y="86168"/>
                  <a:pt x="45798" y="89131"/>
                </a:cubicBezTo>
                <a:close/>
                <a:moveTo>
                  <a:pt x="39872" y="57593"/>
                </a:moveTo>
                <a:cubicBezTo>
                  <a:pt x="39872" y="52703"/>
                  <a:pt x="43842" y="48733"/>
                  <a:pt x="48733" y="48733"/>
                </a:cubicBezTo>
                <a:cubicBezTo>
                  <a:pt x="53623" y="48733"/>
                  <a:pt x="57593" y="52703"/>
                  <a:pt x="57593" y="57593"/>
                </a:cubicBezTo>
                <a:cubicBezTo>
                  <a:pt x="57593" y="62483"/>
                  <a:pt x="53623" y="66453"/>
                  <a:pt x="48733" y="66453"/>
                </a:cubicBezTo>
                <a:cubicBezTo>
                  <a:pt x="43842" y="66453"/>
                  <a:pt x="39872" y="62483"/>
                  <a:pt x="39872" y="57593"/>
                </a:cubicBezTo>
                <a:close/>
                <a:moveTo>
                  <a:pt x="93035" y="48733"/>
                </a:moveTo>
                <a:cubicBezTo>
                  <a:pt x="97925" y="48733"/>
                  <a:pt x="101895" y="52703"/>
                  <a:pt x="101895" y="57593"/>
                </a:cubicBezTo>
                <a:cubicBezTo>
                  <a:pt x="101895" y="62483"/>
                  <a:pt x="97925" y="66453"/>
                  <a:pt x="93035" y="66453"/>
                </a:cubicBezTo>
                <a:cubicBezTo>
                  <a:pt x="88145" y="66453"/>
                  <a:pt x="84174" y="62483"/>
                  <a:pt x="84174" y="57593"/>
                </a:cubicBezTo>
                <a:cubicBezTo>
                  <a:pt x="84174" y="52703"/>
                  <a:pt x="88145" y="48733"/>
                  <a:pt x="93035" y="48733"/>
                </a:cubicBezTo>
                <a:close/>
              </a:path>
            </a:pathLst>
          </a:custGeom>
          <a:solidFill>
            <a:srgbClr val="FF6B00"/>
          </a:solidFill>
          <a:ln/>
        </p:spPr>
      </p:sp>
      <p:sp>
        <p:nvSpPr>
          <p:cNvPr id="39" name="Text 37"/>
          <p:cNvSpPr/>
          <p:nvPr/>
        </p:nvSpPr>
        <p:spPr>
          <a:xfrm>
            <a:off x="3958828" y="5759302"/>
            <a:ext cx="3039140" cy="283535"/>
          </a:xfrm>
          <a:prstGeom prst="rect">
            <a:avLst/>
          </a:prstGeom>
          <a:noFill/>
          <a:ln/>
        </p:spPr>
        <p:txBody>
          <a:bodyPr wrap="square" lIns="0" tIns="0" rIns="0" bIns="0" rtlCol="0" anchor="ctr"/>
          <a:lstStyle/>
          <a:p>
            <a:pPr>
              <a:lnSpc>
                <a:spcPct val="110000"/>
              </a:lnSpc>
            </a:pPr>
            <a:r>
              <a:rPr lang="en-US" sz="1674" b="1" dirty="0">
                <a:solidFill>
                  <a:srgbClr val="FF6B00"/>
                </a:solidFill>
                <a:latin typeface="Quattrocento Sans" pitchFamily="34" charset="0"/>
                <a:ea typeface="Quattrocento Sans" pitchFamily="34" charset="-122"/>
                <a:cs typeface="Quattrocento Sans" pitchFamily="34" charset="-120"/>
              </a:rPr>
              <a:t>+13 pts</a:t>
            </a:r>
            <a:endParaRPr lang="en-US" sz="1600" dirty="0"/>
          </a:p>
        </p:txBody>
      </p:sp>
      <p:sp>
        <p:nvSpPr>
          <p:cNvPr id="40" name="Text 38"/>
          <p:cNvSpPr/>
          <p:nvPr/>
        </p:nvSpPr>
        <p:spPr>
          <a:xfrm>
            <a:off x="3958828" y="6078279"/>
            <a:ext cx="298597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Target: 85 score</a:t>
            </a:r>
            <a:endParaRPr lang="en-US" sz="1600" dirty="0"/>
          </a:p>
        </p:txBody>
      </p:sp>
      <p:sp>
        <p:nvSpPr>
          <p:cNvPr id="41" name="Shape 39"/>
          <p:cNvSpPr/>
          <p:nvPr/>
        </p:nvSpPr>
        <p:spPr>
          <a:xfrm>
            <a:off x="7368307" y="1275907"/>
            <a:ext cx="4465674" cy="2445488"/>
          </a:xfrm>
          <a:custGeom>
            <a:avLst/>
            <a:gdLst/>
            <a:ahLst/>
            <a:cxnLst/>
            <a:rect l="l" t="t" r="r" b="b"/>
            <a:pathLst>
              <a:path w="4465674" h="2445488">
                <a:moveTo>
                  <a:pt x="35442" y="0"/>
                </a:moveTo>
                <a:lnTo>
                  <a:pt x="4359345" y="0"/>
                </a:lnTo>
                <a:cubicBezTo>
                  <a:pt x="4418069" y="0"/>
                  <a:pt x="4465674" y="47605"/>
                  <a:pt x="4465674" y="106330"/>
                </a:cubicBezTo>
                <a:lnTo>
                  <a:pt x="4465674" y="2339159"/>
                </a:lnTo>
                <a:cubicBezTo>
                  <a:pt x="4465674" y="2397883"/>
                  <a:pt x="4418069" y="2445488"/>
                  <a:pt x="4359345" y="2445488"/>
                </a:cubicBezTo>
                <a:lnTo>
                  <a:pt x="35442" y="2445488"/>
                </a:lnTo>
                <a:cubicBezTo>
                  <a:pt x="15868" y="2445488"/>
                  <a:pt x="0" y="2429621"/>
                  <a:pt x="0" y="2410047"/>
                </a:cubicBezTo>
                <a:lnTo>
                  <a:pt x="0" y="35442"/>
                </a:lnTo>
                <a:cubicBezTo>
                  <a:pt x="0" y="15881"/>
                  <a:pt x="15881" y="0"/>
                  <a:pt x="35442" y="0"/>
                </a:cubicBezTo>
                <a:close/>
              </a:path>
            </a:pathLst>
          </a:custGeom>
          <a:solidFill>
            <a:srgbClr val="FF6B00">
              <a:alpha val="10196"/>
            </a:srgbClr>
          </a:solidFill>
          <a:ln/>
        </p:spPr>
      </p:sp>
      <p:sp>
        <p:nvSpPr>
          <p:cNvPr id="42" name="Shape 40"/>
          <p:cNvSpPr/>
          <p:nvPr/>
        </p:nvSpPr>
        <p:spPr>
          <a:xfrm>
            <a:off x="7368307" y="1275907"/>
            <a:ext cx="35442" cy="2445488"/>
          </a:xfrm>
          <a:custGeom>
            <a:avLst/>
            <a:gdLst/>
            <a:ahLst/>
            <a:cxnLst/>
            <a:rect l="l" t="t" r="r" b="b"/>
            <a:pathLst>
              <a:path w="35442" h="2445488">
                <a:moveTo>
                  <a:pt x="35442" y="0"/>
                </a:moveTo>
                <a:lnTo>
                  <a:pt x="35442" y="0"/>
                </a:lnTo>
                <a:lnTo>
                  <a:pt x="35442" y="2445488"/>
                </a:lnTo>
                <a:lnTo>
                  <a:pt x="35442" y="2445488"/>
                </a:lnTo>
                <a:cubicBezTo>
                  <a:pt x="15868" y="2445488"/>
                  <a:pt x="0" y="2429621"/>
                  <a:pt x="0" y="2410047"/>
                </a:cubicBezTo>
                <a:lnTo>
                  <a:pt x="0" y="35442"/>
                </a:lnTo>
                <a:cubicBezTo>
                  <a:pt x="0" y="15881"/>
                  <a:pt x="15881" y="0"/>
                  <a:pt x="35442" y="0"/>
                </a:cubicBezTo>
                <a:close/>
              </a:path>
            </a:pathLst>
          </a:custGeom>
          <a:solidFill>
            <a:srgbClr val="FF6B00"/>
          </a:solidFill>
          <a:ln/>
        </p:spPr>
      </p:sp>
      <p:sp>
        <p:nvSpPr>
          <p:cNvPr id="43" name="Text 41"/>
          <p:cNvSpPr/>
          <p:nvPr/>
        </p:nvSpPr>
        <p:spPr>
          <a:xfrm>
            <a:off x="7563238" y="1453116"/>
            <a:ext cx="4173279" cy="248093"/>
          </a:xfrm>
          <a:prstGeom prst="rect">
            <a:avLst/>
          </a:prstGeom>
          <a:noFill/>
          <a:ln/>
        </p:spPr>
        <p:txBody>
          <a:bodyPr wrap="square" lIns="0" tIns="0" rIns="0" bIns="0" rtlCol="0" anchor="ctr"/>
          <a:lstStyle/>
          <a:p>
            <a:pPr>
              <a:lnSpc>
                <a:spcPct val="130000"/>
              </a:lnSpc>
            </a:pPr>
            <a:r>
              <a:rPr lang="en-US" sz="1256" b="1" dirty="0">
                <a:solidFill>
                  <a:srgbClr val="003087"/>
                </a:solidFill>
                <a:latin typeface="Liter" pitchFamily="34" charset="0"/>
                <a:ea typeface="Liter" pitchFamily="34" charset="-122"/>
                <a:cs typeface="Liter" pitchFamily="34" charset="-120"/>
              </a:rPr>
              <a:t>Balanced Scorecard Approach</a:t>
            </a:r>
            <a:endParaRPr lang="en-US" sz="1600" dirty="0"/>
          </a:p>
        </p:txBody>
      </p:sp>
      <p:sp>
        <p:nvSpPr>
          <p:cNvPr id="44" name="Shape 42"/>
          <p:cNvSpPr/>
          <p:nvPr/>
        </p:nvSpPr>
        <p:spPr>
          <a:xfrm>
            <a:off x="7563238" y="1807535"/>
            <a:ext cx="354419" cy="354419"/>
          </a:xfrm>
          <a:custGeom>
            <a:avLst/>
            <a:gdLst/>
            <a:ahLst/>
            <a:cxnLst/>
            <a:rect l="l" t="t" r="r" b="b"/>
            <a:pathLst>
              <a:path w="354419" h="354419">
                <a:moveTo>
                  <a:pt x="177209" y="0"/>
                </a:moveTo>
                <a:lnTo>
                  <a:pt x="177209" y="0"/>
                </a:lnTo>
                <a:cubicBezTo>
                  <a:pt x="275014" y="0"/>
                  <a:pt x="354419" y="79405"/>
                  <a:pt x="354419" y="177209"/>
                </a:cubicBezTo>
                <a:lnTo>
                  <a:pt x="354419" y="177209"/>
                </a:lnTo>
                <a:cubicBezTo>
                  <a:pt x="354419" y="275014"/>
                  <a:pt x="275014" y="354419"/>
                  <a:pt x="177209" y="354419"/>
                </a:cubicBezTo>
                <a:lnTo>
                  <a:pt x="177209" y="354419"/>
                </a:lnTo>
                <a:cubicBezTo>
                  <a:pt x="79405" y="354419"/>
                  <a:pt x="0" y="275014"/>
                  <a:pt x="0" y="177209"/>
                </a:cubicBezTo>
                <a:lnTo>
                  <a:pt x="0" y="177209"/>
                </a:lnTo>
                <a:cubicBezTo>
                  <a:pt x="0" y="79405"/>
                  <a:pt x="79405" y="0"/>
                  <a:pt x="177209" y="0"/>
                </a:cubicBezTo>
                <a:close/>
              </a:path>
            </a:pathLst>
          </a:custGeom>
          <a:solidFill>
            <a:srgbClr val="003087"/>
          </a:solidFill>
          <a:ln/>
        </p:spPr>
      </p:sp>
      <p:sp>
        <p:nvSpPr>
          <p:cNvPr id="45" name="Shape 43"/>
          <p:cNvSpPr/>
          <p:nvPr/>
        </p:nvSpPr>
        <p:spPr>
          <a:xfrm>
            <a:off x="7703898" y="1922721"/>
            <a:ext cx="77529" cy="124047"/>
          </a:xfrm>
          <a:custGeom>
            <a:avLst/>
            <a:gdLst/>
            <a:ahLst/>
            <a:cxnLst/>
            <a:rect l="l" t="t" r="r" b="b"/>
            <a:pathLst>
              <a:path w="77529" h="124047">
                <a:moveTo>
                  <a:pt x="32950" y="5815"/>
                </a:moveTo>
                <a:cubicBezTo>
                  <a:pt x="32950" y="2592"/>
                  <a:pt x="35542" y="0"/>
                  <a:pt x="38765" y="0"/>
                </a:cubicBezTo>
                <a:cubicBezTo>
                  <a:pt x="41987" y="0"/>
                  <a:pt x="44579" y="2592"/>
                  <a:pt x="44579" y="5815"/>
                </a:cubicBezTo>
                <a:lnTo>
                  <a:pt x="44579" y="15506"/>
                </a:lnTo>
                <a:lnTo>
                  <a:pt x="58147" y="15506"/>
                </a:lnTo>
                <a:cubicBezTo>
                  <a:pt x="62435" y="15506"/>
                  <a:pt x="65900" y="18970"/>
                  <a:pt x="65900" y="23259"/>
                </a:cubicBezTo>
                <a:cubicBezTo>
                  <a:pt x="65900" y="27547"/>
                  <a:pt x="62435" y="31012"/>
                  <a:pt x="58147" y="31012"/>
                </a:cubicBezTo>
                <a:lnTo>
                  <a:pt x="30309" y="31012"/>
                </a:lnTo>
                <a:cubicBezTo>
                  <a:pt x="24276" y="31012"/>
                  <a:pt x="19382" y="35906"/>
                  <a:pt x="19382" y="41938"/>
                </a:cubicBezTo>
                <a:cubicBezTo>
                  <a:pt x="19382" y="47390"/>
                  <a:pt x="23380" y="51993"/>
                  <a:pt x="28758" y="52768"/>
                </a:cubicBezTo>
                <a:lnTo>
                  <a:pt x="50951" y="55942"/>
                </a:lnTo>
                <a:cubicBezTo>
                  <a:pt x="63986" y="57808"/>
                  <a:pt x="73653" y="68952"/>
                  <a:pt x="73653" y="82108"/>
                </a:cubicBezTo>
                <a:cubicBezTo>
                  <a:pt x="73653" y="96718"/>
                  <a:pt x="61805" y="108541"/>
                  <a:pt x="47220" y="108541"/>
                </a:cubicBezTo>
                <a:lnTo>
                  <a:pt x="44579" y="108541"/>
                </a:lnTo>
                <a:lnTo>
                  <a:pt x="44579" y="118232"/>
                </a:lnTo>
                <a:cubicBezTo>
                  <a:pt x="44579" y="121454"/>
                  <a:pt x="41987" y="124047"/>
                  <a:pt x="38765" y="124047"/>
                </a:cubicBezTo>
                <a:cubicBezTo>
                  <a:pt x="35542" y="124047"/>
                  <a:pt x="32950" y="121454"/>
                  <a:pt x="32950" y="118232"/>
                </a:cubicBezTo>
                <a:lnTo>
                  <a:pt x="32950" y="108541"/>
                </a:lnTo>
                <a:lnTo>
                  <a:pt x="15506" y="108541"/>
                </a:lnTo>
                <a:cubicBezTo>
                  <a:pt x="11217" y="108541"/>
                  <a:pt x="7753" y="105076"/>
                  <a:pt x="7753" y="100788"/>
                </a:cubicBezTo>
                <a:cubicBezTo>
                  <a:pt x="7753" y="96499"/>
                  <a:pt x="11217" y="93035"/>
                  <a:pt x="15506" y="93035"/>
                </a:cubicBezTo>
                <a:lnTo>
                  <a:pt x="47220" y="93035"/>
                </a:lnTo>
                <a:cubicBezTo>
                  <a:pt x="53253" y="93035"/>
                  <a:pt x="58147" y="88141"/>
                  <a:pt x="58147" y="82108"/>
                </a:cubicBezTo>
                <a:cubicBezTo>
                  <a:pt x="58147" y="76657"/>
                  <a:pt x="54149" y="72054"/>
                  <a:pt x="48771" y="71278"/>
                </a:cubicBezTo>
                <a:lnTo>
                  <a:pt x="26578" y="68104"/>
                </a:lnTo>
                <a:cubicBezTo>
                  <a:pt x="13543" y="66263"/>
                  <a:pt x="3876" y="55094"/>
                  <a:pt x="3876" y="41938"/>
                </a:cubicBezTo>
                <a:cubicBezTo>
                  <a:pt x="3876" y="27353"/>
                  <a:pt x="15724" y="15506"/>
                  <a:pt x="30309" y="15506"/>
                </a:cubicBezTo>
                <a:lnTo>
                  <a:pt x="32950" y="15506"/>
                </a:lnTo>
                <a:lnTo>
                  <a:pt x="32950" y="5815"/>
                </a:lnTo>
                <a:close/>
              </a:path>
            </a:pathLst>
          </a:custGeom>
          <a:solidFill>
            <a:srgbClr val="FFFFFF"/>
          </a:solidFill>
          <a:ln/>
        </p:spPr>
      </p:sp>
      <p:sp>
        <p:nvSpPr>
          <p:cNvPr id="46" name="Text 44"/>
          <p:cNvSpPr/>
          <p:nvPr/>
        </p:nvSpPr>
        <p:spPr>
          <a:xfrm>
            <a:off x="8023982" y="1807535"/>
            <a:ext cx="1098698"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Financial</a:t>
            </a:r>
            <a:endParaRPr lang="en-US" sz="1600" dirty="0"/>
          </a:p>
        </p:txBody>
      </p:sp>
      <p:sp>
        <p:nvSpPr>
          <p:cNvPr id="47" name="Text 45"/>
          <p:cNvSpPr/>
          <p:nvPr/>
        </p:nvSpPr>
        <p:spPr>
          <a:xfrm>
            <a:off x="8023982" y="1984744"/>
            <a:ext cx="108983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CIR, ROA, cost savings</a:t>
            </a:r>
            <a:endParaRPr lang="en-US" sz="1600" dirty="0"/>
          </a:p>
        </p:txBody>
      </p:sp>
      <p:sp>
        <p:nvSpPr>
          <p:cNvPr id="48" name="Shape 46"/>
          <p:cNvSpPr/>
          <p:nvPr/>
        </p:nvSpPr>
        <p:spPr>
          <a:xfrm>
            <a:off x="7563238" y="2268279"/>
            <a:ext cx="354419" cy="354419"/>
          </a:xfrm>
          <a:custGeom>
            <a:avLst/>
            <a:gdLst/>
            <a:ahLst/>
            <a:cxnLst/>
            <a:rect l="l" t="t" r="r" b="b"/>
            <a:pathLst>
              <a:path w="354419" h="354419">
                <a:moveTo>
                  <a:pt x="177209" y="0"/>
                </a:moveTo>
                <a:lnTo>
                  <a:pt x="177209" y="0"/>
                </a:lnTo>
                <a:cubicBezTo>
                  <a:pt x="275014" y="0"/>
                  <a:pt x="354419" y="79405"/>
                  <a:pt x="354419" y="177209"/>
                </a:cubicBezTo>
                <a:lnTo>
                  <a:pt x="354419" y="177209"/>
                </a:lnTo>
                <a:cubicBezTo>
                  <a:pt x="354419" y="275014"/>
                  <a:pt x="275014" y="354419"/>
                  <a:pt x="177209" y="354419"/>
                </a:cubicBezTo>
                <a:lnTo>
                  <a:pt x="177209" y="354419"/>
                </a:lnTo>
                <a:cubicBezTo>
                  <a:pt x="79405" y="354419"/>
                  <a:pt x="0" y="275014"/>
                  <a:pt x="0" y="177209"/>
                </a:cubicBezTo>
                <a:lnTo>
                  <a:pt x="0" y="177209"/>
                </a:lnTo>
                <a:cubicBezTo>
                  <a:pt x="0" y="79405"/>
                  <a:pt x="79405" y="0"/>
                  <a:pt x="177209" y="0"/>
                </a:cubicBezTo>
                <a:close/>
              </a:path>
            </a:pathLst>
          </a:custGeom>
          <a:solidFill>
            <a:srgbClr val="FF6B00"/>
          </a:solidFill>
          <a:ln/>
        </p:spPr>
      </p:sp>
      <p:sp>
        <p:nvSpPr>
          <p:cNvPr id="49" name="Shape 47"/>
          <p:cNvSpPr/>
          <p:nvPr/>
        </p:nvSpPr>
        <p:spPr>
          <a:xfrm>
            <a:off x="7665133" y="2383465"/>
            <a:ext cx="155058" cy="124047"/>
          </a:xfrm>
          <a:custGeom>
            <a:avLst/>
            <a:gdLst/>
            <a:ahLst/>
            <a:cxnLst/>
            <a:rect l="l" t="t" r="r" b="b"/>
            <a:pathLst>
              <a:path w="155058" h="124047">
                <a:moveTo>
                  <a:pt x="77529" y="3876"/>
                </a:moveTo>
                <a:cubicBezTo>
                  <a:pt x="91436" y="3876"/>
                  <a:pt x="102726" y="15167"/>
                  <a:pt x="102726" y="29073"/>
                </a:cubicBezTo>
                <a:cubicBezTo>
                  <a:pt x="102726" y="42980"/>
                  <a:pt x="91436" y="54270"/>
                  <a:pt x="77529" y="54270"/>
                </a:cubicBezTo>
                <a:cubicBezTo>
                  <a:pt x="63622" y="54270"/>
                  <a:pt x="52332" y="42980"/>
                  <a:pt x="52332" y="29073"/>
                </a:cubicBezTo>
                <a:cubicBezTo>
                  <a:pt x="52332" y="15167"/>
                  <a:pt x="63622" y="3876"/>
                  <a:pt x="77529" y="3876"/>
                </a:cubicBezTo>
                <a:close/>
                <a:moveTo>
                  <a:pt x="23259" y="21320"/>
                </a:moveTo>
                <a:cubicBezTo>
                  <a:pt x="32886" y="21320"/>
                  <a:pt x="40703" y="29137"/>
                  <a:pt x="40703" y="38765"/>
                </a:cubicBezTo>
                <a:cubicBezTo>
                  <a:pt x="40703" y="48392"/>
                  <a:pt x="32886" y="56209"/>
                  <a:pt x="23259" y="56209"/>
                </a:cubicBezTo>
                <a:cubicBezTo>
                  <a:pt x="13631" y="56209"/>
                  <a:pt x="5815" y="48392"/>
                  <a:pt x="5815" y="38765"/>
                </a:cubicBezTo>
                <a:cubicBezTo>
                  <a:pt x="5815" y="29137"/>
                  <a:pt x="13631" y="21320"/>
                  <a:pt x="23259" y="21320"/>
                </a:cubicBezTo>
                <a:close/>
                <a:moveTo>
                  <a:pt x="0" y="100788"/>
                </a:moveTo>
                <a:cubicBezTo>
                  <a:pt x="0" y="83659"/>
                  <a:pt x="13883" y="69776"/>
                  <a:pt x="31012" y="69776"/>
                </a:cubicBezTo>
                <a:cubicBezTo>
                  <a:pt x="34113" y="69776"/>
                  <a:pt x="37117" y="70236"/>
                  <a:pt x="39952" y="71084"/>
                </a:cubicBezTo>
                <a:cubicBezTo>
                  <a:pt x="31981" y="80000"/>
                  <a:pt x="27135" y="91775"/>
                  <a:pt x="27135" y="104664"/>
                </a:cubicBezTo>
                <a:lnTo>
                  <a:pt x="27135" y="108541"/>
                </a:lnTo>
                <a:cubicBezTo>
                  <a:pt x="27135" y="111303"/>
                  <a:pt x="27717" y="113919"/>
                  <a:pt x="28758" y="116294"/>
                </a:cubicBezTo>
                <a:lnTo>
                  <a:pt x="7753" y="116294"/>
                </a:lnTo>
                <a:cubicBezTo>
                  <a:pt x="3465" y="116294"/>
                  <a:pt x="0" y="112829"/>
                  <a:pt x="0" y="108541"/>
                </a:cubicBezTo>
                <a:lnTo>
                  <a:pt x="0" y="100788"/>
                </a:lnTo>
                <a:close/>
                <a:moveTo>
                  <a:pt x="126300" y="116294"/>
                </a:moveTo>
                <a:cubicBezTo>
                  <a:pt x="127341" y="113919"/>
                  <a:pt x="127923" y="111303"/>
                  <a:pt x="127923" y="108541"/>
                </a:cubicBezTo>
                <a:lnTo>
                  <a:pt x="127923" y="104664"/>
                </a:lnTo>
                <a:cubicBezTo>
                  <a:pt x="127923" y="91775"/>
                  <a:pt x="123077" y="80000"/>
                  <a:pt x="115106" y="71084"/>
                </a:cubicBezTo>
                <a:cubicBezTo>
                  <a:pt x="117941" y="70236"/>
                  <a:pt x="120945" y="69776"/>
                  <a:pt x="124047" y="69776"/>
                </a:cubicBezTo>
                <a:cubicBezTo>
                  <a:pt x="141176" y="69776"/>
                  <a:pt x="155058" y="83659"/>
                  <a:pt x="155058" y="100788"/>
                </a:cubicBezTo>
                <a:lnTo>
                  <a:pt x="155058" y="108541"/>
                </a:lnTo>
                <a:cubicBezTo>
                  <a:pt x="155058" y="112829"/>
                  <a:pt x="151594" y="116294"/>
                  <a:pt x="147305" y="116294"/>
                </a:cubicBezTo>
                <a:lnTo>
                  <a:pt x="126300" y="116294"/>
                </a:lnTo>
                <a:close/>
                <a:moveTo>
                  <a:pt x="114355" y="38765"/>
                </a:moveTo>
                <a:cubicBezTo>
                  <a:pt x="114355" y="29137"/>
                  <a:pt x="122172" y="21320"/>
                  <a:pt x="131799" y="21320"/>
                </a:cubicBezTo>
                <a:cubicBezTo>
                  <a:pt x="141427" y="21320"/>
                  <a:pt x="149243" y="29137"/>
                  <a:pt x="149243" y="38765"/>
                </a:cubicBezTo>
                <a:cubicBezTo>
                  <a:pt x="149243" y="48392"/>
                  <a:pt x="141427" y="56209"/>
                  <a:pt x="131799" y="56209"/>
                </a:cubicBezTo>
                <a:cubicBezTo>
                  <a:pt x="122172" y="56209"/>
                  <a:pt x="114355" y="48392"/>
                  <a:pt x="114355" y="38765"/>
                </a:cubicBezTo>
                <a:close/>
                <a:moveTo>
                  <a:pt x="38765" y="104664"/>
                </a:moveTo>
                <a:cubicBezTo>
                  <a:pt x="38765" y="83247"/>
                  <a:pt x="56112" y="65900"/>
                  <a:pt x="77529" y="65900"/>
                </a:cubicBezTo>
                <a:cubicBezTo>
                  <a:pt x="98946" y="65900"/>
                  <a:pt x="116294" y="83247"/>
                  <a:pt x="116294" y="104664"/>
                </a:cubicBezTo>
                <a:lnTo>
                  <a:pt x="116294" y="108541"/>
                </a:lnTo>
                <a:cubicBezTo>
                  <a:pt x="116294" y="112829"/>
                  <a:pt x="112829" y="116294"/>
                  <a:pt x="108541" y="116294"/>
                </a:cubicBezTo>
                <a:lnTo>
                  <a:pt x="46517" y="116294"/>
                </a:lnTo>
                <a:cubicBezTo>
                  <a:pt x="42229" y="116294"/>
                  <a:pt x="38765" y="112829"/>
                  <a:pt x="38765" y="108541"/>
                </a:cubicBezTo>
                <a:lnTo>
                  <a:pt x="38765" y="104664"/>
                </a:lnTo>
                <a:close/>
              </a:path>
            </a:pathLst>
          </a:custGeom>
          <a:solidFill>
            <a:srgbClr val="FFFFFF"/>
          </a:solidFill>
          <a:ln/>
        </p:spPr>
      </p:sp>
      <p:sp>
        <p:nvSpPr>
          <p:cNvPr id="50" name="Text 48"/>
          <p:cNvSpPr/>
          <p:nvPr/>
        </p:nvSpPr>
        <p:spPr>
          <a:xfrm>
            <a:off x="8023982" y="2268279"/>
            <a:ext cx="1284767"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Customer</a:t>
            </a:r>
            <a:endParaRPr lang="en-US" sz="1600" dirty="0"/>
          </a:p>
        </p:txBody>
      </p:sp>
      <p:sp>
        <p:nvSpPr>
          <p:cNvPr id="51" name="Text 49"/>
          <p:cNvSpPr/>
          <p:nvPr/>
        </p:nvSpPr>
        <p:spPr>
          <a:xfrm>
            <a:off x="8023982" y="2445488"/>
            <a:ext cx="127590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NPS, satisfaction, retention</a:t>
            </a:r>
            <a:endParaRPr lang="en-US" sz="1600" dirty="0"/>
          </a:p>
        </p:txBody>
      </p:sp>
      <p:sp>
        <p:nvSpPr>
          <p:cNvPr id="52" name="Shape 50"/>
          <p:cNvSpPr/>
          <p:nvPr/>
        </p:nvSpPr>
        <p:spPr>
          <a:xfrm>
            <a:off x="7563238" y="2729023"/>
            <a:ext cx="354419" cy="354419"/>
          </a:xfrm>
          <a:custGeom>
            <a:avLst/>
            <a:gdLst/>
            <a:ahLst/>
            <a:cxnLst/>
            <a:rect l="l" t="t" r="r" b="b"/>
            <a:pathLst>
              <a:path w="354419" h="354419">
                <a:moveTo>
                  <a:pt x="177209" y="0"/>
                </a:moveTo>
                <a:lnTo>
                  <a:pt x="177209" y="0"/>
                </a:lnTo>
                <a:cubicBezTo>
                  <a:pt x="275014" y="0"/>
                  <a:pt x="354419" y="79405"/>
                  <a:pt x="354419" y="177209"/>
                </a:cubicBezTo>
                <a:lnTo>
                  <a:pt x="354419" y="177209"/>
                </a:lnTo>
                <a:cubicBezTo>
                  <a:pt x="354419" y="275014"/>
                  <a:pt x="275014" y="354419"/>
                  <a:pt x="177209" y="354419"/>
                </a:cubicBezTo>
                <a:lnTo>
                  <a:pt x="177209" y="354419"/>
                </a:lnTo>
                <a:cubicBezTo>
                  <a:pt x="79405" y="354419"/>
                  <a:pt x="0" y="275014"/>
                  <a:pt x="0" y="177209"/>
                </a:cubicBezTo>
                <a:lnTo>
                  <a:pt x="0" y="177209"/>
                </a:lnTo>
                <a:cubicBezTo>
                  <a:pt x="0" y="79405"/>
                  <a:pt x="79405" y="0"/>
                  <a:pt x="177209" y="0"/>
                </a:cubicBezTo>
                <a:close/>
              </a:path>
            </a:pathLst>
          </a:custGeom>
          <a:solidFill>
            <a:srgbClr val="003087"/>
          </a:solidFill>
          <a:ln/>
        </p:spPr>
      </p:sp>
      <p:sp>
        <p:nvSpPr>
          <p:cNvPr id="53" name="Shape 51"/>
          <p:cNvSpPr/>
          <p:nvPr/>
        </p:nvSpPr>
        <p:spPr>
          <a:xfrm>
            <a:off x="7665133" y="2844209"/>
            <a:ext cx="155058" cy="124047"/>
          </a:xfrm>
          <a:custGeom>
            <a:avLst/>
            <a:gdLst/>
            <a:ahLst/>
            <a:cxnLst/>
            <a:rect l="l" t="t" r="r" b="b"/>
            <a:pathLst>
              <a:path w="155058" h="124047">
                <a:moveTo>
                  <a:pt x="100764" y="51000"/>
                </a:moveTo>
                <a:cubicBezTo>
                  <a:pt x="103719" y="50200"/>
                  <a:pt x="106821" y="51605"/>
                  <a:pt x="108153" y="54343"/>
                </a:cubicBezTo>
                <a:lnTo>
                  <a:pt x="112659" y="63453"/>
                </a:lnTo>
                <a:cubicBezTo>
                  <a:pt x="115155" y="63792"/>
                  <a:pt x="117602" y="64470"/>
                  <a:pt x="119904" y="65415"/>
                </a:cubicBezTo>
                <a:lnTo>
                  <a:pt x="128383" y="59770"/>
                </a:lnTo>
                <a:cubicBezTo>
                  <a:pt x="130927" y="58074"/>
                  <a:pt x="134295" y="58413"/>
                  <a:pt x="136451" y="60570"/>
                </a:cubicBezTo>
                <a:lnTo>
                  <a:pt x="141103" y="65221"/>
                </a:lnTo>
                <a:cubicBezTo>
                  <a:pt x="143259" y="67378"/>
                  <a:pt x="143598" y="70770"/>
                  <a:pt x="141902" y="73289"/>
                </a:cubicBezTo>
                <a:lnTo>
                  <a:pt x="136257" y="81745"/>
                </a:lnTo>
                <a:cubicBezTo>
                  <a:pt x="136718" y="82883"/>
                  <a:pt x="137130" y="84071"/>
                  <a:pt x="137469" y="85306"/>
                </a:cubicBezTo>
                <a:cubicBezTo>
                  <a:pt x="137808" y="86542"/>
                  <a:pt x="138026" y="87753"/>
                  <a:pt x="138196" y="88989"/>
                </a:cubicBezTo>
                <a:lnTo>
                  <a:pt x="147329" y="93495"/>
                </a:lnTo>
                <a:cubicBezTo>
                  <a:pt x="150067" y="94852"/>
                  <a:pt x="151472" y="97953"/>
                  <a:pt x="150673" y="100885"/>
                </a:cubicBezTo>
                <a:lnTo>
                  <a:pt x="148977" y="107232"/>
                </a:lnTo>
                <a:cubicBezTo>
                  <a:pt x="148177" y="110164"/>
                  <a:pt x="145440" y="112151"/>
                  <a:pt x="142387" y="111957"/>
                </a:cubicBezTo>
                <a:lnTo>
                  <a:pt x="132211" y="111303"/>
                </a:lnTo>
                <a:cubicBezTo>
                  <a:pt x="130685" y="113265"/>
                  <a:pt x="128916" y="115082"/>
                  <a:pt x="126905" y="116633"/>
                </a:cubicBezTo>
                <a:lnTo>
                  <a:pt x="127560" y="126784"/>
                </a:lnTo>
                <a:cubicBezTo>
                  <a:pt x="127753" y="129837"/>
                  <a:pt x="125767" y="132599"/>
                  <a:pt x="122835" y="133374"/>
                </a:cubicBezTo>
                <a:lnTo>
                  <a:pt x="116487" y="135070"/>
                </a:lnTo>
                <a:cubicBezTo>
                  <a:pt x="113532" y="135870"/>
                  <a:pt x="110455" y="134464"/>
                  <a:pt x="109098" y="131727"/>
                </a:cubicBezTo>
                <a:lnTo>
                  <a:pt x="104592" y="122617"/>
                </a:lnTo>
                <a:cubicBezTo>
                  <a:pt x="102096" y="122278"/>
                  <a:pt x="99649" y="121600"/>
                  <a:pt x="97347" y="120655"/>
                </a:cubicBezTo>
                <a:lnTo>
                  <a:pt x="88868" y="126300"/>
                </a:lnTo>
                <a:cubicBezTo>
                  <a:pt x="86324" y="127996"/>
                  <a:pt x="82956" y="127656"/>
                  <a:pt x="80800" y="125500"/>
                </a:cubicBezTo>
                <a:lnTo>
                  <a:pt x="76148" y="120848"/>
                </a:lnTo>
                <a:cubicBezTo>
                  <a:pt x="73992" y="118692"/>
                  <a:pt x="73653" y="115324"/>
                  <a:pt x="75349" y="112781"/>
                </a:cubicBezTo>
                <a:lnTo>
                  <a:pt x="80994" y="104301"/>
                </a:lnTo>
                <a:cubicBezTo>
                  <a:pt x="80533" y="103162"/>
                  <a:pt x="80121" y="101975"/>
                  <a:pt x="79782" y="100739"/>
                </a:cubicBezTo>
                <a:cubicBezTo>
                  <a:pt x="79443" y="99504"/>
                  <a:pt x="79225" y="98268"/>
                  <a:pt x="79055" y="97057"/>
                </a:cubicBezTo>
                <a:lnTo>
                  <a:pt x="69922" y="92550"/>
                </a:lnTo>
                <a:cubicBezTo>
                  <a:pt x="67184" y="91194"/>
                  <a:pt x="65803" y="88092"/>
                  <a:pt x="66578" y="85161"/>
                </a:cubicBezTo>
                <a:lnTo>
                  <a:pt x="68274" y="78813"/>
                </a:lnTo>
                <a:cubicBezTo>
                  <a:pt x="69074" y="75882"/>
                  <a:pt x="71811" y="73895"/>
                  <a:pt x="74864" y="74089"/>
                </a:cubicBezTo>
                <a:lnTo>
                  <a:pt x="85015" y="74743"/>
                </a:lnTo>
                <a:cubicBezTo>
                  <a:pt x="86542" y="72780"/>
                  <a:pt x="88310" y="70963"/>
                  <a:pt x="90321" y="69413"/>
                </a:cubicBezTo>
                <a:lnTo>
                  <a:pt x="89667" y="59286"/>
                </a:lnTo>
                <a:cubicBezTo>
                  <a:pt x="89473" y="56233"/>
                  <a:pt x="91460" y="53471"/>
                  <a:pt x="94392" y="52696"/>
                </a:cubicBezTo>
                <a:lnTo>
                  <a:pt x="100739" y="51000"/>
                </a:lnTo>
                <a:close/>
                <a:moveTo>
                  <a:pt x="108638" y="82375"/>
                </a:moveTo>
                <a:cubicBezTo>
                  <a:pt x="102754" y="82381"/>
                  <a:pt x="97983" y="87163"/>
                  <a:pt x="97989" y="93047"/>
                </a:cubicBezTo>
                <a:cubicBezTo>
                  <a:pt x="97996" y="98931"/>
                  <a:pt x="102778" y="103702"/>
                  <a:pt x="108662" y="103695"/>
                </a:cubicBezTo>
                <a:cubicBezTo>
                  <a:pt x="114545" y="103688"/>
                  <a:pt x="119317" y="98906"/>
                  <a:pt x="119310" y="93023"/>
                </a:cubicBezTo>
                <a:cubicBezTo>
                  <a:pt x="119303" y="87139"/>
                  <a:pt x="114521" y="82368"/>
                  <a:pt x="108638" y="82375"/>
                </a:cubicBezTo>
                <a:close/>
                <a:moveTo>
                  <a:pt x="54488" y="-11024"/>
                </a:moveTo>
                <a:lnTo>
                  <a:pt x="60836" y="-9328"/>
                </a:lnTo>
                <a:cubicBezTo>
                  <a:pt x="63768" y="-8528"/>
                  <a:pt x="65754" y="-5766"/>
                  <a:pt x="65561" y="-2738"/>
                </a:cubicBezTo>
                <a:lnTo>
                  <a:pt x="64906" y="7389"/>
                </a:lnTo>
                <a:cubicBezTo>
                  <a:pt x="66917" y="8940"/>
                  <a:pt x="68686" y="10733"/>
                  <a:pt x="70212" y="12720"/>
                </a:cubicBezTo>
                <a:lnTo>
                  <a:pt x="80388" y="12065"/>
                </a:lnTo>
                <a:cubicBezTo>
                  <a:pt x="83416" y="11872"/>
                  <a:pt x="86178" y="13858"/>
                  <a:pt x="86978" y="16790"/>
                </a:cubicBezTo>
                <a:lnTo>
                  <a:pt x="88674" y="23138"/>
                </a:lnTo>
                <a:cubicBezTo>
                  <a:pt x="89449" y="26069"/>
                  <a:pt x="88068" y="29170"/>
                  <a:pt x="85330" y="30527"/>
                </a:cubicBezTo>
                <a:lnTo>
                  <a:pt x="76197" y="35033"/>
                </a:lnTo>
                <a:cubicBezTo>
                  <a:pt x="76027" y="36269"/>
                  <a:pt x="75785" y="37505"/>
                  <a:pt x="75470" y="38716"/>
                </a:cubicBezTo>
                <a:cubicBezTo>
                  <a:pt x="75155" y="39927"/>
                  <a:pt x="74719" y="41139"/>
                  <a:pt x="74258" y="42278"/>
                </a:cubicBezTo>
                <a:lnTo>
                  <a:pt x="79903" y="50757"/>
                </a:lnTo>
                <a:cubicBezTo>
                  <a:pt x="81599" y="53301"/>
                  <a:pt x="81260" y="56669"/>
                  <a:pt x="79104" y="58825"/>
                </a:cubicBezTo>
                <a:lnTo>
                  <a:pt x="74452" y="63477"/>
                </a:lnTo>
                <a:cubicBezTo>
                  <a:pt x="72296" y="65633"/>
                  <a:pt x="68928" y="65972"/>
                  <a:pt x="66384" y="64276"/>
                </a:cubicBezTo>
                <a:lnTo>
                  <a:pt x="57905" y="58631"/>
                </a:lnTo>
                <a:cubicBezTo>
                  <a:pt x="55603" y="59576"/>
                  <a:pt x="53156" y="60255"/>
                  <a:pt x="50660" y="60594"/>
                </a:cubicBezTo>
                <a:lnTo>
                  <a:pt x="46154" y="69703"/>
                </a:lnTo>
                <a:cubicBezTo>
                  <a:pt x="44797" y="72441"/>
                  <a:pt x="41696" y="73822"/>
                  <a:pt x="38765" y="73047"/>
                </a:cubicBezTo>
                <a:lnTo>
                  <a:pt x="32417" y="71351"/>
                </a:lnTo>
                <a:cubicBezTo>
                  <a:pt x="29461" y="70551"/>
                  <a:pt x="27499" y="67789"/>
                  <a:pt x="27692" y="64761"/>
                </a:cubicBezTo>
                <a:lnTo>
                  <a:pt x="28347" y="54610"/>
                </a:lnTo>
                <a:cubicBezTo>
                  <a:pt x="26336" y="53059"/>
                  <a:pt x="24567" y="51266"/>
                  <a:pt x="23041" y="49279"/>
                </a:cubicBezTo>
                <a:lnTo>
                  <a:pt x="12865" y="49934"/>
                </a:lnTo>
                <a:cubicBezTo>
                  <a:pt x="9837" y="50127"/>
                  <a:pt x="7075" y="48141"/>
                  <a:pt x="6275" y="45209"/>
                </a:cubicBezTo>
                <a:lnTo>
                  <a:pt x="4579" y="38861"/>
                </a:lnTo>
                <a:cubicBezTo>
                  <a:pt x="3804" y="35930"/>
                  <a:pt x="5185" y="32829"/>
                  <a:pt x="7923" y="31472"/>
                </a:cubicBezTo>
                <a:lnTo>
                  <a:pt x="17056" y="26966"/>
                </a:lnTo>
                <a:cubicBezTo>
                  <a:pt x="17226" y="25730"/>
                  <a:pt x="17468" y="24519"/>
                  <a:pt x="17783" y="23283"/>
                </a:cubicBezTo>
                <a:cubicBezTo>
                  <a:pt x="18122" y="22047"/>
                  <a:pt x="18510" y="20860"/>
                  <a:pt x="18995" y="19721"/>
                </a:cubicBezTo>
                <a:lnTo>
                  <a:pt x="13350" y="11266"/>
                </a:lnTo>
                <a:cubicBezTo>
                  <a:pt x="11654" y="8722"/>
                  <a:pt x="11993" y="5354"/>
                  <a:pt x="14149" y="3198"/>
                </a:cubicBezTo>
                <a:lnTo>
                  <a:pt x="18801" y="-1454"/>
                </a:lnTo>
                <a:cubicBezTo>
                  <a:pt x="20957" y="-3610"/>
                  <a:pt x="24325" y="-3949"/>
                  <a:pt x="26869" y="-2253"/>
                </a:cubicBezTo>
                <a:lnTo>
                  <a:pt x="35348" y="3392"/>
                </a:lnTo>
                <a:cubicBezTo>
                  <a:pt x="37650" y="2447"/>
                  <a:pt x="40097" y="1769"/>
                  <a:pt x="42593" y="1429"/>
                </a:cubicBezTo>
                <a:lnTo>
                  <a:pt x="47099" y="-7680"/>
                </a:lnTo>
                <a:cubicBezTo>
                  <a:pt x="48456" y="-10418"/>
                  <a:pt x="51533" y="-11799"/>
                  <a:pt x="54488" y="-11024"/>
                </a:cubicBezTo>
                <a:close/>
                <a:moveTo>
                  <a:pt x="46614" y="20351"/>
                </a:moveTo>
                <a:cubicBezTo>
                  <a:pt x="40731" y="20351"/>
                  <a:pt x="35954" y="25128"/>
                  <a:pt x="35954" y="31012"/>
                </a:cubicBezTo>
                <a:cubicBezTo>
                  <a:pt x="35954" y="36895"/>
                  <a:pt x="40731" y="41672"/>
                  <a:pt x="46614" y="41672"/>
                </a:cubicBezTo>
                <a:cubicBezTo>
                  <a:pt x="52498" y="41672"/>
                  <a:pt x="57275" y="36895"/>
                  <a:pt x="57275" y="31012"/>
                </a:cubicBezTo>
                <a:cubicBezTo>
                  <a:pt x="57275" y="25128"/>
                  <a:pt x="52498" y="20351"/>
                  <a:pt x="46614" y="20351"/>
                </a:cubicBezTo>
                <a:close/>
              </a:path>
            </a:pathLst>
          </a:custGeom>
          <a:solidFill>
            <a:srgbClr val="FFFFFF"/>
          </a:solidFill>
          <a:ln/>
        </p:spPr>
      </p:sp>
      <p:sp>
        <p:nvSpPr>
          <p:cNvPr id="54" name="Text 52"/>
          <p:cNvSpPr/>
          <p:nvPr/>
        </p:nvSpPr>
        <p:spPr>
          <a:xfrm>
            <a:off x="8023982" y="2729023"/>
            <a:ext cx="1196163"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Internal Process</a:t>
            </a:r>
            <a:endParaRPr lang="en-US" sz="1600" dirty="0"/>
          </a:p>
        </p:txBody>
      </p:sp>
      <p:sp>
        <p:nvSpPr>
          <p:cNvPr id="55" name="Text 53"/>
          <p:cNvSpPr/>
          <p:nvPr/>
        </p:nvSpPr>
        <p:spPr>
          <a:xfrm>
            <a:off x="8023982" y="2906233"/>
            <a:ext cx="1187302"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Efficiency, quality, speed</a:t>
            </a:r>
            <a:endParaRPr lang="en-US" sz="1600" dirty="0"/>
          </a:p>
        </p:txBody>
      </p:sp>
      <p:sp>
        <p:nvSpPr>
          <p:cNvPr id="56" name="Shape 54"/>
          <p:cNvSpPr/>
          <p:nvPr/>
        </p:nvSpPr>
        <p:spPr>
          <a:xfrm>
            <a:off x="7563238" y="3189767"/>
            <a:ext cx="354419" cy="354419"/>
          </a:xfrm>
          <a:custGeom>
            <a:avLst/>
            <a:gdLst/>
            <a:ahLst/>
            <a:cxnLst/>
            <a:rect l="l" t="t" r="r" b="b"/>
            <a:pathLst>
              <a:path w="354419" h="354419">
                <a:moveTo>
                  <a:pt x="177209" y="0"/>
                </a:moveTo>
                <a:lnTo>
                  <a:pt x="177209" y="0"/>
                </a:lnTo>
                <a:cubicBezTo>
                  <a:pt x="275014" y="0"/>
                  <a:pt x="354419" y="79405"/>
                  <a:pt x="354419" y="177209"/>
                </a:cubicBezTo>
                <a:lnTo>
                  <a:pt x="354419" y="177209"/>
                </a:lnTo>
                <a:cubicBezTo>
                  <a:pt x="354419" y="275014"/>
                  <a:pt x="275014" y="354419"/>
                  <a:pt x="177209" y="354419"/>
                </a:cubicBezTo>
                <a:lnTo>
                  <a:pt x="177209" y="354419"/>
                </a:lnTo>
                <a:cubicBezTo>
                  <a:pt x="79405" y="354419"/>
                  <a:pt x="0" y="275014"/>
                  <a:pt x="0" y="177209"/>
                </a:cubicBezTo>
                <a:lnTo>
                  <a:pt x="0" y="177209"/>
                </a:lnTo>
                <a:cubicBezTo>
                  <a:pt x="0" y="79405"/>
                  <a:pt x="79405" y="0"/>
                  <a:pt x="177209" y="0"/>
                </a:cubicBezTo>
                <a:close/>
              </a:path>
            </a:pathLst>
          </a:custGeom>
          <a:solidFill>
            <a:srgbClr val="FF6B00"/>
          </a:solidFill>
          <a:ln/>
        </p:spPr>
      </p:sp>
      <p:sp>
        <p:nvSpPr>
          <p:cNvPr id="57" name="Shape 55"/>
          <p:cNvSpPr/>
          <p:nvPr/>
        </p:nvSpPr>
        <p:spPr>
          <a:xfrm>
            <a:off x="7672886" y="3304953"/>
            <a:ext cx="139552" cy="124047"/>
          </a:xfrm>
          <a:custGeom>
            <a:avLst/>
            <a:gdLst/>
            <a:ahLst/>
            <a:cxnLst/>
            <a:rect l="l" t="t" r="r" b="b"/>
            <a:pathLst>
              <a:path w="139552" h="124047">
                <a:moveTo>
                  <a:pt x="11629" y="47438"/>
                </a:moveTo>
                <a:lnTo>
                  <a:pt x="62314" y="68298"/>
                </a:lnTo>
                <a:cubicBezTo>
                  <a:pt x="64688" y="69267"/>
                  <a:pt x="67208" y="69776"/>
                  <a:pt x="69776" y="69776"/>
                </a:cubicBezTo>
                <a:cubicBezTo>
                  <a:pt x="72344" y="69776"/>
                  <a:pt x="74864" y="69267"/>
                  <a:pt x="77238" y="68298"/>
                </a:cubicBezTo>
                <a:lnTo>
                  <a:pt x="135967" y="44119"/>
                </a:lnTo>
                <a:cubicBezTo>
                  <a:pt x="138147" y="43222"/>
                  <a:pt x="139552" y="41115"/>
                  <a:pt x="139552" y="38765"/>
                </a:cubicBezTo>
                <a:cubicBezTo>
                  <a:pt x="139552" y="36414"/>
                  <a:pt x="138147" y="34307"/>
                  <a:pt x="135967" y="33410"/>
                </a:cubicBezTo>
                <a:lnTo>
                  <a:pt x="77238" y="9231"/>
                </a:lnTo>
                <a:cubicBezTo>
                  <a:pt x="74864" y="8262"/>
                  <a:pt x="72344" y="7753"/>
                  <a:pt x="69776" y="7753"/>
                </a:cubicBezTo>
                <a:cubicBezTo>
                  <a:pt x="67208" y="7753"/>
                  <a:pt x="64688" y="8262"/>
                  <a:pt x="62314" y="9231"/>
                </a:cubicBezTo>
                <a:lnTo>
                  <a:pt x="3586" y="33410"/>
                </a:lnTo>
                <a:cubicBezTo>
                  <a:pt x="1405" y="34307"/>
                  <a:pt x="0" y="36414"/>
                  <a:pt x="0" y="38765"/>
                </a:cubicBezTo>
                <a:lnTo>
                  <a:pt x="0" y="110479"/>
                </a:lnTo>
                <a:cubicBezTo>
                  <a:pt x="0" y="113701"/>
                  <a:pt x="2592" y="116294"/>
                  <a:pt x="5815" y="116294"/>
                </a:cubicBezTo>
                <a:cubicBezTo>
                  <a:pt x="9037" y="116294"/>
                  <a:pt x="11629" y="113701"/>
                  <a:pt x="11629" y="110479"/>
                </a:cubicBezTo>
                <a:lnTo>
                  <a:pt x="11629" y="47438"/>
                </a:lnTo>
                <a:close/>
                <a:moveTo>
                  <a:pt x="23259" y="64809"/>
                </a:moveTo>
                <a:lnTo>
                  <a:pt x="23259" y="93035"/>
                </a:lnTo>
                <a:cubicBezTo>
                  <a:pt x="23259" y="105876"/>
                  <a:pt x="44095" y="116294"/>
                  <a:pt x="69776" y="116294"/>
                </a:cubicBezTo>
                <a:cubicBezTo>
                  <a:pt x="95458" y="116294"/>
                  <a:pt x="116294" y="105876"/>
                  <a:pt x="116294" y="93035"/>
                </a:cubicBezTo>
                <a:lnTo>
                  <a:pt x="116294" y="64785"/>
                </a:lnTo>
                <a:lnTo>
                  <a:pt x="81672" y="79055"/>
                </a:lnTo>
                <a:cubicBezTo>
                  <a:pt x="77892" y="80606"/>
                  <a:pt x="73871" y="81406"/>
                  <a:pt x="69776" y="81406"/>
                </a:cubicBezTo>
                <a:cubicBezTo>
                  <a:pt x="65682" y="81406"/>
                  <a:pt x="61660" y="80606"/>
                  <a:pt x="57880" y="79055"/>
                </a:cubicBezTo>
                <a:lnTo>
                  <a:pt x="23259" y="64785"/>
                </a:lnTo>
                <a:close/>
              </a:path>
            </a:pathLst>
          </a:custGeom>
          <a:solidFill>
            <a:srgbClr val="FFFFFF"/>
          </a:solidFill>
          <a:ln/>
        </p:spPr>
      </p:sp>
      <p:sp>
        <p:nvSpPr>
          <p:cNvPr id="58" name="Text 56"/>
          <p:cNvSpPr/>
          <p:nvPr/>
        </p:nvSpPr>
        <p:spPr>
          <a:xfrm>
            <a:off x="8023982" y="3189767"/>
            <a:ext cx="1284767" cy="177209"/>
          </a:xfrm>
          <a:prstGeom prst="rect">
            <a:avLst/>
          </a:prstGeom>
          <a:noFill/>
          <a:ln/>
        </p:spPr>
        <p:txBody>
          <a:bodyPr wrap="square" lIns="0" tIns="0" rIns="0" bIns="0" rtlCol="0" anchor="ctr"/>
          <a:lstStyle/>
          <a:p>
            <a:pPr>
              <a:lnSpc>
                <a:spcPct val="120000"/>
              </a:lnSpc>
            </a:pPr>
            <a:r>
              <a:rPr lang="en-US" sz="977" b="1" dirty="0">
                <a:solidFill>
                  <a:srgbClr val="003087"/>
                </a:solidFill>
                <a:latin typeface="Quattrocento Sans" pitchFamily="34" charset="0"/>
                <a:ea typeface="Quattrocento Sans" pitchFamily="34" charset="-122"/>
                <a:cs typeface="Quattrocento Sans" pitchFamily="34" charset="-120"/>
              </a:rPr>
              <a:t>Learning &amp; Growth</a:t>
            </a:r>
            <a:endParaRPr lang="en-US" sz="1600" dirty="0"/>
          </a:p>
        </p:txBody>
      </p:sp>
      <p:sp>
        <p:nvSpPr>
          <p:cNvPr id="59" name="Text 57"/>
          <p:cNvSpPr/>
          <p:nvPr/>
        </p:nvSpPr>
        <p:spPr>
          <a:xfrm>
            <a:off x="8023982" y="3366977"/>
            <a:ext cx="1275907" cy="141767"/>
          </a:xfrm>
          <a:prstGeom prst="rect">
            <a:avLst/>
          </a:prstGeom>
          <a:noFill/>
          <a:ln/>
        </p:spPr>
        <p:txBody>
          <a:bodyPr wrap="square" lIns="0" tIns="0" rIns="0" bIns="0" rtlCol="0" anchor="ctr"/>
          <a:lstStyle/>
          <a:p>
            <a:pPr>
              <a:lnSpc>
                <a:spcPct val="110000"/>
              </a:lnSpc>
            </a:pPr>
            <a:r>
              <a:rPr lang="en-US" sz="837" dirty="0">
                <a:solidFill>
                  <a:srgbClr val="1A1A1A">
                    <a:alpha val="70000"/>
                  </a:srgbClr>
                </a:solidFill>
                <a:latin typeface="Quattrocento Sans" pitchFamily="34" charset="0"/>
                <a:ea typeface="Quattrocento Sans" pitchFamily="34" charset="-122"/>
                <a:cs typeface="Quattrocento Sans" pitchFamily="34" charset="-120"/>
              </a:rPr>
              <a:t>Skills, adoption, innovation</a:t>
            </a:r>
            <a:endParaRPr lang="en-US" sz="1600" dirty="0"/>
          </a:p>
        </p:txBody>
      </p:sp>
      <p:sp>
        <p:nvSpPr>
          <p:cNvPr id="60" name="Shape 58"/>
          <p:cNvSpPr/>
          <p:nvPr/>
        </p:nvSpPr>
        <p:spPr>
          <a:xfrm>
            <a:off x="7350586" y="3863163"/>
            <a:ext cx="4483395" cy="1842977"/>
          </a:xfrm>
          <a:custGeom>
            <a:avLst/>
            <a:gdLst/>
            <a:ahLst/>
            <a:cxnLst/>
            <a:rect l="l" t="t" r="r" b="b"/>
            <a:pathLst>
              <a:path w="4483395" h="1842977">
                <a:moveTo>
                  <a:pt x="106321" y="0"/>
                </a:moveTo>
                <a:lnTo>
                  <a:pt x="4377074" y="0"/>
                </a:lnTo>
                <a:cubicBezTo>
                  <a:pt x="4435794" y="0"/>
                  <a:pt x="4483395" y="47602"/>
                  <a:pt x="4483395" y="106321"/>
                </a:cubicBezTo>
                <a:lnTo>
                  <a:pt x="4483395" y="1736655"/>
                </a:lnTo>
                <a:cubicBezTo>
                  <a:pt x="4483395" y="1795375"/>
                  <a:pt x="4435794" y="1842977"/>
                  <a:pt x="4377074" y="1842977"/>
                </a:cubicBezTo>
                <a:lnTo>
                  <a:pt x="106321" y="1842977"/>
                </a:lnTo>
                <a:cubicBezTo>
                  <a:pt x="47602" y="1842977"/>
                  <a:pt x="0" y="1795375"/>
                  <a:pt x="0" y="1736655"/>
                </a:cubicBezTo>
                <a:lnTo>
                  <a:pt x="0" y="106321"/>
                </a:lnTo>
                <a:cubicBezTo>
                  <a:pt x="0" y="47602"/>
                  <a:pt x="47602" y="0"/>
                  <a:pt x="106321" y="0"/>
                </a:cubicBezTo>
                <a:close/>
              </a:path>
            </a:pathLst>
          </a:custGeom>
          <a:solidFill>
            <a:srgbClr val="F9FAFB"/>
          </a:solidFill>
          <a:ln/>
        </p:spPr>
      </p:sp>
      <p:sp>
        <p:nvSpPr>
          <p:cNvPr id="61" name="Text 59"/>
          <p:cNvSpPr/>
          <p:nvPr/>
        </p:nvSpPr>
        <p:spPr>
          <a:xfrm>
            <a:off x="7527796" y="4040372"/>
            <a:ext cx="4199860" cy="212651"/>
          </a:xfrm>
          <a:prstGeom prst="rect">
            <a:avLst/>
          </a:prstGeom>
          <a:noFill/>
          <a:ln/>
        </p:spPr>
        <p:txBody>
          <a:bodyPr wrap="square" lIns="0" tIns="0" rIns="0" bIns="0" rtlCol="0" anchor="ctr"/>
          <a:lstStyle/>
          <a:p>
            <a:pPr>
              <a:lnSpc>
                <a:spcPct val="130000"/>
              </a:lnSpc>
            </a:pPr>
            <a:r>
              <a:rPr lang="en-US" sz="1116" b="1" dirty="0">
                <a:solidFill>
                  <a:srgbClr val="003087"/>
                </a:solidFill>
                <a:latin typeface="Liter" pitchFamily="34" charset="0"/>
                <a:ea typeface="Liter" pitchFamily="34" charset="-122"/>
                <a:cs typeface="Liter" pitchFamily="34" charset="-120"/>
              </a:rPr>
              <a:t>Dashboard Features</a:t>
            </a:r>
            <a:endParaRPr lang="en-US" sz="1600" dirty="0"/>
          </a:p>
        </p:txBody>
      </p:sp>
      <p:sp>
        <p:nvSpPr>
          <p:cNvPr id="62" name="Shape 60"/>
          <p:cNvSpPr/>
          <p:nvPr/>
        </p:nvSpPr>
        <p:spPr>
          <a:xfrm>
            <a:off x="7545517" y="4394791"/>
            <a:ext cx="124047" cy="124047"/>
          </a:xfrm>
          <a:custGeom>
            <a:avLst/>
            <a:gdLst/>
            <a:ahLst/>
            <a:cxnLst/>
            <a:rect l="l" t="t" r="r" b="b"/>
            <a:pathLst>
              <a:path w="124047" h="124047">
                <a:moveTo>
                  <a:pt x="62023" y="124047"/>
                </a:moveTo>
                <a:cubicBezTo>
                  <a:pt x="96255" y="124047"/>
                  <a:pt x="124047" y="96255"/>
                  <a:pt x="124047" y="62023"/>
                </a:cubicBezTo>
                <a:cubicBezTo>
                  <a:pt x="124047" y="27792"/>
                  <a:pt x="96255" y="0"/>
                  <a:pt x="62023" y="0"/>
                </a:cubicBezTo>
                <a:cubicBezTo>
                  <a:pt x="27792" y="0"/>
                  <a:pt x="0" y="27792"/>
                  <a:pt x="0" y="62023"/>
                </a:cubicBezTo>
                <a:cubicBezTo>
                  <a:pt x="0" y="96255"/>
                  <a:pt x="27792" y="124047"/>
                  <a:pt x="62023" y="124047"/>
                </a:cubicBezTo>
                <a:close/>
                <a:moveTo>
                  <a:pt x="82472" y="51533"/>
                </a:moveTo>
                <a:lnTo>
                  <a:pt x="63089" y="82544"/>
                </a:lnTo>
                <a:cubicBezTo>
                  <a:pt x="62072" y="84167"/>
                  <a:pt x="60327" y="85185"/>
                  <a:pt x="58413" y="85282"/>
                </a:cubicBezTo>
                <a:cubicBezTo>
                  <a:pt x="56499" y="85379"/>
                  <a:pt x="54658" y="84507"/>
                  <a:pt x="53519" y="82956"/>
                </a:cubicBezTo>
                <a:lnTo>
                  <a:pt x="41890" y="67450"/>
                </a:lnTo>
                <a:cubicBezTo>
                  <a:pt x="39952" y="64882"/>
                  <a:pt x="40485" y="61248"/>
                  <a:pt x="43053" y="59310"/>
                </a:cubicBezTo>
                <a:cubicBezTo>
                  <a:pt x="45621" y="57372"/>
                  <a:pt x="49255" y="57905"/>
                  <a:pt x="51193" y="60473"/>
                </a:cubicBezTo>
                <a:lnTo>
                  <a:pt x="57735" y="69195"/>
                </a:lnTo>
                <a:lnTo>
                  <a:pt x="72611" y="45379"/>
                </a:lnTo>
                <a:cubicBezTo>
                  <a:pt x="74307" y="42665"/>
                  <a:pt x="77892" y="41817"/>
                  <a:pt x="80630" y="43537"/>
                </a:cubicBezTo>
                <a:cubicBezTo>
                  <a:pt x="83368" y="45258"/>
                  <a:pt x="84192" y="48819"/>
                  <a:pt x="82472" y="51557"/>
                </a:cubicBezTo>
                <a:close/>
              </a:path>
            </a:pathLst>
          </a:custGeom>
          <a:solidFill>
            <a:srgbClr val="FF6B00"/>
          </a:solidFill>
          <a:ln/>
        </p:spPr>
      </p:sp>
      <p:sp>
        <p:nvSpPr>
          <p:cNvPr id="63" name="Text 61"/>
          <p:cNvSpPr/>
          <p:nvPr/>
        </p:nvSpPr>
        <p:spPr>
          <a:xfrm>
            <a:off x="7753738" y="4359349"/>
            <a:ext cx="1461977" cy="177209"/>
          </a:xfrm>
          <a:prstGeom prst="rect">
            <a:avLst/>
          </a:prstGeom>
          <a:noFill/>
          <a:ln/>
        </p:spPr>
        <p:txBody>
          <a:bodyPr wrap="square" lIns="0" tIns="0" rIns="0" bIns="0" rtlCol="0" anchor="ctr"/>
          <a:lstStyle/>
          <a:p>
            <a:pPr>
              <a:lnSpc>
                <a:spcPct val="12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Executive summary views</a:t>
            </a:r>
            <a:endParaRPr lang="en-US" sz="1600" dirty="0"/>
          </a:p>
        </p:txBody>
      </p:sp>
      <p:sp>
        <p:nvSpPr>
          <p:cNvPr id="64" name="Shape 62"/>
          <p:cNvSpPr/>
          <p:nvPr/>
        </p:nvSpPr>
        <p:spPr>
          <a:xfrm>
            <a:off x="7545517" y="4642884"/>
            <a:ext cx="124047" cy="124047"/>
          </a:xfrm>
          <a:custGeom>
            <a:avLst/>
            <a:gdLst/>
            <a:ahLst/>
            <a:cxnLst/>
            <a:rect l="l" t="t" r="r" b="b"/>
            <a:pathLst>
              <a:path w="124047" h="124047">
                <a:moveTo>
                  <a:pt x="62023" y="124047"/>
                </a:moveTo>
                <a:cubicBezTo>
                  <a:pt x="96255" y="124047"/>
                  <a:pt x="124047" y="96255"/>
                  <a:pt x="124047" y="62023"/>
                </a:cubicBezTo>
                <a:cubicBezTo>
                  <a:pt x="124047" y="27792"/>
                  <a:pt x="96255" y="0"/>
                  <a:pt x="62023" y="0"/>
                </a:cubicBezTo>
                <a:cubicBezTo>
                  <a:pt x="27792" y="0"/>
                  <a:pt x="0" y="27792"/>
                  <a:pt x="0" y="62023"/>
                </a:cubicBezTo>
                <a:cubicBezTo>
                  <a:pt x="0" y="96255"/>
                  <a:pt x="27792" y="124047"/>
                  <a:pt x="62023" y="124047"/>
                </a:cubicBezTo>
                <a:close/>
                <a:moveTo>
                  <a:pt x="82472" y="51533"/>
                </a:moveTo>
                <a:lnTo>
                  <a:pt x="63089" y="82544"/>
                </a:lnTo>
                <a:cubicBezTo>
                  <a:pt x="62072" y="84167"/>
                  <a:pt x="60327" y="85185"/>
                  <a:pt x="58413" y="85282"/>
                </a:cubicBezTo>
                <a:cubicBezTo>
                  <a:pt x="56499" y="85379"/>
                  <a:pt x="54658" y="84507"/>
                  <a:pt x="53519" y="82956"/>
                </a:cubicBezTo>
                <a:lnTo>
                  <a:pt x="41890" y="67450"/>
                </a:lnTo>
                <a:cubicBezTo>
                  <a:pt x="39952" y="64882"/>
                  <a:pt x="40485" y="61248"/>
                  <a:pt x="43053" y="59310"/>
                </a:cubicBezTo>
                <a:cubicBezTo>
                  <a:pt x="45621" y="57372"/>
                  <a:pt x="49255" y="57905"/>
                  <a:pt x="51193" y="60473"/>
                </a:cubicBezTo>
                <a:lnTo>
                  <a:pt x="57735" y="69195"/>
                </a:lnTo>
                <a:lnTo>
                  <a:pt x="72611" y="45379"/>
                </a:lnTo>
                <a:cubicBezTo>
                  <a:pt x="74307" y="42665"/>
                  <a:pt x="77892" y="41817"/>
                  <a:pt x="80630" y="43537"/>
                </a:cubicBezTo>
                <a:cubicBezTo>
                  <a:pt x="83368" y="45258"/>
                  <a:pt x="84192" y="48819"/>
                  <a:pt x="82472" y="51557"/>
                </a:cubicBezTo>
                <a:close/>
              </a:path>
            </a:pathLst>
          </a:custGeom>
          <a:solidFill>
            <a:srgbClr val="FF6B00"/>
          </a:solidFill>
          <a:ln/>
        </p:spPr>
      </p:sp>
      <p:sp>
        <p:nvSpPr>
          <p:cNvPr id="65" name="Text 63"/>
          <p:cNvSpPr/>
          <p:nvPr/>
        </p:nvSpPr>
        <p:spPr>
          <a:xfrm>
            <a:off x="7753738" y="4607442"/>
            <a:ext cx="1284767" cy="177209"/>
          </a:xfrm>
          <a:prstGeom prst="rect">
            <a:avLst/>
          </a:prstGeom>
          <a:noFill/>
          <a:ln/>
        </p:spPr>
        <p:txBody>
          <a:bodyPr wrap="square" lIns="0" tIns="0" rIns="0" bIns="0" rtlCol="0" anchor="ctr"/>
          <a:lstStyle/>
          <a:p>
            <a:pPr>
              <a:lnSpc>
                <a:spcPct val="12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Drill-down capabilities</a:t>
            </a:r>
            <a:endParaRPr lang="en-US" sz="1600" dirty="0"/>
          </a:p>
        </p:txBody>
      </p:sp>
      <p:sp>
        <p:nvSpPr>
          <p:cNvPr id="66" name="Shape 64"/>
          <p:cNvSpPr/>
          <p:nvPr/>
        </p:nvSpPr>
        <p:spPr>
          <a:xfrm>
            <a:off x="7545517" y="4890977"/>
            <a:ext cx="124047" cy="124047"/>
          </a:xfrm>
          <a:custGeom>
            <a:avLst/>
            <a:gdLst/>
            <a:ahLst/>
            <a:cxnLst/>
            <a:rect l="l" t="t" r="r" b="b"/>
            <a:pathLst>
              <a:path w="124047" h="124047">
                <a:moveTo>
                  <a:pt x="62023" y="124047"/>
                </a:moveTo>
                <a:cubicBezTo>
                  <a:pt x="96255" y="124047"/>
                  <a:pt x="124047" y="96255"/>
                  <a:pt x="124047" y="62023"/>
                </a:cubicBezTo>
                <a:cubicBezTo>
                  <a:pt x="124047" y="27792"/>
                  <a:pt x="96255" y="0"/>
                  <a:pt x="62023" y="0"/>
                </a:cubicBezTo>
                <a:cubicBezTo>
                  <a:pt x="27792" y="0"/>
                  <a:pt x="0" y="27792"/>
                  <a:pt x="0" y="62023"/>
                </a:cubicBezTo>
                <a:cubicBezTo>
                  <a:pt x="0" y="96255"/>
                  <a:pt x="27792" y="124047"/>
                  <a:pt x="62023" y="124047"/>
                </a:cubicBezTo>
                <a:close/>
                <a:moveTo>
                  <a:pt x="82472" y="51533"/>
                </a:moveTo>
                <a:lnTo>
                  <a:pt x="63089" y="82544"/>
                </a:lnTo>
                <a:cubicBezTo>
                  <a:pt x="62072" y="84167"/>
                  <a:pt x="60327" y="85185"/>
                  <a:pt x="58413" y="85282"/>
                </a:cubicBezTo>
                <a:cubicBezTo>
                  <a:pt x="56499" y="85379"/>
                  <a:pt x="54658" y="84507"/>
                  <a:pt x="53519" y="82956"/>
                </a:cubicBezTo>
                <a:lnTo>
                  <a:pt x="41890" y="67450"/>
                </a:lnTo>
                <a:cubicBezTo>
                  <a:pt x="39952" y="64882"/>
                  <a:pt x="40485" y="61248"/>
                  <a:pt x="43053" y="59310"/>
                </a:cubicBezTo>
                <a:cubicBezTo>
                  <a:pt x="45621" y="57372"/>
                  <a:pt x="49255" y="57905"/>
                  <a:pt x="51193" y="60473"/>
                </a:cubicBezTo>
                <a:lnTo>
                  <a:pt x="57735" y="69195"/>
                </a:lnTo>
                <a:lnTo>
                  <a:pt x="72611" y="45379"/>
                </a:lnTo>
                <a:cubicBezTo>
                  <a:pt x="74307" y="42665"/>
                  <a:pt x="77892" y="41817"/>
                  <a:pt x="80630" y="43537"/>
                </a:cubicBezTo>
                <a:cubicBezTo>
                  <a:pt x="83368" y="45258"/>
                  <a:pt x="84192" y="48819"/>
                  <a:pt x="82472" y="51557"/>
                </a:cubicBezTo>
                <a:close/>
              </a:path>
            </a:pathLst>
          </a:custGeom>
          <a:solidFill>
            <a:srgbClr val="FF6B00"/>
          </a:solidFill>
          <a:ln/>
        </p:spPr>
      </p:sp>
      <p:sp>
        <p:nvSpPr>
          <p:cNvPr id="67" name="Text 65"/>
          <p:cNvSpPr/>
          <p:nvPr/>
        </p:nvSpPr>
        <p:spPr>
          <a:xfrm>
            <a:off x="7753738" y="4855535"/>
            <a:ext cx="1780953" cy="177209"/>
          </a:xfrm>
          <a:prstGeom prst="rect">
            <a:avLst/>
          </a:prstGeom>
          <a:noFill/>
          <a:ln/>
        </p:spPr>
        <p:txBody>
          <a:bodyPr wrap="square" lIns="0" tIns="0" rIns="0" bIns="0" rtlCol="0" anchor="ctr"/>
          <a:lstStyle/>
          <a:p>
            <a:pPr>
              <a:lnSpc>
                <a:spcPct val="12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Automated alerts &amp; notifications</a:t>
            </a:r>
            <a:endParaRPr lang="en-US" sz="1600" dirty="0"/>
          </a:p>
        </p:txBody>
      </p:sp>
      <p:sp>
        <p:nvSpPr>
          <p:cNvPr id="68" name="Shape 66"/>
          <p:cNvSpPr/>
          <p:nvPr/>
        </p:nvSpPr>
        <p:spPr>
          <a:xfrm>
            <a:off x="7545517" y="5139070"/>
            <a:ext cx="124047" cy="124047"/>
          </a:xfrm>
          <a:custGeom>
            <a:avLst/>
            <a:gdLst/>
            <a:ahLst/>
            <a:cxnLst/>
            <a:rect l="l" t="t" r="r" b="b"/>
            <a:pathLst>
              <a:path w="124047" h="124047">
                <a:moveTo>
                  <a:pt x="62023" y="124047"/>
                </a:moveTo>
                <a:cubicBezTo>
                  <a:pt x="96255" y="124047"/>
                  <a:pt x="124047" y="96255"/>
                  <a:pt x="124047" y="62023"/>
                </a:cubicBezTo>
                <a:cubicBezTo>
                  <a:pt x="124047" y="27792"/>
                  <a:pt x="96255" y="0"/>
                  <a:pt x="62023" y="0"/>
                </a:cubicBezTo>
                <a:cubicBezTo>
                  <a:pt x="27792" y="0"/>
                  <a:pt x="0" y="27792"/>
                  <a:pt x="0" y="62023"/>
                </a:cubicBezTo>
                <a:cubicBezTo>
                  <a:pt x="0" y="96255"/>
                  <a:pt x="27792" y="124047"/>
                  <a:pt x="62023" y="124047"/>
                </a:cubicBezTo>
                <a:close/>
                <a:moveTo>
                  <a:pt x="82472" y="51533"/>
                </a:moveTo>
                <a:lnTo>
                  <a:pt x="63089" y="82544"/>
                </a:lnTo>
                <a:cubicBezTo>
                  <a:pt x="62072" y="84167"/>
                  <a:pt x="60327" y="85185"/>
                  <a:pt x="58413" y="85282"/>
                </a:cubicBezTo>
                <a:cubicBezTo>
                  <a:pt x="56499" y="85379"/>
                  <a:pt x="54658" y="84507"/>
                  <a:pt x="53519" y="82956"/>
                </a:cubicBezTo>
                <a:lnTo>
                  <a:pt x="41890" y="67450"/>
                </a:lnTo>
                <a:cubicBezTo>
                  <a:pt x="39952" y="64882"/>
                  <a:pt x="40485" y="61248"/>
                  <a:pt x="43053" y="59310"/>
                </a:cubicBezTo>
                <a:cubicBezTo>
                  <a:pt x="45621" y="57372"/>
                  <a:pt x="49255" y="57905"/>
                  <a:pt x="51193" y="60473"/>
                </a:cubicBezTo>
                <a:lnTo>
                  <a:pt x="57735" y="69195"/>
                </a:lnTo>
                <a:lnTo>
                  <a:pt x="72611" y="45379"/>
                </a:lnTo>
                <a:cubicBezTo>
                  <a:pt x="74307" y="42665"/>
                  <a:pt x="77892" y="41817"/>
                  <a:pt x="80630" y="43537"/>
                </a:cubicBezTo>
                <a:cubicBezTo>
                  <a:pt x="83368" y="45258"/>
                  <a:pt x="84192" y="48819"/>
                  <a:pt x="82472" y="51557"/>
                </a:cubicBezTo>
                <a:close/>
              </a:path>
            </a:pathLst>
          </a:custGeom>
          <a:solidFill>
            <a:srgbClr val="FF6B00"/>
          </a:solidFill>
          <a:ln/>
        </p:spPr>
      </p:sp>
      <p:sp>
        <p:nvSpPr>
          <p:cNvPr id="69" name="Text 67"/>
          <p:cNvSpPr/>
          <p:nvPr/>
        </p:nvSpPr>
        <p:spPr>
          <a:xfrm>
            <a:off x="7753738" y="5103628"/>
            <a:ext cx="1541721" cy="177209"/>
          </a:xfrm>
          <a:prstGeom prst="rect">
            <a:avLst/>
          </a:prstGeom>
          <a:noFill/>
          <a:ln/>
        </p:spPr>
        <p:txBody>
          <a:bodyPr wrap="square" lIns="0" tIns="0" rIns="0" bIns="0" rtlCol="0" anchor="ctr"/>
          <a:lstStyle/>
          <a:p>
            <a:pPr>
              <a:lnSpc>
                <a:spcPct val="12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Benchmarking comparisons</a:t>
            </a:r>
            <a:endParaRPr lang="en-US" sz="1600" dirty="0"/>
          </a:p>
        </p:txBody>
      </p:sp>
      <p:sp>
        <p:nvSpPr>
          <p:cNvPr id="70" name="Shape 68"/>
          <p:cNvSpPr/>
          <p:nvPr/>
        </p:nvSpPr>
        <p:spPr>
          <a:xfrm>
            <a:off x="7545517" y="5387163"/>
            <a:ext cx="124047" cy="124047"/>
          </a:xfrm>
          <a:custGeom>
            <a:avLst/>
            <a:gdLst/>
            <a:ahLst/>
            <a:cxnLst/>
            <a:rect l="l" t="t" r="r" b="b"/>
            <a:pathLst>
              <a:path w="124047" h="124047">
                <a:moveTo>
                  <a:pt x="62023" y="124047"/>
                </a:moveTo>
                <a:cubicBezTo>
                  <a:pt x="96255" y="124047"/>
                  <a:pt x="124047" y="96255"/>
                  <a:pt x="124047" y="62023"/>
                </a:cubicBezTo>
                <a:cubicBezTo>
                  <a:pt x="124047" y="27792"/>
                  <a:pt x="96255" y="0"/>
                  <a:pt x="62023" y="0"/>
                </a:cubicBezTo>
                <a:cubicBezTo>
                  <a:pt x="27792" y="0"/>
                  <a:pt x="0" y="27792"/>
                  <a:pt x="0" y="62023"/>
                </a:cubicBezTo>
                <a:cubicBezTo>
                  <a:pt x="0" y="96255"/>
                  <a:pt x="27792" y="124047"/>
                  <a:pt x="62023" y="124047"/>
                </a:cubicBezTo>
                <a:close/>
                <a:moveTo>
                  <a:pt x="82472" y="51533"/>
                </a:moveTo>
                <a:lnTo>
                  <a:pt x="63089" y="82544"/>
                </a:lnTo>
                <a:cubicBezTo>
                  <a:pt x="62072" y="84167"/>
                  <a:pt x="60327" y="85185"/>
                  <a:pt x="58413" y="85282"/>
                </a:cubicBezTo>
                <a:cubicBezTo>
                  <a:pt x="56499" y="85379"/>
                  <a:pt x="54658" y="84507"/>
                  <a:pt x="53519" y="82956"/>
                </a:cubicBezTo>
                <a:lnTo>
                  <a:pt x="41890" y="67450"/>
                </a:lnTo>
                <a:cubicBezTo>
                  <a:pt x="39952" y="64882"/>
                  <a:pt x="40485" y="61248"/>
                  <a:pt x="43053" y="59310"/>
                </a:cubicBezTo>
                <a:cubicBezTo>
                  <a:pt x="45621" y="57372"/>
                  <a:pt x="49255" y="57905"/>
                  <a:pt x="51193" y="60473"/>
                </a:cubicBezTo>
                <a:lnTo>
                  <a:pt x="57735" y="69195"/>
                </a:lnTo>
                <a:lnTo>
                  <a:pt x="72611" y="45379"/>
                </a:lnTo>
                <a:cubicBezTo>
                  <a:pt x="74307" y="42665"/>
                  <a:pt x="77892" y="41817"/>
                  <a:pt x="80630" y="43537"/>
                </a:cubicBezTo>
                <a:cubicBezTo>
                  <a:pt x="83368" y="45258"/>
                  <a:pt x="84192" y="48819"/>
                  <a:pt x="82472" y="51557"/>
                </a:cubicBezTo>
                <a:close/>
              </a:path>
            </a:pathLst>
          </a:custGeom>
          <a:solidFill>
            <a:srgbClr val="FF6B00"/>
          </a:solidFill>
          <a:ln/>
        </p:spPr>
      </p:sp>
      <p:sp>
        <p:nvSpPr>
          <p:cNvPr id="71" name="Text 69"/>
          <p:cNvSpPr/>
          <p:nvPr/>
        </p:nvSpPr>
        <p:spPr>
          <a:xfrm>
            <a:off x="7753738" y="5351721"/>
            <a:ext cx="1568302" cy="177209"/>
          </a:xfrm>
          <a:prstGeom prst="rect">
            <a:avLst/>
          </a:prstGeom>
          <a:noFill/>
          <a:ln/>
        </p:spPr>
        <p:txBody>
          <a:bodyPr wrap="square" lIns="0" tIns="0" rIns="0" bIns="0" rtlCol="0" anchor="ctr"/>
          <a:lstStyle/>
          <a:p>
            <a:pPr>
              <a:lnSpc>
                <a:spcPct val="12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Trend analysis &amp; forecasting</a:t>
            </a:r>
            <a:endParaRPr lang="en-US" sz="1600" dirty="0"/>
          </a:p>
        </p:txBody>
      </p:sp>
      <p:sp>
        <p:nvSpPr>
          <p:cNvPr id="72" name="Shape 70"/>
          <p:cNvSpPr/>
          <p:nvPr/>
        </p:nvSpPr>
        <p:spPr>
          <a:xfrm>
            <a:off x="7359447" y="5856767"/>
            <a:ext cx="4465674" cy="992372"/>
          </a:xfrm>
          <a:custGeom>
            <a:avLst/>
            <a:gdLst/>
            <a:ahLst/>
            <a:cxnLst/>
            <a:rect l="l" t="t" r="r" b="b"/>
            <a:pathLst>
              <a:path w="4465674" h="992372">
                <a:moveTo>
                  <a:pt x="106323" y="0"/>
                </a:moveTo>
                <a:lnTo>
                  <a:pt x="4359352" y="0"/>
                </a:lnTo>
                <a:cubicBezTo>
                  <a:pt x="4418072" y="0"/>
                  <a:pt x="4465674" y="47602"/>
                  <a:pt x="4465674" y="106323"/>
                </a:cubicBezTo>
                <a:lnTo>
                  <a:pt x="4465674" y="886049"/>
                </a:lnTo>
                <a:cubicBezTo>
                  <a:pt x="4465674" y="944770"/>
                  <a:pt x="4418072" y="992372"/>
                  <a:pt x="4359352" y="992372"/>
                </a:cubicBezTo>
                <a:lnTo>
                  <a:pt x="106323" y="992372"/>
                </a:lnTo>
                <a:cubicBezTo>
                  <a:pt x="47602" y="992372"/>
                  <a:pt x="0" y="944770"/>
                  <a:pt x="0" y="886049"/>
                </a:cubicBezTo>
                <a:lnTo>
                  <a:pt x="0" y="106323"/>
                </a:lnTo>
                <a:cubicBezTo>
                  <a:pt x="0" y="47642"/>
                  <a:pt x="47642" y="0"/>
                  <a:pt x="106323" y="0"/>
                </a:cubicBezTo>
                <a:close/>
              </a:path>
            </a:pathLst>
          </a:custGeom>
          <a:solidFill>
            <a:srgbClr val="D4AF37">
              <a:alpha val="10196"/>
            </a:srgbClr>
          </a:solidFill>
          <a:ln w="25400">
            <a:solidFill>
              <a:srgbClr val="D4AF37"/>
            </a:solidFill>
            <a:prstDash val="solid"/>
          </a:ln>
        </p:spPr>
      </p:sp>
      <p:sp>
        <p:nvSpPr>
          <p:cNvPr id="73" name="Text 71"/>
          <p:cNvSpPr/>
          <p:nvPr/>
        </p:nvSpPr>
        <p:spPr>
          <a:xfrm>
            <a:off x="7510075" y="6007395"/>
            <a:ext cx="4235302" cy="212651"/>
          </a:xfrm>
          <a:prstGeom prst="rect">
            <a:avLst/>
          </a:prstGeom>
          <a:noFill/>
          <a:ln/>
        </p:spPr>
        <p:txBody>
          <a:bodyPr wrap="square" lIns="0" tIns="0" rIns="0" bIns="0" rtlCol="0" anchor="ctr"/>
          <a:lstStyle/>
          <a:p>
            <a:pPr>
              <a:lnSpc>
                <a:spcPct val="130000"/>
              </a:lnSpc>
            </a:pPr>
            <a:r>
              <a:rPr lang="en-US" sz="1116" b="1" dirty="0">
                <a:solidFill>
                  <a:srgbClr val="003087"/>
                </a:solidFill>
                <a:latin typeface="Liter" pitchFamily="34" charset="0"/>
                <a:ea typeface="Liter" pitchFamily="34" charset="-122"/>
                <a:cs typeface="Liter" pitchFamily="34" charset="-120"/>
              </a:rPr>
              <a:t>Strategic Alignment</a:t>
            </a:r>
            <a:endParaRPr lang="en-US" sz="1600" dirty="0"/>
          </a:p>
        </p:txBody>
      </p:sp>
      <p:sp>
        <p:nvSpPr>
          <p:cNvPr id="74" name="Text 72"/>
          <p:cNvSpPr/>
          <p:nvPr/>
        </p:nvSpPr>
        <p:spPr>
          <a:xfrm>
            <a:off x="7510075" y="6290930"/>
            <a:ext cx="4226442" cy="407581"/>
          </a:xfrm>
          <a:prstGeom prst="rect">
            <a:avLst/>
          </a:prstGeom>
          <a:noFill/>
          <a:ln/>
        </p:spPr>
        <p:txBody>
          <a:bodyPr wrap="square" lIns="0" tIns="0" rIns="0" bIns="0" rtlCol="0" anchor="ctr"/>
          <a:lstStyle/>
          <a:p>
            <a:pPr>
              <a:lnSpc>
                <a:spcPct val="140000"/>
              </a:lnSpc>
            </a:pPr>
            <a:r>
              <a:rPr lang="en-US" sz="977" dirty="0">
                <a:solidFill>
                  <a:srgbClr val="1A1A1A">
                    <a:alpha val="80000"/>
                  </a:srgbClr>
                </a:solidFill>
                <a:latin typeface="Quattrocento Sans" pitchFamily="34" charset="0"/>
                <a:ea typeface="Quattrocento Sans" pitchFamily="34" charset="-122"/>
                <a:cs typeface="Quattrocento Sans" pitchFamily="34" charset="-120"/>
              </a:rPr>
              <a:t>KPIs directly linked to Access Bank's 2025-2027 consolidation objectives and shareholder value creation goals.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2887" y="332887"/>
            <a:ext cx="11584481" cy="166444"/>
          </a:xfrm>
          <a:prstGeom prst="rect">
            <a:avLst/>
          </a:prstGeom>
          <a:noFill/>
          <a:ln/>
        </p:spPr>
        <p:txBody>
          <a:bodyPr wrap="square" lIns="0" tIns="0" rIns="0" bIns="0" rtlCol="0" anchor="ctr"/>
          <a:lstStyle/>
          <a:p>
            <a:pPr>
              <a:lnSpc>
                <a:spcPct val="120000"/>
              </a:lnSpc>
            </a:pPr>
            <a:r>
              <a:rPr lang="en-US" sz="917" b="1" kern="0" spc="46" dirty="0">
                <a:solidFill>
                  <a:srgbClr val="FF6B00"/>
                </a:solidFill>
                <a:latin typeface="Liter" pitchFamily="34" charset="0"/>
                <a:ea typeface="Liter" pitchFamily="34" charset="-122"/>
                <a:cs typeface="Liter" pitchFamily="34" charset="-120"/>
              </a:rPr>
              <a:t>05 | IMPLEMENTATION ROADMAP</a:t>
            </a:r>
            <a:endParaRPr lang="en-US" sz="1600" dirty="0"/>
          </a:p>
        </p:txBody>
      </p:sp>
      <p:sp>
        <p:nvSpPr>
          <p:cNvPr id="3" name="Text 1"/>
          <p:cNvSpPr/>
          <p:nvPr/>
        </p:nvSpPr>
        <p:spPr>
          <a:xfrm>
            <a:off x="332887" y="565909"/>
            <a:ext cx="11676025" cy="332887"/>
          </a:xfrm>
          <a:prstGeom prst="rect">
            <a:avLst/>
          </a:prstGeom>
          <a:noFill/>
          <a:ln/>
        </p:spPr>
        <p:txBody>
          <a:bodyPr wrap="square" lIns="0" tIns="0" rIns="0" bIns="0" rtlCol="0" anchor="ctr"/>
          <a:lstStyle/>
          <a:p>
            <a:pPr>
              <a:lnSpc>
                <a:spcPct val="90000"/>
              </a:lnSpc>
            </a:pPr>
            <a:r>
              <a:rPr lang="en-US" sz="2359" b="1" dirty="0">
                <a:solidFill>
                  <a:srgbClr val="003087"/>
                </a:solidFill>
                <a:latin typeface="Liter" pitchFamily="34" charset="0"/>
                <a:ea typeface="Liter" pitchFamily="34" charset="-122"/>
                <a:cs typeface="Liter" pitchFamily="34" charset="-120"/>
              </a:rPr>
              <a:t>Phase 1: Foundation (Months 1-6)</a:t>
            </a:r>
            <a:endParaRPr lang="en-US" sz="1600" dirty="0"/>
          </a:p>
        </p:txBody>
      </p:sp>
      <p:sp>
        <p:nvSpPr>
          <p:cNvPr id="4" name="Shape 2"/>
          <p:cNvSpPr/>
          <p:nvPr/>
        </p:nvSpPr>
        <p:spPr>
          <a:xfrm>
            <a:off x="332887" y="998662"/>
            <a:ext cx="798930" cy="33289"/>
          </a:xfrm>
          <a:custGeom>
            <a:avLst/>
            <a:gdLst/>
            <a:ahLst/>
            <a:cxnLst/>
            <a:rect l="l" t="t" r="r" b="b"/>
            <a:pathLst>
              <a:path w="798930" h="33289">
                <a:moveTo>
                  <a:pt x="0" y="0"/>
                </a:moveTo>
                <a:lnTo>
                  <a:pt x="798930" y="0"/>
                </a:lnTo>
                <a:lnTo>
                  <a:pt x="798930" y="33289"/>
                </a:lnTo>
                <a:lnTo>
                  <a:pt x="0" y="33289"/>
                </a:lnTo>
                <a:lnTo>
                  <a:pt x="0" y="0"/>
                </a:lnTo>
                <a:close/>
              </a:path>
            </a:pathLst>
          </a:custGeom>
          <a:solidFill>
            <a:srgbClr val="FF6B00"/>
          </a:solidFill>
          <a:ln/>
        </p:spPr>
      </p:sp>
      <p:sp>
        <p:nvSpPr>
          <p:cNvPr id="5" name="Shape 3"/>
          <p:cNvSpPr/>
          <p:nvPr/>
        </p:nvSpPr>
        <p:spPr>
          <a:xfrm>
            <a:off x="332887" y="1198395"/>
            <a:ext cx="7573188" cy="5475997"/>
          </a:xfrm>
          <a:custGeom>
            <a:avLst/>
            <a:gdLst/>
            <a:ahLst/>
            <a:cxnLst/>
            <a:rect l="l" t="t" r="r" b="b"/>
            <a:pathLst>
              <a:path w="7573188" h="5475997">
                <a:moveTo>
                  <a:pt x="99882" y="0"/>
                </a:moveTo>
                <a:lnTo>
                  <a:pt x="7473306" y="0"/>
                </a:lnTo>
                <a:cubicBezTo>
                  <a:pt x="7528469" y="0"/>
                  <a:pt x="7573188" y="44719"/>
                  <a:pt x="7573188" y="99882"/>
                </a:cubicBezTo>
                <a:lnTo>
                  <a:pt x="7573188" y="5376115"/>
                </a:lnTo>
                <a:cubicBezTo>
                  <a:pt x="7573188" y="5431278"/>
                  <a:pt x="7528469" y="5475997"/>
                  <a:pt x="7473306" y="5475997"/>
                </a:cubicBezTo>
                <a:lnTo>
                  <a:pt x="99882" y="5475997"/>
                </a:lnTo>
                <a:cubicBezTo>
                  <a:pt x="44719" y="5475997"/>
                  <a:pt x="0" y="5431278"/>
                  <a:pt x="0" y="5376115"/>
                </a:cubicBezTo>
                <a:lnTo>
                  <a:pt x="0" y="99882"/>
                </a:lnTo>
                <a:cubicBezTo>
                  <a:pt x="0" y="44719"/>
                  <a:pt x="44719" y="0"/>
                  <a:pt x="99882" y="0"/>
                </a:cubicBezTo>
                <a:close/>
              </a:path>
            </a:pathLst>
          </a:custGeom>
          <a:solidFill>
            <a:srgbClr val="F9FAFB"/>
          </a:solidFill>
          <a:ln/>
        </p:spPr>
      </p:sp>
      <p:sp>
        <p:nvSpPr>
          <p:cNvPr id="6" name="Text 4"/>
          <p:cNvSpPr/>
          <p:nvPr/>
        </p:nvSpPr>
        <p:spPr>
          <a:xfrm>
            <a:off x="499331" y="1364838"/>
            <a:ext cx="7323522" cy="233021"/>
          </a:xfrm>
          <a:prstGeom prst="rect">
            <a:avLst/>
          </a:prstGeom>
          <a:noFill/>
          <a:ln/>
        </p:spPr>
        <p:txBody>
          <a:bodyPr wrap="square" lIns="0" tIns="0" rIns="0" bIns="0" rtlCol="0" anchor="ctr"/>
          <a:lstStyle/>
          <a:p>
            <a:pPr>
              <a:lnSpc>
                <a:spcPct val="120000"/>
              </a:lnSpc>
            </a:pPr>
            <a:r>
              <a:rPr lang="en-US" sz="1311" b="1" dirty="0">
                <a:solidFill>
                  <a:srgbClr val="003087"/>
                </a:solidFill>
                <a:latin typeface="Liter" pitchFamily="34" charset="0"/>
                <a:ea typeface="Liter" pitchFamily="34" charset="-122"/>
                <a:cs typeface="Liter" pitchFamily="34" charset="-120"/>
              </a:rPr>
              <a:t>Phase 1 Activities &amp; Milestones</a:t>
            </a:r>
            <a:endParaRPr lang="en-US" sz="1600" dirty="0"/>
          </a:p>
        </p:txBody>
      </p:sp>
      <p:pic>
        <p:nvPicPr>
          <p:cNvPr id="7" name="Image 0" descr="https://kimi-img.moonshot.cn/pub/slides/26-03-07-03:54:51-d6lj22sr4djoecv98gdg.png"/>
          <p:cNvPicPr>
            <a:picLocks noChangeAspect="1"/>
          </p:cNvPicPr>
          <p:nvPr/>
        </p:nvPicPr>
        <p:blipFill>
          <a:blip r:embed="rId3"/>
          <a:srcRect/>
          <a:stretch/>
        </p:blipFill>
        <p:spPr>
          <a:xfrm>
            <a:off x="499331" y="1731014"/>
            <a:ext cx="6216672" cy="3495317"/>
          </a:xfrm>
          <a:prstGeom prst="roundRect">
            <a:avLst>
              <a:gd name="adj" fmla="val 0"/>
            </a:avLst>
          </a:prstGeom>
        </p:spPr>
      </p:pic>
      <p:sp>
        <p:nvSpPr>
          <p:cNvPr id="8" name="Shape 5"/>
          <p:cNvSpPr/>
          <p:nvPr/>
        </p:nvSpPr>
        <p:spPr>
          <a:xfrm>
            <a:off x="8071869" y="1198395"/>
            <a:ext cx="3786594" cy="1664437"/>
          </a:xfrm>
          <a:custGeom>
            <a:avLst/>
            <a:gdLst/>
            <a:ahLst/>
            <a:cxnLst/>
            <a:rect l="l" t="t" r="r" b="b"/>
            <a:pathLst>
              <a:path w="3786594" h="1664437">
                <a:moveTo>
                  <a:pt x="99866" y="0"/>
                </a:moveTo>
                <a:lnTo>
                  <a:pt x="3686728" y="0"/>
                </a:lnTo>
                <a:cubicBezTo>
                  <a:pt x="3741882" y="0"/>
                  <a:pt x="3786594" y="44712"/>
                  <a:pt x="3786594" y="99866"/>
                </a:cubicBezTo>
                <a:lnTo>
                  <a:pt x="3786594" y="1564571"/>
                </a:lnTo>
                <a:cubicBezTo>
                  <a:pt x="3786594" y="1619725"/>
                  <a:pt x="3741882" y="1664437"/>
                  <a:pt x="3686728" y="1664437"/>
                </a:cubicBezTo>
                <a:lnTo>
                  <a:pt x="99866" y="1664437"/>
                </a:lnTo>
                <a:cubicBezTo>
                  <a:pt x="44712" y="1664437"/>
                  <a:pt x="0" y="1619725"/>
                  <a:pt x="0" y="1564571"/>
                </a:cubicBezTo>
                <a:lnTo>
                  <a:pt x="0" y="99866"/>
                </a:lnTo>
                <a:cubicBezTo>
                  <a:pt x="0" y="44749"/>
                  <a:pt x="44749" y="0"/>
                  <a:pt x="99866" y="0"/>
                </a:cubicBezTo>
                <a:close/>
              </a:path>
            </a:pathLst>
          </a:custGeom>
          <a:gradFill flip="none" rotWithShape="1">
            <a:gsLst>
              <a:gs pos="0">
                <a:srgbClr val="003087"/>
              </a:gs>
              <a:gs pos="100000">
                <a:srgbClr val="003087">
                  <a:alpha val="90000"/>
                </a:srgbClr>
              </a:gs>
            </a:gsLst>
            <a:lin ang="2700000" scaled="1"/>
          </a:gradFill>
          <a:ln/>
        </p:spPr>
      </p:sp>
      <p:sp>
        <p:nvSpPr>
          <p:cNvPr id="9" name="Text 6"/>
          <p:cNvSpPr/>
          <p:nvPr/>
        </p:nvSpPr>
        <p:spPr>
          <a:xfrm>
            <a:off x="8238312" y="1364838"/>
            <a:ext cx="3528606" cy="233021"/>
          </a:xfrm>
          <a:prstGeom prst="rect">
            <a:avLst/>
          </a:prstGeom>
          <a:noFill/>
          <a:ln/>
        </p:spPr>
        <p:txBody>
          <a:bodyPr wrap="square" lIns="0" tIns="0" rIns="0" bIns="0" rtlCol="0" anchor="ctr"/>
          <a:lstStyle/>
          <a:p>
            <a:pPr>
              <a:lnSpc>
                <a:spcPct val="130000"/>
              </a:lnSpc>
            </a:pPr>
            <a:r>
              <a:rPr lang="en-US" sz="1180" b="1" dirty="0">
                <a:solidFill>
                  <a:srgbClr val="FFFFFF"/>
                </a:solidFill>
                <a:latin typeface="Liter" pitchFamily="34" charset="0"/>
                <a:ea typeface="Liter" pitchFamily="34" charset="-122"/>
                <a:cs typeface="Liter" pitchFamily="34" charset="-120"/>
              </a:rPr>
              <a:t>Phase 1 Objectives</a:t>
            </a:r>
            <a:endParaRPr lang="en-US" sz="1600" dirty="0"/>
          </a:p>
        </p:txBody>
      </p:sp>
      <p:sp>
        <p:nvSpPr>
          <p:cNvPr id="10" name="Shape 7"/>
          <p:cNvSpPr/>
          <p:nvPr/>
        </p:nvSpPr>
        <p:spPr>
          <a:xfrm>
            <a:off x="8254957" y="1731014"/>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88527" y="55317"/>
                </a:moveTo>
                <a:lnTo>
                  <a:pt x="67722" y="88605"/>
                </a:lnTo>
                <a:cubicBezTo>
                  <a:pt x="66629" y="90348"/>
                  <a:pt x="64757" y="91440"/>
                  <a:pt x="62702" y="91544"/>
                </a:cubicBezTo>
                <a:cubicBezTo>
                  <a:pt x="60648" y="91648"/>
                  <a:pt x="58671" y="90712"/>
                  <a:pt x="57449" y="89047"/>
                </a:cubicBezTo>
                <a:lnTo>
                  <a:pt x="44966" y="72403"/>
                </a:lnTo>
                <a:cubicBezTo>
                  <a:pt x="42885" y="69646"/>
                  <a:pt x="43457" y="65745"/>
                  <a:pt x="46214" y="63665"/>
                </a:cubicBezTo>
                <a:cubicBezTo>
                  <a:pt x="48971" y="61584"/>
                  <a:pt x="52872" y="62156"/>
                  <a:pt x="54952" y="64913"/>
                </a:cubicBezTo>
                <a:lnTo>
                  <a:pt x="61974" y="74275"/>
                </a:lnTo>
                <a:lnTo>
                  <a:pt x="77942" y="48711"/>
                </a:lnTo>
                <a:cubicBezTo>
                  <a:pt x="79763" y="45798"/>
                  <a:pt x="83612" y="44888"/>
                  <a:pt x="86551" y="46734"/>
                </a:cubicBezTo>
                <a:cubicBezTo>
                  <a:pt x="89489" y="48581"/>
                  <a:pt x="90374" y="52404"/>
                  <a:pt x="88527" y="55343"/>
                </a:cubicBezTo>
                <a:close/>
              </a:path>
            </a:pathLst>
          </a:custGeom>
          <a:solidFill>
            <a:srgbClr val="FF6B00"/>
          </a:solidFill>
          <a:ln/>
        </p:spPr>
      </p:sp>
      <p:sp>
        <p:nvSpPr>
          <p:cNvPr id="11" name="Text 8"/>
          <p:cNvSpPr/>
          <p:nvPr/>
        </p:nvSpPr>
        <p:spPr>
          <a:xfrm>
            <a:off x="8471333" y="1697726"/>
            <a:ext cx="1830881" cy="199732"/>
          </a:xfrm>
          <a:prstGeom prst="rect">
            <a:avLst/>
          </a:prstGeom>
          <a:noFill/>
          <a:ln/>
        </p:spPr>
        <p:txBody>
          <a:bodyPr wrap="square" lIns="0" tIns="0" rIns="0" bIns="0" rtlCol="0" anchor="ctr"/>
          <a:lstStyle/>
          <a:p>
            <a:pPr>
              <a:lnSpc>
                <a:spcPct val="130000"/>
              </a:lnSpc>
            </a:pPr>
            <a:r>
              <a:rPr lang="en-US" sz="1048" dirty="0">
                <a:solidFill>
                  <a:srgbClr val="FFFFFF">
                    <a:alpha val="90000"/>
                  </a:srgbClr>
                </a:solidFill>
                <a:latin typeface="Quattrocento Sans" pitchFamily="34" charset="0"/>
                <a:ea typeface="Quattrocento Sans" pitchFamily="34" charset="-122"/>
                <a:cs typeface="Quattrocento Sans" pitchFamily="34" charset="-120"/>
              </a:rPr>
              <a:t>Establish governance structure</a:t>
            </a:r>
            <a:endParaRPr lang="en-US" sz="1600" dirty="0"/>
          </a:p>
        </p:txBody>
      </p:sp>
      <p:sp>
        <p:nvSpPr>
          <p:cNvPr id="12" name="Shape 9"/>
          <p:cNvSpPr/>
          <p:nvPr/>
        </p:nvSpPr>
        <p:spPr>
          <a:xfrm>
            <a:off x="8254957" y="1997324"/>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88527" y="55317"/>
                </a:moveTo>
                <a:lnTo>
                  <a:pt x="67722" y="88605"/>
                </a:lnTo>
                <a:cubicBezTo>
                  <a:pt x="66629" y="90348"/>
                  <a:pt x="64757" y="91440"/>
                  <a:pt x="62702" y="91544"/>
                </a:cubicBezTo>
                <a:cubicBezTo>
                  <a:pt x="60648" y="91648"/>
                  <a:pt x="58671" y="90712"/>
                  <a:pt x="57449" y="89047"/>
                </a:cubicBezTo>
                <a:lnTo>
                  <a:pt x="44966" y="72403"/>
                </a:lnTo>
                <a:cubicBezTo>
                  <a:pt x="42885" y="69646"/>
                  <a:pt x="43457" y="65745"/>
                  <a:pt x="46214" y="63665"/>
                </a:cubicBezTo>
                <a:cubicBezTo>
                  <a:pt x="48971" y="61584"/>
                  <a:pt x="52872" y="62156"/>
                  <a:pt x="54952" y="64913"/>
                </a:cubicBezTo>
                <a:lnTo>
                  <a:pt x="61974" y="74275"/>
                </a:lnTo>
                <a:lnTo>
                  <a:pt x="77942" y="48711"/>
                </a:lnTo>
                <a:cubicBezTo>
                  <a:pt x="79763" y="45798"/>
                  <a:pt x="83612" y="44888"/>
                  <a:pt x="86551" y="46734"/>
                </a:cubicBezTo>
                <a:cubicBezTo>
                  <a:pt x="89489" y="48581"/>
                  <a:pt x="90374" y="52404"/>
                  <a:pt x="88527" y="55343"/>
                </a:cubicBezTo>
                <a:close/>
              </a:path>
            </a:pathLst>
          </a:custGeom>
          <a:solidFill>
            <a:srgbClr val="FF6B00"/>
          </a:solidFill>
          <a:ln/>
        </p:spPr>
      </p:sp>
      <p:sp>
        <p:nvSpPr>
          <p:cNvPr id="13" name="Text 10"/>
          <p:cNvSpPr/>
          <p:nvPr/>
        </p:nvSpPr>
        <p:spPr>
          <a:xfrm>
            <a:off x="8471333" y="1964035"/>
            <a:ext cx="1972358" cy="199732"/>
          </a:xfrm>
          <a:prstGeom prst="rect">
            <a:avLst/>
          </a:prstGeom>
          <a:noFill/>
          <a:ln/>
        </p:spPr>
        <p:txBody>
          <a:bodyPr wrap="square" lIns="0" tIns="0" rIns="0" bIns="0" rtlCol="0" anchor="ctr"/>
          <a:lstStyle/>
          <a:p>
            <a:pPr>
              <a:lnSpc>
                <a:spcPct val="130000"/>
              </a:lnSpc>
            </a:pPr>
            <a:r>
              <a:rPr lang="en-US" sz="1048" dirty="0">
                <a:solidFill>
                  <a:srgbClr val="FFFFFF">
                    <a:alpha val="90000"/>
                  </a:srgbClr>
                </a:solidFill>
                <a:latin typeface="Quattrocento Sans" pitchFamily="34" charset="0"/>
                <a:ea typeface="Quattrocento Sans" pitchFamily="34" charset="-122"/>
                <a:cs typeface="Quattrocento Sans" pitchFamily="34" charset="-120"/>
              </a:rPr>
              <a:t>Launch pilot RPA implementation</a:t>
            </a:r>
            <a:endParaRPr lang="en-US" sz="1600" dirty="0"/>
          </a:p>
        </p:txBody>
      </p:sp>
      <p:sp>
        <p:nvSpPr>
          <p:cNvPr id="14" name="Shape 11"/>
          <p:cNvSpPr/>
          <p:nvPr/>
        </p:nvSpPr>
        <p:spPr>
          <a:xfrm>
            <a:off x="8254957" y="2263634"/>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88527" y="55317"/>
                </a:moveTo>
                <a:lnTo>
                  <a:pt x="67722" y="88605"/>
                </a:lnTo>
                <a:cubicBezTo>
                  <a:pt x="66629" y="90348"/>
                  <a:pt x="64757" y="91440"/>
                  <a:pt x="62702" y="91544"/>
                </a:cubicBezTo>
                <a:cubicBezTo>
                  <a:pt x="60648" y="91648"/>
                  <a:pt x="58671" y="90712"/>
                  <a:pt x="57449" y="89047"/>
                </a:cubicBezTo>
                <a:lnTo>
                  <a:pt x="44966" y="72403"/>
                </a:lnTo>
                <a:cubicBezTo>
                  <a:pt x="42885" y="69646"/>
                  <a:pt x="43457" y="65745"/>
                  <a:pt x="46214" y="63665"/>
                </a:cubicBezTo>
                <a:cubicBezTo>
                  <a:pt x="48971" y="61584"/>
                  <a:pt x="52872" y="62156"/>
                  <a:pt x="54952" y="64913"/>
                </a:cubicBezTo>
                <a:lnTo>
                  <a:pt x="61974" y="74275"/>
                </a:lnTo>
                <a:lnTo>
                  <a:pt x="77942" y="48711"/>
                </a:lnTo>
                <a:cubicBezTo>
                  <a:pt x="79763" y="45798"/>
                  <a:pt x="83612" y="44888"/>
                  <a:pt x="86551" y="46734"/>
                </a:cubicBezTo>
                <a:cubicBezTo>
                  <a:pt x="89489" y="48581"/>
                  <a:pt x="90374" y="52404"/>
                  <a:pt x="88527" y="55343"/>
                </a:cubicBezTo>
                <a:close/>
              </a:path>
            </a:pathLst>
          </a:custGeom>
          <a:solidFill>
            <a:srgbClr val="FF6B00"/>
          </a:solidFill>
          <a:ln/>
        </p:spPr>
      </p:sp>
      <p:sp>
        <p:nvSpPr>
          <p:cNvPr id="15" name="Text 12"/>
          <p:cNvSpPr/>
          <p:nvPr/>
        </p:nvSpPr>
        <p:spPr>
          <a:xfrm>
            <a:off x="8471333" y="2230345"/>
            <a:ext cx="1689403" cy="199732"/>
          </a:xfrm>
          <a:prstGeom prst="rect">
            <a:avLst/>
          </a:prstGeom>
          <a:noFill/>
          <a:ln/>
        </p:spPr>
        <p:txBody>
          <a:bodyPr wrap="square" lIns="0" tIns="0" rIns="0" bIns="0" rtlCol="0" anchor="ctr"/>
          <a:lstStyle/>
          <a:p>
            <a:pPr>
              <a:lnSpc>
                <a:spcPct val="130000"/>
              </a:lnSpc>
            </a:pPr>
            <a:r>
              <a:rPr lang="en-US" sz="1048" dirty="0">
                <a:solidFill>
                  <a:srgbClr val="FFFFFF">
                    <a:alpha val="90000"/>
                  </a:srgbClr>
                </a:solidFill>
                <a:latin typeface="Quattrocento Sans" pitchFamily="34" charset="0"/>
                <a:ea typeface="Quattrocento Sans" pitchFamily="34" charset="-122"/>
                <a:cs typeface="Quattrocento Sans" pitchFamily="34" charset="-120"/>
              </a:rPr>
              <a:t>Initiate change management</a:t>
            </a:r>
            <a:endParaRPr lang="en-US" sz="1600" dirty="0"/>
          </a:p>
        </p:txBody>
      </p:sp>
      <p:sp>
        <p:nvSpPr>
          <p:cNvPr id="16" name="Shape 13"/>
          <p:cNvSpPr/>
          <p:nvPr/>
        </p:nvSpPr>
        <p:spPr>
          <a:xfrm>
            <a:off x="8254957" y="2529944"/>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88527" y="55317"/>
                </a:moveTo>
                <a:lnTo>
                  <a:pt x="67722" y="88605"/>
                </a:lnTo>
                <a:cubicBezTo>
                  <a:pt x="66629" y="90348"/>
                  <a:pt x="64757" y="91440"/>
                  <a:pt x="62702" y="91544"/>
                </a:cubicBezTo>
                <a:cubicBezTo>
                  <a:pt x="60648" y="91648"/>
                  <a:pt x="58671" y="90712"/>
                  <a:pt x="57449" y="89047"/>
                </a:cubicBezTo>
                <a:lnTo>
                  <a:pt x="44966" y="72403"/>
                </a:lnTo>
                <a:cubicBezTo>
                  <a:pt x="42885" y="69646"/>
                  <a:pt x="43457" y="65745"/>
                  <a:pt x="46214" y="63665"/>
                </a:cubicBezTo>
                <a:cubicBezTo>
                  <a:pt x="48971" y="61584"/>
                  <a:pt x="52872" y="62156"/>
                  <a:pt x="54952" y="64913"/>
                </a:cubicBezTo>
                <a:lnTo>
                  <a:pt x="61974" y="74275"/>
                </a:lnTo>
                <a:lnTo>
                  <a:pt x="77942" y="48711"/>
                </a:lnTo>
                <a:cubicBezTo>
                  <a:pt x="79763" y="45798"/>
                  <a:pt x="83612" y="44888"/>
                  <a:pt x="86551" y="46734"/>
                </a:cubicBezTo>
                <a:cubicBezTo>
                  <a:pt x="89489" y="48581"/>
                  <a:pt x="90374" y="52404"/>
                  <a:pt x="88527" y="55343"/>
                </a:cubicBezTo>
                <a:close/>
              </a:path>
            </a:pathLst>
          </a:custGeom>
          <a:solidFill>
            <a:srgbClr val="FF6B00"/>
          </a:solidFill>
          <a:ln/>
        </p:spPr>
      </p:sp>
      <p:sp>
        <p:nvSpPr>
          <p:cNvPr id="17" name="Text 14"/>
          <p:cNvSpPr/>
          <p:nvPr/>
        </p:nvSpPr>
        <p:spPr>
          <a:xfrm>
            <a:off x="8471333" y="2496655"/>
            <a:ext cx="1772625" cy="199732"/>
          </a:xfrm>
          <a:prstGeom prst="rect">
            <a:avLst/>
          </a:prstGeom>
          <a:noFill/>
          <a:ln/>
        </p:spPr>
        <p:txBody>
          <a:bodyPr wrap="square" lIns="0" tIns="0" rIns="0" bIns="0" rtlCol="0" anchor="ctr"/>
          <a:lstStyle/>
          <a:p>
            <a:pPr>
              <a:lnSpc>
                <a:spcPct val="130000"/>
              </a:lnSpc>
            </a:pPr>
            <a:r>
              <a:rPr lang="en-US" sz="1048" dirty="0">
                <a:solidFill>
                  <a:srgbClr val="FFFFFF">
                    <a:alpha val="90000"/>
                  </a:srgbClr>
                </a:solidFill>
                <a:latin typeface="Quattrocento Sans" pitchFamily="34" charset="0"/>
                <a:ea typeface="Quattrocento Sans" pitchFamily="34" charset="-122"/>
                <a:cs typeface="Quattrocento Sans" pitchFamily="34" charset="-120"/>
              </a:rPr>
              <a:t>Baseline performance metrics</a:t>
            </a:r>
            <a:endParaRPr lang="en-US" sz="1600" dirty="0"/>
          </a:p>
        </p:txBody>
      </p:sp>
      <p:sp>
        <p:nvSpPr>
          <p:cNvPr id="18" name="Shape 15"/>
          <p:cNvSpPr/>
          <p:nvPr/>
        </p:nvSpPr>
        <p:spPr>
          <a:xfrm>
            <a:off x="8088513" y="2995986"/>
            <a:ext cx="3769949" cy="1165106"/>
          </a:xfrm>
          <a:custGeom>
            <a:avLst/>
            <a:gdLst/>
            <a:ahLst/>
            <a:cxnLst/>
            <a:rect l="l" t="t" r="r" b="b"/>
            <a:pathLst>
              <a:path w="3769949" h="1165106">
                <a:moveTo>
                  <a:pt x="33289" y="0"/>
                </a:moveTo>
                <a:lnTo>
                  <a:pt x="3670088" y="0"/>
                </a:lnTo>
                <a:cubicBezTo>
                  <a:pt x="3725240" y="0"/>
                  <a:pt x="3769949" y="44709"/>
                  <a:pt x="3769949" y="99861"/>
                </a:cubicBezTo>
                <a:lnTo>
                  <a:pt x="3769949" y="1065245"/>
                </a:lnTo>
                <a:cubicBezTo>
                  <a:pt x="3769949" y="1120396"/>
                  <a:pt x="3725240" y="1165106"/>
                  <a:pt x="3670088" y="1165106"/>
                </a:cubicBezTo>
                <a:lnTo>
                  <a:pt x="33289" y="1165106"/>
                </a:lnTo>
                <a:cubicBezTo>
                  <a:pt x="14904" y="1165106"/>
                  <a:pt x="0" y="1150202"/>
                  <a:pt x="0" y="1131817"/>
                </a:cubicBezTo>
                <a:lnTo>
                  <a:pt x="0" y="33289"/>
                </a:lnTo>
                <a:cubicBezTo>
                  <a:pt x="0" y="14904"/>
                  <a:pt x="14904" y="0"/>
                  <a:pt x="33289" y="0"/>
                </a:cubicBezTo>
                <a:close/>
              </a:path>
            </a:pathLst>
          </a:custGeom>
          <a:solidFill>
            <a:srgbClr val="FF6B00">
              <a:alpha val="10196"/>
            </a:srgbClr>
          </a:solidFill>
          <a:ln/>
        </p:spPr>
      </p:sp>
      <p:sp>
        <p:nvSpPr>
          <p:cNvPr id="19" name="Shape 16"/>
          <p:cNvSpPr/>
          <p:nvPr/>
        </p:nvSpPr>
        <p:spPr>
          <a:xfrm>
            <a:off x="8088513" y="2995986"/>
            <a:ext cx="33289" cy="1165106"/>
          </a:xfrm>
          <a:custGeom>
            <a:avLst/>
            <a:gdLst/>
            <a:ahLst/>
            <a:cxnLst/>
            <a:rect l="l" t="t" r="r" b="b"/>
            <a:pathLst>
              <a:path w="33289" h="1165106">
                <a:moveTo>
                  <a:pt x="33289" y="0"/>
                </a:moveTo>
                <a:lnTo>
                  <a:pt x="33289" y="0"/>
                </a:lnTo>
                <a:lnTo>
                  <a:pt x="33289" y="1165106"/>
                </a:lnTo>
                <a:lnTo>
                  <a:pt x="33289" y="1165106"/>
                </a:lnTo>
                <a:cubicBezTo>
                  <a:pt x="14904" y="1165106"/>
                  <a:pt x="0" y="1150202"/>
                  <a:pt x="0" y="1131817"/>
                </a:cubicBezTo>
                <a:lnTo>
                  <a:pt x="0" y="33289"/>
                </a:lnTo>
                <a:cubicBezTo>
                  <a:pt x="0" y="14904"/>
                  <a:pt x="14904" y="0"/>
                  <a:pt x="33289" y="0"/>
                </a:cubicBezTo>
                <a:close/>
              </a:path>
            </a:pathLst>
          </a:custGeom>
          <a:solidFill>
            <a:srgbClr val="FF6B00"/>
          </a:solidFill>
          <a:ln/>
        </p:spPr>
      </p:sp>
      <p:sp>
        <p:nvSpPr>
          <p:cNvPr id="20" name="Text 17"/>
          <p:cNvSpPr/>
          <p:nvPr/>
        </p:nvSpPr>
        <p:spPr>
          <a:xfrm>
            <a:off x="8238312" y="3129141"/>
            <a:ext cx="3553573" cy="199732"/>
          </a:xfrm>
          <a:prstGeom prst="rect">
            <a:avLst/>
          </a:prstGeom>
          <a:noFill/>
          <a:ln/>
        </p:spPr>
        <p:txBody>
          <a:bodyPr wrap="square" lIns="0" tIns="0" rIns="0" bIns="0" rtlCol="0" anchor="ctr"/>
          <a:lstStyle/>
          <a:p>
            <a:pPr>
              <a:lnSpc>
                <a:spcPct val="130000"/>
              </a:lnSpc>
            </a:pPr>
            <a:r>
              <a:rPr lang="en-US" sz="1048" b="1" dirty="0">
                <a:solidFill>
                  <a:srgbClr val="003087"/>
                </a:solidFill>
                <a:latin typeface="Liter" pitchFamily="34" charset="0"/>
                <a:ea typeface="Liter" pitchFamily="34" charset="-122"/>
                <a:cs typeface="Liter" pitchFamily="34" charset="-120"/>
              </a:rPr>
              <a:t>Resource Requirements</a:t>
            </a:r>
            <a:endParaRPr lang="en-US" sz="1600" dirty="0"/>
          </a:p>
        </p:txBody>
      </p:sp>
      <p:sp>
        <p:nvSpPr>
          <p:cNvPr id="21" name="Text 18"/>
          <p:cNvSpPr/>
          <p:nvPr/>
        </p:nvSpPr>
        <p:spPr>
          <a:xfrm>
            <a:off x="8238312" y="3395451"/>
            <a:ext cx="748997"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Project Team:</a:t>
            </a:r>
            <a:endParaRPr lang="en-US" sz="1600" dirty="0"/>
          </a:p>
        </p:txBody>
      </p:sp>
      <p:sp>
        <p:nvSpPr>
          <p:cNvPr id="22" name="Text 19"/>
          <p:cNvSpPr/>
          <p:nvPr/>
        </p:nvSpPr>
        <p:spPr>
          <a:xfrm>
            <a:off x="11232023" y="3395451"/>
            <a:ext cx="549264" cy="166444"/>
          </a:xfrm>
          <a:prstGeom prst="rect">
            <a:avLst/>
          </a:prstGeom>
          <a:noFill/>
          <a:ln/>
        </p:spPr>
        <p:txBody>
          <a:bodyPr wrap="square" lIns="0" tIns="0" rIns="0" bIns="0" rtlCol="0" anchor="ctr"/>
          <a:lstStyle/>
          <a:p>
            <a:pPr>
              <a:lnSpc>
                <a:spcPct val="120000"/>
              </a:lnSpc>
            </a:pPr>
            <a:r>
              <a:rPr lang="en-US" sz="917" b="1" dirty="0">
                <a:solidFill>
                  <a:srgbClr val="003087"/>
                </a:solidFill>
                <a:latin typeface="Quattrocento Sans" pitchFamily="34" charset="0"/>
                <a:ea typeface="Quattrocento Sans" pitchFamily="34" charset="-122"/>
                <a:cs typeface="Quattrocento Sans" pitchFamily="34" charset="-120"/>
              </a:rPr>
              <a:t>8-10 FTEs</a:t>
            </a:r>
            <a:endParaRPr lang="en-US" sz="1600" dirty="0"/>
          </a:p>
        </p:txBody>
      </p:sp>
      <p:sp>
        <p:nvSpPr>
          <p:cNvPr id="23" name="Text 20"/>
          <p:cNvSpPr/>
          <p:nvPr/>
        </p:nvSpPr>
        <p:spPr>
          <a:xfrm>
            <a:off x="8238312" y="3628472"/>
            <a:ext cx="441076"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Budget:</a:t>
            </a:r>
            <a:endParaRPr lang="en-US" sz="1600" dirty="0"/>
          </a:p>
        </p:txBody>
      </p:sp>
      <p:sp>
        <p:nvSpPr>
          <p:cNvPr id="24" name="Text 21"/>
          <p:cNvSpPr/>
          <p:nvPr/>
        </p:nvSpPr>
        <p:spPr>
          <a:xfrm>
            <a:off x="11066880" y="3628472"/>
            <a:ext cx="715708" cy="166444"/>
          </a:xfrm>
          <a:prstGeom prst="rect">
            <a:avLst/>
          </a:prstGeom>
          <a:noFill/>
          <a:ln/>
        </p:spPr>
        <p:txBody>
          <a:bodyPr wrap="square" lIns="0" tIns="0" rIns="0" bIns="0" rtlCol="0" anchor="ctr"/>
          <a:lstStyle/>
          <a:p>
            <a:pPr>
              <a:lnSpc>
                <a:spcPct val="120000"/>
              </a:lnSpc>
            </a:pPr>
            <a:r>
              <a:rPr lang="en-US" sz="917" b="1" dirty="0">
                <a:solidFill>
                  <a:srgbClr val="003087"/>
                </a:solidFill>
                <a:latin typeface="Quattrocento Sans" pitchFamily="34" charset="0"/>
                <a:ea typeface="Quattrocento Sans" pitchFamily="34" charset="-122"/>
                <a:cs typeface="Quattrocento Sans" pitchFamily="34" charset="-120"/>
              </a:rPr>
              <a:t>$800K - $1M</a:t>
            </a:r>
            <a:endParaRPr lang="en-US" sz="1600" dirty="0"/>
          </a:p>
        </p:txBody>
      </p:sp>
      <p:sp>
        <p:nvSpPr>
          <p:cNvPr id="25" name="Text 22"/>
          <p:cNvSpPr/>
          <p:nvPr/>
        </p:nvSpPr>
        <p:spPr>
          <a:xfrm>
            <a:off x="8238312" y="3861494"/>
            <a:ext cx="890474"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Vendor Support:</a:t>
            </a:r>
            <a:endParaRPr lang="en-US" sz="1600" dirty="0"/>
          </a:p>
        </p:txBody>
      </p:sp>
      <p:sp>
        <p:nvSpPr>
          <p:cNvPr id="26" name="Text 23"/>
          <p:cNvSpPr/>
          <p:nvPr/>
        </p:nvSpPr>
        <p:spPr>
          <a:xfrm>
            <a:off x="11127606" y="3861494"/>
            <a:ext cx="657453" cy="166444"/>
          </a:xfrm>
          <a:prstGeom prst="rect">
            <a:avLst/>
          </a:prstGeom>
          <a:noFill/>
          <a:ln/>
        </p:spPr>
        <p:txBody>
          <a:bodyPr wrap="square" lIns="0" tIns="0" rIns="0" bIns="0" rtlCol="0" anchor="ctr"/>
          <a:lstStyle/>
          <a:p>
            <a:pPr>
              <a:lnSpc>
                <a:spcPct val="120000"/>
              </a:lnSpc>
            </a:pPr>
            <a:r>
              <a:rPr lang="en-US" sz="917" b="1" dirty="0">
                <a:solidFill>
                  <a:srgbClr val="003087"/>
                </a:solidFill>
                <a:latin typeface="Quattrocento Sans" pitchFamily="34" charset="0"/>
                <a:ea typeface="Quattrocento Sans" pitchFamily="34" charset="-122"/>
                <a:cs typeface="Quattrocento Sans" pitchFamily="34" charset="-120"/>
              </a:rPr>
              <a:t>RPA Partner</a:t>
            </a:r>
            <a:endParaRPr lang="en-US" sz="1600" dirty="0"/>
          </a:p>
        </p:txBody>
      </p:sp>
      <p:sp>
        <p:nvSpPr>
          <p:cNvPr id="27" name="Shape 24"/>
          <p:cNvSpPr/>
          <p:nvPr/>
        </p:nvSpPr>
        <p:spPr>
          <a:xfrm>
            <a:off x="8071869" y="4294247"/>
            <a:ext cx="3786594" cy="1298261"/>
          </a:xfrm>
          <a:custGeom>
            <a:avLst/>
            <a:gdLst/>
            <a:ahLst/>
            <a:cxnLst/>
            <a:rect l="l" t="t" r="r" b="b"/>
            <a:pathLst>
              <a:path w="3786594" h="1298261">
                <a:moveTo>
                  <a:pt x="99862" y="0"/>
                </a:moveTo>
                <a:lnTo>
                  <a:pt x="3686732" y="0"/>
                </a:lnTo>
                <a:cubicBezTo>
                  <a:pt x="3741884" y="0"/>
                  <a:pt x="3786594" y="44710"/>
                  <a:pt x="3786594" y="99862"/>
                </a:cubicBezTo>
                <a:lnTo>
                  <a:pt x="3786594" y="1198399"/>
                </a:lnTo>
                <a:cubicBezTo>
                  <a:pt x="3786594" y="1253551"/>
                  <a:pt x="3741884" y="1298261"/>
                  <a:pt x="3686732" y="1298261"/>
                </a:cubicBezTo>
                <a:lnTo>
                  <a:pt x="99862" y="1298261"/>
                </a:lnTo>
                <a:cubicBezTo>
                  <a:pt x="44710" y="1298261"/>
                  <a:pt x="0" y="1253551"/>
                  <a:pt x="0" y="1198399"/>
                </a:cubicBezTo>
                <a:lnTo>
                  <a:pt x="0" y="99862"/>
                </a:lnTo>
                <a:cubicBezTo>
                  <a:pt x="0" y="44747"/>
                  <a:pt x="44747" y="0"/>
                  <a:pt x="99862" y="0"/>
                </a:cubicBezTo>
                <a:close/>
              </a:path>
            </a:pathLst>
          </a:custGeom>
          <a:solidFill>
            <a:srgbClr val="F9FAFB"/>
          </a:solidFill>
          <a:ln/>
        </p:spPr>
      </p:sp>
      <p:sp>
        <p:nvSpPr>
          <p:cNvPr id="28" name="Text 25"/>
          <p:cNvSpPr/>
          <p:nvPr/>
        </p:nvSpPr>
        <p:spPr>
          <a:xfrm>
            <a:off x="8205024" y="4427402"/>
            <a:ext cx="3586861" cy="199732"/>
          </a:xfrm>
          <a:prstGeom prst="rect">
            <a:avLst/>
          </a:prstGeom>
          <a:noFill/>
          <a:ln/>
        </p:spPr>
        <p:txBody>
          <a:bodyPr wrap="square" lIns="0" tIns="0" rIns="0" bIns="0" rtlCol="0" anchor="ctr"/>
          <a:lstStyle/>
          <a:p>
            <a:pPr>
              <a:lnSpc>
                <a:spcPct val="130000"/>
              </a:lnSpc>
            </a:pPr>
            <a:r>
              <a:rPr lang="en-US" sz="1048" b="1" dirty="0">
                <a:solidFill>
                  <a:srgbClr val="003087"/>
                </a:solidFill>
                <a:latin typeface="Liter" pitchFamily="34" charset="0"/>
                <a:ea typeface="Liter" pitchFamily="34" charset="-122"/>
                <a:cs typeface="Liter" pitchFamily="34" charset="-120"/>
              </a:rPr>
              <a:t>Success Criteria</a:t>
            </a:r>
            <a:endParaRPr lang="en-US" sz="1600" dirty="0"/>
          </a:p>
        </p:txBody>
      </p:sp>
      <p:sp>
        <p:nvSpPr>
          <p:cNvPr id="29" name="Shape 26"/>
          <p:cNvSpPr/>
          <p:nvPr/>
        </p:nvSpPr>
        <p:spPr>
          <a:xfrm>
            <a:off x="8228950" y="4727001"/>
            <a:ext cx="101947" cy="116511"/>
          </a:xfrm>
          <a:custGeom>
            <a:avLst/>
            <a:gdLst/>
            <a:ahLst/>
            <a:cxnLst/>
            <a:rect l="l" t="t" r="r" b="b"/>
            <a:pathLst>
              <a:path w="101947" h="116511">
                <a:moveTo>
                  <a:pt x="98943" y="15952"/>
                </a:moveTo>
                <a:cubicBezTo>
                  <a:pt x="102197" y="18319"/>
                  <a:pt x="102925" y="22870"/>
                  <a:pt x="100559" y="26124"/>
                </a:cubicBezTo>
                <a:lnTo>
                  <a:pt x="42303" y="106225"/>
                </a:lnTo>
                <a:cubicBezTo>
                  <a:pt x="41052" y="107954"/>
                  <a:pt x="39118" y="109024"/>
                  <a:pt x="36978" y="109206"/>
                </a:cubicBezTo>
                <a:cubicBezTo>
                  <a:pt x="34839" y="109388"/>
                  <a:pt x="32769" y="108592"/>
                  <a:pt x="31267" y="107090"/>
                </a:cubicBezTo>
                <a:lnTo>
                  <a:pt x="2139" y="77962"/>
                </a:lnTo>
                <a:cubicBezTo>
                  <a:pt x="-705" y="75117"/>
                  <a:pt x="-705" y="70498"/>
                  <a:pt x="2139" y="67654"/>
                </a:cubicBezTo>
                <a:cubicBezTo>
                  <a:pt x="4984" y="64809"/>
                  <a:pt x="9603" y="64809"/>
                  <a:pt x="12448" y="67654"/>
                </a:cubicBezTo>
                <a:lnTo>
                  <a:pt x="35545" y="90751"/>
                </a:lnTo>
                <a:lnTo>
                  <a:pt x="88794" y="17545"/>
                </a:lnTo>
                <a:cubicBezTo>
                  <a:pt x="91160" y="14291"/>
                  <a:pt x="95712" y="13563"/>
                  <a:pt x="98966" y="15929"/>
                </a:cubicBezTo>
                <a:close/>
              </a:path>
            </a:pathLst>
          </a:custGeom>
          <a:solidFill>
            <a:srgbClr val="FF6B00"/>
          </a:solidFill>
          <a:ln/>
        </p:spPr>
      </p:sp>
      <p:sp>
        <p:nvSpPr>
          <p:cNvPr id="30" name="Text 27"/>
          <p:cNvSpPr/>
          <p:nvPr/>
        </p:nvSpPr>
        <p:spPr>
          <a:xfrm>
            <a:off x="8417239" y="4693712"/>
            <a:ext cx="1639470"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Steering committee operational</a:t>
            </a:r>
            <a:endParaRPr lang="en-US" sz="1600" dirty="0"/>
          </a:p>
        </p:txBody>
      </p:sp>
      <p:sp>
        <p:nvSpPr>
          <p:cNvPr id="31" name="Shape 28"/>
          <p:cNvSpPr/>
          <p:nvPr/>
        </p:nvSpPr>
        <p:spPr>
          <a:xfrm>
            <a:off x="8228950" y="4926733"/>
            <a:ext cx="101947" cy="116511"/>
          </a:xfrm>
          <a:custGeom>
            <a:avLst/>
            <a:gdLst/>
            <a:ahLst/>
            <a:cxnLst/>
            <a:rect l="l" t="t" r="r" b="b"/>
            <a:pathLst>
              <a:path w="101947" h="116511">
                <a:moveTo>
                  <a:pt x="98943" y="15952"/>
                </a:moveTo>
                <a:cubicBezTo>
                  <a:pt x="102197" y="18319"/>
                  <a:pt x="102925" y="22870"/>
                  <a:pt x="100559" y="26124"/>
                </a:cubicBezTo>
                <a:lnTo>
                  <a:pt x="42303" y="106225"/>
                </a:lnTo>
                <a:cubicBezTo>
                  <a:pt x="41052" y="107954"/>
                  <a:pt x="39118" y="109024"/>
                  <a:pt x="36978" y="109206"/>
                </a:cubicBezTo>
                <a:cubicBezTo>
                  <a:pt x="34839" y="109388"/>
                  <a:pt x="32769" y="108592"/>
                  <a:pt x="31267" y="107090"/>
                </a:cubicBezTo>
                <a:lnTo>
                  <a:pt x="2139" y="77962"/>
                </a:lnTo>
                <a:cubicBezTo>
                  <a:pt x="-705" y="75117"/>
                  <a:pt x="-705" y="70498"/>
                  <a:pt x="2139" y="67654"/>
                </a:cubicBezTo>
                <a:cubicBezTo>
                  <a:pt x="4984" y="64809"/>
                  <a:pt x="9603" y="64809"/>
                  <a:pt x="12448" y="67654"/>
                </a:cubicBezTo>
                <a:lnTo>
                  <a:pt x="35545" y="90751"/>
                </a:lnTo>
                <a:lnTo>
                  <a:pt x="88794" y="17545"/>
                </a:lnTo>
                <a:cubicBezTo>
                  <a:pt x="91160" y="14291"/>
                  <a:pt x="95712" y="13563"/>
                  <a:pt x="98966" y="15929"/>
                </a:cubicBezTo>
                <a:close/>
              </a:path>
            </a:pathLst>
          </a:custGeom>
          <a:solidFill>
            <a:srgbClr val="FF6B00"/>
          </a:solidFill>
          <a:ln/>
        </p:spPr>
      </p:sp>
      <p:sp>
        <p:nvSpPr>
          <p:cNvPr id="32" name="Text 29"/>
          <p:cNvSpPr/>
          <p:nvPr/>
        </p:nvSpPr>
        <p:spPr>
          <a:xfrm>
            <a:off x="8417239" y="4893444"/>
            <a:ext cx="1506315"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2-3 RPA processes deployed</a:t>
            </a:r>
            <a:endParaRPr lang="en-US" sz="1600" dirty="0"/>
          </a:p>
        </p:txBody>
      </p:sp>
      <p:sp>
        <p:nvSpPr>
          <p:cNvPr id="33" name="Shape 30"/>
          <p:cNvSpPr/>
          <p:nvPr/>
        </p:nvSpPr>
        <p:spPr>
          <a:xfrm>
            <a:off x="8228950" y="5126466"/>
            <a:ext cx="101947" cy="116511"/>
          </a:xfrm>
          <a:custGeom>
            <a:avLst/>
            <a:gdLst/>
            <a:ahLst/>
            <a:cxnLst/>
            <a:rect l="l" t="t" r="r" b="b"/>
            <a:pathLst>
              <a:path w="101947" h="116511">
                <a:moveTo>
                  <a:pt x="98943" y="15952"/>
                </a:moveTo>
                <a:cubicBezTo>
                  <a:pt x="102197" y="18319"/>
                  <a:pt x="102925" y="22870"/>
                  <a:pt x="100559" y="26124"/>
                </a:cubicBezTo>
                <a:lnTo>
                  <a:pt x="42303" y="106225"/>
                </a:lnTo>
                <a:cubicBezTo>
                  <a:pt x="41052" y="107954"/>
                  <a:pt x="39118" y="109024"/>
                  <a:pt x="36978" y="109206"/>
                </a:cubicBezTo>
                <a:cubicBezTo>
                  <a:pt x="34839" y="109388"/>
                  <a:pt x="32769" y="108592"/>
                  <a:pt x="31267" y="107090"/>
                </a:cubicBezTo>
                <a:lnTo>
                  <a:pt x="2139" y="77962"/>
                </a:lnTo>
                <a:cubicBezTo>
                  <a:pt x="-705" y="75117"/>
                  <a:pt x="-705" y="70498"/>
                  <a:pt x="2139" y="67654"/>
                </a:cubicBezTo>
                <a:cubicBezTo>
                  <a:pt x="4984" y="64809"/>
                  <a:pt x="9603" y="64809"/>
                  <a:pt x="12448" y="67654"/>
                </a:cubicBezTo>
                <a:lnTo>
                  <a:pt x="35545" y="90751"/>
                </a:lnTo>
                <a:lnTo>
                  <a:pt x="88794" y="17545"/>
                </a:lnTo>
                <a:cubicBezTo>
                  <a:pt x="91160" y="14291"/>
                  <a:pt x="95712" y="13563"/>
                  <a:pt x="98966" y="15929"/>
                </a:cubicBezTo>
                <a:close/>
              </a:path>
            </a:pathLst>
          </a:custGeom>
          <a:solidFill>
            <a:srgbClr val="FF6B00"/>
          </a:solidFill>
          <a:ln/>
        </p:spPr>
      </p:sp>
      <p:sp>
        <p:nvSpPr>
          <p:cNvPr id="34" name="Text 31"/>
          <p:cNvSpPr/>
          <p:nvPr/>
        </p:nvSpPr>
        <p:spPr>
          <a:xfrm>
            <a:off x="8417239" y="5093177"/>
            <a:ext cx="1406449"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Training program launched</a:t>
            </a:r>
            <a:endParaRPr lang="en-US" sz="1600" dirty="0"/>
          </a:p>
        </p:txBody>
      </p:sp>
      <p:sp>
        <p:nvSpPr>
          <p:cNvPr id="35" name="Shape 32"/>
          <p:cNvSpPr/>
          <p:nvPr/>
        </p:nvSpPr>
        <p:spPr>
          <a:xfrm>
            <a:off x="8228950" y="5326198"/>
            <a:ext cx="101947" cy="116511"/>
          </a:xfrm>
          <a:custGeom>
            <a:avLst/>
            <a:gdLst/>
            <a:ahLst/>
            <a:cxnLst/>
            <a:rect l="l" t="t" r="r" b="b"/>
            <a:pathLst>
              <a:path w="101947" h="116511">
                <a:moveTo>
                  <a:pt x="98943" y="15952"/>
                </a:moveTo>
                <a:cubicBezTo>
                  <a:pt x="102197" y="18319"/>
                  <a:pt x="102925" y="22870"/>
                  <a:pt x="100559" y="26124"/>
                </a:cubicBezTo>
                <a:lnTo>
                  <a:pt x="42303" y="106225"/>
                </a:lnTo>
                <a:cubicBezTo>
                  <a:pt x="41052" y="107954"/>
                  <a:pt x="39118" y="109024"/>
                  <a:pt x="36978" y="109206"/>
                </a:cubicBezTo>
                <a:cubicBezTo>
                  <a:pt x="34839" y="109388"/>
                  <a:pt x="32769" y="108592"/>
                  <a:pt x="31267" y="107090"/>
                </a:cubicBezTo>
                <a:lnTo>
                  <a:pt x="2139" y="77962"/>
                </a:lnTo>
                <a:cubicBezTo>
                  <a:pt x="-705" y="75117"/>
                  <a:pt x="-705" y="70498"/>
                  <a:pt x="2139" y="67654"/>
                </a:cubicBezTo>
                <a:cubicBezTo>
                  <a:pt x="4984" y="64809"/>
                  <a:pt x="9603" y="64809"/>
                  <a:pt x="12448" y="67654"/>
                </a:cubicBezTo>
                <a:lnTo>
                  <a:pt x="35545" y="90751"/>
                </a:lnTo>
                <a:lnTo>
                  <a:pt x="88794" y="17545"/>
                </a:lnTo>
                <a:cubicBezTo>
                  <a:pt x="91160" y="14291"/>
                  <a:pt x="95712" y="13563"/>
                  <a:pt x="98966" y="15929"/>
                </a:cubicBezTo>
                <a:close/>
              </a:path>
            </a:pathLst>
          </a:custGeom>
          <a:solidFill>
            <a:srgbClr val="FF6B00"/>
          </a:solidFill>
          <a:ln/>
        </p:spPr>
      </p:sp>
      <p:sp>
        <p:nvSpPr>
          <p:cNvPr id="36" name="Text 33"/>
          <p:cNvSpPr/>
          <p:nvPr/>
        </p:nvSpPr>
        <p:spPr>
          <a:xfrm>
            <a:off x="8417239" y="5292909"/>
            <a:ext cx="1473027" cy="166444"/>
          </a:xfrm>
          <a:prstGeom prst="rect">
            <a:avLst/>
          </a:prstGeom>
          <a:noFill/>
          <a:ln/>
        </p:spPr>
        <p:txBody>
          <a:bodyPr wrap="square" lIns="0" tIns="0" rIns="0" bIns="0" rtlCol="0" anchor="ctr"/>
          <a:lstStyle/>
          <a:p>
            <a:pPr>
              <a:lnSpc>
                <a:spcPct val="12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Baseline metrics established</a:t>
            </a:r>
            <a:endParaRPr lang="en-US" sz="1600" dirty="0"/>
          </a:p>
        </p:txBody>
      </p:sp>
      <p:sp>
        <p:nvSpPr>
          <p:cNvPr id="37" name="Shape 34"/>
          <p:cNvSpPr/>
          <p:nvPr/>
        </p:nvSpPr>
        <p:spPr>
          <a:xfrm>
            <a:off x="8080191" y="5733985"/>
            <a:ext cx="3769949" cy="932085"/>
          </a:xfrm>
          <a:custGeom>
            <a:avLst/>
            <a:gdLst/>
            <a:ahLst/>
            <a:cxnLst/>
            <a:rect l="l" t="t" r="r" b="b"/>
            <a:pathLst>
              <a:path w="3769949" h="932085">
                <a:moveTo>
                  <a:pt x="99864" y="0"/>
                </a:moveTo>
                <a:lnTo>
                  <a:pt x="3670086" y="0"/>
                </a:lnTo>
                <a:cubicBezTo>
                  <a:pt x="3725239" y="0"/>
                  <a:pt x="3769949" y="44710"/>
                  <a:pt x="3769949" y="99864"/>
                </a:cubicBezTo>
                <a:lnTo>
                  <a:pt x="3769949" y="832221"/>
                </a:lnTo>
                <a:cubicBezTo>
                  <a:pt x="3769949" y="887374"/>
                  <a:pt x="3725239" y="932085"/>
                  <a:pt x="3670086" y="932085"/>
                </a:cubicBezTo>
                <a:lnTo>
                  <a:pt x="99864" y="932085"/>
                </a:lnTo>
                <a:cubicBezTo>
                  <a:pt x="44747" y="932085"/>
                  <a:pt x="0" y="887337"/>
                  <a:pt x="0" y="832221"/>
                </a:cubicBezTo>
                <a:lnTo>
                  <a:pt x="0" y="99864"/>
                </a:lnTo>
                <a:cubicBezTo>
                  <a:pt x="0" y="44747"/>
                  <a:pt x="44747" y="0"/>
                  <a:pt x="99864" y="0"/>
                </a:cubicBezTo>
                <a:close/>
              </a:path>
            </a:pathLst>
          </a:custGeom>
          <a:solidFill>
            <a:srgbClr val="D4AF37">
              <a:alpha val="10196"/>
            </a:srgbClr>
          </a:solidFill>
          <a:ln w="25400">
            <a:solidFill>
              <a:srgbClr val="D4AF37"/>
            </a:solidFill>
            <a:prstDash val="solid"/>
          </a:ln>
        </p:spPr>
      </p:sp>
      <p:sp>
        <p:nvSpPr>
          <p:cNvPr id="38" name="Text 35"/>
          <p:cNvSpPr/>
          <p:nvPr/>
        </p:nvSpPr>
        <p:spPr>
          <a:xfrm>
            <a:off x="8221668" y="5875462"/>
            <a:ext cx="3553573" cy="199732"/>
          </a:xfrm>
          <a:prstGeom prst="rect">
            <a:avLst/>
          </a:prstGeom>
          <a:noFill/>
          <a:ln/>
        </p:spPr>
        <p:txBody>
          <a:bodyPr wrap="square" lIns="0" tIns="0" rIns="0" bIns="0" rtlCol="0" anchor="ctr"/>
          <a:lstStyle/>
          <a:p>
            <a:pPr>
              <a:lnSpc>
                <a:spcPct val="130000"/>
              </a:lnSpc>
            </a:pPr>
            <a:r>
              <a:rPr lang="en-US" sz="1048" b="1" dirty="0">
                <a:solidFill>
                  <a:srgbClr val="003087"/>
                </a:solidFill>
                <a:latin typeface="Liter" pitchFamily="34" charset="0"/>
                <a:ea typeface="Liter" pitchFamily="34" charset="-122"/>
                <a:cs typeface="Liter" pitchFamily="34" charset="-120"/>
              </a:rPr>
              <a:t>Risk Mitigation</a:t>
            </a:r>
            <a:endParaRPr lang="en-US" sz="1600" dirty="0"/>
          </a:p>
        </p:txBody>
      </p:sp>
      <p:sp>
        <p:nvSpPr>
          <p:cNvPr id="39" name="Text 36"/>
          <p:cNvSpPr/>
          <p:nvPr/>
        </p:nvSpPr>
        <p:spPr>
          <a:xfrm>
            <a:off x="8221668" y="6141772"/>
            <a:ext cx="3545251" cy="382820"/>
          </a:xfrm>
          <a:prstGeom prst="rect">
            <a:avLst/>
          </a:prstGeom>
          <a:noFill/>
          <a:ln/>
        </p:spPr>
        <p:txBody>
          <a:bodyPr wrap="square" lIns="0" tIns="0" rIns="0" bIns="0" rtlCol="0" anchor="ctr"/>
          <a:lstStyle/>
          <a:p>
            <a:pPr>
              <a:lnSpc>
                <a:spcPct val="140000"/>
              </a:lnSpc>
            </a:pPr>
            <a:r>
              <a:rPr lang="en-US" sz="917" dirty="0">
                <a:solidFill>
                  <a:srgbClr val="1A1A1A">
                    <a:alpha val="80000"/>
                  </a:srgbClr>
                </a:solidFill>
                <a:latin typeface="Quattrocento Sans" pitchFamily="34" charset="0"/>
                <a:ea typeface="Quattrocento Sans" pitchFamily="34" charset="-122"/>
                <a:cs typeface="Quattrocento Sans" pitchFamily="34" charset="-120"/>
              </a:rPr>
              <a:t>Early stakeholder engagement, phased rollout approach, and dedicated change management resources to minimize resistance.</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5120" y="325120"/>
            <a:ext cx="11598656" cy="162560"/>
          </a:xfrm>
          <a:prstGeom prst="rect">
            <a:avLst/>
          </a:prstGeom>
          <a:noFill/>
          <a:ln/>
        </p:spPr>
        <p:txBody>
          <a:bodyPr wrap="square" lIns="0" tIns="0" rIns="0" bIns="0" rtlCol="0" anchor="ctr"/>
          <a:lstStyle/>
          <a:p>
            <a:pPr>
              <a:lnSpc>
                <a:spcPct val="120000"/>
              </a:lnSpc>
            </a:pPr>
            <a:r>
              <a:rPr lang="en-US" sz="896" b="1" kern="0" spc="45" dirty="0">
                <a:solidFill>
                  <a:srgbClr val="FF6B00"/>
                </a:solidFill>
                <a:latin typeface="Liter" pitchFamily="34" charset="0"/>
                <a:ea typeface="Liter" pitchFamily="34" charset="-122"/>
                <a:cs typeface="Liter" pitchFamily="34" charset="-120"/>
              </a:rPr>
              <a:t>05 | IMPLEMENTATION ROADMAP</a:t>
            </a:r>
            <a:endParaRPr lang="en-US" sz="1600" dirty="0"/>
          </a:p>
        </p:txBody>
      </p:sp>
      <p:sp>
        <p:nvSpPr>
          <p:cNvPr id="3" name="Text 1"/>
          <p:cNvSpPr/>
          <p:nvPr/>
        </p:nvSpPr>
        <p:spPr>
          <a:xfrm>
            <a:off x="325120" y="552704"/>
            <a:ext cx="11688064" cy="325120"/>
          </a:xfrm>
          <a:prstGeom prst="rect">
            <a:avLst/>
          </a:prstGeom>
          <a:noFill/>
          <a:ln/>
        </p:spPr>
        <p:txBody>
          <a:bodyPr wrap="square" lIns="0" tIns="0" rIns="0" bIns="0" rtlCol="0" anchor="ctr"/>
          <a:lstStyle/>
          <a:p>
            <a:pPr>
              <a:lnSpc>
                <a:spcPct val="90000"/>
              </a:lnSpc>
            </a:pPr>
            <a:r>
              <a:rPr lang="en-US" sz="2304" b="1" dirty="0">
                <a:solidFill>
                  <a:srgbClr val="003087"/>
                </a:solidFill>
                <a:latin typeface="Liter" pitchFamily="34" charset="0"/>
                <a:ea typeface="Liter" pitchFamily="34" charset="-122"/>
                <a:cs typeface="Liter" pitchFamily="34" charset="-120"/>
              </a:rPr>
              <a:t>Phase 2 &amp; 3: Scale-Up &amp; Optimization</a:t>
            </a:r>
            <a:endParaRPr lang="en-US" sz="1600" dirty="0"/>
          </a:p>
        </p:txBody>
      </p:sp>
      <p:sp>
        <p:nvSpPr>
          <p:cNvPr id="4" name="Shape 2"/>
          <p:cNvSpPr/>
          <p:nvPr/>
        </p:nvSpPr>
        <p:spPr>
          <a:xfrm>
            <a:off x="325120" y="975360"/>
            <a:ext cx="780288" cy="32512"/>
          </a:xfrm>
          <a:custGeom>
            <a:avLst/>
            <a:gdLst/>
            <a:ahLst/>
            <a:cxnLst/>
            <a:rect l="l" t="t" r="r" b="b"/>
            <a:pathLst>
              <a:path w="780288" h="32512">
                <a:moveTo>
                  <a:pt x="0" y="0"/>
                </a:moveTo>
                <a:lnTo>
                  <a:pt x="780288" y="0"/>
                </a:lnTo>
                <a:lnTo>
                  <a:pt x="780288" y="32512"/>
                </a:lnTo>
                <a:lnTo>
                  <a:pt x="0" y="32512"/>
                </a:lnTo>
                <a:lnTo>
                  <a:pt x="0" y="0"/>
                </a:lnTo>
                <a:close/>
              </a:path>
            </a:pathLst>
          </a:custGeom>
          <a:solidFill>
            <a:srgbClr val="FF6B00"/>
          </a:solidFill>
          <a:ln/>
        </p:spPr>
      </p:sp>
      <p:sp>
        <p:nvSpPr>
          <p:cNvPr id="5" name="Shape 3"/>
          <p:cNvSpPr/>
          <p:nvPr/>
        </p:nvSpPr>
        <p:spPr>
          <a:xfrm>
            <a:off x="325120" y="1170432"/>
            <a:ext cx="5689600" cy="3381248"/>
          </a:xfrm>
          <a:custGeom>
            <a:avLst/>
            <a:gdLst/>
            <a:ahLst/>
            <a:cxnLst/>
            <a:rect l="l" t="t" r="r" b="b"/>
            <a:pathLst>
              <a:path w="5689600" h="3381248">
                <a:moveTo>
                  <a:pt x="97549" y="0"/>
                </a:moveTo>
                <a:lnTo>
                  <a:pt x="5592051" y="0"/>
                </a:lnTo>
                <a:cubicBezTo>
                  <a:pt x="5645926" y="0"/>
                  <a:pt x="5689600" y="43674"/>
                  <a:pt x="5689600" y="97549"/>
                </a:cubicBezTo>
                <a:lnTo>
                  <a:pt x="5689600" y="3283699"/>
                </a:lnTo>
                <a:cubicBezTo>
                  <a:pt x="5689600" y="3337574"/>
                  <a:pt x="5645926" y="3381248"/>
                  <a:pt x="5592051" y="3381248"/>
                </a:cubicBezTo>
                <a:lnTo>
                  <a:pt x="97549" y="3381248"/>
                </a:lnTo>
                <a:cubicBezTo>
                  <a:pt x="43674" y="3381248"/>
                  <a:pt x="0" y="3337574"/>
                  <a:pt x="0" y="3283699"/>
                </a:cubicBezTo>
                <a:lnTo>
                  <a:pt x="0" y="97549"/>
                </a:lnTo>
                <a:cubicBezTo>
                  <a:pt x="0" y="43674"/>
                  <a:pt x="43674" y="0"/>
                  <a:pt x="97549" y="0"/>
                </a:cubicBezTo>
                <a:close/>
              </a:path>
            </a:pathLst>
          </a:custGeom>
          <a:gradFill flip="none" rotWithShape="1">
            <a:gsLst>
              <a:gs pos="0">
                <a:srgbClr val="FF6B00"/>
              </a:gs>
              <a:gs pos="100000">
                <a:srgbClr val="FF6B00">
                  <a:alpha val="80000"/>
                </a:srgbClr>
              </a:gs>
            </a:gsLst>
            <a:lin ang="2700000" scaled="1"/>
          </a:gradFill>
          <a:ln/>
        </p:spPr>
      </p:sp>
      <p:sp>
        <p:nvSpPr>
          <p:cNvPr id="6" name="Shape 4"/>
          <p:cNvSpPr/>
          <p:nvPr/>
        </p:nvSpPr>
        <p:spPr>
          <a:xfrm>
            <a:off x="540512" y="1398016"/>
            <a:ext cx="162560" cy="162560"/>
          </a:xfrm>
          <a:custGeom>
            <a:avLst/>
            <a:gdLst/>
            <a:ahLst/>
            <a:cxnLst/>
            <a:rect l="l" t="t" r="r" b="b"/>
            <a:pathLst>
              <a:path w="162560" h="162560">
                <a:moveTo>
                  <a:pt x="40640" y="101600"/>
                </a:moveTo>
                <a:lnTo>
                  <a:pt x="7779" y="101600"/>
                </a:lnTo>
                <a:cubicBezTo>
                  <a:pt x="-127" y="101600"/>
                  <a:pt x="-4985" y="92996"/>
                  <a:pt x="-921" y="86201"/>
                </a:cubicBezTo>
                <a:lnTo>
                  <a:pt x="15875" y="58198"/>
                </a:lnTo>
                <a:cubicBezTo>
                  <a:pt x="18637" y="53594"/>
                  <a:pt x="23590" y="50800"/>
                  <a:pt x="28956" y="50800"/>
                </a:cubicBezTo>
                <a:lnTo>
                  <a:pt x="59118" y="50800"/>
                </a:lnTo>
                <a:cubicBezTo>
                  <a:pt x="83280" y="9874"/>
                  <a:pt x="119317" y="7810"/>
                  <a:pt x="143415" y="11335"/>
                </a:cubicBezTo>
                <a:cubicBezTo>
                  <a:pt x="147479" y="11938"/>
                  <a:pt x="150654" y="15113"/>
                  <a:pt x="151225" y="19145"/>
                </a:cubicBezTo>
                <a:cubicBezTo>
                  <a:pt x="154750" y="43244"/>
                  <a:pt x="152686" y="79280"/>
                  <a:pt x="111760" y="103442"/>
                </a:cubicBezTo>
                <a:lnTo>
                  <a:pt x="111760" y="133604"/>
                </a:lnTo>
                <a:cubicBezTo>
                  <a:pt x="111760" y="138970"/>
                  <a:pt x="108966" y="143923"/>
                  <a:pt x="104362" y="146685"/>
                </a:cubicBezTo>
                <a:lnTo>
                  <a:pt x="76359" y="163481"/>
                </a:lnTo>
                <a:cubicBezTo>
                  <a:pt x="69596" y="167545"/>
                  <a:pt x="60960" y="162655"/>
                  <a:pt x="60960" y="154781"/>
                </a:cubicBezTo>
                <a:lnTo>
                  <a:pt x="60960" y="121920"/>
                </a:lnTo>
                <a:cubicBezTo>
                  <a:pt x="60960" y="110712"/>
                  <a:pt x="51848" y="101600"/>
                  <a:pt x="40640" y="101600"/>
                </a:cubicBezTo>
                <a:lnTo>
                  <a:pt x="40608" y="101600"/>
                </a:lnTo>
                <a:close/>
                <a:moveTo>
                  <a:pt x="127000" y="50800"/>
                </a:moveTo>
                <a:cubicBezTo>
                  <a:pt x="127000" y="42389"/>
                  <a:pt x="120171" y="35560"/>
                  <a:pt x="111760" y="35560"/>
                </a:cubicBezTo>
                <a:cubicBezTo>
                  <a:pt x="103349" y="35560"/>
                  <a:pt x="96520" y="42389"/>
                  <a:pt x="96520" y="50800"/>
                </a:cubicBezTo>
                <a:cubicBezTo>
                  <a:pt x="96520" y="59211"/>
                  <a:pt x="103349" y="66040"/>
                  <a:pt x="111760" y="66040"/>
                </a:cubicBezTo>
                <a:cubicBezTo>
                  <a:pt x="120171" y="66040"/>
                  <a:pt x="127000" y="59211"/>
                  <a:pt x="127000" y="50800"/>
                </a:cubicBezTo>
                <a:close/>
              </a:path>
            </a:pathLst>
          </a:custGeom>
          <a:solidFill>
            <a:srgbClr val="FFFFFF"/>
          </a:solidFill>
          <a:ln/>
        </p:spPr>
      </p:sp>
      <p:sp>
        <p:nvSpPr>
          <p:cNvPr id="7" name="Text 5"/>
          <p:cNvSpPr/>
          <p:nvPr/>
        </p:nvSpPr>
        <p:spPr>
          <a:xfrm>
            <a:off x="723392" y="1365504"/>
            <a:ext cx="5177536" cy="227584"/>
          </a:xfrm>
          <a:prstGeom prst="rect">
            <a:avLst/>
          </a:prstGeom>
          <a:noFill/>
          <a:ln/>
        </p:spPr>
        <p:txBody>
          <a:bodyPr wrap="square" lIns="0" tIns="0" rIns="0" bIns="0" rtlCol="0" anchor="ctr"/>
          <a:lstStyle/>
          <a:p>
            <a:pPr>
              <a:lnSpc>
                <a:spcPct val="120000"/>
              </a:lnSpc>
            </a:pPr>
            <a:r>
              <a:rPr lang="en-US" sz="1280" b="1" dirty="0">
                <a:solidFill>
                  <a:srgbClr val="FFFFFF"/>
                </a:solidFill>
                <a:latin typeface="Liter" pitchFamily="34" charset="0"/>
                <a:ea typeface="Liter" pitchFamily="34" charset="-122"/>
                <a:cs typeface="Liter" pitchFamily="34" charset="-120"/>
              </a:rPr>
              <a:t>Phase 2: Scale-Up (M7-12)</a:t>
            </a:r>
            <a:endParaRPr lang="en-US" sz="1600" dirty="0"/>
          </a:p>
        </p:txBody>
      </p:sp>
      <p:sp>
        <p:nvSpPr>
          <p:cNvPr id="8" name="Shape 6"/>
          <p:cNvSpPr/>
          <p:nvPr/>
        </p:nvSpPr>
        <p:spPr>
          <a:xfrm>
            <a:off x="520192" y="1723136"/>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9" name="Text 7"/>
          <p:cNvSpPr/>
          <p:nvPr/>
        </p:nvSpPr>
        <p:spPr>
          <a:xfrm>
            <a:off x="617728" y="1820672"/>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Expand RPA Deployment</a:t>
            </a:r>
            <a:endParaRPr lang="en-US" sz="1600" dirty="0"/>
          </a:p>
        </p:txBody>
      </p:sp>
      <p:sp>
        <p:nvSpPr>
          <p:cNvPr id="10" name="Text 8"/>
          <p:cNvSpPr/>
          <p:nvPr/>
        </p:nvSpPr>
        <p:spPr>
          <a:xfrm>
            <a:off x="617728" y="2048256"/>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Loan processing, account management, regulatory reporting automation</a:t>
            </a:r>
            <a:endParaRPr lang="en-US" sz="1600" dirty="0"/>
          </a:p>
        </p:txBody>
      </p:sp>
      <p:sp>
        <p:nvSpPr>
          <p:cNvPr id="11" name="Shape 9"/>
          <p:cNvSpPr/>
          <p:nvPr/>
        </p:nvSpPr>
        <p:spPr>
          <a:xfrm>
            <a:off x="520192" y="2405888"/>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12" name="Text 10"/>
          <p:cNvSpPr/>
          <p:nvPr/>
        </p:nvSpPr>
        <p:spPr>
          <a:xfrm>
            <a:off x="617728" y="2503424"/>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Deploy Intelligent Analytics</a:t>
            </a:r>
            <a:endParaRPr lang="en-US" sz="1600" dirty="0"/>
          </a:p>
        </p:txBody>
      </p:sp>
      <p:sp>
        <p:nvSpPr>
          <p:cNvPr id="13" name="Text 11"/>
          <p:cNvSpPr/>
          <p:nvPr/>
        </p:nvSpPr>
        <p:spPr>
          <a:xfrm>
            <a:off x="617728" y="2731008"/>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AI-powered credit decisioning, predictive analytics, customer insights</a:t>
            </a:r>
            <a:endParaRPr lang="en-US" sz="1600" dirty="0"/>
          </a:p>
        </p:txBody>
      </p:sp>
      <p:sp>
        <p:nvSpPr>
          <p:cNvPr id="14" name="Shape 12"/>
          <p:cNvSpPr/>
          <p:nvPr/>
        </p:nvSpPr>
        <p:spPr>
          <a:xfrm>
            <a:off x="520192" y="3088640"/>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15" name="Text 13"/>
          <p:cNvSpPr/>
          <p:nvPr/>
        </p:nvSpPr>
        <p:spPr>
          <a:xfrm>
            <a:off x="617728" y="3186176"/>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Implement Performance Dashboard</a:t>
            </a:r>
            <a:endParaRPr lang="en-US" sz="1600" dirty="0"/>
          </a:p>
        </p:txBody>
      </p:sp>
      <p:sp>
        <p:nvSpPr>
          <p:cNvPr id="16" name="Text 14"/>
          <p:cNvSpPr/>
          <p:nvPr/>
        </p:nvSpPr>
        <p:spPr>
          <a:xfrm>
            <a:off x="617728" y="3413760"/>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Real-time KPI monitoring, executive reporting, benchmarking</a:t>
            </a:r>
            <a:endParaRPr lang="en-US" sz="1600" dirty="0"/>
          </a:p>
        </p:txBody>
      </p:sp>
      <p:sp>
        <p:nvSpPr>
          <p:cNvPr id="17" name="Shape 15"/>
          <p:cNvSpPr/>
          <p:nvPr/>
        </p:nvSpPr>
        <p:spPr>
          <a:xfrm>
            <a:off x="520192" y="3771392"/>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18" name="Text 16"/>
          <p:cNvSpPr/>
          <p:nvPr/>
        </p:nvSpPr>
        <p:spPr>
          <a:xfrm>
            <a:off x="617728" y="3868928"/>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Mid-Program Review</a:t>
            </a:r>
            <a:endParaRPr lang="en-US" sz="1600" dirty="0"/>
          </a:p>
        </p:txBody>
      </p:sp>
      <p:sp>
        <p:nvSpPr>
          <p:cNvPr id="19" name="Text 17"/>
          <p:cNvSpPr/>
          <p:nvPr/>
        </p:nvSpPr>
        <p:spPr>
          <a:xfrm>
            <a:off x="617728" y="4096512"/>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Benefits assessment, course correction, stakeholder updates</a:t>
            </a:r>
            <a:endParaRPr lang="en-US" sz="1600" dirty="0"/>
          </a:p>
        </p:txBody>
      </p:sp>
      <p:sp>
        <p:nvSpPr>
          <p:cNvPr id="20" name="Shape 18"/>
          <p:cNvSpPr/>
          <p:nvPr/>
        </p:nvSpPr>
        <p:spPr>
          <a:xfrm>
            <a:off x="341376" y="4681728"/>
            <a:ext cx="5673344" cy="1300480"/>
          </a:xfrm>
          <a:custGeom>
            <a:avLst/>
            <a:gdLst/>
            <a:ahLst/>
            <a:cxnLst/>
            <a:rect l="l" t="t" r="r" b="b"/>
            <a:pathLst>
              <a:path w="5673344" h="1300480">
                <a:moveTo>
                  <a:pt x="32512" y="0"/>
                </a:moveTo>
                <a:lnTo>
                  <a:pt x="5575808" y="0"/>
                </a:lnTo>
                <a:cubicBezTo>
                  <a:pt x="5629676" y="0"/>
                  <a:pt x="5673344" y="43668"/>
                  <a:pt x="5673344" y="97536"/>
                </a:cubicBezTo>
                <a:lnTo>
                  <a:pt x="5673344" y="1202944"/>
                </a:lnTo>
                <a:cubicBezTo>
                  <a:pt x="5673344" y="1256812"/>
                  <a:pt x="5629676" y="1300480"/>
                  <a:pt x="5575808" y="1300480"/>
                </a:cubicBezTo>
                <a:lnTo>
                  <a:pt x="32512" y="1300480"/>
                </a:lnTo>
                <a:cubicBezTo>
                  <a:pt x="14556" y="1300480"/>
                  <a:pt x="0" y="1285924"/>
                  <a:pt x="0" y="1267968"/>
                </a:cubicBezTo>
                <a:lnTo>
                  <a:pt x="0" y="32512"/>
                </a:lnTo>
                <a:cubicBezTo>
                  <a:pt x="0" y="14568"/>
                  <a:pt x="14568" y="0"/>
                  <a:pt x="32512" y="0"/>
                </a:cubicBezTo>
                <a:close/>
              </a:path>
            </a:pathLst>
          </a:custGeom>
          <a:solidFill>
            <a:srgbClr val="003087">
              <a:alpha val="10196"/>
            </a:srgbClr>
          </a:solidFill>
          <a:ln/>
        </p:spPr>
      </p:sp>
      <p:sp>
        <p:nvSpPr>
          <p:cNvPr id="21" name="Shape 19"/>
          <p:cNvSpPr/>
          <p:nvPr/>
        </p:nvSpPr>
        <p:spPr>
          <a:xfrm>
            <a:off x="341376" y="4681728"/>
            <a:ext cx="32512" cy="1300480"/>
          </a:xfrm>
          <a:custGeom>
            <a:avLst/>
            <a:gdLst/>
            <a:ahLst/>
            <a:cxnLst/>
            <a:rect l="l" t="t" r="r" b="b"/>
            <a:pathLst>
              <a:path w="32512" h="1300480">
                <a:moveTo>
                  <a:pt x="32512" y="0"/>
                </a:moveTo>
                <a:lnTo>
                  <a:pt x="32512" y="0"/>
                </a:lnTo>
                <a:lnTo>
                  <a:pt x="32512" y="1300480"/>
                </a:lnTo>
                <a:lnTo>
                  <a:pt x="32512" y="1300480"/>
                </a:lnTo>
                <a:cubicBezTo>
                  <a:pt x="14556" y="1300480"/>
                  <a:pt x="0" y="1285924"/>
                  <a:pt x="0" y="1267968"/>
                </a:cubicBezTo>
                <a:lnTo>
                  <a:pt x="0" y="32512"/>
                </a:lnTo>
                <a:cubicBezTo>
                  <a:pt x="0" y="14568"/>
                  <a:pt x="14568" y="0"/>
                  <a:pt x="32512" y="0"/>
                </a:cubicBezTo>
                <a:close/>
              </a:path>
            </a:pathLst>
          </a:custGeom>
          <a:solidFill>
            <a:srgbClr val="003087"/>
          </a:solidFill>
          <a:ln/>
        </p:spPr>
      </p:sp>
      <p:sp>
        <p:nvSpPr>
          <p:cNvPr id="22" name="Text 20"/>
          <p:cNvSpPr/>
          <p:nvPr/>
        </p:nvSpPr>
        <p:spPr>
          <a:xfrm>
            <a:off x="520192" y="4844288"/>
            <a:ext cx="5405120" cy="227584"/>
          </a:xfrm>
          <a:prstGeom prst="rect">
            <a:avLst/>
          </a:prstGeom>
          <a:noFill/>
          <a:ln/>
        </p:spPr>
        <p:txBody>
          <a:bodyPr wrap="square" lIns="0" tIns="0" rIns="0" bIns="0" rtlCol="0" anchor="ctr"/>
          <a:lstStyle/>
          <a:p>
            <a:pPr>
              <a:lnSpc>
                <a:spcPct val="130000"/>
              </a:lnSpc>
            </a:pPr>
            <a:r>
              <a:rPr lang="en-US" sz="1152" b="1" dirty="0">
                <a:solidFill>
                  <a:srgbClr val="003087"/>
                </a:solidFill>
                <a:latin typeface="Liter" pitchFamily="34" charset="0"/>
                <a:ea typeface="Liter" pitchFamily="34" charset="-122"/>
                <a:cs typeface="Liter" pitchFamily="34" charset="-120"/>
              </a:rPr>
              <a:t>Phase 2 Investment</a:t>
            </a:r>
            <a:endParaRPr lang="en-US" sz="1600" dirty="0"/>
          </a:p>
        </p:txBody>
      </p:sp>
      <p:sp>
        <p:nvSpPr>
          <p:cNvPr id="23" name="Shape 21"/>
          <p:cNvSpPr/>
          <p:nvPr/>
        </p:nvSpPr>
        <p:spPr>
          <a:xfrm>
            <a:off x="520192" y="5169408"/>
            <a:ext cx="2617216" cy="650240"/>
          </a:xfrm>
          <a:custGeom>
            <a:avLst/>
            <a:gdLst/>
            <a:ahLst/>
            <a:cxnLst/>
            <a:rect l="l" t="t" r="r" b="b"/>
            <a:pathLst>
              <a:path w="2617216" h="650240">
                <a:moveTo>
                  <a:pt x="65024" y="0"/>
                </a:moveTo>
                <a:lnTo>
                  <a:pt x="2552192" y="0"/>
                </a:lnTo>
                <a:cubicBezTo>
                  <a:pt x="2588104" y="0"/>
                  <a:pt x="2617216" y="29112"/>
                  <a:pt x="2617216" y="65024"/>
                </a:cubicBezTo>
                <a:lnTo>
                  <a:pt x="2617216" y="585216"/>
                </a:lnTo>
                <a:cubicBezTo>
                  <a:pt x="2617216" y="621128"/>
                  <a:pt x="2588104" y="650240"/>
                  <a:pt x="2552192" y="650240"/>
                </a:cubicBezTo>
                <a:lnTo>
                  <a:pt x="65024" y="650240"/>
                </a:lnTo>
                <a:cubicBezTo>
                  <a:pt x="29112" y="650240"/>
                  <a:pt x="0" y="621128"/>
                  <a:pt x="0" y="585216"/>
                </a:cubicBezTo>
                <a:lnTo>
                  <a:pt x="0" y="65024"/>
                </a:lnTo>
                <a:cubicBezTo>
                  <a:pt x="0" y="29136"/>
                  <a:pt x="29136" y="0"/>
                  <a:pt x="65024" y="0"/>
                </a:cubicBezTo>
                <a:close/>
              </a:path>
            </a:pathLst>
          </a:custGeom>
          <a:solidFill>
            <a:srgbClr val="FFFFFF"/>
          </a:solidFill>
          <a:ln/>
          <a:effectLst>
            <a:outerShdw blurRad="24384" dist="8128" dir="5400000" algn="bl" rotWithShape="0">
              <a:srgbClr val="000000">
                <a:alpha val="10196"/>
              </a:srgbClr>
            </a:outerShdw>
          </a:effectLst>
        </p:spPr>
      </p:sp>
      <p:sp>
        <p:nvSpPr>
          <p:cNvPr id="24" name="Text 22"/>
          <p:cNvSpPr/>
          <p:nvPr/>
        </p:nvSpPr>
        <p:spPr>
          <a:xfrm>
            <a:off x="568960" y="5266944"/>
            <a:ext cx="2519680" cy="260096"/>
          </a:xfrm>
          <a:prstGeom prst="rect">
            <a:avLst/>
          </a:prstGeom>
          <a:noFill/>
          <a:ln/>
        </p:spPr>
        <p:txBody>
          <a:bodyPr wrap="square" lIns="0" tIns="0" rIns="0" bIns="0" rtlCol="0" anchor="ctr"/>
          <a:lstStyle/>
          <a:p>
            <a:pPr algn="ctr">
              <a:lnSpc>
                <a:spcPct val="110000"/>
              </a:lnSpc>
            </a:pPr>
            <a:r>
              <a:rPr lang="en-US" sz="1536" b="1" dirty="0">
                <a:solidFill>
                  <a:srgbClr val="003087"/>
                </a:solidFill>
                <a:latin typeface="Quattrocento Sans" pitchFamily="34" charset="0"/>
                <a:ea typeface="Quattrocento Sans" pitchFamily="34" charset="-122"/>
                <a:cs typeface="Quattrocento Sans" pitchFamily="34" charset="-120"/>
              </a:rPr>
              <a:t>$1.2M</a:t>
            </a:r>
            <a:endParaRPr lang="en-US" sz="1600" dirty="0"/>
          </a:p>
        </p:txBody>
      </p:sp>
      <p:sp>
        <p:nvSpPr>
          <p:cNvPr id="25" name="Text 23"/>
          <p:cNvSpPr/>
          <p:nvPr/>
        </p:nvSpPr>
        <p:spPr>
          <a:xfrm>
            <a:off x="589280" y="5559552"/>
            <a:ext cx="2479040" cy="162560"/>
          </a:xfrm>
          <a:prstGeom prst="rect">
            <a:avLst/>
          </a:prstGeom>
          <a:noFill/>
          <a:ln/>
        </p:spPr>
        <p:txBody>
          <a:bodyPr wrap="square" lIns="0" tIns="0" rIns="0" bIns="0" rtlCol="0" anchor="ctr"/>
          <a:lstStyle/>
          <a:p>
            <a:pPr algn="ctr">
              <a:lnSpc>
                <a:spcPct val="120000"/>
              </a:lnSpc>
            </a:pPr>
            <a:r>
              <a:rPr lang="en-US" sz="896" dirty="0">
                <a:solidFill>
                  <a:srgbClr val="1A1A1A">
                    <a:alpha val="70000"/>
                  </a:srgbClr>
                </a:solidFill>
                <a:latin typeface="Quattrocento Sans" pitchFamily="34" charset="0"/>
                <a:ea typeface="Quattrocento Sans" pitchFamily="34" charset="-122"/>
                <a:cs typeface="Quattrocento Sans" pitchFamily="34" charset="-120"/>
              </a:rPr>
              <a:t>Budget</a:t>
            </a:r>
            <a:endParaRPr lang="en-US" sz="1600" dirty="0"/>
          </a:p>
        </p:txBody>
      </p:sp>
      <p:sp>
        <p:nvSpPr>
          <p:cNvPr id="26" name="Shape 24"/>
          <p:cNvSpPr/>
          <p:nvPr/>
        </p:nvSpPr>
        <p:spPr>
          <a:xfrm>
            <a:off x="3235833" y="5169408"/>
            <a:ext cx="2617216" cy="650240"/>
          </a:xfrm>
          <a:custGeom>
            <a:avLst/>
            <a:gdLst/>
            <a:ahLst/>
            <a:cxnLst/>
            <a:rect l="l" t="t" r="r" b="b"/>
            <a:pathLst>
              <a:path w="2617216" h="650240">
                <a:moveTo>
                  <a:pt x="65024" y="0"/>
                </a:moveTo>
                <a:lnTo>
                  <a:pt x="2552192" y="0"/>
                </a:lnTo>
                <a:cubicBezTo>
                  <a:pt x="2588104" y="0"/>
                  <a:pt x="2617216" y="29112"/>
                  <a:pt x="2617216" y="65024"/>
                </a:cubicBezTo>
                <a:lnTo>
                  <a:pt x="2617216" y="585216"/>
                </a:lnTo>
                <a:cubicBezTo>
                  <a:pt x="2617216" y="621128"/>
                  <a:pt x="2588104" y="650240"/>
                  <a:pt x="2552192" y="650240"/>
                </a:cubicBezTo>
                <a:lnTo>
                  <a:pt x="65024" y="650240"/>
                </a:lnTo>
                <a:cubicBezTo>
                  <a:pt x="29112" y="650240"/>
                  <a:pt x="0" y="621128"/>
                  <a:pt x="0" y="585216"/>
                </a:cubicBezTo>
                <a:lnTo>
                  <a:pt x="0" y="65024"/>
                </a:lnTo>
                <a:cubicBezTo>
                  <a:pt x="0" y="29136"/>
                  <a:pt x="29136" y="0"/>
                  <a:pt x="65024" y="0"/>
                </a:cubicBezTo>
                <a:close/>
              </a:path>
            </a:pathLst>
          </a:custGeom>
          <a:solidFill>
            <a:srgbClr val="FFFFFF"/>
          </a:solidFill>
          <a:ln/>
          <a:effectLst>
            <a:outerShdw blurRad="24384" dist="8128" dir="5400000" algn="bl" rotWithShape="0">
              <a:srgbClr val="000000">
                <a:alpha val="10196"/>
              </a:srgbClr>
            </a:outerShdw>
          </a:effectLst>
        </p:spPr>
      </p:sp>
      <p:sp>
        <p:nvSpPr>
          <p:cNvPr id="27" name="Text 25"/>
          <p:cNvSpPr/>
          <p:nvPr/>
        </p:nvSpPr>
        <p:spPr>
          <a:xfrm>
            <a:off x="3284601" y="5266944"/>
            <a:ext cx="2519680" cy="260096"/>
          </a:xfrm>
          <a:prstGeom prst="rect">
            <a:avLst/>
          </a:prstGeom>
          <a:noFill/>
          <a:ln/>
        </p:spPr>
        <p:txBody>
          <a:bodyPr wrap="square" lIns="0" tIns="0" rIns="0" bIns="0" rtlCol="0" anchor="ctr"/>
          <a:lstStyle/>
          <a:p>
            <a:pPr algn="ctr">
              <a:lnSpc>
                <a:spcPct val="110000"/>
              </a:lnSpc>
            </a:pPr>
            <a:r>
              <a:rPr lang="en-US" sz="1536" b="1" dirty="0">
                <a:solidFill>
                  <a:srgbClr val="FF6B00"/>
                </a:solidFill>
                <a:latin typeface="Quattrocento Sans" pitchFamily="34" charset="0"/>
                <a:ea typeface="Quattrocento Sans" pitchFamily="34" charset="-122"/>
                <a:cs typeface="Quattrocento Sans" pitchFamily="34" charset="-120"/>
              </a:rPr>
              <a:t>12-15</a:t>
            </a:r>
            <a:endParaRPr lang="en-US" sz="1600" dirty="0"/>
          </a:p>
        </p:txBody>
      </p:sp>
      <p:sp>
        <p:nvSpPr>
          <p:cNvPr id="28" name="Text 26"/>
          <p:cNvSpPr/>
          <p:nvPr/>
        </p:nvSpPr>
        <p:spPr>
          <a:xfrm>
            <a:off x="3304921" y="5559552"/>
            <a:ext cx="2479040" cy="162560"/>
          </a:xfrm>
          <a:prstGeom prst="rect">
            <a:avLst/>
          </a:prstGeom>
          <a:noFill/>
          <a:ln/>
        </p:spPr>
        <p:txBody>
          <a:bodyPr wrap="square" lIns="0" tIns="0" rIns="0" bIns="0" rtlCol="0" anchor="ctr"/>
          <a:lstStyle/>
          <a:p>
            <a:pPr algn="ctr">
              <a:lnSpc>
                <a:spcPct val="120000"/>
              </a:lnSpc>
            </a:pPr>
            <a:r>
              <a:rPr lang="en-US" sz="896" dirty="0">
                <a:solidFill>
                  <a:srgbClr val="1A1A1A">
                    <a:alpha val="70000"/>
                  </a:srgbClr>
                </a:solidFill>
                <a:latin typeface="Quattrocento Sans" pitchFamily="34" charset="0"/>
                <a:ea typeface="Quattrocento Sans" pitchFamily="34" charset="-122"/>
                <a:cs typeface="Quattrocento Sans" pitchFamily="34" charset="-120"/>
              </a:rPr>
              <a:t>Team Size</a:t>
            </a:r>
            <a:endParaRPr lang="en-US" sz="1600" dirty="0"/>
          </a:p>
        </p:txBody>
      </p:sp>
      <p:sp>
        <p:nvSpPr>
          <p:cNvPr id="29" name="Shape 27"/>
          <p:cNvSpPr/>
          <p:nvPr/>
        </p:nvSpPr>
        <p:spPr>
          <a:xfrm>
            <a:off x="6179058" y="1170432"/>
            <a:ext cx="5689600" cy="3381248"/>
          </a:xfrm>
          <a:custGeom>
            <a:avLst/>
            <a:gdLst/>
            <a:ahLst/>
            <a:cxnLst/>
            <a:rect l="l" t="t" r="r" b="b"/>
            <a:pathLst>
              <a:path w="5689600" h="3381248">
                <a:moveTo>
                  <a:pt x="97549" y="0"/>
                </a:moveTo>
                <a:lnTo>
                  <a:pt x="5592051" y="0"/>
                </a:lnTo>
                <a:cubicBezTo>
                  <a:pt x="5645926" y="0"/>
                  <a:pt x="5689600" y="43674"/>
                  <a:pt x="5689600" y="97549"/>
                </a:cubicBezTo>
                <a:lnTo>
                  <a:pt x="5689600" y="3283699"/>
                </a:lnTo>
                <a:cubicBezTo>
                  <a:pt x="5689600" y="3337574"/>
                  <a:pt x="5645926" y="3381248"/>
                  <a:pt x="5592051" y="3381248"/>
                </a:cubicBezTo>
                <a:lnTo>
                  <a:pt x="97549" y="3381248"/>
                </a:lnTo>
                <a:cubicBezTo>
                  <a:pt x="43674" y="3381248"/>
                  <a:pt x="0" y="3337574"/>
                  <a:pt x="0" y="3283699"/>
                </a:cubicBezTo>
                <a:lnTo>
                  <a:pt x="0" y="97549"/>
                </a:lnTo>
                <a:cubicBezTo>
                  <a:pt x="0" y="43674"/>
                  <a:pt x="43674" y="0"/>
                  <a:pt x="97549" y="0"/>
                </a:cubicBezTo>
                <a:close/>
              </a:path>
            </a:pathLst>
          </a:custGeom>
          <a:gradFill flip="none" rotWithShape="1">
            <a:gsLst>
              <a:gs pos="0">
                <a:srgbClr val="003087"/>
              </a:gs>
              <a:gs pos="100000">
                <a:srgbClr val="003087">
                  <a:alpha val="90000"/>
                </a:srgbClr>
              </a:gs>
            </a:gsLst>
            <a:lin ang="2700000" scaled="1"/>
          </a:gradFill>
          <a:ln/>
        </p:spPr>
      </p:sp>
      <p:sp>
        <p:nvSpPr>
          <p:cNvPr id="30" name="Shape 28"/>
          <p:cNvSpPr/>
          <p:nvPr/>
        </p:nvSpPr>
        <p:spPr>
          <a:xfrm>
            <a:off x="6394450" y="1398016"/>
            <a:ext cx="162560" cy="162560"/>
          </a:xfrm>
          <a:custGeom>
            <a:avLst/>
            <a:gdLst/>
            <a:ahLst/>
            <a:cxnLst/>
            <a:rect l="l" t="t" r="r" b="b"/>
            <a:pathLst>
              <a:path w="162560" h="162560">
                <a:moveTo>
                  <a:pt x="20320" y="20320"/>
                </a:moveTo>
                <a:cubicBezTo>
                  <a:pt x="20320" y="14700"/>
                  <a:pt x="15780" y="10160"/>
                  <a:pt x="10160" y="10160"/>
                </a:cubicBezTo>
                <a:cubicBezTo>
                  <a:pt x="4540" y="10160"/>
                  <a:pt x="0" y="14700"/>
                  <a:pt x="0" y="20320"/>
                </a:cubicBezTo>
                <a:lnTo>
                  <a:pt x="0" y="127000"/>
                </a:lnTo>
                <a:cubicBezTo>
                  <a:pt x="0" y="141034"/>
                  <a:pt x="11367" y="152400"/>
                  <a:pt x="25400" y="152400"/>
                </a:cubicBezTo>
                <a:lnTo>
                  <a:pt x="152400" y="152400"/>
                </a:lnTo>
                <a:cubicBezTo>
                  <a:pt x="158020" y="152400"/>
                  <a:pt x="162560" y="147860"/>
                  <a:pt x="162560" y="142240"/>
                </a:cubicBezTo>
                <a:cubicBezTo>
                  <a:pt x="162560" y="136620"/>
                  <a:pt x="158020" y="132080"/>
                  <a:pt x="152400" y="132080"/>
                </a:cubicBezTo>
                <a:lnTo>
                  <a:pt x="25400" y="132080"/>
                </a:lnTo>
                <a:cubicBezTo>
                  <a:pt x="22606" y="132080"/>
                  <a:pt x="20320" y="129794"/>
                  <a:pt x="20320" y="127000"/>
                </a:cubicBezTo>
                <a:lnTo>
                  <a:pt x="20320" y="20320"/>
                </a:lnTo>
                <a:close/>
                <a:moveTo>
                  <a:pt x="149416" y="47816"/>
                </a:moveTo>
                <a:cubicBezTo>
                  <a:pt x="153384" y="43847"/>
                  <a:pt x="153384" y="37402"/>
                  <a:pt x="149416" y="33433"/>
                </a:cubicBezTo>
                <a:cubicBezTo>
                  <a:pt x="145447" y="29464"/>
                  <a:pt x="139002" y="29464"/>
                  <a:pt x="135033" y="33433"/>
                </a:cubicBezTo>
                <a:lnTo>
                  <a:pt x="101600" y="66897"/>
                </a:lnTo>
                <a:lnTo>
                  <a:pt x="83376" y="48705"/>
                </a:lnTo>
                <a:cubicBezTo>
                  <a:pt x="79407" y="44736"/>
                  <a:pt x="72962" y="44736"/>
                  <a:pt x="68993" y="48705"/>
                </a:cubicBezTo>
                <a:lnTo>
                  <a:pt x="38513" y="79185"/>
                </a:lnTo>
                <a:cubicBezTo>
                  <a:pt x="34544" y="83153"/>
                  <a:pt x="34544" y="89599"/>
                  <a:pt x="38513" y="93567"/>
                </a:cubicBezTo>
                <a:cubicBezTo>
                  <a:pt x="42482" y="97536"/>
                  <a:pt x="48927" y="97536"/>
                  <a:pt x="52896" y="93567"/>
                </a:cubicBezTo>
                <a:lnTo>
                  <a:pt x="76200" y="70263"/>
                </a:lnTo>
                <a:lnTo>
                  <a:pt x="94425" y="88487"/>
                </a:lnTo>
                <a:cubicBezTo>
                  <a:pt x="98393" y="92456"/>
                  <a:pt x="104839" y="92456"/>
                  <a:pt x="108807" y="88487"/>
                </a:cubicBezTo>
                <a:lnTo>
                  <a:pt x="149447" y="47847"/>
                </a:lnTo>
                <a:close/>
              </a:path>
            </a:pathLst>
          </a:custGeom>
          <a:solidFill>
            <a:srgbClr val="FF6B00"/>
          </a:solidFill>
          <a:ln/>
        </p:spPr>
      </p:sp>
      <p:sp>
        <p:nvSpPr>
          <p:cNvPr id="31" name="Text 29"/>
          <p:cNvSpPr/>
          <p:nvPr/>
        </p:nvSpPr>
        <p:spPr>
          <a:xfrm>
            <a:off x="6577330" y="1365504"/>
            <a:ext cx="5177536" cy="227584"/>
          </a:xfrm>
          <a:prstGeom prst="rect">
            <a:avLst/>
          </a:prstGeom>
          <a:noFill/>
          <a:ln/>
        </p:spPr>
        <p:txBody>
          <a:bodyPr wrap="square" lIns="0" tIns="0" rIns="0" bIns="0" rtlCol="0" anchor="ctr"/>
          <a:lstStyle/>
          <a:p>
            <a:pPr>
              <a:lnSpc>
                <a:spcPct val="120000"/>
              </a:lnSpc>
            </a:pPr>
            <a:r>
              <a:rPr lang="en-US" sz="1280" b="1" dirty="0">
                <a:solidFill>
                  <a:srgbClr val="FFFFFF"/>
                </a:solidFill>
                <a:latin typeface="Liter" pitchFamily="34" charset="0"/>
                <a:ea typeface="Liter" pitchFamily="34" charset="-122"/>
                <a:cs typeface="Liter" pitchFamily="34" charset="-120"/>
              </a:rPr>
              <a:t>Phase 3: Optimization (M13-18)</a:t>
            </a:r>
            <a:endParaRPr lang="en-US" sz="1600" dirty="0"/>
          </a:p>
        </p:txBody>
      </p:sp>
      <p:sp>
        <p:nvSpPr>
          <p:cNvPr id="32" name="Shape 30"/>
          <p:cNvSpPr/>
          <p:nvPr/>
        </p:nvSpPr>
        <p:spPr>
          <a:xfrm>
            <a:off x="6374130" y="1723136"/>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33" name="Text 31"/>
          <p:cNvSpPr/>
          <p:nvPr/>
        </p:nvSpPr>
        <p:spPr>
          <a:xfrm>
            <a:off x="6471666" y="1820672"/>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Full Process Automation</a:t>
            </a:r>
            <a:endParaRPr lang="en-US" sz="1600" dirty="0"/>
          </a:p>
        </p:txBody>
      </p:sp>
      <p:sp>
        <p:nvSpPr>
          <p:cNvPr id="34" name="Text 32"/>
          <p:cNvSpPr/>
          <p:nvPr/>
        </p:nvSpPr>
        <p:spPr>
          <a:xfrm>
            <a:off x="6471666" y="2048256"/>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Complete RPA rollout across all identified processes, integration optimization</a:t>
            </a:r>
            <a:endParaRPr lang="en-US" sz="1600" dirty="0"/>
          </a:p>
        </p:txBody>
      </p:sp>
      <p:sp>
        <p:nvSpPr>
          <p:cNvPr id="35" name="Shape 33"/>
          <p:cNvSpPr/>
          <p:nvPr/>
        </p:nvSpPr>
        <p:spPr>
          <a:xfrm>
            <a:off x="6374130" y="2405888"/>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36" name="Text 34"/>
          <p:cNvSpPr/>
          <p:nvPr/>
        </p:nvSpPr>
        <p:spPr>
          <a:xfrm>
            <a:off x="6471666" y="2503424"/>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Advanced AI Integration</a:t>
            </a:r>
            <a:endParaRPr lang="en-US" sz="1600" dirty="0"/>
          </a:p>
        </p:txBody>
      </p:sp>
      <p:sp>
        <p:nvSpPr>
          <p:cNvPr id="37" name="Text 35"/>
          <p:cNvSpPr/>
          <p:nvPr/>
        </p:nvSpPr>
        <p:spPr>
          <a:xfrm>
            <a:off x="6471666" y="2731008"/>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Machine learning models, natural language processing, intelligent automation</a:t>
            </a:r>
            <a:endParaRPr lang="en-US" sz="1600" dirty="0"/>
          </a:p>
        </p:txBody>
      </p:sp>
      <p:sp>
        <p:nvSpPr>
          <p:cNvPr id="38" name="Shape 36"/>
          <p:cNvSpPr/>
          <p:nvPr/>
        </p:nvSpPr>
        <p:spPr>
          <a:xfrm>
            <a:off x="6374130" y="3088640"/>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39" name="Text 37"/>
          <p:cNvSpPr/>
          <p:nvPr/>
        </p:nvSpPr>
        <p:spPr>
          <a:xfrm>
            <a:off x="6471666" y="3186176"/>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Continuous Improvement</a:t>
            </a:r>
            <a:endParaRPr lang="en-US" sz="1600" dirty="0"/>
          </a:p>
        </p:txBody>
      </p:sp>
      <p:sp>
        <p:nvSpPr>
          <p:cNvPr id="40" name="Text 38"/>
          <p:cNvSpPr/>
          <p:nvPr/>
        </p:nvSpPr>
        <p:spPr>
          <a:xfrm>
            <a:off x="6471666" y="3413760"/>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Process refinement, performance optimization, innovation pipeline</a:t>
            </a:r>
            <a:endParaRPr lang="en-US" sz="1600" dirty="0"/>
          </a:p>
        </p:txBody>
      </p:sp>
      <p:sp>
        <p:nvSpPr>
          <p:cNvPr id="41" name="Shape 39"/>
          <p:cNvSpPr/>
          <p:nvPr/>
        </p:nvSpPr>
        <p:spPr>
          <a:xfrm>
            <a:off x="6374130" y="3771392"/>
            <a:ext cx="5299456" cy="585216"/>
          </a:xfrm>
          <a:custGeom>
            <a:avLst/>
            <a:gdLst/>
            <a:ahLst/>
            <a:cxnLst/>
            <a:rect l="l" t="t" r="r" b="b"/>
            <a:pathLst>
              <a:path w="5299456" h="585216">
                <a:moveTo>
                  <a:pt x="65023" y="0"/>
                </a:moveTo>
                <a:lnTo>
                  <a:pt x="5234433" y="0"/>
                </a:lnTo>
                <a:cubicBezTo>
                  <a:pt x="5270344" y="0"/>
                  <a:pt x="5299456" y="29112"/>
                  <a:pt x="5299456" y="65023"/>
                </a:cubicBezTo>
                <a:lnTo>
                  <a:pt x="5299456" y="520193"/>
                </a:lnTo>
                <a:cubicBezTo>
                  <a:pt x="5299456" y="556104"/>
                  <a:pt x="5270344" y="585216"/>
                  <a:pt x="5234433" y="585216"/>
                </a:cubicBezTo>
                <a:lnTo>
                  <a:pt x="65023" y="585216"/>
                </a:lnTo>
                <a:cubicBezTo>
                  <a:pt x="29112" y="585216"/>
                  <a:pt x="0" y="556104"/>
                  <a:pt x="0" y="520193"/>
                </a:cubicBezTo>
                <a:lnTo>
                  <a:pt x="0" y="65023"/>
                </a:lnTo>
                <a:cubicBezTo>
                  <a:pt x="0" y="29136"/>
                  <a:pt x="29136" y="0"/>
                  <a:pt x="65023" y="0"/>
                </a:cubicBezTo>
                <a:close/>
              </a:path>
            </a:pathLst>
          </a:custGeom>
          <a:solidFill>
            <a:srgbClr val="FFFFFF">
              <a:alpha val="10196"/>
            </a:srgbClr>
          </a:solidFill>
          <a:ln/>
        </p:spPr>
      </p:sp>
      <p:sp>
        <p:nvSpPr>
          <p:cNvPr id="42" name="Text 40"/>
          <p:cNvSpPr/>
          <p:nvPr/>
        </p:nvSpPr>
        <p:spPr>
          <a:xfrm>
            <a:off x="6471666" y="3868928"/>
            <a:ext cx="5169408" cy="195072"/>
          </a:xfrm>
          <a:prstGeom prst="rect">
            <a:avLst/>
          </a:prstGeom>
          <a:noFill/>
          <a:ln/>
        </p:spPr>
        <p:txBody>
          <a:bodyPr wrap="square" lIns="0" tIns="0" rIns="0" bIns="0" rtlCol="0" anchor="ctr"/>
          <a:lstStyle/>
          <a:p>
            <a:pPr>
              <a:lnSpc>
                <a:spcPct val="130000"/>
              </a:lnSpc>
            </a:pPr>
            <a:r>
              <a:rPr lang="en-US" sz="1024" b="1" dirty="0">
                <a:solidFill>
                  <a:srgbClr val="FFFFFF"/>
                </a:solidFill>
                <a:latin typeface="Quattrocento Sans" pitchFamily="34" charset="0"/>
                <a:ea typeface="Quattrocento Sans" pitchFamily="34" charset="-122"/>
                <a:cs typeface="Quattrocento Sans" pitchFamily="34" charset="-120"/>
              </a:rPr>
              <a:t>Benefits Realization</a:t>
            </a:r>
            <a:endParaRPr lang="en-US" sz="1600" dirty="0"/>
          </a:p>
        </p:txBody>
      </p:sp>
      <p:sp>
        <p:nvSpPr>
          <p:cNvPr id="43" name="Text 41"/>
          <p:cNvSpPr/>
          <p:nvPr/>
        </p:nvSpPr>
        <p:spPr>
          <a:xfrm>
            <a:off x="6471666" y="4096512"/>
            <a:ext cx="5161280" cy="162560"/>
          </a:xfrm>
          <a:prstGeom prst="rect">
            <a:avLst/>
          </a:prstGeom>
          <a:noFill/>
          <a:ln/>
        </p:spPr>
        <p:txBody>
          <a:bodyPr wrap="square" lIns="0" tIns="0" rIns="0" bIns="0" rtlCol="0" anchor="ctr"/>
          <a:lstStyle/>
          <a:p>
            <a:pPr>
              <a:lnSpc>
                <a:spcPct val="120000"/>
              </a:lnSpc>
            </a:pPr>
            <a:r>
              <a:rPr lang="en-US" sz="896" dirty="0">
                <a:solidFill>
                  <a:srgbClr val="FFFFFF">
                    <a:alpha val="80000"/>
                  </a:srgbClr>
                </a:solidFill>
                <a:latin typeface="Quattrocento Sans" pitchFamily="34" charset="0"/>
                <a:ea typeface="Quattrocento Sans" pitchFamily="34" charset="-122"/>
                <a:cs typeface="Quattrocento Sans" pitchFamily="34" charset="-120"/>
              </a:rPr>
              <a:t>Comprehensive ROI assessment, value quantification, success documentation</a:t>
            </a:r>
            <a:endParaRPr lang="en-US" sz="1600" dirty="0"/>
          </a:p>
        </p:txBody>
      </p:sp>
      <p:sp>
        <p:nvSpPr>
          <p:cNvPr id="44" name="Shape 42"/>
          <p:cNvSpPr/>
          <p:nvPr/>
        </p:nvSpPr>
        <p:spPr>
          <a:xfrm>
            <a:off x="6195314" y="4681728"/>
            <a:ext cx="5673344" cy="1300480"/>
          </a:xfrm>
          <a:custGeom>
            <a:avLst/>
            <a:gdLst/>
            <a:ahLst/>
            <a:cxnLst/>
            <a:rect l="l" t="t" r="r" b="b"/>
            <a:pathLst>
              <a:path w="5673344" h="1300480">
                <a:moveTo>
                  <a:pt x="32512" y="0"/>
                </a:moveTo>
                <a:lnTo>
                  <a:pt x="5575808" y="0"/>
                </a:lnTo>
                <a:cubicBezTo>
                  <a:pt x="5629676" y="0"/>
                  <a:pt x="5673344" y="43668"/>
                  <a:pt x="5673344" y="97536"/>
                </a:cubicBezTo>
                <a:lnTo>
                  <a:pt x="5673344" y="1202944"/>
                </a:lnTo>
                <a:cubicBezTo>
                  <a:pt x="5673344" y="1256812"/>
                  <a:pt x="5629676" y="1300480"/>
                  <a:pt x="5575808" y="1300480"/>
                </a:cubicBezTo>
                <a:lnTo>
                  <a:pt x="32512" y="1300480"/>
                </a:lnTo>
                <a:cubicBezTo>
                  <a:pt x="14556" y="1300480"/>
                  <a:pt x="0" y="1285924"/>
                  <a:pt x="0" y="1267968"/>
                </a:cubicBezTo>
                <a:lnTo>
                  <a:pt x="0" y="32512"/>
                </a:lnTo>
                <a:cubicBezTo>
                  <a:pt x="0" y="14568"/>
                  <a:pt x="14568" y="0"/>
                  <a:pt x="32512" y="0"/>
                </a:cubicBezTo>
                <a:close/>
              </a:path>
            </a:pathLst>
          </a:custGeom>
          <a:solidFill>
            <a:srgbClr val="FF6B00">
              <a:alpha val="10196"/>
            </a:srgbClr>
          </a:solidFill>
          <a:ln/>
        </p:spPr>
      </p:sp>
      <p:sp>
        <p:nvSpPr>
          <p:cNvPr id="45" name="Shape 43"/>
          <p:cNvSpPr/>
          <p:nvPr/>
        </p:nvSpPr>
        <p:spPr>
          <a:xfrm>
            <a:off x="6195314" y="4681728"/>
            <a:ext cx="32512" cy="1300480"/>
          </a:xfrm>
          <a:custGeom>
            <a:avLst/>
            <a:gdLst/>
            <a:ahLst/>
            <a:cxnLst/>
            <a:rect l="l" t="t" r="r" b="b"/>
            <a:pathLst>
              <a:path w="32512" h="1300480">
                <a:moveTo>
                  <a:pt x="32512" y="0"/>
                </a:moveTo>
                <a:lnTo>
                  <a:pt x="32512" y="0"/>
                </a:lnTo>
                <a:lnTo>
                  <a:pt x="32512" y="1300480"/>
                </a:lnTo>
                <a:lnTo>
                  <a:pt x="32512" y="1300480"/>
                </a:lnTo>
                <a:cubicBezTo>
                  <a:pt x="14556" y="1300480"/>
                  <a:pt x="0" y="1285924"/>
                  <a:pt x="0" y="1267968"/>
                </a:cubicBezTo>
                <a:lnTo>
                  <a:pt x="0" y="32512"/>
                </a:lnTo>
                <a:cubicBezTo>
                  <a:pt x="0" y="14568"/>
                  <a:pt x="14568" y="0"/>
                  <a:pt x="32512" y="0"/>
                </a:cubicBezTo>
                <a:close/>
              </a:path>
            </a:pathLst>
          </a:custGeom>
          <a:solidFill>
            <a:srgbClr val="FF6B00"/>
          </a:solidFill>
          <a:ln/>
        </p:spPr>
      </p:sp>
      <p:sp>
        <p:nvSpPr>
          <p:cNvPr id="46" name="Text 44"/>
          <p:cNvSpPr/>
          <p:nvPr/>
        </p:nvSpPr>
        <p:spPr>
          <a:xfrm>
            <a:off x="6374130" y="4844288"/>
            <a:ext cx="5405120" cy="227584"/>
          </a:xfrm>
          <a:prstGeom prst="rect">
            <a:avLst/>
          </a:prstGeom>
          <a:noFill/>
          <a:ln/>
        </p:spPr>
        <p:txBody>
          <a:bodyPr wrap="square" lIns="0" tIns="0" rIns="0" bIns="0" rtlCol="0" anchor="ctr"/>
          <a:lstStyle/>
          <a:p>
            <a:pPr>
              <a:lnSpc>
                <a:spcPct val="130000"/>
              </a:lnSpc>
            </a:pPr>
            <a:r>
              <a:rPr lang="en-US" sz="1152" b="1" dirty="0">
                <a:solidFill>
                  <a:srgbClr val="003087"/>
                </a:solidFill>
                <a:latin typeface="Liter" pitchFamily="34" charset="0"/>
                <a:ea typeface="Liter" pitchFamily="34" charset="-122"/>
                <a:cs typeface="Liter" pitchFamily="34" charset="-120"/>
              </a:rPr>
              <a:t>Phase 3 Investment</a:t>
            </a:r>
            <a:endParaRPr lang="en-US" sz="1600" dirty="0"/>
          </a:p>
        </p:txBody>
      </p:sp>
      <p:sp>
        <p:nvSpPr>
          <p:cNvPr id="47" name="Shape 45"/>
          <p:cNvSpPr/>
          <p:nvPr/>
        </p:nvSpPr>
        <p:spPr>
          <a:xfrm>
            <a:off x="6374130" y="5169408"/>
            <a:ext cx="2617216" cy="650240"/>
          </a:xfrm>
          <a:custGeom>
            <a:avLst/>
            <a:gdLst/>
            <a:ahLst/>
            <a:cxnLst/>
            <a:rect l="l" t="t" r="r" b="b"/>
            <a:pathLst>
              <a:path w="2617216" h="650240">
                <a:moveTo>
                  <a:pt x="65024" y="0"/>
                </a:moveTo>
                <a:lnTo>
                  <a:pt x="2552192" y="0"/>
                </a:lnTo>
                <a:cubicBezTo>
                  <a:pt x="2588104" y="0"/>
                  <a:pt x="2617216" y="29112"/>
                  <a:pt x="2617216" y="65024"/>
                </a:cubicBezTo>
                <a:lnTo>
                  <a:pt x="2617216" y="585216"/>
                </a:lnTo>
                <a:cubicBezTo>
                  <a:pt x="2617216" y="621128"/>
                  <a:pt x="2588104" y="650240"/>
                  <a:pt x="2552192" y="650240"/>
                </a:cubicBezTo>
                <a:lnTo>
                  <a:pt x="65024" y="650240"/>
                </a:lnTo>
                <a:cubicBezTo>
                  <a:pt x="29112" y="650240"/>
                  <a:pt x="0" y="621128"/>
                  <a:pt x="0" y="585216"/>
                </a:cubicBezTo>
                <a:lnTo>
                  <a:pt x="0" y="65024"/>
                </a:lnTo>
                <a:cubicBezTo>
                  <a:pt x="0" y="29136"/>
                  <a:pt x="29136" y="0"/>
                  <a:pt x="65024" y="0"/>
                </a:cubicBezTo>
                <a:close/>
              </a:path>
            </a:pathLst>
          </a:custGeom>
          <a:solidFill>
            <a:srgbClr val="FFFFFF"/>
          </a:solidFill>
          <a:ln/>
          <a:effectLst>
            <a:outerShdw blurRad="24384" dist="8128" dir="5400000" algn="bl" rotWithShape="0">
              <a:srgbClr val="000000">
                <a:alpha val="10196"/>
              </a:srgbClr>
            </a:outerShdw>
          </a:effectLst>
        </p:spPr>
      </p:sp>
      <p:sp>
        <p:nvSpPr>
          <p:cNvPr id="48" name="Text 46"/>
          <p:cNvSpPr/>
          <p:nvPr/>
        </p:nvSpPr>
        <p:spPr>
          <a:xfrm>
            <a:off x="6422898" y="5266944"/>
            <a:ext cx="2519680" cy="260096"/>
          </a:xfrm>
          <a:prstGeom prst="rect">
            <a:avLst/>
          </a:prstGeom>
          <a:noFill/>
          <a:ln/>
        </p:spPr>
        <p:txBody>
          <a:bodyPr wrap="square" lIns="0" tIns="0" rIns="0" bIns="0" rtlCol="0" anchor="ctr"/>
          <a:lstStyle/>
          <a:p>
            <a:pPr algn="ctr">
              <a:lnSpc>
                <a:spcPct val="110000"/>
              </a:lnSpc>
            </a:pPr>
            <a:r>
              <a:rPr lang="en-US" sz="1536" b="1" dirty="0">
                <a:solidFill>
                  <a:srgbClr val="003087"/>
                </a:solidFill>
                <a:latin typeface="Quattrocento Sans" pitchFamily="34" charset="0"/>
                <a:ea typeface="Quattrocento Sans" pitchFamily="34" charset="-122"/>
                <a:cs typeface="Quattrocento Sans" pitchFamily="34" charset="-120"/>
              </a:rPr>
              <a:t>$800K</a:t>
            </a:r>
            <a:endParaRPr lang="en-US" sz="1600" dirty="0"/>
          </a:p>
        </p:txBody>
      </p:sp>
      <p:sp>
        <p:nvSpPr>
          <p:cNvPr id="49" name="Text 47"/>
          <p:cNvSpPr/>
          <p:nvPr/>
        </p:nvSpPr>
        <p:spPr>
          <a:xfrm>
            <a:off x="6443218" y="5559552"/>
            <a:ext cx="2479040" cy="162560"/>
          </a:xfrm>
          <a:prstGeom prst="rect">
            <a:avLst/>
          </a:prstGeom>
          <a:noFill/>
          <a:ln/>
        </p:spPr>
        <p:txBody>
          <a:bodyPr wrap="square" lIns="0" tIns="0" rIns="0" bIns="0" rtlCol="0" anchor="ctr"/>
          <a:lstStyle/>
          <a:p>
            <a:pPr algn="ctr">
              <a:lnSpc>
                <a:spcPct val="120000"/>
              </a:lnSpc>
            </a:pPr>
            <a:r>
              <a:rPr lang="en-US" sz="896" dirty="0">
                <a:solidFill>
                  <a:srgbClr val="1A1A1A">
                    <a:alpha val="70000"/>
                  </a:srgbClr>
                </a:solidFill>
                <a:latin typeface="Quattrocento Sans" pitchFamily="34" charset="0"/>
                <a:ea typeface="Quattrocento Sans" pitchFamily="34" charset="-122"/>
                <a:cs typeface="Quattrocento Sans" pitchFamily="34" charset="-120"/>
              </a:rPr>
              <a:t>Budget</a:t>
            </a:r>
            <a:endParaRPr lang="en-US" sz="1600" dirty="0"/>
          </a:p>
        </p:txBody>
      </p:sp>
      <p:sp>
        <p:nvSpPr>
          <p:cNvPr id="50" name="Shape 48"/>
          <p:cNvSpPr/>
          <p:nvPr/>
        </p:nvSpPr>
        <p:spPr>
          <a:xfrm>
            <a:off x="9089771" y="5169408"/>
            <a:ext cx="2617216" cy="650240"/>
          </a:xfrm>
          <a:custGeom>
            <a:avLst/>
            <a:gdLst/>
            <a:ahLst/>
            <a:cxnLst/>
            <a:rect l="l" t="t" r="r" b="b"/>
            <a:pathLst>
              <a:path w="2617216" h="650240">
                <a:moveTo>
                  <a:pt x="65024" y="0"/>
                </a:moveTo>
                <a:lnTo>
                  <a:pt x="2552192" y="0"/>
                </a:lnTo>
                <a:cubicBezTo>
                  <a:pt x="2588104" y="0"/>
                  <a:pt x="2617216" y="29112"/>
                  <a:pt x="2617216" y="65024"/>
                </a:cubicBezTo>
                <a:lnTo>
                  <a:pt x="2617216" y="585216"/>
                </a:lnTo>
                <a:cubicBezTo>
                  <a:pt x="2617216" y="621128"/>
                  <a:pt x="2588104" y="650240"/>
                  <a:pt x="2552192" y="650240"/>
                </a:cubicBezTo>
                <a:lnTo>
                  <a:pt x="65024" y="650240"/>
                </a:lnTo>
                <a:cubicBezTo>
                  <a:pt x="29112" y="650240"/>
                  <a:pt x="0" y="621128"/>
                  <a:pt x="0" y="585216"/>
                </a:cubicBezTo>
                <a:lnTo>
                  <a:pt x="0" y="65024"/>
                </a:lnTo>
                <a:cubicBezTo>
                  <a:pt x="0" y="29136"/>
                  <a:pt x="29136" y="0"/>
                  <a:pt x="65024" y="0"/>
                </a:cubicBezTo>
                <a:close/>
              </a:path>
            </a:pathLst>
          </a:custGeom>
          <a:solidFill>
            <a:srgbClr val="FFFFFF"/>
          </a:solidFill>
          <a:ln/>
          <a:effectLst>
            <a:outerShdw blurRad="24384" dist="8128" dir="5400000" algn="bl" rotWithShape="0">
              <a:srgbClr val="000000">
                <a:alpha val="10196"/>
              </a:srgbClr>
            </a:outerShdw>
          </a:effectLst>
        </p:spPr>
      </p:sp>
      <p:sp>
        <p:nvSpPr>
          <p:cNvPr id="51" name="Text 49"/>
          <p:cNvSpPr/>
          <p:nvPr/>
        </p:nvSpPr>
        <p:spPr>
          <a:xfrm>
            <a:off x="9138539" y="5266944"/>
            <a:ext cx="2519680" cy="260096"/>
          </a:xfrm>
          <a:prstGeom prst="rect">
            <a:avLst/>
          </a:prstGeom>
          <a:noFill/>
          <a:ln/>
        </p:spPr>
        <p:txBody>
          <a:bodyPr wrap="square" lIns="0" tIns="0" rIns="0" bIns="0" rtlCol="0" anchor="ctr"/>
          <a:lstStyle/>
          <a:p>
            <a:pPr algn="ctr">
              <a:lnSpc>
                <a:spcPct val="110000"/>
              </a:lnSpc>
            </a:pPr>
            <a:r>
              <a:rPr lang="en-US" sz="1536" b="1" dirty="0">
                <a:solidFill>
                  <a:srgbClr val="FF6B00"/>
                </a:solidFill>
                <a:latin typeface="Quattrocento Sans" pitchFamily="34" charset="0"/>
                <a:ea typeface="Quattrocento Sans" pitchFamily="34" charset="-122"/>
                <a:cs typeface="Quattrocento Sans" pitchFamily="34" charset="-120"/>
              </a:rPr>
              <a:t>10-12</a:t>
            </a:r>
            <a:endParaRPr lang="en-US" sz="1600" dirty="0"/>
          </a:p>
        </p:txBody>
      </p:sp>
      <p:sp>
        <p:nvSpPr>
          <p:cNvPr id="52" name="Text 50"/>
          <p:cNvSpPr/>
          <p:nvPr/>
        </p:nvSpPr>
        <p:spPr>
          <a:xfrm>
            <a:off x="9158859" y="5559552"/>
            <a:ext cx="2479040" cy="162560"/>
          </a:xfrm>
          <a:prstGeom prst="rect">
            <a:avLst/>
          </a:prstGeom>
          <a:noFill/>
          <a:ln/>
        </p:spPr>
        <p:txBody>
          <a:bodyPr wrap="square" lIns="0" tIns="0" rIns="0" bIns="0" rtlCol="0" anchor="ctr"/>
          <a:lstStyle/>
          <a:p>
            <a:pPr algn="ctr">
              <a:lnSpc>
                <a:spcPct val="120000"/>
              </a:lnSpc>
            </a:pPr>
            <a:r>
              <a:rPr lang="en-US" sz="896" dirty="0">
                <a:solidFill>
                  <a:srgbClr val="1A1A1A">
                    <a:alpha val="70000"/>
                  </a:srgbClr>
                </a:solidFill>
                <a:latin typeface="Quattrocento Sans" pitchFamily="34" charset="0"/>
                <a:ea typeface="Quattrocento Sans" pitchFamily="34" charset="-122"/>
                <a:cs typeface="Quattrocento Sans" pitchFamily="34" charset="-120"/>
              </a:rPr>
              <a:t>Team Size</a:t>
            </a:r>
            <a:endParaRPr lang="en-US" sz="1600" dirty="0"/>
          </a:p>
        </p:txBody>
      </p:sp>
      <p:sp>
        <p:nvSpPr>
          <p:cNvPr id="53" name="Shape 51"/>
          <p:cNvSpPr/>
          <p:nvPr/>
        </p:nvSpPr>
        <p:spPr>
          <a:xfrm>
            <a:off x="333248" y="6120384"/>
            <a:ext cx="11525504" cy="731520"/>
          </a:xfrm>
          <a:custGeom>
            <a:avLst/>
            <a:gdLst/>
            <a:ahLst/>
            <a:cxnLst/>
            <a:rect l="l" t="t" r="r" b="b"/>
            <a:pathLst>
              <a:path w="11525504" h="731520">
                <a:moveTo>
                  <a:pt x="97534" y="0"/>
                </a:moveTo>
                <a:lnTo>
                  <a:pt x="11427970" y="0"/>
                </a:lnTo>
                <a:cubicBezTo>
                  <a:pt x="11481837" y="0"/>
                  <a:pt x="11525504" y="43667"/>
                  <a:pt x="11525504" y="97534"/>
                </a:cubicBezTo>
                <a:lnTo>
                  <a:pt x="11525504" y="633986"/>
                </a:lnTo>
                <a:cubicBezTo>
                  <a:pt x="11525504" y="687853"/>
                  <a:pt x="11481837" y="731520"/>
                  <a:pt x="11427970" y="731520"/>
                </a:cubicBezTo>
                <a:lnTo>
                  <a:pt x="97534" y="731520"/>
                </a:lnTo>
                <a:cubicBezTo>
                  <a:pt x="43667" y="731520"/>
                  <a:pt x="0" y="687853"/>
                  <a:pt x="0" y="633986"/>
                </a:cubicBezTo>
                <a:lnTo>
                  <a:pt x="0" y="97534"/>
                </a:lnTo>
                <a:cubicBezTo>
                  <a:pt x="0" y="43667"/>
                  <a:pt x="43667" y="0"/>
                  <a:pt x="97534" y="0"/>
                </a:cubicBezTo>
                <a:close/>
              </a:path>
            </a:pathLst>
          </a:custGeom>
          <a:solidFill>
            <a:srgbClr val="D4AF37">
              <a:alpha val="10196"/>
            </a:srgbClr>
          </a:solidFill>
          <a:ln w="25400">
            <a:solidFill>
              <a:srgbClr val="D4AF37"/>
            </a:solidFill>
            <a:prstDash val="solid"/>
          </a:ln>
        </p:spPr>
      </p:sp>
      <p:sp>
        <p:nvSpPr>
          <p:cNvPr id="54" name="Shape 52"/>
          <p:cNvSpPr/>
          <p:nvPr/>
        </p:nvSpPr>
        <p:spPr>
          <a:xfrm>
            <a:off x="519176" y="6364224"/>
            <a:ext cx="213360" cy="243840"/>
          </a:xfrm>
          <a:custGeom>
            <a:avLst/>
            <a:gdLst/>
            <a:ahLst/>
            <a:cxnLst/>
            <a:rect l="l" t="t" r="r" b="b"/>
            <a:pathLst>
              <a:path w="213360" h="243840">
                <a:moveTo>
                  <a:pt x="60960" y="0"/>
                </a:moveTo>
                <a:cubicBezTo>
                  <a:pt x="69390" y="0"/>
                  <a:pt x="76200" y="6810"/>
                  <a:pt x="76200" y="15240"/>
                </a:cubicBezTo>
                <a:lnTo>
                  <a:pt x="76200" y="30480"/>
                </a:lnTo>
                <a:lnTo>
                  <a:pt x="137160" y="30480"/>
                </a:lnTo>
                <a:lnTo>
                  <a:pt x="137160" y="15240"/>
                </a:lnTo>
                <a:cubicBezTo>
                  <a:pt x="137160" y="6810"/>
                  <a:pt x="143970" y="0"/>
                  <a:pt x="152400" y="0"/>
                </a:cubicBezTo>
                <a:cubicBezTo>
                  <a:pt x="160830" y="0"/>
                  <a:pt x="167640" y="6810"/>
                  <a:pt x="167640" y="15240"/>
                </a:cubicBezTo>
                <a:lnTo>
                  <a:pt x="167640" y="30480"/>
                </a:lnTo>
                <a:lnTo>
                  <a:pt x="182880" y="30480"/>
                </a:lnTo>
                <a:cubicBezTo>
                  <a:pt x="199692" y="30480"/>
                  <a:pt x="213360" y="44148"/>
                  <a:pt x="213360" y="60960"/>
                </a:cubicBezTo>
                <a:lnTo>
                  <a:pt x="213360" y="198120"/>
                </a:lnTo>
                <a:cubicBezTo>
                  <a:pt x="213360" y="214932"/>
                  <a:pt x="199692" y="228600"/>
                  <a:pt x="182880" y="228600"/>
                </a:cubicBezTo>
                <a:lnTo>
                  <a:pt x="30480" y="228600"/>
                </a:lnTo>
                <a:cubicBezTo>
                  <a:pt x="13668" y="228600"/>
                  <a:pt x="0" y="214932"/>
                  <a:pt x="0" y="198120"/>
                </a:cubicBezTo>
                <a:lnTo>
                  <a:pt x="0" y="60960"/>
                </a:lnTo>
                <a:cubicBezTo>
                  <a:pt x="0" y="44148"/>
                  <a:pt x="13668" y="30480"/>
                  <a:pt x="30480" y="30480"/>
                </a:cubicBezTo>
                <a:lnTo>
                  <a:pt x="45720" y="30480"/>
                </a:lnTo>
                <a:lnTo>
                  <a:pt x="45720" y="15240"/>
                </a:lnTo>
                <a:cubicBezTo>
                  <a:pt x="45720" y="6810"/>
                  <a:pt x="52530" y="0"/>
                  <a:pt x="60960" y="0"/>
                </a:cubicBezTo>
                <a:close/>
                <a:moveTo>
                  <a:pt x="30480" y="114300"/>
                </a:moveTo>
                <a:lnTo>
                  <a:pt x="30480" y="129540"/>
                </a:lnTo>
                <a:cubicBezTo>
                  <a:pt x="30480" y="133731"/>
                  <a:pt x="33909" y="137160"/>
                  <a:pt x="38100" y="137160"/>
                </a:cubicBezTo>
                <a:lnTo>
                  <a:pt x="53340" y="137160"/>
                </a:lnTo>
                <a:cubicBezTo>
                  <a:pt x="57531" y="137160"/>
                  <a:pt x="60960" y="133731"/>
                  <a:pt x="60960" y="129540"/>
                </a:cubicBezTo>
                <a:lnTo>
                  <a:pt x="60960" y="114300"/>
                </a:lnTo>
                <a:cubicBezTo>
                  <a:pt x="60960" y="110109"/>
                  <a:pt x="57531" y="106680"/>
                  <a:pt x="53340" y="106680"/>
                </a:cubicBezTo>
                <a:lnTo>
                  <a:pt x="38100" y="106680"/>
                </a:lnTo>
                <a:cubicBezTo>
                  <a:pt x="33909" y="106680"/>
                  <a:pt x="30480" y="110109"/>
                  <a:pt x="30480" y="114300"/>
                </a:cubicBezTo>
                <a:close/>
                <a:moveTo>
                  <a:pt x="91440" y="114300"/>
                </a:moveTo>
                <a:lnTo>
                  <a:pt x="91440" y="129540"/>
                </a:lnTo>
                <a:cubicBezTo>
                  <a:pt x="91440" y="133731"/>
                  <a:pt x="94869" y="137160"/>
                  <a:pt x="99060" y="137160"/>
                </a:cubicBezTo>
                <a:lnTo>
                  <a:pt x="114300" y="137160"/>
                </a:lnTo>
                <a:cubicBezTo>
                  <a:pt x="118491" y="137160"/>
                  <a:pt x="121920" y="133731"/>
                  <a:pt x="121920" y="129540"/>
                </a:cubicBezTo>
                <a:lnTo>
                  <a:pt x="121920" y="114300"/>
                </a:lnTo>
                <a:cubicBezTo>
                  <a:pt x="121920" y="110109"/>
                  <a:pt x="118491" y="106680"/>
                  <a:pt x="114300" y="106680"/>
                </a:cubicBezTo>
                <a:lnTo>
                  <a:pt x="99060" y="106680"/>
                </a:lnTo>
                <a:cubicBezTo>
                  <a:pt x="94869" y="106680"/>
                  <a:pt x="91440" y="110109"/>
                  <a:pt x="91440" y="114300"/>
                </a:cubicBezTo>
                <a:close/>
                <a:moveTo>
                  <a:pt x="160020" y="106680"/>
                </a:moveTo>
                <a:cubicBezTo>
                  <a:pt x="155829" y="106680"/>
                  <a:pt x="152400" y="110109"/>
                  <a:pt x="152400" y="114300"/>
                </a:cubicBezTo>
                <a:lnTo>
                  <a:pt x="152400" y="129540"/>
                </a:lnTo>
                <a:cubicBezTo>
                  <a:pt x="152400" y="133731"/>
                  <a:pt x="155829" y="137160"/>
                  <a:pt x="160020" y="137160"/>
                </a:cubicBezTo>
                <a:lnTo>
                  <a:pt x="175260" y="137160"/>
                </a:lnTo>
                <a:cubicBezTo>
                  <a:pt x="179451" y="137160"/>
                  <a:pt x="182880" y="133731"/>
                  <a:pt x="182880" y="129540"/>
                </a:cubicBezTo>
                <a:lnTo>
                  <a:pt x="182880" y="114300"/>
                </a:lnTo>
                <a:cubicBezTo>
                  <a:pt x="182880" y="110109"/>
                  <a:pt x="179451" y="106680"/>
                  <a:pt x="175260" y="106680"/>
                </a:cubicBezTo>
                <a:lnTo>
                  <a:pt x="160020" y="106680"/>
                </a:lnTo>
                <a:close/>
                <a:moveTo>
                  <a:pt x="30480" y="175260"/>
                </a:moveTo>
                <a:lnTo>
                  <a:pt x="30480" y="190500"/>
                </a:lnTo>
                <a:cubicBezTo>
                  <a:pt x="30480" y="194691"/>
                  <a:pt x="33909" y="198120"/>
                  <a:pt x="38100" y="198120"/>
                </a:cubicBezTo>
                <a:lnTo>
                  <a:pt x="53340" y="198120"/>
                </a:lnTo>
                <a:cubicBezTo>
                  <a:pt x="57531" y="198120"/>
                  <a:pt x="60960" y="194691"/>
                  <a:pt x="60960" y="190500"/>
                </a:cubicBezTo>
                <a:lnTo>
                  <a:pt x="60960" y="175260"/>
                </a:lnTo>
                <a:cubicBezTo>
                  <a:pt x="60960" y="171069"/>
                  <a:pt x="57531" y="167640"/>
                  <a:pt x="53340" y="167640"/>
                </a:cubicBezTo>
                <a:lnTo>
                  <a:pt x="38100" y="167640"/>
                </a:lnTo>
                <a:cubicBezTo>
                  <a:pt x="33909" y="167640"/>
                  <a:pt x="30480" y="171069"/>
                  <a:pt x="30480" y="175260"/>
                </a:cubicBezTo>
                <a:close/>
                <a:moveTo>
                  <a:pt x="99060" y="167640"/>
                </a:moveTo>
                <a:cubicBezTo>
                  <a:pt x="94869" y="167640"/>
                  <a:pt x="91440" y="171069"/>
                  <a:pt x="91440" y="175260"/>
                </a:cubicBezTo>
                <a:lnTo>
                  <a:pt x="91440" y="190500"/>
                </a:lnTo>
                <a:cubicBezTo>
                  <a:pt x="91440" y="194691"/>
                  <a:pt x="94869" y="198120"/>
                  <a:pt x="99060" y="198120"/>
                </a:cubicBezTo>
                <a:lnTo>
                  <a:pt x="114300" y="198120"/>
                </a:lnTo>
                <a:cubicBezTo>
                  <a:pt x="118491" y="198120"/>
                  <a:pt x="121920" y="194691"/>
                  <a:pt x="121920" y="190500"/>
                </a:cubicBezTo>
                <a:lnTo>
                  <a:pt x="121920" y="175260"/>
                </a:lnTo>
                <a:cubicBezTo>
                  <a:pt x="121920" y="171069"/>
                  <a:pt x="118491" y="167640"/>
                  <a:pt x="114300" y="167640"/>
                </a:cubicBezTo>
                <a:lnTo>
                  <a:pt x="99060" y="167640"/>
                </a:lnTo>
                <a:close/>
                <a:moveTo>
                  <a:pt x="152400" y="175260"/>
                </a:moveTo>
                <a:lnTo>
                  <a:pt x="152400" y="190500"/>
                </a:lnTo>
                <a:cubicBezTo>
                  <a:pt x="152400" y="194691"/>
                  <a:pt x="155829" y="198120"/>
                  <a:pt x="160020" y="198120"/>
                </a:cubicBezTo>
                <a:lnTo>
                  <a:pt x="175260" y="198120"/>
                </a:lnTo>
                <a:cubicBezTo>
                  <a:pt x="179451" y="198120"/>
                  <a:pt x="182880" y="194691"/>
                  <a:pt x="182880" y="190500"/>
                </a:cubicBezTo>
                <a:lnTo>
                  <a:pt x="182880" y="175260"/>
                </a:lnTo>
                <a:cubicBezTo>
                  <a:pt x="182880" y="171069"/>
                  <a:pt x="179451" y="167640"/>
                  <a:pt x="175260" y="167640"/>
                </a:cubicBezTo>
                <a:lnTo>
                  <a:pt x="160020" y="167640"/>
                </a:lnTo>
                <a:cubicBezTo>
                  <a:pt x="155829" y="167640"/>
                  <a:pt x="152400" y="171069"/>
                  <a:pt x="152400" y="175260"/>
                </a:cubicBezTo>
                <a:close/>
              </a:path>
            </a:pathLst>
          </a:custGeom>
          <a:solidFill>
            <a:srgbClr val="D4AF37"/>
          </a:solidFill>
          <a:ln/>
        </p:spPr>
      </p:sp>
      <p:sp>
        <p:nvSpPr>
          <p:cNvPr id="55" name="Text 53"/>
          <p:cNvSpPr/>
          <p:nvPr/>
        </p:nvSpPr>
        <p:spPr>
          <a:xfrm>
            <a:off x="906272" y="6258560"/>
            <a:ext cx="10891520" cy="227584"/>
          </a:xfrm>
          <a:prstGeom prst="rect">
            <a:avLst/>
          </a:prstGeom>
          <a:noFill/>
          <a:ln/>
        </p:spPr>
        <p:txBody>
          <a:bodyPr wrap="square" lIns="0" tIns="0" rIns="0" bIns="0" rtlCol="0" anchor="ctr"/>
          <a:lstStyle/>
          <a:p>
            <a:pPr>
              <a:lnSpc>
                <a:spcPct val="130000"/>
              </a:lnSpc>
            </a:pPr>
            <a:r>
              <a:rPr lang="en-US" sz="1152" b="1" dirty="0">
                <a:solidFill>
                  <a:srgbClr val="003087"/>
                </a:solidFill>
                <a:latin typeface="Liter" pitchFamily="34" charset="0"/>
                <a:ea typeface="Liter" pitchFamily="34" charset="-122"/>
                <a:cs typeface="Liter" pitchFamily="34" charset="-120"/>
              </a:rPr>
              <a:t>Total Program Timeline: 18 Months</a:t>
            </a:r>
            <a:endParaRPr lang="en-US" sz="1600" dirty="0"/>
          </a:p>
        </p:txBody>
      </p:sp>
      <p:sp>
        <p:nvSpPr>
          <p:cNvPr id="56" name="Text 54"/>
          <p:cNvSpPr/>
          <p:nvPr/>
        </p:nvSpPr>
        <p:spPr>
          <a:xfrm>
            <a:off x="906272" y="6518656"/>
            <a:ext cx="10883392" cy="195072"/>
          </a:xfrm>
          <a:prstGeom prst="rect">
            <a:avLst/>
          </a:prstGeom>
          <a:noFill/>
          <a:ln/>
        </p:spPr>
        <p:txBody>
          <a:bodyPr wrap="square" lIns="0" tIns="0" rIns="0" bIns="0" rtlCol="0" anchor="ctr"/>
          <a:lstStyle/>
          <a:p>
            <a:pPr>
              <a:lnSpc>
                <a:spcPct val="130000"/>
              </a:lnSpc>
            </a:pPr>
            <a:r>
              <a:rPr lang="en-US" sz="1024" dirty="0">
                <a:solidFill>
                  <a:srgbClr val="1A1A1A">
                    <a:alpha val="80000"/>
                  </a:srgbClr>
                </a:solidFill>
                <a:latin typeface="Quattrocento Sans" pitchFamily="34" charset="0"/>
                <a:ea typeface="Quattrocento Sans" pitchFamily="34" charset="-122"/>
                <a:cs typeface="Quattrocento Sans" pitchFamily="34" charset="-120"/>
              </a:rPr>
              <a:t>Total Investment: </a:t>
            </a:r>
            <a:r>
              <a:rPr lang="en-US" sz="1024" b="1" dirty="0">
                <a:solidFill>
                  <a:srgbClr val="003087"/>
                </a:solidFill>
                <a:latin typeface="Quattrocento Sans" pitchFamily="34" charset="0"/>
                <a:ea typeface="Quattrocento Sans" pitchFamily="34" charset="-122"/>
                <a:cs typeface="Quattrocento Sans" pitchFamily="34" charset="-120"/>
              </a:rPr>
              <a:t>$2.5M - $3.5M</a:t>
            </a:r>
            <a:r>
              <a:rPr lang="en-US" sz="1024" dirty="0">
                <a:solidFill>
                  <a:srgbClr val="1A1A1A">
                    <a:alpha val="80000"/>
                  </a:srgbClr>
                </a:solidFill>
                <a:latin typeface="Quattrocento Sans" pitchFamily="34" charset="0"/>
                <a:ea typeface="Quattrocento Sans" pitchFamily="34" charset="-122"/>
                <a:cs typeface="Quattrocento Sans" pitchFamily="34" charset="-120"/>
              </a:rPr>
              <a:t> | Expected ROI: </a:t>
            </a:r>
            <a:r>
              <a:rPr lang="en-US" sz="1024" b="1" dirty="0">
                <a:solidFill>
                  <a:srgbClr val="FF6B00"/>
                </a:solidFill>
                <a:latin typeface="Quattrocento Sans" pitchFamily="34" charset="0"/>
                <a:ea typeface="Quattrocento Sans" pitchFamily="34" charset="-122"/>
                <a:cs typeface="Quattrocento Sans" pitchFamily="34" charset="-120"/>
              </a:rPr>
              <a:t>18-24 months payback</a:t>
            </a:r>
            <a:r>
              <a:rPr lang="en-US" sz="1024" dirty="0">
                <a:solidFill>
                  <a:srgbClr val="1A1A1A">
                    <a:alpha val="80000"/>
                  </a:srgbClr>
                </a:solidFill>
                <a:latin typeface="Quattrocento Sans" pitchFamily="34" charset="0"/>
                <a:ea typeface="Quattrocento Sans" pitchFamily="34" charset="-122"/>
                <a:cs typeface="Quattrocento Sans" pitchFamily="34" charset="-120"/>
              </a:rPr>
              <a:t> | Annual Savings: </a:t>
            </a:r>
            <a:r>
              <a:rPr lang="en-US" sz="1024" b="1" dirty="0">
                <a:solidFill>
                  <a:srgbClr val="003087"/>
                </a:solidFill>
                <a:latin typeface="Quattrocento Sans" pitchFamily="34" charset="0"/>
                <a:ea typeface="Quattrocento Sans" pitchFamily="34" charset="-122"/>
                <a:cs typeface="Quattrocento Sans" pitchFamily="34" charset="-120"/>
              </a:rPr>
              <a:t>$4M - $6M</a:t>
            </a:r>
            <a:r>
              <a:rPr lang="en-US" sz="1024" dirty="0">
                <a:solidFill>
                  <a:srgbClr val="1A1A1A">
                    <a:alpha val="80000"/>
                  </a:srgbClr>
                </a:solidFill>
                <a:latin typeface="Quattrocento Sans" pitchFamily="34" charset="0"/>
                <a:ea typeface="Quattrocento Sans" pitchFamily="34" charset="-122"/>
                <a:cs typeface="Quattrocento Sans" pitchFamily="34" charset="-120"/>
              </a:rPr>
              <a:t> (from Year 2)</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4650" y="344650"/>
            <a:ext cx="11563013" cy="172325"/>
          </a:xfrm>
          <a:prstGeom prst="rect">
            <a:avLst/>
          </a:prstGeom>
          <a:noFill/>
          <a:ln/>
        </p:spPr>
        <p:txBody>
          <a:bodyPr wrap="square" lIns="0" tIns="0" rIns="0" bIns="0" rtlCol="0" anchor="ctr"/>
          <a:lstStyle/>
          <a:p>
            <a:pPr>
              <a:lnSpc>
                <a:spcPct val="120000"/>
              </a:lnSpc>
            </a:pPr>
            <a:r>
              <a:rPr lang="en-US" sz="950" b="1" kern="0" spc="47" dirty="0">
                <a:solidFill>
                  <a:srgbClr val="FF6B00"/>
                </a:solidFill>
                <a:latin typeface="Liter" pitchFamily="34" charset="0"/>
                <a:ea typeface="Liter" pitchFamily="34" charset="-122"/>
                <a:cs typeface="Liter" pitchFamily="34" charset="-120"/>
              </a:rPr>
              <a:t>06 | STAKEHOLDER ENGAGEMENT</a:t>
            </a:r>
            <a:endParaRPr lang="en-US" sz="1600" dirty="0"/>
          </a:p>
        </p:txBody>
      </p:sp>
      <p:sp>
        <p:nvSpPr>
          <p:cNvPr id="3" name="Text 1"/>
          <p:cNvSpPr/>
          <p:nvPr/>
        </p:nvSpPr>
        <p:spPr>
          <a:xfrm>
            <a:off x="344650" y="585905"/>
            <a:ext cx="11657792" cy="344650"/>
          </a:xfrm>
          <a:prstGeom prst="rect">
            <a:avLst/>
          </a:prstGeom>
          <a:noFill/>
          <a:ln/>
        </p:spPr>
        <p:txBody>
          <a:bodyPr wrap="square" lIns="0" tIns="0" rIns="0" bIns="0" rtlCol="0" anchor="ctr"/>
          <a:lstStyle/>
          <a:p>
            <a:pPr>
              <a:lnSpc>
                <a:spcPct val="90000"/>
              </a:lnSpc>
            </a:pPr>
            <a:r>
              <a:rPr lang="en-US" sz="2442" b="1" dirty="0">
                <a:solidFill>
                  <a:srgbClr val="003087"/>
                </a:solidFill>
                <a:latin typeface="Liter" pitchFamily="34" charset="0"/>
                <a:ea typeface="Liter" pitchFamily="34" charset="-122"/>
                <a:cs typeface="Liter" pitchFamily="34" charset="-120"/>
              </a:rPr>
              <a:t>Stakeholder Engagement Strategy</a:t>
            </a:r>
            <a:endParaRPr lang="en-US" sz="1600" dirty="0"/>
          </a:p>
        </p:txBody>
      </p:sp>
      <p:sp>
        <p:nvSpPr>
          <p:cNvPr id="4" name="Shape 2"/>
          <p:cNvSpPr/>
          <p:nvPr/>
        </p:nvSpPr>
        <p:spPr>
          <a:xfrm>
            <a:off x="344650" y="1033951"/>
            <a:ext cx="827160" cy="34465"/>
          </a:xfrm>
          <a:custGeom>
            <a:avLst/>
            <a:gdLst/>
            <a:ahLst/>
            <a:cxnLst/>
            <a:rect l="l" t="t" r="r" b="b"/>
            <a:pathLst>
              <a:path w="827160" h="34465">
                <a:moveTo>
                  <a:pt x="0" y="0"/>
                </a:moveTo>
                <a:lnTo>
                  <a:pt x="827160" y="0"/>
                </a:lnTo>
                <a:lnTo>
                  <a:pt x="827160" y="34465"/>
                </a:lnTo>
                <a:lnTo>
                  <a:pt x="0" y="34465"/>
                </a:lnTo>
                <a:lnTo>
                  <a:pt x="0" y="0"/>
                </a:lnTo>
                <a:close/>
              </a:path>
            </a:pathLst>
          </a:custGeom>
          <a:solidFill>
            <a:srgbClr val="FF6B00"/>
          </a:solidFill>
          <a:ln/>
        </p:spPr>
      </p:sp>
      <p:sp>
        <p:nvSpPr>
          <p:cNvPr id="5" name="Shape 3"/>
          <p:cNvSpPr/>
          <p:nvPr/>
        </p:nvSpPr>
        <p:spPr>
          <a:xfrm>
            <a:off x="344650" y="1240741"/>
            <a:ext cx="5669495" cy="5617798"/>
          </a:xfrm>
          <a:custGeom>
            <a:avLst/>
            <a:gdLst/>
            <a:ahLst/>
            <a:cxnLst/>
            <a:rect l="l" t="t" r="r" b="b"/>
            <a:pathLst>
              <a:path w="5669495" h="5617798">
                <a:moveTo>
                  <a:pt x="103367" y="0"/>
                </a:moveTo>
                <a:lnTo>
                  <a:pt x="5566128" y="0"/>
                </a:lnTo>
                <a:cubicBezTo>
                  <a:pt x="5623216" y="0"/>
                  <a:pt x="5669495" y="46279"/>
                  <a:pt x="5669495" y="103367"/>
                </a:cubicBezTo>
                <a:lnTo>
                  <a:pt x="5669495" y="5514430"/>
                </a:lnTo>
                <a:cubicBezTo>
                  <a:pt x="5669495" y="5571519"/>
                  <a:pt x="5623216" y="5617798"/>
                  <a:pt x="5566128" y="5617798"/>
                </a:cubicBezTo>
                <a:lnTo>
                  <a:pt x="103367" y="5617798"/>
                </a:lnTo>
                <a:cubicBezTo>
                  <a:pt x="46279" y="5617798"/>
                  <a:pt x="0" y="5571519"/>
                  <a:pt x="0" y="5514430"/>
                </a:cubicBezTo>
                <a:lnTo>
                  <a:pt x="0" y="103367"/>
                </a:lnTo>
                <a:cubicBezTo>
                  <a:pt x="0" y="46317"/>
                  <a:pt x="46317" y="0"/>
                  <a:pt x="103367" y="0"/>
                </a:cubicBezTo>
                <a:close/>
              </a:path>
            </a:pathLst>
          </a:custGeom>
          <a:solidFill>
            <a:srgbClr val="F9FAFB"/>
          </a:solidFill>
          <a:ln/>
        </p:spPr>
      </p:sp>
      <p:sp>
        <p:nvSpPr>
          <p:cNvPr id="6" name="Text 4"/>
          <p:cNvSpPr/>
          <p:nvPr/>
        </p:nvSpPr>
        <p:spPr>
          <a:xfrm>
            <a:off x="516975" y="1413066"/>
            <a:ext cx="5411008" cy="241255"/>
          </a:xfrm>
          <a:prstGeom prst="rect">
            <a:avLst/>
          </a:prstGeom>
          <a:noFill/>
          <a:ln/>
        </p:spPr>
        <p:txBody>
          <a:bodyPr wrap="square" lIns="0" tIns="0" rIns="0" bIns="0" rtlCol="0" anchor="ctr"/>
          <a:lstStyle/>
          <a:p>
            <a:pPr>
              <a:lnSpc>
                <a:spcPct val="120000"/>
              </a:lnSpc>
            </a:pPr>
            <a:r>
              <a:rPr lang="en-US" sz="1357" b="1" dirty="0">
                <a:solidFill>
                  <a:srgbClr val="003087"/>
                </a:solidFill>
                <a:latin typeface="Liter" pitchFamily="34" charset="0"/>
                <a:ea typeface="Liter" pitchFamily="34" charset="-122"/>
                <a:cs typeface="Liter" pitchFamily="34" charset="-120"/>
              </a:rPr>
              <a:t>Stakeholder Mapping Matrix</a:t>
            </a:r>
            <a:endParaRPr lang="en-US" sz="1600" dirty="0"/>
          </a:p>
        </p:txBody>
      </p:sp>
      <p:pic>
        <p:nvPicPr>
          <p:cNvPr id="7" name="Image 0" descr="https://kimi-img.moonshot.cn/pub/slides/26-03-07-03:54:51-d6lj22ov0258u07jl6jg.png"/>
          <p:cNvPicPr>
            <a:picLocks noChangeAspect="1"/>
          </p:cNvPicPr>
          <p:nvPr/>
        </p:nvPicPr>
        <p:blipFill>
          <a:blip r:embed="rId3"/>
          <a:srcRect/>
          <a:stretch/>
        </p:blipFill>
        <p:spPr>
          <a:xfrm>
            <a:off x="516975" y="1792181"/>
            <a:ext cx="4738940" cy="3618827"/>
          </a:xfrm>
          <a:prstGeom prst="roundRect">
            <a:avLst>
              <a:gd name="adj" fmla="val 0"/>
            </a:avLst>
          </a:prstGeom>
        </p:spPr>
      </p:pic>
      <p:sp>
        <p:nvSpPr>
          <p:cNvPr id="8" name="Shape 5"/>
          <p:cNvSpPr/>
          <p:nvPr/>
        </p:nvSpPr>
        <p:spPr>
          <a:xfrm>
            <a:off x="6182634" y="1240741"/>
            <a:ext cx="5669495" cy="3101852"/>
          </a:xfrm>
          <a:custGeom>
            <a:avLst/>
            <a:gdLst/>
            <a:ahLst/>
            <a:cxnLst/>
            <a:rect l="l" t="t" r="r" b="b"/>
            <a:pathLst>
              <a:path w="5669495" h="3101852">
                <a:moveTo>
                  <a:pt x="103385" y="0"/>
                </a:moveTo>
                <a:lnTo>
                  <a:pt x="5566111" y="0"/>
                </a:lnTo>
                <a:cubicBezTo>
                  <a:pt x="5623208" y="0"/>
                  <a:pt x="5669495" y="46287"/>
                  <a:pt x="5669495" y="103385"/>
                </a:cubicBezTo>
                <a:lnTo>
                  <a:pt x="5669495" y="2998467"/>
                </a:lnTo>
                <a:cubicBezTo>
                  <a:pt x="5669495" y="3055565"/>
                  <a:pt x="5623208" y="3101852"/>
                  <a:pt x="5566111" y="3101852"/>
                </a:cubicBezTo>
                <a:lnTo>
                  <a:pt x="103385" y="3101852"/>
                </a:lnTo>
                <a:cubicBezTo>
                  <a:pt x="46287" y="3101852"/>
                  <a:pt x="0" y="3055565"/>
                  <a:pt x="0" y="2998467"/>
                </a:cubicBezTo>
                <a:lnTo>
                  <a:pt x="0" y="103385"/>
                </a:lnTo>
                <a:cubicBezTo>
                  <a:pt x="0" y="46325"/>
                  <a:pt x="46325" y="0"/>
                  <a:pt x="103385" y="0"/>
                </a:cubicBezTo>
                <a:close/>
              </a:path>
            </a:pathLst>
          </a:custGeom>
          <a:gradFill flip="none" rotWithShape="1">
            <a:gsLst>
              <a:gs pos="0">
                <a:srgbClr val="003087"/>
              </a:gs>
              <a:gs pos="100000">
                <a:srgbClr val="003087">
                  <a:alpha val="90000"/>
                </a:srgbClr>
              </a:gs>
            </a:gsLst>
            <a:lin ang="2700000" scaled="1"/>
          </a:gradFill>
          <a:ln/>
        </p:spPr>
      </p:sp>
      <p:sp>
        <p:nvSpPr>
          <p:cNvPr id="9" name="Shape 6"/>
          <p:cNvSpPr/>
          <p:nvPr/>
        </p:nvSpPr>
        <p:spPr>
          <a:xfrm>
            <a:off x="6357113" y="1456147"/>
            <a:ext cx="193866" cy="155093"/>
          </a:xfrm>
          <a:custGeom>
            <a:avLst/>
            <a:gdLst/>
            <a:ahLst/>
            <a:cxnLst/>
            <a:rect l="l" t="t" r="r" b="b"/>
            <a:pathLst>
              <a:path w="193866" h="155093">
                <a:moveTo>
                  <a:pt x="96933" y="4847"/>
                </a:moveTo>
                <a:cubicBezTo>
                  <a:pt x="114320" y="4847"/>
                  <a:pt x="128436" y="18963"/>
                  <a:pt x="128436" y="36350"/>
                </a:cubicBezTo>
                <a:cubicBezTo>
                  <a:pt x="128436" y="53737"/>
                  <a:pt x="114320" y="67853"/>
                  <a:pt x="96933" y="67853"/>
                </a:cubicBezTo>
                <a:cubicBezTo>
                  <a:pt x="79546" y="67853"/>
                  <a:pt x="65430" y="53737"/>
                  <a:pt x="65430" y="36350"/>
                </a:cubicBezTo>
                <a:cubicBezTo>
                  <a:pt x="65430" y="18963"/>
                  <a:pt x="79546" y="4847"/>
                  <a:pt x="96933" y="4847"/>
                </a:cubicBezTo>
                <a:close/>
                <a:moveTo>
                  <a:pt x="29080" y="26657"/>
                </a:moveTo>
                <a:cubicBezTo>
                  <a:pt x="41117" y="26657"/>
                  <a:pt x="50890" y="36429"/>
                  <a:pt x="50890" y="48466"/>
                </a:cubicBezTo>
                <a:cubicBezTo>
                  <a:pt x="50890" y="60504"/>
                  <a:pt x="41117" y="70276"/>
                  <a:pt x="29080" y="70276"/>
                </a:cubicBezTo>
                <a:cubicBezTo>
                  <a:pt x="17043" y="70276"/>
                  <a:pt x="7270" y="60504"/>
                  <a:pt x="7270" y="48466"/>
                </a:cubicBezTo>
                <a:cubicBezTo>
                  <a:pt x="7270" y="36429"/>
                  <a:pt x="17043" y="26657"/>
                  <a:pt x="29080" y="26657"/>
                </a:cubicBezTo>
                <a:close/>
                <a:moveTo>
                  <a:pt x="0" y="126013"/>
                </a:moveTo>
                <a:cubicBezTo>
                  <a:pt x="0" y="104597"/>
                  <a:pt x="17357" y="87240"/>
                  <a:pt x="38773" y="87240"/>
                </a:cubicBezTo>
                <a:cubicBezTo>
                  <a:pt x="42650" y="87240"/>
                  <a:pt x="46407" y="87815"/>
                  <a:pt x="49951" y="88875"/>
                </a:cubicBezTo>
                <a:cubicBezTo>
                  <a:pt x="39985" y="100023"/>
                  <a:pt x="33927" y="114744"/>
                  <a:pt x="33927" y="130859"/>
                </a:cubicBezTo>
                <a:lnTo>
                  <a:pt x="33927" y="135706"/>
                </a:lnTo>
                <a:cubicBezTo>
                  <a:pt x="33927" y="139159"/>
                  <a:pt x="34653" y="142431"/>
                  <a:pt x="35956" y="145399"/>
                </a:cubicBezTo>
                <a:lnTo>
                  <a:pt x="9693" y="145399"/>
                </a:lnTo>
                <a:cubicBezTo>
                  <a:pt x="4332" y="145399"/>
                  <a:pt x="0" y="141068"/>
                  <a:pt x="0" y="135706"/>
                </a:cubicBezTo>
                <a:lnTo>
                  <a:pt x="0" y="126013"/>
                </a:lnTo>
                <a:close/>
                <a:moveTo>
                  <a:pt x="157910" y="145399"/>
                </a:moveTo>
                <a:cubicBezTo>
                  <a:pt x="159212" y="142431"/>
                  <a:pt x="159939" y="139159"/>
                  <a:pt x="159939" y="135706"/>
                </a:cubicBezTo>
                <a:lnTo>
                  <a:pt x="159939" y="130859"/>
                </a:lnTo>
                <a:cubicBezTo>
                  <a:pt x="159939" y="114744"/>
                  <a:pt x="153881" y="100023"/>
                  <a:pt x="143915" y="88875"/>
                </a:cubicBezTo>
                <a:cubicBezTo>
                  <a:pt x="147459" y="87815"/>
                  <a:pt x="151215" y="87240"/>
                  <a:pt x="155093" y="87240"/>
                </a:cubicBezTo>
                <a:cubicBezTo>
                  <a:pt x="176509" y="87240"/>
                  <a:pt x="193866" y="104597"/>
                  <a:pt x="193866" y="126013"/>
                </a:cubicBezTo>
                <a:lnTo>
                  <a:pt x="193866" y="135706"/>
                </a:lnTo>
                <a:cubicBezTo>
                  <a:pt x="193866" y="141068"/>
                  <a:pt x="189534" y="145399"/>
                  <a:pt x="184172" y="145399"/>
                </a:cubicBezTo>
                <a:lnTo>
                  <a:pt x="157910" y="145399"/>
                </a:lnTo>
                <a:close/>
                <a:moveTo>
                  <a:pt x="142976" y="48466"/>
                </a:moveTo>
                <a:cubicBezTo>
                  <a:pt x="142976" y="36429"/>
                  <a:pt x="152749" y="26657"/>
                  <a:pt x="164786" y="26657"/>
                </a:cubicBezTo>
                <a:cubicBezTo>
                  <a:pt x="176823" y="26657"/>
                  <a:pt x="186596" y="36429"/>
                  <a:pt x="186596" y="48466"/>
                </a:cubicBezTo>
                <a:cubicBezTo>
                  <a:pt x="186596" y="60504"/>
                  <a:pt x="176823" y="70276"/>
                  <a:pt x="164786" y="70276"/>
                </a:cubicBezTo>
                <a:cubicBezTo>
                  <a:pt x="152749" y="70276"/>
                  <a:pt x="142976" y="60504"/>
                  <a:pt x="142976" y="48466"/>
                </a:cubicBezTo>
                <a:close/>
                <a:moveTo>
                  <a:pt x="48466" y="130859"/>
                </a:moveTo>
                <a:cubicBezTo>
                  <a:pt x="48466" y="104082"/>
                  <a:pt x="70155" y="82393"/>
                  <a:pt x="96933" y="82393"/>
                </a:cubicBezTo>
                <a:cubicBezTo>
                  <a:pt x="123711" y="82393"/>
                  <a:pt x="145399" y="104082"/>
                  <a:pt x="145399" y="130859"/>
                </a:cubicBezTo>
                <a:lnTo>
                  <a:pt x="145399" y="135706"/>
                </a:lnTo>
                <a:cubicBezTo>
                  <a:pt x="145399" y="141068"/>
                  <a:pt x="141068" y="145399"/>
                  <a:pt x="135706" y="145399"/>
                </a:cubicBezTo>
                <a:lnTo>
                  <a:pt x="58160" y="145399"/>
                </a:lnTo>
                <a:cubicBezTo>
                  <a:pt x="52798" y="145399"/>
                  <a:pt x="48466" y="141068"/>
                  <a:pt x="48466" y="135706"/>
                </a:cubicBezTo>
                <a:lnTo>
                  <a:pt x="48466" y="130859"/>
                </a:lnTo>
                <a:close/>
              </a:path>
            </a:pathLst>
          </a:custGeom>
          <a:solidFill>
            <a:srgbClr val="FF6B00"/>
          </a:solidFill>
          <a:ln/>
        </p:spPr>
      </p:sp>
      <p:sp>
        <p:nvSpPr>
          <p:cNvPr id="10" name="Text 7"/>
          <p:cNvSpPr/>
          <p:nvPr/>
        </p:nvSpPr>
        <p:spPr>
          <a:xfrm>
            <a:off x="6553133" y="1413066"/>
            <a:ext cx="5204218" cy="241255"/>
          </a:xfrm>
          <a:prstGeom prst="rect">
            <a:avLst/>
          </a:prstGeom>
          <a:noFill/>
          <a:ln/>
        </p:spPr>
        <p:txBody>
          <a:bodyPr wrap="square" lIns="0" tIns="0" rIns="0" bIns="0" rtlCol="0" anchor="ctr"/>
          <a:lstStyle/>
          <a:p>
            <a:pPr>
              <a:lnSpc>
                <a:spcPct val="130000"/>
              </a:lnSpc>
            </a:pPr>
            <a:r>
              <a:rPr lang="en-US" sz="1221" b="1" dirty="0">
                <a:solidFill>
                  <a:srgbClr val="FFFFFF"/>
                </a:solidFill>
                <a:latin typeface="Liter" pitchFamily="34" charset="0"/>
                <a:ea typeface="Liter" pitchFamily="34" charset="-122"/>
                <a:cs typeface="Liter" pitchFamily="34" charset="-120"/>
              </a:rPr>
              <a:t>Key Stakeholder Groups</a:t>
            </a:r>
            <a:endParaRPr lang="en-US" sz="1600" dirty="0"/>
          </a:p>
        </p:txBody>
      </p:sp>
      <p:sp>
        <p:nvSpPr>
          <p:cNvPr id="11" name="Shape 8"/>
          <p:cNvSpPr/>
          <p:nvPr/>
        </p:nvSpPr>
        <p:spPr>
          <a:xfrm>
            <a:off x="6354959" y="1757716"/>
            <a:ext cx="5324845" cy="551440"/>
          </a:xfrm>
          <a:custGeom>
            <a:avLst/>
            <a:gdLst/>
            <a:ahLst/>
            <a:cxnLst/>
            <a:rect l="l" t="t" r="r" b="b"/>
            <a:pathLst>
              <a:path w="5324845" h="551440">
                <a:moveTo>
                  <a:pt x="68930" y="0"/>
                </a:moveTo>
                <a:lnTo>
                  <a:pt x="5255915" y="0"/>
                </a:lnTo>
                <a:cubicBezTo>
                  <a:pt x="5293984" y="0"/>
                  <a:pt x="5324845" y="30861"/>
                  <a:pt x="5324845" y="68930"/>
                </a:cubicBezTo>
                <a:lnTo>
                  <a:pt x="5324845" y="482510"/>
                </a:lnTo>
                <a:cubicBezTo>
                  <a:pt x="5324845" y="520579"/>
                  <a:pt x="5293984" y="551440"/>
                  <a:pt x="5255915" y="551440"/>
                </a:cubicBezTo>
                <a:lnTo>
                  <a:pt x="68930" y="551440"/>
                </a:lnTo>
                <a:cubicBezTo>
                  <a:pt x="30861" y="551440"/>
                  <a:pt x="0" y="520579"/>
                  <a:pt x="0" y="482510"/>
                </a:cubicBezTo>
                <a:lnTo>
                  <a:pt x="0" y="68930"/>
                </a:lnTo>
                <a:cubicBezTo>
                  <a:pt x="0" y="30887"/>
                  <a:pt x="30887" y="0"/>
                  <a:pt x="68930" y="0"/>
                </a:cubicBezTo>
                <a:close/>
              </a:path>
            </a:pathLst>
          </a:custGeom>
          <a:solidFill>
            <a:srgbClr val="FFFFFF">
              <a:alpha val="10196"/>
            </a:srgbClr>
          </a:solidFill>
          <a:ln/>
        </p:spPr>
      </p:sp>
      <p:sp>
        <p:nvSpPr>
          <p:cNvPr id="12" name="Text 9"/>
          <p:cNvSpPr/>
          <p:nvPr/>
        </p:nvSpPr>
        <p:spPr>
          <a:xfrm>
            <a:off x="6458354" y="1861111"/>
            <a:ext cx="5178369" cy="172325"/>
          </a:xfrm>
          <a:prstGeom prst="rect">
            <a:avLst/>
          </a:prstGeom>
          <a:noFill/>
          <a:ln/>
        </p:spPr>
        <p:txBody>
          <a:bodyPr wrap="square" lIns="0" tIns="0" rIns="0" bIns="0" rtlCol="0" anchor="ctr"/>
          <a:lstStyle/>
          <a:p>
            <a:pPr>
              <a:lnSpc>
                <a:spcPct val="120000"/>
              </a:lnSpc>
            </a:pPr>
            <a:r>
              <a:rPr lang="en-US" sz="950" b="1" dirty="0">
                <a:solidFill>
                  <a:srgbClr val="FFFFFF"/>
                </a:solidFill>
                <a:latin typeface="Quattrocento Sans" pitchFamily="34" charset="0"/>
                <a:ea typeface="Quattrocento Sans" pitchFamily="34" charset="-122"/>
                <a:cs typeface="Quattrocento Sans" pitchFamily="34" charset="-120"/>
              </a:rPr>
              <a:t>Executive Leadership</a:t>
            </a:r>
            <a:endParaRPr lang="en-US" sz="1600" dirty="0"/>
          </a:p>
        </p:txBody>
      </p:sp>
      <p:sp>
        <p:nvSpPr>
          <p:cNvPr id="13" name="Text 10"/>
          <p:cNvSpPr/>
          <p:nvPr/>
        </p:nvSpPr>
        <p:spPr>
          <a:xfrm>
            <a:off x="6458354" y="2067901"/>
            <a:ext cx="5169753" cy="137860"/>
          </a:xfrm>
          <a:prstGeom prst="rect">
            <a:avLst/>
          </a:prstGeom>
          <a:noFill/>
          <a:ln/>
        </p:spPr>
        <p:txBody>
          <a:bodyPr wrap="square" lIns="0" tIns="0" rIns="0" bIns="0" rtlCol="0" anchor="ctr"/>
          <a:lstStyle/>
          <a:p>
            <a:pPr>
              <a:lnSpc>
                <a:spcPct val="110000"/>
              </a:lnSpc>
            </a:pPr>
            <a:r>
              <a:rPr lang="en-US" sz="814" dirty="0">
                <a:solidFill>
                  <a:srgbClr val="FFFFFF">
                    <a:alpha val="80000"/>
                  </a:srgbClr>
                </a:solidFill>
                <a:latin typeface="Quattrocento Sans" pitchFamily="34" charset="0"/>
                <a:ea typeface="Quattrocento Sans" pitchFamily="34" charset="-122"/>
                <a:cs typeface="Quattrocento Sans" pitchFamily="34" charset="-120"/>
              </a:rPr>
              <a:t>MD/CEO, C-Suite - Strategic oversight, decision authority, resource allocation</a:t>
            </a:r>
            <a:endParaRPr lang="en-US" sz="1600" dirty="0"/>
          </a:p>
        </p:txBody>
      </p:sp>
      <p:sp>
        <p:nvSpPr>
          <p:cNvPr id="14" name="Shape 11"/>
          <p:cNvSpPr/>
          <p:nvPr/>
        </p:nvSpPr>
        <p:spPr>
          <a:xfrm>
            <a:off x="6354959" y="2378086"/>
            <a:ext cx="5324845" cy="551440"/>
          </a:xfrm>
          <a:custGeom>
            <a:avLst/>
            <a:gdLst/>
            <a:ahLst/>
            <a:cxnLst/>
            <a:rect l="l" t="t" r="r" b="b"/>
            <a:pathLst>
              <a:path w="5324845" h="551440">
                <a:moveTo>
                  <a:pt x="68930" y="0"/>
                </a:moveTo>
                <a:lnTo>
                  <a:pt x="5255915" y="0"/>
                </a:lnTo>
                <a:cubicBezTo>
                  <a:pt x="5293984" y="0"/>
                  <a:pt x="5324845" y="30861"/>
                  <a:pt x="5324845" y="68930"/>
                </a:cubicBezTo>
                <a:lnTo>
                  <a:pt x="5324845" y="482510"/>
                </a:lnTo>
                <a:cubicBezTo>
                  <a:pt x="5324845" y="520579"/>
                  <a:pt x="5293984" y="551440"/>
                  <a:pt x="5255915" y="551440"/>
                </a:cubicBezTo>
                <a:lnTo>
                  <a:pt x="68930" y="551440"/>
                </a:lnTo>
                <a:cubicBezTo>
                  <a:pt x="30861" y="551440"/>
                  <a:pt x="0" y="520579"/>
                  <a:pt x="0" y="482510"/>
                </a:cubicBezTo>
                <a:lnTo>
                  <a:pt x="0" y="68930"/>
                </a:lnTo>
                <a:cubicBezTo>
                  <a:pt x="0" y="30887"/>
                  <a:pt x="30887" y="0"/>
                  <a:pt x="68930" y="0"/>
                </a:cubicBezTo>
                <a:close/>
              </a:path>
            </a:pathLst>
          </a:custGeom>
          <a:solidFill>
            <a:srgbClr val="FFFFFF">
              <a:alpha val="10196"/>
            </a:srgbClr>
          </a:solidFill>
          <a:ln/>
        </p:spPr>
      </p:sp>
      <p:sp>
        <p:nvSpPr>
          <p:cNvPr id="15" name="Text 12"/>
          <p:cNvSpPr/>
          <p:nvPr/>
        </p:nvSpPr>
        <p:spPr>
          <a:xfrm>
            <a:off x="6458354" y="2481481"/>
            <a:ext cx="5178369" cy="172325"/>
          </a:xfrm>
          <a:prstGeom prst="rect">
            <a:avLst/>
          </a:prstGeom>
          <a:noFill/>
          <a:ln/>
        </p:spPr>
        <p:txBody>
          <a:bodyPr wrap="square" lIns="0" tIns="0" rIns="0" bIns="0" rtlCol="0" anchor="ctr"/>
          <a:lstStyle/>
          <a:p>
            <a:pPr>
              <a:lnSpc>
                <a:spcPct val="120000"/>
              </a:lnSpc>
            </a:pPr>
            <a:r>
              <a:rPr lang="en-US" sz="950" b="1" dirty="0">
                <a:solidFill>
                  <a:srgbClr val="FFFFFF"/>
                </a:solidFill>
                <a:latin typeface="Quattrocento Sans" pitchFamily="34" charset="0"/>
                <a:ea typeface="Quattrocento Sans" pitchFamily="34" charset="-122"/>
                <a:cs typeface="Quattrocento Sans" pitchFamily="34" charset="-120"/>
              </a:rPr>
              <a:t>Operations Teams</a:t>
            </a:r>
            <a:endParaRPr lang="en-US" sz="1600" dirty="0"/>
          </a:p>
        </p:txBody>
      </p:sp>
      <p:sp>
        <p:nvSpPr>
          <p:cNvPr id="16" name="Text 13"/>
          <p:cNvSpPr/>
          <p:nvPr/>
        </p:nvSpPr>
        <p:spPr>
          <a:xfrm>
            <a:off x="6458354" y="2688271"/>
            <a:ext cx="5169753" cy="137860"/>
          </a:xfrm>
          <a:prstGeom prst="rect">
            <a:avLst/>
          </a:prstGeom>
          <a:noFill/>
          <a:ln/>
        </p:spPr>
        <p:txBody>
          <a:bodyPr wrap="square" lIns="0" tIns="0" rIns="0" bIns="0" rtlCol="0" anchor="ctr"/>
          <a:lstStyle/>
          <a:p>
            <a:pPr>
              <a:lnSpc>
                <a:spcPct val="110000"/>
              </a:lnSpc>
            </a:pPr>
            <a:r>
              <a:rPr lang="en-US" sz="814" dirty="0">
                <a:solidFill>
                  <a:srgbClr val="FFFFFF">
                    <a:alpha val="80000"/>
                  </a:srgbClr>
                </a:solidFill>
                <a:latin typeface="Quattrocento Sans" pitchFamily="34" charset="0"/>
                <a:ea typeface="Quattrocento Sans" pitchFamily="34" charset="-122"/>
                <a:cs typeface="Quattrocento Sans" pitchFamily="34" charset="-120"/>
              </a:rPr>
              <a:t>Branch managers, process owners - End-users, implementation support, feedback</a:t>
            </a:r>
            <a:endParaRPr lang="en-US" sz="1600" dirty="0"/>
          </a:p>
        </p:txBody>
      </p:sp>
      <p:sp>
        <p:nvSpPr>
          <p:cNvPr id="17" name="Shape 14"/>
          <p:cNvSpPr/>
          <p:nvPr/>
        </p:nvSpPr>
        <p:spPr>
          <a:xfrm>
            <a:off x="6354959" y="2998457"/>
            <a:ext cx="5324845" cy="551440"/>
          </a:xfrm>
          <a:custGeom>
            <a:avLst/>
            <a:gdLst/>
            <a:ahLst/>
            <a:cxnLst/>
            <a:rect l="l" t="t" r="r" b="b"/>
            <a:pathLst>
              <a:path w="5324845" h="551440">
                <a:moveTo>
                  <a:pt x="68930" y="0"/>
                </a:moveTo>
                <a:lnTo>
                  <a:pt x="5255915" y="0"/>
                </a:lnTo>
                <a:cubicBezTo>
                  <a:pt x="5293984" y="0"/>
                  <a:pt x="5324845" y="30861"/>
                  <a:pt x="5324845" y="68930"/>
                </a:cubicBezTo>
                <a:lnTo>
                  <a:pt x="5324845" y="482510"/>
                </a:lnTo>
                <a:cubicBezTo>
                  <a:pt x="5324845" y="520579"/>
                  <a:pt x="5293984" y="551440"/>
                  <a:pt x="5255915" y="551440"/>
                </a:cubicBezTo>
                <a:lnTo>
                  <a:pt x="68930" y="551440"/>
                </a:lnTo>
                <a:cubicBezTo>
                  <a:pt x="30861" y="551440"/>
                  <a:pt x="0" y="520579"/>
                  <a:pt x="0" y="482510"/>
                </a:cubicBezTo>
                <a:lnTo>
                  <a:pt x="0" y="68930"/>
                </a:lnTo>
                <a:cubicBezTo>
                  <a:pt x="0" y="30887"/>
                  <a:pt x="30887" y="0"/>
                  <a:pt x="68930" y="0"/>
                </a:cubicBezTo>
                <a:close/>
              </a:path>
            </a:pathLst>
          </a:custGeom>
          <a:solidFill>
            <a:srgbClr val="FFFFFF">
              <a:alpha val="10196"/>
            </a:srgbClr>
          </a:solidFill>
          <a:ln/>
        </p:spPr>
      </p:sp>
      <p:sp>
        <p:nvSpPr>
          <p:cNvPr id="18" name="Text 15"/>
          <p:cNvSpPr/>
          <p:nvPr/>
        </p:nvSpPr>
        <p:spPr>
          <a:xfrm>
            <a:off x="6458354" y="3101852"/>
            <a:ext cx="5178369" cy="172325"/>
          </a:xfrm>
          <a:prstGeom prst="rect">
            <a:avLst/>
          </a:prstGeom>
          <a:noFill/>
          <a:ln/>
        </p:spPr>
        <p:txBody>
          <a:bodyPr wrap="square" lIns="0" tIns="0" rIns="0" bIns="0" rtlCol="0" anchor="ctr"/>
          <a:lstStyle/>
          <a:p>
            <a:pPr>
              <a:lnSpc>
                <a:spcPct val="120000"/>
              </a:lnSpc>
            </a:pPr>
            <a:r>
              <a:rPr lang="en-US" sz="950" b="1" dirty="0">
                <a:solidFill>
                  <a:srgbClr val="FFFFFF"/>
                </a:solidFill>
                <a:latin typeface="Quattrocento Sans" pitchFamily="34" charset="0"/>
                <a:ea typeface="Quattrocento Sans" pitchFamily="34" charset="-122"/>
                <a:cs typeface="Quattrocento Sans" pitchFamily="34" charset="-120"/>
              </a:rPr>
              <a:t>IT Department</a:t>
            </a:r>
            <a:endParaRPr lang="en-US" sz="1600" dirty="0"/>
          </a:p>
        </p:txBody>
      </p:sp>
      <p:sp>
        <p:nvSpPr>
          <p:cNvPr id="19" name="Text 16"/>
          <p:cNvSpPr/>
          <p:nvPr/>
        </p:nvSpPr>
        <p:spPr>
          <a:xfrm>
            <a:off x="6458354" y="3308642"/>
            <a:ext cx="5169753" cy="137860"/>
          </a:xfrm>
          <a:prstGeom prst="rect">
            <a:avLst/>
          </a:prstGeom>
          <a:noFill/>
          <a:ln/>
        </p:spPr>
        <p:txBody>
          <a:bodyPr wrap="square" lIns="0" tIns="0" rIns="0" bIns="0" rtlCol="0" anchor="ctr"/>
          <a:lstStyle/>
          <a:p>
            <a:pPr>
              <a:lnSpc>
                <a:spcPct val="110000"/>
              </a:lnSpc>
            </a:pPr>
            <a:r>
              <a:rPr lang="en-US" sz="814" dirty="0">
                <a:solidFill>
                  <a:srgbClr val="FFFFFF">
                    <a:alpha val="80000"/>
                  </a:srgbClr>
                </a:solidFill>
                <a:latin typeface="Quattrocento Sans" pitchFamily="34" charset="0"/>
                <a:ea typeface="Quattrocento Sans" pitchFamily="34" charset="-122"/>
                <a:cs typeface="Quattrocento Sans" pitchFamily="34" charset="-120"/>
              </a:rPr>
              <a:t>Technical implementation, system integration, security compliance</a:t>
            </a:r>
            <a:endParaRPr lang="en-US" sz="1600" dirty="0"/>
          </a:p>
        </p:txBody>
      </p:sp>
      <p:sp>
        <p:nvSpPr>
          <p:cNvPr id="20" name="Shape 17"/>
          <p:cNvSpPr/>
          <p:nvPr/>
        </p:nvSpPr>
        <p:spPr>
          <a:xfrm>
            <a:off x="6354959" y="3618827"/>
            <a:ext cx="5324845" cy="551440"/>
          </a:xfrm>
          <a:custGeom>
            <a:avLst/>
            <a:gdLst/>
            <a:ahLst/>
            <a:cxnLst/>
            <a:rect l="l" t="t" r="r" b="b"/>
            <a:pathLst>
              <a:path w="5324845" h="551440">
                <a:moveTo>
                  <a:pt x="68930" y="0"/>
                </a:moveTo>
                <a:lnTo>
                  <a:pt x="5255915" y="0"/>
                </a:lnTo>
                <a:cubicBezTo>
                  <a:pt x="5293984" y="0"/>
                  <a:pt x="5324845" y="30861"/>
                  <a:pt x="5324845" y="68930"/>
                </a:cubicBezTo>
                <a:lnTo>
                  <a:pt x="5324845" y="482510"/>
                </a:lnTo>
                <a:cubicBezTo>
                  <a:pt x="5324845" y="520579"/>
                  <a:pt x="5293984" y="551440"/>
                  <a:pt x="5255915" y="551440"/>
                </a:cubicBezTo>
                <a:lnTo>
                  <a:pt x="68930" y="551440"/>
                </a:lnTo>
                <a:cubicBezTo>
                  <a:pt x="30861" y="551440"/>
                  <a:pt x="0" y="520579"/>
                  <a:pt x="0" y="482510"/>
                </a:cubicBezTo>
                <a:lnTo>
                  <a:pt x="0" y="68930"/>
                </a:lnTo>
                <a:cubicBezTo>
                  <a:pt x="0" y="30887"/>
                  <a:pt x="30887" y="0"/>
                  <a:pt x="68930" y="0"/>
                </a:cubicBezTo>
                <a:close/>
              </a:path>
            </a:pathLst>
          </a:custGeom>
          <a:solidFill>
            <a:srgbClr val="FFFFFF">
              <a:alpha val="10196"/>
            </a:srgbClr>
          </a:solidFill>
          <a:ln/>
        </p:spPr>
      </p:sp>
      <p:sp>
        <p:nvSpPr>
          <p:cNvPr id="21" name="Text 18"/>
          <p:cNvSpPr/>
          <p:nvPr/>
        </p:nvSpPr>
        <p:spPr>
          <a:xfrm>
            <a:off x="6458354" y="3722222"/>
            <a:ext cx="5178369" cy="172325"/>
          </a:xfrm>
          <a:prstGeom prst="rect">
            <a:avLst/>
          </a:prstGeom>
          <a:noFill/>
          <a:ln/>
        </p:spPr>
        <p:txBody>
          <a:bodyPr wrap="square" lIns="0" tIns="0" rIns="0" bIns="0" rtlCol="0" anchor="ctr"/>
          <a:lstStyle/>
          <a:p>
            <a:pPr>
              <a:lnSpc>
                <a:spcPct val="120000"/>
              </a:lnSpc>
            </a:pPr>
            <a:r>
              <a:rPr lang="en-US" sz="950" b="1" dirty="0">
                <a:solidFill>
                  <a:srgbClr val="FFFFFF"/>
                </a:solidFill>
                <a:latin typeface="Quattrocento Sans" pitchFamily="34" charset="0"/>
                <a:ea typeface="Quattrocento Sans" pitchFamily="34" charset="-122"/>
                <a:cs typeface="Quattrocento Sans" pitchFamily="34" charset="-120"/>
              </a:rPr>
              <a:t>Compliance &amp; Risk</a:t>
            </a:r>
            <a:endParaRPr lang="en-US" sz="1600" dirty="0"/>
          </a:p>
        </p:txBody>
      </p:sp>
      <p:sp>
        <p:nvSpPr>
          <p:cNvPr id="22" name="Text 19"/>
          <p:cNvSpPr/>
          <p:nvPr/>
        </p:nvSpPr>
        <p:spPr>
          <a:xfrm>
            <a:off x="6458354" y="3929012"/>
            <a:ext cx="5169753" cy="137860"/>
          </a:xfrm>
          <a:prstGeom prst="rect">
            <a:avLst/>
          </a:prstGeom>
          <a:noFill/>
          <a:ln/>
        </p:spPr>
        <p:txBody>
          <a:bodyPr wrap="square" lIns="0" tIns="0" rIns="0" bIns="0" rtlCol="0" anchor="ctr"/>
          <a:lstStyle/>
          <a:p>
            <a:pPr>
              <a:lnSpc>
                <a:spcPct val="110000"/>
              </a:lnSpc>
            </a:pPr>
            <a:r>
              <a:rPr lang="en-US" sz="814" dirty="0">
                <a:solidFill>
                  <a:srgbClr val="FFFFFF">
                    <a:alpha val="80000"/>
                  </a:srgbClr>
                </a:solidFill>
                <a:latin typeface="Quattrocento Sans" pitchFamily="34" charset="0"/>
                <a:ea typeface="Quattrocento Sans" pitchFamily="34" charset="-122"/>
                <a:cs typeface="Quattrocento Sans" pitchFamily="34" charset="-120"/>
              </a:rPr>
              <a:t>Regulatory oversight, risk assessment, audit requirements</a:t>
            </a:r>
            <a:endParaRPr lang="en-US" sz="1600" dirty="0"/>
          </a:p>
        </p:txBody>
      </p:sp>
      <p:sp>
        <p:nvSpPr>
          <p:cNvPr id="23" name="Shape 20"/>
          <p:cNvSpPr/>
          <p:nvPr/>
        </p:nvSpPr>
        <p:spPr>
          <a:xfrm>
            <a:off x="6199866" y="4445987"/>
            <a:ext cx="5652263" cy="1344136"/>
          </a:xfrm>
          <a:custGeom>
            <a:avLst/>
            <a:gdLst/>
            <a:ahLst/>
            <a:cxnLst/>
            <a:rect l="l" t="t" r="r" b="b"/>
            <a:pathLst>
              <a:path w="5652263" h="1344136">
                <a:moveTo>
                  <a:pt x="34465" y="0"/>
                </a:moveTo>
                <a:lnTo>
                  <a:pt x="5548872" y="0"/>
                </a:lnTo>
                <a:cubicBezTo>
                  <a:pt x="5605973" y="0"/>
                  <a:pt x="5652263" y="46290"/>
                  <a:pt x="5652263" y="103391"/>
                </a:cubicBezTo>
                <a:lnTo>
                  <a:pt x="5652263" y="1240745"/>
                </a:lnTo>
                <a:cubicBezTo>
                  <a:pt x="5652263" y="1297846"/>
                  <a:pt x="5605973" y="1344136"/>
                  <a:pt x="5548872" y="1344136"/>
                </a:cubicBezTo>
                <a:lnTo>
                  <a:pt x="34465" y="1344136"/>
                </a:lnTo>
                <a:cubicBezTo>
                  <a:pt x="15431" y="1344136"/>
                  <a:pt x="0" y="1328705"/>
                  <a:pt x="0" y="1309671"/>
                </a:cubicBezTo>
                <a:lnTo>
                  <a:pt x="0" y="34465"/>
                </a:lnTo>
                <a:cubicBezTo>
                  <a:pt x="0" y="15443"/>
                  <a:pt x="15443" y="0"/>
                  <a:pt x="34465" y="0"/>
                </a:cubicBezTo>
                <a:close/>
              </a:path>
            </a:pathLst>
          </a:custGeom>
          <a:solidFill>
            <a:srgbClr val="FF6B00">
              <a:alpha val="10196"/>
            </a:srgbClr>
          </a:solidFill>
          <a:ln/>
        </p:spPr>
      </p:sp>
      <p:sp>
        <p:nvSpPr>
          <p:cNvPr id="24" name="Shape 21"/>
          <p:cNvSpPr/>
          <p:nvPr/>
        </p:nvSpPr>
        <p:spPr>
          <a:xfrm>
            <a:off x="6199866" y="4445987"/>
            <a:ext cx="34465" cy="1344136"/>
          </a:xfrm>
          <a:custGeom>
            <a:avLst/>
            <a:gdLst/>
            <a:ahLst/>
            <a:cxnLst/>
            <a:rect l="l" t="t" r="r" b="b"/>
            <a:pathLst>
              <a:path w="34465" h="1344136">
                <a:moveTo>
                  <a:pt x="34465" y="0"/>
                </a:moveTo>
                <a:lnTo>
                  <a:pt x="34465" y="0"/>
                </a:lnTo>
                <a:lnTo>
                  <a:pt x="34465" y="1344136"/>
                </a:lnTo>
                <a:lnTo>
                  <a:pt x="34465" y="1344136"/>
                </a:lnTo>
                <a:cubicBezTo>
                  <a:pt x="15431" y="1344136"/>
                  <a:pt x="0" y="1328705"/>
                  <a:pt x="0" y="1309671"/>
                </a:cubicBezTo>
                <a:lnTo>
                  <a:pt x="0" y="34465"/>
                </a:lnTo>
                <a:cubicBezTo>
                  <a:pt x="0" y="15443"/>
                  <a:pt x="15443" y="0"/>
                  <a:pt x="34465" y="0"/>
                </a:cubicBezTo>
                <a:close/>
              </a:path>
            </a:pathLst>
          </a:custGeom>
          <a:solidFill>
            <a:srgbClr val="FF6B00"/>
          </a:solidFill>
          <a:ln/>
        </p:spPr>
      </p:sp>
      <p:sp>
        <p:nvSpPr>
          <p:cNvPr id="25" name="Text 22"/>
          <p:cNvSpPr/>
          <p:nvPr/>
        </p:nvSpPr>
        <p:spPr>
          <a:xfrm>
            <a:off x="6354959" y="4583847"/>
            <a:ext cx="5428240" cy="206790"/>
          </a:xfrm>
          <a:prstGeom prst="rect">
            <a:avLst/>
          </a:prstGeom>
          <a:noFill/>
          <a:ln/>
        </p:spPr>
        <p:txBody>
          <a:bodyPr wrap="square" lIns="0" tIns="0" rIns="0" bIns="0" rtlCol="0" anchor="ctr"/>
          <a:lstStyle/>
          <a:p>
            <a:pPr>
              <a:lnSpc>
                <a:spcPct val="120000"/>
              </a:lnSpc>
            </a:pPr>
            <a:r>
              <a:rPr lang="en-US" sz="1086" b="1" dirty="0">
                <a:solidFill>
                  <a:srgbClr val="003087"/>
                </a:solidFill>
                <a:latin typeface="Liter" pitchFamily="34" charset="0"/>
                <a:ea typeface="Liter" pitchFamily="34" charset="-122"/>
                <a:cs typeface="Liter" pitchFamily="34" charset="-120"/>
              </a:rPr>
              <a:t>Engagement Tactics</a:t>
            </a:r>
            <a:endParaRPr lang="en-US" sz="1600" dirty="0"/>
          </a:p>
        </p:txBody>
      </p:sp>
      <p:sp>
        <p:nvSpPr>
          <p:cNvPr id="26" name="Shape 23"/>
          <p:cNvSpPr/>
          <p:nvPr/>
        </p:nvSpPr>
        <p:spPr>
          <a:xfrm>
            <a:off x="6372191" y="4894033"/>
            <a:ext cx="120628" cy="120628"/>
          </a:xfrm>
          <a:custGeom>
            <a:avLst/>
            <a:gdLst/>
            <a:ahLst/>
            <a:cxnLst/>
            <a:rect l="l" t="t" r="r" b="b"/>
            <a:pathLst>
              <a:path w="120628" h="120628">
                <a:moveTo>
                  <a:pt x="60314" y="120628"/>
                </a:moveTo>
                <a:cubicBezTo>
                  <a:pt x="93602" y="120628"/>
                  <a:pt x="120628" y="93602"/>
                  <a:pt x="120628" y="60314"/>
                </a:cubicBezTo>
                <a:cubicBezTo>
                  <a:pt x="120628" y="27026"/>
                  <a:pt x="93602" y="0"/>
                  <a:pt x="60314" y="0"/>
                </a:cubicBezTo>
                <a:cubicBezTo>
                  <a:pt x="27026" y="0"/>
                  <a:pt x="0" y="27026"/>
                  <a:pt x="0" y="60314"/>
                </a:cubicBezTo>
                <a:cubicBezTo>
                  <a:pt x="0" y="93602"/>
                  <a:pt x="27026" y="120628"/>
                  <a:pt x="60314" y="120628"/>
                </a:cubicBezTo>
                <a:close/>
                <a:moveTo>
                  <a:pt x="80198" y="50112"/>
                </a:moveTo>
                <a:lnTo>
                  <a:pt x="61350" y="80269"/>
                </a:lnTo>
                <a:cubicBezTo>
                  <a:pt x="60361" y="81848"/>
                  <a:pt x="58665" y="82837"/>
                  <a:pt x="56803" y="82931"/>
                </a:cubicBezTo>
                <a:cubicBezTo>
                  <a:pt x="54942" y="83026"/>
                  <a:pt x="53152" y="82178"/>
                  <a:pt x="52044" y="80670"/>
                </a:cubicBezTo>
                <a:lnTo>
                  <a:pt x="40735" y="65591"/>
                </a:lnTo>
                <a:cubicBezTo>
                  <a:pt x="38851" y="63094"/>
                  <a:pt x="39369" y="59560"/>
                  <a:pt x="41866" y="57675"/>
                </a:cubicBezTo>
                <a:cubicBezTo>
                  <a:pt x="44364" y="55790"/>
                  <a:pt x="47898" y="56309"/>
                  <a:pt x="49782" y="58806"/>
                </a:cubicBezTo>
                <a:lnTo>
                  <a:pt x="56144" y="67288"/>
                </a:lnTo>
                <a:lnTo>
                  <a:pt x="70610" y="44128"/>
                </a:lnTo>
                <a:cubicBezTo>
                  <a:pt x="72259" y="41489"/>
                  <a:pt x="75746" y="40665"/>
                  <a:pt x="78408" y="42337"/>
                </a:cubicBezTo>
                <a:cubicBezTo>
                  <a:pt x="81070" y="44010"/>
                  <a:pt x="81871" y="47474"/>
                  <a:pt x="80198" y="50136"/>
                </a:cubicBezTo>
                <a:close/>
              </a:path>
            </a:pathLst>
          </a:custGeom>
          <a:solidFill>
            <a:srgbClr val="FF6B00"/>
          </a:solidFill>
          <a:ln/>
        </p:spPr>
      </p:sp>
      <p:sp>
        <p:nvSpPr>
          <p:cNvPr id="27" name="Text 24"/>
          <p:cNvSpPr/>
          <p:nvPr/>
        </p:nvSpPr>
        <p:spPr>
          <a:xfrm>
            <a:off x="6574673" y="4859567"/>
            <a:ext cx="2136831"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Executive steering committee (monthly)</a:t>
            </a:r>
            <a:endParaRPr lang="en-US" sz="1600" dirty="0"/>
          </a:p>
        </p:txBody>
      </p:sp>
      <p:sp>
        <p:nvSpPr>
          <p:cNvPr id="28" name="Shape 25"/>
          <p:cNvSpPr/>
          <p:nvPr/>
        </p:nvSpPr>
        <p:spPr>
          <a:xfrm>
            <a:off x="6372191" y="5100823"/>
            <a:ext cx="120628" cy="120628"/>
          </a:xfrm>
          <a:custGeom>
            <a:avLst/>
            <a:gdLst/>
            <a:ahLst/>
            <a:cxnLst/>
            <a:rect l="l" t="t" r="r" b="b"/>
            <a:pathLst>
              <a:path w="120628" h="120628">
                <a:moveTo>
                  <a:pt x="60314" y="120628"/>
                </a:moveTo>
                <a:cubicBezTo>
                  <a:pt x="93602" y="120628"/>
                  <a:pt x="120628" y="93602"/>
                  <a:pt x="120628" y="60314"/>
                </a:cubicBezTo>
                <a:cubicBezTo>
                  <a:pt x="120628" y="27026"/>
                  <a:pt x="93602" y="0"/>
                  <a:pt x="60314" y="0"/>
                </a:cubicBezTo>
                <a:cubicBezTo>
                  <a:pt x="27026" y="0"/>
                  <a:pt x="0" y="27026"/>
                  <a:pt x="0" y="60314"/>
                </a:cubicBezTo>
                <a:cubicBezTo>
                  <a:pt x="0" y="93602"/>
                  <a:pt x="27026" y="120628"/>
                  <a:pt x="60314" y="120628"/>
                </a:cubicBezTo>
                <a:close/>
                <a:moveTo>
                  <a:pt x="80198" y="50112"/>
                </a:moveTo>
                <a:lnTo>
                  <a:pt x="61350" y="80269"/>
                </a:lnTo>
                <a:cubicBezTo>
                  <a:pt x="60361" y="81848"/>
                  <a:pt x="58665" y="82837"/>
                  <a:pt x="56803" y="82931"/>
                </a:cubicBezTo>
                <a:cubicBezTo>
                  <a:pt x="54942" y="83026"/>
                  <a:pt x="53152" y="82178"/>
                  <a:pt x="52044" y="80670"/>
                </a:cubicBezTo>
                <a:lnTo>
                  <a:pt x="40735" y="65591"/>
                </a:lnTo>
                <a:cubicBezTo>
                  <a:pt x="38851" y="63094"/>
                  <a:pt x="39369" y="59560"/>
                  <a:pt x="41866" y="57675"/>
                </a:cubicBezTo>
                <a:cubicBezTo>
                  <a:pt x="44364" y="55790"/>
                  <a:pt x="47898" y="56309"/>
                  <a:pt x="49782" y="58806"/>
                </a:cubicBezTo>
                <a:lnTo>
                  <a:pt x="56144" y="67288"/>
                </a:lnTo>
                <a:lnTo>
                  <a:pt x="70610" y="44128"/>
                </a:lnTo>
                <a:cubicBezTo>
                  <a:pt x="72259" y="41489"/>
                  <a:pt x="75746" y="40665"/>
                  <a:pt x="78408" y="42337"/>
                </a:cubicBezTo>
                <a:cubicBezTo>
                  <a:pt x="81070" y="44010"/>
                  <a:pt x="81871" y="47474"/>
                  <a:pt x="80198" y="50136"/>
                </a:cubicBezTo>
                <a:close/>
              </a:path>
            </a:pathLst>
          </a:custGeom>
          <a:solidFill>
            <a:srgbClr val="FF6B00"/>
          </a:solidFill>
          <a:ln/>
        </p:spPr>
      </p:sp>
      <p:sp>
        <p:nvSpPr>
          <p:cNvPr id="29" name="Text 26"/>
          <p:cNvSpPr/>
          <p:nvPr/>
        </p:nvSpPr>
        <p:spPr>
          <a:xfrm>
            <a:off x="6574673" y="5066358"/>
            <a:ext cx="2248842"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Cross-functional working groups (weekly)</a:t>
            </a:r>
            <a:endParaRPr lang="en-US" sz="1600" dirty="0"/>
          </a:p>
        </p:txBody>
      </p:sp>
      <p:sp>
        <p:nvSpPr>
          <p:cNvPr id="30" name="Shape 27"/>
          <p:cNvSpPr/>
          <p:nvPr/>
        </p:nvSpPr>
        <p:spPr>
          <a:xfrm>
            <a:off x="6372191" y="5307613"/>
            <a:ext cx="120628" cy="120628"/>
          </a:xfrm>
          <a:custGeom>
            <a:avLst/>
            <a:gdLst/>
            <a:ahLst/>
            <a:cxnLst/>
            <a:rect l="l" t="t" r="r" b="b"/>
            <a:pathLst>
              <a:path w="120628" h="120628">
                <a:moveTo>
                  <a:pt x="60314" y="120628"/>
                </a:moveTo>
                <a:cubicBezTo>
                  <a:pt x="93602" y="120628"/>
                  <a:pt x="120628" y="93602"/>
                  <a:pt x="120628" y="60314"/>
                </a:cubicBezTo>
                <a:cubicBezTo>
                  <a:pt x="120628" y="27026"/>
                  <a:pt x="93602" y="0"/>
                  <a:pt x="60314" y="0"/>
                </a:cubicBezTo>
                <a:cubicBezTo>
                  <a:pt x="27026" y="0"/>
                  <a:pt x="0" y="27026"/>
                  <a:pt x="0" y="60314"/>
                </a:cubicBezTo>
                <a:cubicBezTo>
                  <a:pt x="0" y="93602"/>
                  <a:pt x="27026" y="120628"/>
                  <a:pt x="60314" y="120628"/>
                </a:cubicBezTo>
                <a:close/>
                <a:moveTo>
                  <a:pt x="80198" y="50112"/>
                </a:moveTo>
                <a:lnTo>
                  <a:pt x="61350" y="80269"/>
                </a:lnTo>
                <a:cubicBezTo>
                  <a:pt x="60361" y="81848"/>
                  <a:pt x="58665" y="82837"/>
                  <a:pt x="56803" y="82931"/>
                </a:cubicBezTo>
                <a:cubicBezTo>
                  <a:pt x="54942" y="83026"/>
                  <a:pt x="53152" y="82178"/>
                  <a:pt x="52044" y="80670"/>
                </a:cubicBezTo>
                <a:lnTo>
                  <a:pt x="40735" y="65591"/>
                </a:lnTo>
                <a:cubicBezTo>
                  <a:pt x="38851" y="63094"/>
                  <a:pt x="39369" y="59560"/>
                  <a:pt x="41866" y="57675"/>
                </a:cubicBezTo>
                <a:cubicBezTo>
                  <a:pt x="44364" y="55790"/>
                  <a:pt x="47898" y="56309"/>
                  <a:pt x="49782" y="58806"/>
                </a:cubicBezTo>
                <a:lnTo>
                  <a:pt x="56144" y="67288"/>
                </a:lnTo>
                <a:lnTo>
                  <a:pt x="70610" y="44128"/>
                </a:lnTo>
                <a:cubicBezTo>
                  <a:pt x="72259" y="41489"/>
                  <a:pt x="75746" y="40665"/>
                  <a:pt x="78408" y="42337"/>
                </a:cubicBezTo>
                <a:cubicBezTo>
                  <a:pt x="81070" y="44010"/>
                  <a:pt x="81871" y="47474"/>
                  <a:pt x="80198" y="50136"/>
                </a:cubicBezTo>
                <a:close/>
              </a:path>
            </a:pathLst>
          </a:custGeom>
          <a:solidFill>
            <a:srgbClr val="FF6B00"/>
          </a:solidFill>
          <a:ln/>
        </p:spPr>
      </p:sp>
      <p:sp>
        <p:nvSpPr>
          <p:cNvPr id="31" name="Text 28"/>
          <p:cNvSpPr/>
          <p:nvPr/>
        </p:nvSpPr>
        <p:spPr>
          <a:xfrm>
            <a:off x="6574673" y="5273148"/>
            <a:ext cx="1611240"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Town hall sessions (quarterly)</a:t>
            </a:r>
            <a:endParaRPr lang="en-US" sz="1600" dirty="0"/>
          </a:p>
        </p:txBody>
      </p:sp>
      <p:sp>
        <p:nvSpPr>
          <p:cNvPr id="32" name="Shape 29"/>
          <p:cNvSpPr/>
          <p:nvPr/>
        </p:nvSpPr>
        <p:spPr>
          <a:xfrm>
            <a:off x="6372191" y="5514403"/>
            <a:ext cx="120628" cy="120628"/>
          </a:xfrm>
          <a:custGeom>
            <a:avLst/>
            <a:gdLst/>
            <a:ahLst/>
            <a:cxnLst/>
            <a:rect l="l" t="t" r="r" b="b"/>
            <a:pathLst>
              <a:path w="120628" h="120628">
                <a:moveTo>
                  <a:pt x="60314" y="120628"/>
                </a:moveTo>
                <a:cubicBezTo>
                  <a:pt x="93602" y="120628"/>
                  <a:pt x="120628" y="93602"/>
                  <a:pt x="120628" y="60314"/>
                </a:cubicBezTo>
                <a:cubicBezTo>
                  <a:pt x="120628" y="27026"/>
                  <a:pt x="93602" y="0"/>
                  <a:pt x="60314" y="0"/>
                </a:cubicBezTo>
                <a:cubicBezTo>
                  <a:pt x="27026" y="0"/>
                  <a:pt x="0" y="27026"/>
                  <a:pt x="0" y="60314"/>
                </a:cubicBezTo>
                <a:cubicBezTo>
                  <a:pt x="0" y="93602"/>
                  <a:pt x="27026" y="120628"/>
                  <a:pt x="60314" y="120628"/>
                </a:cubicBezTo>
                <a:close/>
                <a:moveTo>
                  <a:pt x="80198" y="50112"/>
                </a:moveTo>
                <a:lnTo>
                  <a:pt x="61350" y="80269"/>
                </a:lnTo>
                <a:cubicBezTo>
                  <a:pt x="60361" y="81848"/>
                  <a:pt x="58665" y="82837"/>
                  <a:pt x="56803" y="82931"/>
                </a:cubicBezTo>
                <a:cubicBezTo>
                  <a:pt x="54942" y="83026"/>
                  <a:pt x="53152" y="82178"/>
                  <a:pt x="52044" y="80670"/>
                </a:cubicBezTo>
                <a:lnTo>
                  <a:pt x="40735" y="65591"/>
                </a:lnTo>
                <a:cubicBezTo>
                  <a:pt x="38851" y="63094"/>
                  <a:pt x="39369" y="59560"/>
                  <a:pt x="41866" y="57675"/>
                </a:cubicBezTo>
                <a:cubicBezTo>
                  <a:pt x="44364" y="55790"/>
                  <a:pt x="47898" y="56309"/>
                  <a:pt x="49782" y="58806"/>
                </a:cubicBezTo>
                <a:lnTo>
                  <a:pt x="56144" y="67288"/>
                </a:lnTo>
                <a:lnTo>
                  <a:pt x="70610" y="44128"/>
                </a:lnTo>
                <a:cubicBezTo>
                  <a:pt x="72259" y="41489"/>
                  <a:pt x="75746" y="40665"/>
                  <a:pt x="78408" y="42337"/>
                </a:cubicBezTo>
                <a:cubicBezTo>
                  <a:pt x="81070" y="44010"/>
                  <a:pt x="81871" y="47474"/>
                  <a:pt x="80198" y="50136"/>
                </a:cubicBezTo>
                <a:close/>
              </a:path>
            </a:pathLst>
          </a:custGeom>
          <a:solidFill>
            <a:srgbClr val="FF6B00"/>
          </a:solidFill>
          <a:ln/>
        </p:spPr>
      </p:sp>
      <p:sp>
        <p:nvSpPr>
          <p:cNvPr id="33" name="Text 30"/>
          <p:cNvSpPr/>
          <p:nvPr/>
        </p:nvSpPr>
        <p:spPr>
          <a:xfrm>
            <a:off x="6574673" y="5479938"/>
            <a:ext cx="1525077"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Training programs (ongoing)</a:t>
            </a:r>
            <a:endParaRPr lang="en-US" sz="1600" dirty="0"/>
          </a:p>
        </p:txBody>
      </p:sp>
      <p:sp>
        <p:nvSpPr>
          <p:cNvPr id="34" name="Shape 31"/>
          <p:cNvSpPr/>
          <p:nvPr/>
        </p:nvSpPr>
        <p:spPr>
          <a:xfrm>
            <a:off x="6182634" y="5893518"/>
            <a:ext cx="5669495" cy="965020"/>
          </a:xfrm>
          <a:custGeom>
            <a:avLst/>
            <a:gdLst/>
            <a:ahLst/>
            <a:cxnLst/>
            <a:rect l="l" t="t" r="r" b="b"/>
            <a:pathLst>
              <a:path w="5669495" h="965020">
                <a:moveTo>
                  <a:pt x="103392" y="0"/>
                </a:moveTo>
                <a:lnTo>
                  <a:pt x="5566103" y="0"/>
                </a:lnTo>
                <a:cubicBezTo>
                  <a:pt x="5623205" y="0"/>
                  <a:pt x="5669495" y="46290"/>
                  <a:pt x="5669495" y="103392"/>
                </a:cubicBezTo>
                <a:lnTo>
                  <a:pt x="5669495" y="861628"/>
                </a:lnTo>
                <a:cubicBezTo>
                  <a:pt x="5669495" y="918730"/>
                  <a:pt x="5623205" y="965020"/>
                  <a:pt x="5566103" y="965020"/>
                </a:cubicBezTo>
                <a:lnTo>
                  <a:pt x="103392" y="965020"/>
                </a:lnTo>
                <a:cubicBezTo>
                  <a:pt x="46329" y="965020"/>
                  <a:pt x="0" y="918692"/>
                  <a:pt x="0" y="861628"/>
                </a:cubicBezTo>
                <a:lnTo>
                  <a:pt x="0" y="103392"/>
                </a:lnTo>
                <a:cubicBezTo>
                  <a:pt x="0" y="46329"/>
                  <a:pt x="46329" y="0"/>
                  <a:pt x="103392" y="0"/>
                </a:cubicBezTo>
                <a:close/>
              </a:path>
            </a:pathLst>
          </a:custGeom>
          <a:solidFill>
            <a:srgbClr val="F9FAFB"/>
          </a:solidFill>
          <a:ln/>
        </p:spPr>
      </p:sp>
      <p:sp>
        <p:nvSpPr>
          <p:cNvPr id="35" name="Text 32"/>
          <p:cNvSpPr/>
          <p:nvPr/>
        </p:nvSpPr>
        <p:spPr>
          <a:xfrm>
            <a:off x="6320494" y="6031378"/>
            <a:ext cx="5462705" cy="206790"/>
          </a:xfrm>
          <a:prstGeom prst="rect">
            <a:avLst/>
          </a:prstGeom>
          <a:noFill/>
          <a:ln/>
        </p:spPr>
        <p:txBody>
          <a:bodyPr wrap="square" lIns="0" tIns="0" rIns="0" bIns="0" rtlCol="0" anchor="ctr"/>
          <a:lstStyle/>
          <a:p>
            <a:pPr>
              <a:lnSpc>
                <a:spcPct val="120000"/>
              </a:lnSpc>
            </a:pPr>
            <a:r>
              <a:rPr lang="en-US" sz="1086" b="1" dirty="0">
                <a:solidFill>
                  <a:srgbClr val="003087"/>
                </a:solidFill>
                <a:latin typeface="Liter" pitchFamily="34" charset="0"/>
                <a:ea typeface="Liter" pitchFamily="34" charset="-122"/>
                <a:cs typeface="Liter" pitchFamily="34" charset="-120"/>
              </a:rPr>
              <a:t>Communication Cadence</a:t>
            </a:r>
            <a:endParaRPr lang="en-US" sz="1600" dirty="0"/>
          </a:p>
        </p:txBody>
      </p:sp>
      <p:sp>
        <p:nvSpPr>
          <p:cNvPr id="36" name="Shape 33"/>
          <p:cNvSpPr/>
          <p:nvPr/>
        </p:nvSpPr>
        <p:spPr>
          <a:xfrm>
            <a:off x="6337726" y="6332947"/>
            <a:ext cx="120628" cy="120628"/>
          </a:xfrm>
          <a:custGeom>
            <a:avLst/>
            <a:gdLst/>
            <a:ahLst/>
            <a:cxnLst/>
            <a:rect l="l" t="t" r="r" b="b"/>
            <a:pathLst>
              <a:path w="120628" h="120628">
                <a:moveTo>
                  <a:pt x="11309" y="15078"/>
                </a:moveTo>
                <a:cubicBezTo>
                  <a:pt x="5065" y="15078"/>
                  <a:pt x="0" y="20144"/>
                  <a:pt x="0" y="26387"/>
                </a:cubicBezTo>
                <a:cubicBezTo>
                  <a:pt x="0" y="29945"/>
                  <a:pt x="1673" y="33290"/>
                  <a:pt x="4524" y="35434"/>
                </a:cubicBezTo>
                <a:lnTo>
                  <a:pt x="53528" y="72188"/>
                </a:lnTo>
                <a:cubicBezTo>
                  <a:pt x="57557" y="75204"/>
                  <a:pt x="63070" y="75204"/>
                  <a:pt x="67099" y="72188"/>
                </a:cubicBezTo>
                <a:lnTo>
                  <a:pt x="116104" y="35434"/>
                </a:lnTo>
                <a:cubicBezTo>
                  <a:pt x="118955" y="33290"/>
                  <a:pt x="120628" y="29945"/>
                  <a:pt x="120628" y="26387"/>
                </a:cubicBezTo>
                <a:cubicBezTo>
                  <a:pt x="120628" y="20144"/>
                  <a:pt x="115562" y="15078"/>
                  <a:pt x="109319" y="15078"/>
                </a:cubicBezTo>
                <a:lnTo>
                  <a:pt x="11309" y="15078"/>
                </a:lnTo>
                <a:close/>
                <a:moveTo>
                  <a:pt x="0" y="46178"/>
                </a:moveTo>
                <a:lnTo>
                  <a:pt x="0" y="90471"/>
                </a:lnTo>
                <a:cubicBezTo>
                  <a:pt x="0" y="98787"/>
                  <a:pt x="6762" y="105549"/>
                  <a:pt x="15078" y="105549"/>
                </a:cubicBezTo>
                <a:lnTo>
                  <a:pt x="105549" y="105549"/>
                </a:lnTo>
                <a:cubicBezTo>
                  <a:pt x="113866" y="105549"/>
                  <a:pt x="120628" y="98787"/>
                  <a:pt x="120628" y="90471"/>
                </a:cubicBezTo>
                <a:lnTo>
                  <a:pt x="120628" y="46178"/>
                </a:lnTo>
                <a:lnTo>
                  <a:pt x="73884" y="81235"/>
                </a:lnTo>
                <a:cubicBezTo>
                  <a:pt x="65850" y="87267"/>
                  <a:pt x="54777" y="87267"/>
                  <a:pt x="46743" y="81235"/>
                </a:cubicBezTo>
                <a:lnTo>
                  <a:pt x="0" y="46178"/>
                </a:lnTo>
                <a:close/>
              </a:path>
            </a:pathLst>
          </a:custGeom>
          <a:solidFill>
            <a:srgbClr val="003087"/>
          </a:solidFill>
          <a:ln/>
        </p:spPr>
      </p:sp>
      <p:sp>
        <p:nvSpPr>
          <p:cNvPr id="37" name="Text 34"/>
          <p:cNvSpPr/>
          <p:nvPr/>
        </p:nvSpPr>
        <p:spPr>
          <a:xfrm>
            <a:off x="6540208" y="6307098"/>
            <a:ext cx="913323"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Weekly updates</a:t>
            </a:r>
            <a:endParaRPr lang="en-US" sz="1600" dirty="0"/>
          </a:p>
        </p:txBody>
      </p:sp>
      <p:sp>
        <p:nvSpPr>
          <p:cNvPr id="38" name="Shape 35"/>
          <p:cNvSpPr/>
          <p:nvPr/>
        </p:nvSpPr>
        <p:spPr>
          <a:xfrm>
            <a:off x="9059588" y="6332947"/>
            <a:ext cx="135706" cy="120628"/>
          </a:xfrm>
          <a:custGeom>
            <a:avLst/>
            <a:gdLst/>
            <a:ahLst/>
            <a:cxnLst/>
            <a:rect l="l" t="t" r="r" b="b"/>
            <a:pathLst>
              <a:path w="135706" h="120628">
                <a:moveTo>
                  <a:pt x="22618" y="15078"/>
                </a:moveTo>
                <a:cubicBezTo>
                  <a:pt x="14301" y="15078"/>
                  <a:pt x="7539" y="21840"/>
                  <a:pt x="7539" y="30157"/>
                </a:cubicBezTo>
                <a:lnTo>
                  <a:pt x="7539" y="90471"/>
                </a:lnTo>
                <a:cubicBezTo>
                  <a:pt x="7539" y="98787"/>
                  <a:pt x="14301" y="105549"/>
                  <a:pt x="22618" y="105549"/>
                </a:cubicBezTo>
                <a:lnTo>
                  <a:pt x="82931" y="105549"/>
                </a:lnTo>
                <a:cubicBezTo>
                  <a:pt x="91248" y="105549"/>
                  <a:pt x="98010" y="98787"/>
                  <a:pt x="98010" y="90471"/>
                </a:cubicBezTo>
                <a:lnTo>
                  <a:pt x="98010" y="30157"/>
                </a:lnTo>
                <a:cubicBezTo>
                  <a:pt x="98010" y="21840"/>
                  <a:pt x="91248" y="15078"/>
                  <a:pt x="82931" y="15078"/>
                </a:cubicBezTo>
                <a:lnTo>
                  <a:pt x="22618" y="15078"/>
                </a:lnTo>
                <a:close/>
                <a:moveTo>
                  <a:pt x="109319" y="79162"/>
                </a:moveTo>
                <a:lnTo>
                  <a:pt x="126635" y="93015"/>
                </a:lnTo>
                <a:cubicBezTo>
                  <a:pt x="127625" y="93816"/>
                  <a:pt x="128850" y="94240"/>
                  <a:pt x="130122" y="94240"/>
                </a:cubicBezTo>
                <a:cubicBezTo>
                  <a:pt x="133209" y="94240"/>
                  <a:pt x="135706" y="91743"/>
                  <a:pt x="135706" y="88657"/>
                </a:cubicBezTo>
                <a:lnTo>
                  <a:pt x="135706" y="31971"/>
                </a:lnTo>
                <a:cubicBezTo>
                  <a:pt x="135706" y="28885"/>
                  <a:pt x="133209" y="26387"/>
                  <a:pt x="130122" y="26387"/>
                </a:cubicBezTo>
                <a:cubicBezTo>
                  <a:pt x="128850" y="26387"/>
                  <a:pt x="127625" y="26811"/>
                  <a:pt x="126635" y="27612"/>
                </a:cubicBezTo>
                <a:lnTo>
                  <a:pt x="109319" y="41466"/>
                </a:lnTo>
                <a:lnTo>
                  <a:pt x="109319" y="79162"/>
                </a:lnTo>
                <a:close/>
              </a:path>
            </a:pathLst>
          </a:custGeom>
          <a:solidFill>
            <a:srgbClr val="FF6B00"/>
          </a:solidFill>
          <a:ln/>
        </p:spPr>
      </p:sp>
      <p:sp>
        <p:nvSpPr>
          <p:cNvPr id="39" name="Text 36"/>
          <p:cNvSpPr/>
          <p:nvPr/>
        </p:nvSpPr>
        <p:spPr>
          <a:xfrm>
            <a:off x="9269609" y="6307098"/>
            <a:ext cx="1085648"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Bi-weekly meetings</a:t>
            </a:r>
            <a:endParaRPr lang="en-US" sz="1600" dirty="0"/>
          </a:p>
        </p:txBody>
      </p:sp>
      <p:sp>
        <p:nvSpPr>
          <p:cNvPr id="40" name="Shape 37"/>
          <p:cNvSpPr/>
          <p:nvPr/>
        </p:nvSpPr>
        <p:spPr>
          <a:xfrm>
            <a:off x="6337726" y="6574202"/>
            <a:ext cx="120628" cy="120628"/>
          </a:xfrm>
          <a:custGeom>
            <a:avLst/>
            <a:gdLst/>
            <a:ahLst/>
            <a:cxnLst/>
            <a:rect l="l" t="t" r="r" b="b"/>
            <a:pathLst>
              <a:path w="120628" h="120628">
                <a:moveTo>
                  <a:pt x="7539" y="7539"/>
                </a:moveTo>
                <a:cubicBezTo>
                  <a:pt x="11709" y="7539"/>
                  <a:pt x="15078" y="10908"/>
                  <a:pt x="15078" y="15078"/>
                </a:cubicBezTo>
                <a:lnTo>
                  <a:pt x="15078" y="94240"/>
                </a:lnTo>
                <a:cubicBezTo>
                  <a:pt x="15078" y="96314"/>
                  <a:pt x="16775" y="98010"/>
                  <a:pt x="18848" y="98010"/>
                </a:cubicBezTo>
                <a:lnTo>
                  <a:pt x="113088" y="98010"/>
                </a:lnTo>
                <a:cubicBezTo>
                  <a:pt x="117258" y="98010"/>
                  <a:pt x="120628" y="101379"/>
                  <a:pt x="120628" y="105549"/>
                </a:cubicBezTo>
                <a:cubicBezTo>
                  <a:pt x="120628" y="109719"/>
                  <a:pt x="117258" y="113088"/>
                  <a:pt x="113088" y="113088"/>
                </a:cubicBezTo>
                <a:lnTo>
                  <a:pt x="18848" y="113088"/>
                </a:lnTo>
                <a:cubicBezTo>
                  <a:pt x="8435" y="113088"/>
                  <a:pt x="0" y="104654"/>
                  <a:pt x="0" y="94240"/>
                </a:cubicBezTo>
                <a:lnTo>
                  <a:pt x="0" y="15078"/>
                </a:lnTo>
                <a:cubicBezTo>
                  <a:pt x="0" y="10908"/>
                  <a:pt x="3369" y="7539"/>
                  <a:pt x="7539" y="7539"/>
                </a:cubicBezTo>
                <a:close/>
                <a:moveTo>
                  <a:pt x="30157" y="22618"/>
                </a:moveTo>
                <a:cubicBezTo>
                  <a:pt x="30157" y="18448"/>
                  <a:pt x="33526" y="15078"/>
                  <a:pt x="37696" y="15078"/>
                </a:cubicBezTo>
                <a:lnTo>
                  <a:pt x="82931" y="15078"/>
                </a:lnTo>
                <a:cubicBezTo>
                  <a:pt x="87102" y="15078"/>
                  <a:pt x="90471" y="18448"/>
                  <a:pt x="90471" y="22618"/>
                </a:cubicBezTo>
                <a:cubicBezTo>
                  <a:pt x="90471" y="26788"/>
                  <a:pt x="87102" y="30157"/>
                  <a:pt x="82931" y="30157"/>
                </a:cubicBezTo>
                <a:lnTo>
                  <a:pt x="37696" y="30157"/>
                </a:lnTo>
                <a:cubicBezTo>
                  <a:pt x="33526" y="30157"/>
                  <a:pt x="30157" y="26788"/>
                  <a:pt x="30157" y="22618"/>
                </a:cubicBezTo>
                <a:close/>
                <a:moveTo>
                  <a:pt x="37696" y="41466"/>
                </a:moveTo>
                <a:lnTo>
                  <a:pt x="67853" y="41466"/>
                </a:lnTo>
                <a:cubicBezTo>
                  <a:pt x="72023" y="41466"/>
                  <a:pt x="75392" y="44835"/>
                  <a:pt x="75392" y="49005"/>
                </a:cubicBezTo>
                <a:cubicBezTo>
                  <a:pt x="75392" y="53175"/>
                  <a:pt x="72023" y="56544"/>
                  <a:pt x="67853" y="56544"/>
                </a:cubicBezTo>
                <a:lnTo>
                  <a:pt x="37696" y="56544"/>
                </a:lnTo>
                <a:cubicBezTo>
                  <a:pt x="33526" y="56544"/>
                  <a:pt x="30157" y="53175"/>
                  <a:pt x="30157" y="49005"/>
                </a:cubicBezTo>
                <a:cubicBezTo>
                  <a:pt x="30157" y="44835"/>
                  <a:pt x="33526" y="41466"/>
                  <a:pt x="37696" y="41466"/>
                </a:cubicBezTo>
                <a:close/>
                <a:moveTo>
                  <a:pt x="37696" y="67853"/>
                </a:moveTo>
                <a:lnTo>
                  <a:pt x="98010" y="67853"/>
                </a:lnTo>
                <a:cubicBezTo>
                  <a:pt x="102180" y="67853"/>
                  <a:pt x="105549" y="71222"/>
                  <a:pt x="105549" y="75392"/>
                </a:cubicBezTo>
                <a:cubicBezTo>
                  <a:pt x="105549" y="79562"/>
                  <a:pt x="102180" y="82931"/>
                  <a:pt x="98010" y="82931"/>
                </a:cubicBezTo>
                <a:lnTo>
                  <a:pt x="37696" y="82931"/>
                </a:lnTo>
                <a:cubicBezTo>
                  <a:pt x="33526" y="82931"/>
                  <a:pt x="30157" y="79562"/>
                  <a:pt x="30157" y="75392"/>
                </a:cubicBezTo>
                <a:cubicBezTo>
                  <a:pt x="30157" y="71222"/>
                  <a:pt x="33526" y="67853"/>
                  <a:pt x="37696" y="67853"/>
                </a:cubicBezTo>
                <a:close/>
              </a:path>
            </a:pathLst>
          </a:custGeom>
          <a:solidFill>
            <a:srgbClr val="003087"/>
          </a:solidFill>
          <a:ln/>
        </p:spPr>
      </p:sp>
      <p:sp>
        <p:nvSpPr>
          <p:cNvPr id="41" name="Text 38"/>
          <p:cNvSpPr/>
          <p:nvPr/>
        </p:nvSpPr>
        <p:spPr>
          <a:xfrm>
            <a:off x="6540208" y="6548353"/>
            <a:ext cx="896090"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Monthly reports</a:t>
            </a:r>
            <a:endParaRPr lang="en-US" sz="1600" dirty="0"/>
          </a:p>
        </p:txBody>
      </p:sp>
      <p:sp>
        <p:nvSpPr>
          <p:cNvPr id="42" name="Shape 39"/>
          <p:cNvSpPr/>
          <p:nvPr/>
        </p:nvSpPr>
        <p:spPr>
          <a:xfrm>
            <a:off x="9067127" y="6574202"/>
            <a:ext cx="120628" cy="120628"/>
          </a:xfrm>
          <a:custGeom>
            <a:avLst/>
            <a:gdLst/>
            <a:ahLst/>
            <a:cxnLst/>
            <a:rect l="l" t="t" r="r" b="b"/>
            <a:pathLst>
              <a:path w="120628" h="120628">
                <a:moveTo>
                  <a:pt x="60314" y="0"/>
                </a:moveTo>
                <a:cubicBezTo>
                  <a:pt x="63777" y="0"/>
                  <a:pt x="66958" y="1908"/>
                  <a:pt x="68607" y="4948"/>
                </a:cubicBezTo>
                <a:lnTo>
                  <a:pt x="119497" y="99188"/>
                </a:lnTo>
                <a:cubicBezTo>
                  <a:pt x="121075" y="102109"/>
                  <a:pt x="121005" y="105643"/>
                  <a:pt x="119308" y="108494"/>
                </a:cubicBezTo>
                <a:cubicBezTo>
                  <a:pt x="117612" y="111345"/>
                  <a:pt x="114526" y="113088"/>
                  <a:pt x="111204" y="113088"/>
                </a:cubicBezTo>
                <a:lnTo>
                  <a:pt x="9424" y="113088"/>
                </a:lnTo>
                <a:cubicBezTo>
                  <a:pt x="6102" y="113088"/>
                  <a:pt x="3039" y="111345"/>
                  <a:pt x="1319" y="108494"/>
                </a:cubicBezTo>
                <a:cubicBezTo>
                  <a:pt x="-401" y="105643"/>
                  <a:pt x="-448" y="102109"/>
                  <a:pt x="1131" y="99188"/>
                </a:cubicBezTo>
                <a:lnTo>
                  <a:pt x="52021" y="4948"/>
                </a:lnTo>
                <a:cubicBezTo>
                  <a:pt x="53670" y="1908"/>
                  <a:pt x="56850" y="0"/>
                  <a:pt x="60314" y="0"/>
                </a:cubicBezTo>
                <a:close/>
                <a:moveTo>
                  <a:pt x="60314" y="39581"/>
                </a:moveTo>
                <a:cubicBezTo>
                  <a:pt x="57180" y="39581"/>
                  <a:pt x="54659" y="42102"/>
                  <a:pt x="54659" y="45235"/>
                </a:cubicBezTo>
                <a:lnTo>
                  <a:pt x="54659" y="71623"/>
                </a:lnTo>
                <a:cubicBezTo>
                  <a:pt x="54659" y="74756"/>
                  <a:pt x="57180" y="77277"/>
                  <a:pt x="60314" y="77277"/>
                </a:cubicBezTo>
                <a:cubicBezTo>
                  <a:pt x="63447" y="77277"/>
                  <a:pt x="65968" y="74756"/>
                  <a:pt x="65968" y="71623"/>
                </a:cubicBezTo>
                <a:lnTo>
                  <a:pt x="65968" y="45235"/>
                </a:lnTo>
                <a:cubicBezTo>
                  <a:pt x="65968" y="42102"/>
                  <a:pt x="63447" y="39581"/>
                  <a:pt x="60314" y="39581"/>
                </a:cubicBezTo>
                <a:close/>
                <a:moveTo>
                  <a:pt x="66604" y="90471"/>
                </a:moveTo>
                <a:cubicBezTo>
                  <a:pt x="66747" y="88136"/>
                  <a:pt x="65583" y="85914"/>
                  <a:pt x="63581" y="84703"/>
                </a:cubicBezTo>
                <a:cubicBezTo>
                  <a:pt x="61580" y="83493"/>
                  <a:pt x="59071" y="83493"/>
                  <a:pt x="57070" y="84703"/>
                </a:cubicBezTo>
                <a:cubicBezTo>
                  <a:pt x="55068" y="85914"/>
                  <a:pt x="53904" y="88136"/>
                  <a:pt x="54047" y="90471"/>
                </a:cubicBezTo>
                <a:cubicBezTo>
                  <a:pt x="53904" y="92806"/>
                  <a:pt x="55068" y="95027"/>
                  <a:pt x="57070" y="96238"/>
                </a:cubicBezTo>
                <a:cubicBezTo>
                  <a:pt x="59071" y="97449"/>
                  <a:pt x="61580" y="97449"/>
                  <a:pt x="63581" y="96238"/>
                </a:cubicBezTo>
                <a:cubicBezTo>
                  <a:pt x="65583" y="95027"/>
                  <a:pt x="66747" y="92806"/>
                  <a:pt x="66604" y="90471"/>
                </a:cubicBezTo>
                <a:close/>
              </a:path>
            </a:pathLst>
          </a:custGeom>
          <a:solidFill>
            <a:srgbClr val="FF6B00"/>
          </a:solidFill>
          <a:ln/>
        </p:spPr>
      </p:sp>
      <p:sp>
        <p:nvSpPr>
          <p:cNvPr id="43" name="Text 40"/>
          <p:cNvSpPr/>
          <p:nvPr/>
        </p:nvSpPr>
        <p:spPr>
          <a:xfrm>
            <a:off x="9269609" y="6548353"/>
            <a:ext cx="1111497" cy="172325"/>
          </a:xfrm>
          <a:prstGeom prst="rect">
            <a:avLst/>
          </a:prstGeom>
          <a:noFill/>
          <a:ln/>
        </p:spPr>
        <p:txBody>
          <a:bodyPr wrap="square" lIns="0" tIns="0" rIns="0" bIns="0" rtlCol="0" anchor="ctr"/>
          <a:lstStyle/>
          <a:p>
            <a:pPr>
              <a:lnSpc>
                <a:spcPct val="120000"/>
              </a:lnSpc>
            </a:pPr>
            <a:r>
              <a:rPr lang="en-US" sz="950" dirty="0">
                <a:solidFill>
                  <a:srgbClr val="1A1A1A">
                    <a:alpha val="80000"/>
                  </a:srgbClr>
                </a:solidFill>
                <a:latin typeface="Quattrocento Sans" pitchFamily="34" charset="0"/>
                <a:ea typeface="Quattrocento Sans" pitchFamily="34" charset="-122"/>
                <a:cs typeface="Quattrocento Sans" pitchFamily="34" charset="-120"/>
              </a:rPr>
              <a:t>Escalation protocols</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kern="0" spc="45" dirty="0">
                <a:solidFill>
                  <a:srgbClr val="FF6B00"/>
                </a:solidFill>
                <a:latin typeface="Liter" pitchFamily="34" charset="0"/>
                <a:ea typeface="Liter" pitchFamily="34" charset="-122"/>
                <a:cs typeface="Liter" pitchFamily="34" charset="-120"/>
              </a:rPr>
              <a:t>06 | STAKEHOLDER ENGAGEMENT</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003087"/>
                </a:solidFill>
                <a:latin typeface="Liter" pitchFamily="34" charset="0"/>
                <a:ea typeface="Liter" pitchFamily="34" charset="-122"/>
                <a:cs typeface="Liter" pitchFamily="34" charset="-120"/>
              </a:rPr>
              <a:t>Change Management &amp; Communication Plan</a:t>
            </a:r>
            <a:endParaRPr lang="en-US" sz="1600" dirty="0"/>
          </a:p>
        </p:txBody>
      </p:sp>
      <p:sp>
        <p:nvSpPr>
          <p:cNvPr id="4" name="Shape 2"/>
          <p:cNvSpPr/>
          <p:nvPr/>
        </p:nvSpPr>
        <p:spPr>
          <a:xfrm>
            <a:off x="323395" y="970186"/>
            <a:ext cx="776149" cy="32340"/>
          </a:xfrm>
          <a:custGeom>
            <a:avLst/>
            <a:gdLst/>
            <a:ahLst/>
            <a:cxnLst/>
            <a:rect l="l" t="t" r="r" b="b"/>
            <a:pathLst>
              <a:path w="776149" h="32340">
                <a:moveTo>
                  <a:pt x="0" y="0"/>
                </a:moveTo>
                <a:lnTo>
                  <a:pt x="776149" y="0"/>
                </a:lnTo>
                <a:lnTo>
                  <a:pt x="776149" y="32340"/>
                </a:lnTo>
                <a:lnTo>
                  <a:pt x="0" y="32340"/>
                </a:lnTo>
                <a:lnTo>
                  <a:pt x="0" y="0"/>
                </a:lnTo>
                <a:close/>
              </a:path>
            </a:pathLst>
          </a:custGeom>
          <a:solidFill>
            <a:srgbClr val="FF6B00"/>
          </a:solidFill>
          <a:ln/>
        </p:spPr>
      </p:sp>
      <p:sp>
        <p:nvSpPr>
          <p:cNvPr id="5" name="Shape 3"/>
          <p:cNvSpPr/>
          <p:nvPr/>
        </p:nvSpPr>
        <p:spPr>
          <a:xfrm>
            <a:off x="323395" y="1164223"/>
            <a:ext cx="6864064" cy="1293581"/>
          </a:xfrm>
          <a:custGeom>
            <a:avLst/>
            <a:gdLst/>
            <a:ahLst/>
            <a:cxnLst/>
            <a:rect l="l" t="t" r="r" b="b"/>
            <a:pathLst>
              <a:path w="6864064" h="1293581">
                <a:moveTo>
                  <a:pt x="97019" y="0"/>
                </a:moveTo>
                <a:lnTo>
                  <a:pt x="6767045" y="0"/>
                </a:lnTo>
                <a:cubicBezTo>
                  <a:pt x="6820627" y="0"/>
                  <a:pt x="6864064" y="43437"/>
                  <a:pt x="6864064" y="97019"/>
                </a:cubicBezTo>
                <a:lnTo>
                  <a:pt x="6864064" y="1196562"/>
                </a:lnTo>
                <a:cubicBezTo>
                  <a:pt x="6864064" y="1250144"/>
                  <a:pt x="6820627" y="1293581"/>
                  <a:pt x="6767045" y="1293581"/>
                </a:cubicBezTo>
                <a:lnTo>
                  <a:pt x="97019" y="1293581"/>
                </a:lnTo>
                <a:cubicBezTo>
                  <a:pt x="43437" y="1293581"/>
                  <a:pt x="0" y="1250144"/>
                  <a:pt x="0" y="1196562"/>
                </a:cubicBezTo>
                <a:lnTo>
                  <a:pt x="0" y="97019"/>
                </a:lnTo>
                <a:cubicBezTo>
                  <a:pt x="0" y="43473"/>
                  <a:pt x="43473" y="0"/>
                  <a:pt x="97019"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537645" y="1390599"/>
            <a:ext cx="161698" cy="161698"/>
          </a:xfrm>
          <a:custGeom>
            <a:avLst/>
            <a:gdLst/>
            <a:ahLst/>
            <a:cxnLst/>
            <a:rect l="l" t="t" r="r" b="b"/>
            <a:pathLst>
              <a:path w="161698" h="161698">
                <a:moveTo>
                  <a:pt x="151623" y="60637"/>
                </a:moveTo>
                <a:lnTo>
                  <a:pt x="154118" y="60637"/>
                </a:lnTo>
                <a:cubicBezTo>
                  <a:pt x="158318" y="60637"/>
                  <a:pt x="161698" y="57257"/>
                  <a:pt x="161698" y="53057"/>
                </a:cubicBezTo>
                <a:lnTo>
                  <a:pt x="161698" y="7580"/>
                </a:lnTo>
                <a:cubicBezTo>
                  <a:pt x="161698" y="4516"/>
                  <a:pt x="159866" y="1737"/>
                  <a:pt x="157024" y="568"/>
                </a:cubicBezTo>
                <a:cubicBezTo>
                  <a:pt x="154181" y="-600"/>
                  <a:pt x="150928" y="63"/>
                  <a:pt x="148749" y="2211"/>
                </a:cubicBezTo>
                <a:lnTo>
                  <a:pt x="132422" y="18570"/>
                </a:lnTo>
                <a:cubicBezTo>
                  <a:pt x="118431" y="6980"/>
                  <a:pt x="100429" y="0"/>
                  <a:pt x="80849" y="0"/>
                </a:cubicBezTo>
                <a:cubicBezTo>
                  <a:pt x="40109" y="0"/>
                  <a:pt x="6411" y="30129"/>
                  <a:pt x="821" y="69322"/>
                </a:cubicBezTo>
                <a:cubicBezTo>
                  <a:pt x="32" y="74848"/>
                  <a:pt x="3853" y="79965"/>
                  <a:pt x="9380" y="80754"/>
                </a:cubicBezTo>
                <a:cubicBezTo>
                  <a:pt x="14906" y="81544"/>
                  <a:pt x="20023" y="77691"/>
                  <a:pt x="20812" y="72195"/>
                </a:cubicBezTo>
                <a:cubicBezTo>
                  <a:pt x="25013" y="42793"/>
                  <a:pt x="50309" y="20212"/>
                  <a:pt x="80849" y="20212"/>
                </a:cubicBezTo>
                <a:cubicBezTo>
                  <a:pt x="94871" y="20212"/>
                  <a:pt x="107756" y="24949"/>
                  <a:pt x="118020" y="32940"/>
                </a:cubicBezTo>
                <a:lnTo>
                  <a:pt x="103272" y="47688"/>
                </a:lnTo>
                <a:cubicBezTo>
                  <a:pt x="101093" y="49867"/>
                  <a:pt x="100461" y="53120"/>
                  <a:pt x="101629" y="55963"/>
                </a:cubicBezTo>
                <a:cubicBezTo>
                  <a:pt x="102798" y="58805"/>
                  <a:pt x="105577" y="60637"/>
                  <a:pt x="108641" y="60637"/>
                </a:cubicBezTo>
                <a:lnTo>
                  <a:pt x="151623" y="60637"/>
                </a:lnTo>
                <a:close/>
                <a:moveTo>
                  <a:pt x="160908" y="92376"/>
                </a:moveTo>
                <a:cubicBezTo>
                  <a:pt x="161698" y="86849"/>
                  <a:pt x="157845" y="81733"/>
                  <a:pt x="152349" y="80944"/>
                </a:cubicBezTo>
                <a:cubicBezTo>
                  <a:pt x="146854" y="80154"/>
                  <a:pt x="141706" y="84007"/>
                  <a:pt x="140917" y="89502"/>
                </a:cubicBezTo>
                <a:cubicBezTo>
                  <a:pt x="136717" y="118873"/>
                  <a:pt x="111420" y="141454"/>
                  <a:pt x="80880" y="141454"/>
                </a:cubicBezTo>
                <a:cubicBezTo>
                  <a:pt x="66858" y="141454"/>
                  <a:pt x="53973" y="136717"/>
                  <a:pt x="43709" y="128726"/>
                </a:cubicBezTo>
                <a:lnTo>
                  <a:pt x="58426" y="114009"/>
                </a:lnTo>
                <a:cubicBezTo>
                  <a:pt x="60605" y="111830"/>
                  <a:pt x="61237" y="108577"/>
                  <a:pt x="60068" y="105735"/>
                </a:cubicBezTo>
                <a:cubicBezTo>
                  <a:pt x="58900" y="102893"/>
                  <a:pt x="56120" y="101061"/>
                  <a:pt x="53057" y="101061"/>
                </a:cubicBezTo>
                <a:lnTo>
                  <a:pt x="7580" y="101061"/>
                </a:lnTo>
                <a:cubicBezTo>
                  <a:pt x="3379" y="101061"/>
                  <a:pt x="0" y="104440"/>
                  <a:pt x="0" y="108641"/>
                </a:cubicBezTo>
                <a:lnTo>
                  <a:pt x="0" y="154118"/>
                </a:lnTo>
                <a:cubicBezTo>
                  <a:pt x="0" y="157181"/>
                  <a:pt x="1832" y="159961"/>
                  <a:pt x="4674" y="161129"/>
                </a:cubicBezTo>
                <a:cubicBezTo>
                  <a:pt x="7516" y="162298"/>
                  <a:pt x="10769" y="161634"/>
                  <a:pt x="12948" y="159487"/>
                </a:cubicBezTo>
                <a:lnTo>
                  <a:pt x="29308" y="143128"/>
                </a:lnTo>
                <a:cubicBezTo>
                  <a:pt x="43267" y="154718"/>
                  <a:pt x="61268" y="161698"/>
                  <a:pt x="80849" y="161698"/>
                </a:cubicBezTo>
                <a:cubicBezTo>
                  <a:pt x="121589" y="161698"/>
                  <a:pt x="155287" y="131569"/>
                  <a:pt x="160876" y="92376"/>
                </a:cubicBezTo>
                <a:close/>
              </a:path>
            </a:pathLst>
          </a:custGeom>
          <a:solidFill>
            <a:srgbClr val="FF6B00"/>
          </a:solidFill>
          <a:ln/>
        </p:spPr>
      </p:sp>
      <p:sp>
        <p:nvSpPr>
          <p:cNvPr id="7" name="Text 5"/>
          <p:cNvSpPr/>
          <p:nvPr/>
        </p:nvSpPr>
        <p:spPr>
          <a:xfrm>
            <a:off x="719554" y="1358260"/>
            <a:ext cx="6354716" cy="226377"/>
          </a:xfrm>
          <a:prstGeom prst="rect">
            <a:avLst/>
          </a:prstGeom>
          <a:noFill/>
          <a:ln/>
        </p:spPr>
        <p:txBody>
          <a:bodyPr wrap="square" lIns="0" tIns="0" rIns="0" bIns="0" rtlCol="0" anchor="ctr"/>
          <a:lstStyle/>
          <a:p>
            <a:pPr>
              <a:lnSpc>
                <a:spcPct val="120000"/>
              </a:lnSpc>
            </a:pPr>
            <a:r>
              <a:rPr lang="en-US" sz="1273" b="1" dirty="0">
                <a:solidFill>
                  <a:srgbClr val="FFFFFF"/>
                </a:solidFill>
                <a:latin typeface="Liter" pitchFamily="34" charset="0"/>
                <a:ea typeface="Liter" pitchFamily="34" charset="-122"/>
                <a:cs typeface="Liter" pitchFamily="34" charset="-120"/>
              </a:rPr>
              <a:t>Prosci ADKAR Model Implementation</a:t>
            </a:r>
            <a:endParaRPr lang="en-US" sz="1600" dirty="0"/>
          </a:p>
        </p:txBody>
      </p:sp>
      <p:sp>
        <p:nvSpPr>
          <p:cNvPr id="8" name="Text 6"/>
          <p:cNvSpPr/>
          <p:nvPr/>
        </p:nvSpPr>
        <p:spPr>
          <a:xfrm>
            <a:off x="517432" y="1713995"/>
            <a:ext cx="6540668" cy="420414"/>
          </a:xfrm>
          <a:prstGeom prst="rect">
            <a:avLst/>
          </a:prstGeom>
          <a:noFill/>
          <a:ln/>
        </p:spPr>
        <p:txBody>
          <a:bodyPr wrap="square" lIns="0" tIns="0" rIns="0" bIns="0" rtlCol="0" anchor="ctr"/>
          <a:lstStyle/>
          <a:p>
            <a:pPr>
              <a:lnSpc>
                <a:spcPct val="140000"/>
              </a:lnSpc>
            </a:pPr>
            <a:r>
              <a:rPr lang="en-US" sz="1019" dirty="0">
                <a:solidFill>
                  <a:srgbClr val="FFFFFF"/>
                </a:solidFill>
                <a:latin typeface="Quattrocento Sans" pitchFamily="34" charset="0"/>
                <a:ea typeface="Quattrocento Sans" pitchFamily="34" charset="-122"/>
                <a:cs typeface="Quattrocento Sans" pitchFamily="34" charset="-120"/>
              </a:rPr>
              <a:t>Structured change management approach ensuring individual transitions align with organizational transformation goals, maximizing adoption and minimizing resistance.</a:t>
            </a:r>
            <a:endParaRPr lang="en-US" sz="1600" dirty="0"/>
          </a:p>
        </p:txBody>
      </p:sp>
      <p:sp>
        <p:nvSpPr>
          <p:cNvPr id="9" name="Shape 7"/>
          <p:cNvSpPr/>
          <p:nvPr/>
        </p:nvSpPr>
        <p:spPr>
          <a:xfrm>
            <a:off x="323395" y="2603332"/>
            <a:ext cx="1317836" cy="1034865"/>
          </a:xfrm>
          <a:custGeom>
            <a:avLst/>
            <a:gdLst/>
            <a:ahLst/>
            <a:cxnLst/>
            <a:rect l="l" t="t" r="r" b="b"/>
            <a:pathLst>
              <a:path w="1317836" h="1034865">
                <a:moveTo>
                  <a:pt x="32340" y="0"/>
                </a:moveTo>
                <a:lnTo>
                  <a:pt x="1285496" y="0"/>
                </a:lnTo>
                <a:cubicBezTo>
                  <a:pt x="1303357" y="0"/>
                  <a:pt x="1317836" y="14479"/>
                  <a:pt x="1317836" y="32340"/>
                </a:cubicBezTo>
                <a:lnTo>
                  <a:pt x="1317836" y="937846"/>
                </a:lnTo>
                <a:cubicBezTo>
                  <a:pt x="1317836" y="991428"/>
                  <a:pt x="1274399" y="1034865"/>
                  <a:pt x="1220817" y="1034865"/>
                </a:cubicBezTo>
                <a:lnTo>
                  <a:pt x="97019" y="1034865"/>
                </a:lnTo>
                <a:cubicBezTo>
                  <a:pt x="43437" y="1034865"/>
                  <a:pt x="0" y="991428"/>
                  <a:pt x="0" y="937846"/>
                </a:cubicBezTo>
                <a:lnTo>
                  <a:pt x="0" y="32340"/>
                </a:lnTo>
                <a:cubicBezTo>
                  <a:pt x="0" y="14491"/>
                  <a:pt x="14491" y="0"/>
                  <a:pt x="32340" y="0"/>
                </a:cubicBezTo>
                <a:close/>
              </a:path>
            </a:pathLst>
          </a:custGeom>
          <a:solidFill>
            <a:srgbClr val="FF6B00">
              <a:alpha val="10196"/>
            </a:srgbClr>
          </a:solidFill>
          <a:ln/>
        </p:spPr>
      </p:sp>
      <p:sp>
        <p:nvSpPr>
          <p:cNvPr id="10" name="Shape 8"/>
          <p:cNvSpPr/>
          <p:nvPr/>
        </p:nvSpPr>
        <p:spPr>
          <a:xfrm>
            <a:off x="323395" y="2603332"/>
            <a:ext cx="1317836" cy="32340"/>
          </a:xfrm>
          <a:custGeom>
            <a:avLst/>
            <a:gdLst/>
            <a:ahLst/>
            <a:cxnLst/>
            <a:rect l="l" t="t" r="r" b="b"/>
            <a:pathLst>
              <a:path w="1317836" h="32340">
                <a:moveTo>
                  <a:pt x="32340" y="0"/>
                </a:moveTo>
                <a:lnTo>
                  <a:pt x="1285496" y="0"/>
                </a:lnTo>
                <a:cubicBezTo>
                  <a:pt x="1303357" y="0"/>
                  <a:pt x="1317836" y="14479"/>
                  <a:pt x="1317836" y="32340"/>
                </a:cubicBezTo>
                <a:lnTo>
                  <a:pt x="1317836" y="32340"/>
                </a:lnTo>
                <a:lnTo>
                  <a:pt x="0" y="32340"/>
                </a:lnTo>
                <a:lnTo>
                  <a:pt x="0" y="32340"/>
                </a:lnTo>
                <a:cubicBezTo>
                  <a:pt x="0" y="14491"/>
                  <a:pt x="14491" y="0"/>
                  <a:pt x="32340" y="0"/>
                </a:cubicBezTo>
                <a:close/>
              </a:path>
            </a:pathLst>
          </a:custGeom>
          <a:solidFill>
            <a:srgbClr val="FF6B00"/>
          </a:solidFill>
          <a:ln/>
        </p:spPr>
      </p:sp>
      <p:sp>
        <p:nvSpPr>
          <p:cNvPr id="11" name="Shape 9"/>
          <p:cNvSpPr/>
          <p:nvPr/>
        </p:nvSpPr>
        <p:spPr>
          <a:xfrm>
            <a:off x="821815" y="2716520"/>
            <a:ext cx="323395" cy="323395"/>
          </a:xfrm>
          <a:custGeom>
            <a:avLst/>
            <a:gdLst/>
            <a:ahLst/>
            <a:cxnLst/>
            <a:rect l="l" t="t" r="r" b="b"/>
            <a:pathLst>
              <a:path w="323395" h="323395">
                <a:moveTo>
                  <a:pt x="161698" y="0"/>
                </a:moveTo>
                <a:lnTo>
                  <a:pt x="161698" y="0"/>
                </a:lnTo>
                <a:cubicBezTo>
                  <a:pt x="250941" y="0"/>
                  <a:pt x="323395" y="72454"/>
                  <a:pt x="323395" y="161698"/>
                </a:cubicBezTo>
                <a:lnTo>
                  <a:pt x="323395" y="161698"/>
                </a:lnTo>
                <a:cubicBezTo>
                  <a:pt x="323395" y="250941"/>
                  <a:pt x="250941" y="323395"/>
                  <a:pt x="161698" y="323395"/>
                </a:cubicBezTo>
                <a:lnTo>
                  <a:pt x="161698" y="323395"/>
                </a:lnTo>
                <a:cubicBezTo>
                  <a:pt x="72454" y="323395"/>
                  <a:pt x="0" y="250941"/>
                  <a:pt x="0" y="161698"/>
                </a:cubicBezTo>
                <a:lnTo>
                  <a:pt x="0" y="161698"/>
                </a:lnTo>
                <a:cubicBezTo>
                  <a:pt x="0" y="72454"/>
                  <a:pt x="72454" y="0"/>
                  <a:pt x="161698" y="0"/>
                </a:cubicBezTo>
                <a:close/>
              </a:path>
            </a:pathLst>
          </a:custGeom>
          <a:solidFill>
            <a:srgbClr val="FF6B00"/>
          </a:solidFill>
          <a:ln/>
        </p:spPr>
      </p:sp>
      <p:sp>
        <p:nvSpPr>
          <p:cNvPr id="12" name="Text 10"/>
          <p:cNvSpPr/>
          <p:nvPr/>
        </p:nvSpPr>
        <p:spPr>
          <a:xfrm>
            <a:off x="785434" y="2716520"/>
            <a:ext cx="396159" cy="323395"/>
          </a:xfrm>
          <a:prstGeom prst="rect">
            <a:avLst/>
          </a:prstGeom>
          <a:noFill/>
          <a:ln/>
        </p:spPr>
        <p:txBody>
          <a:bodyPr wrap="square" lIns="0" tIns="0" rIns="0" bIns="0" rtlCol="0" anchor="ctr"/>
          <a:lstStyle/>
          <a:p>
            <a:pPr algn="ctr">
              <a:lnSpc>
                <a:spcPct val="130000"/>
              </a:lnSpc>
            </a:pPr>
            <a:r>
              <a:rPr lang="en-US" sz="1146" b="1" dirty="0">
                <a:solidFill>
                  <a:srgbClr val="FFFFFF"/>
                </a:solidFill>
                <a:latin typeface="Liter" pitchFamily="34" charset="0"/>
                <a:ea typeface="Liter" pitchFamily="34" charset="-122"/>
                <a:cs typeface="Liter" pitchFamily="34" charset="-120"/>
              </a:rPr>
              <a:t>A</a:t>
            </a:r>
            <a:endParaRPr lang="en-US" sz="1600" dirty="0"/>
          </a:p>
        </p:txBody>
      </p:sp>
      <p:sp>
        <p:nvSpPr>
          <p:cNvPr id="13" name="Text 11"/>
          <p:cNvSpPr/>
          <p:nvPr/>
        </p:nvSpPr>
        <p:spPr>
          <a:xfrm>
            <a:off x="392117" y="3104594"/>
            <a:ext cx="1180393"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Liter" pitchFamily="34" charset="0"/>
                <a:ea typeface="Liter" pitchFamily="34" charset="-122"/>
                <a:cs typeface="Liter" pitchFamily="34" charset="-120"/>
              </a:rPr>
              <a:t>Awareness</a:t>
            </a:r>
            <a:endParaRPr lang="en-US" sz="1600" dirty="0"/>
          </a:p>
        </p:txBody>
      </p:sp>
      <p:sp>
        <p:nvSpPr>
          <p:cNvPr id="14" name="Text 12"/>
          <p:cNvSpPr/>
          <p:nvPr/>
        </p:nvSpPr>
        <p:spPr>
          <a:xfrm>
            <a:off x="396159" y="3298631"/>
            <a:ext cx="1172308" cy="242546"/>
          </a:xfrm>
          <a:prstGeom prst="rect">
            <a:avLst/>
          </a:prstGeom>
          <a:noFill/>
          <a:ln/>
        </p:spPr>
        <p:txBody>
          <a:bodyPr wrap="square" lIns="0" tIns="0" rIns="0" bIns="0" rtlCol="0" anchor="ctr"/>
          <a:lstStyle/>
          <a:p>
            <a:pPr algn="ctr">
              <a:lnSpc>
                <a:spcPct val="10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Communicate urgency and benefits</a:t>
            </a:r>
            <a:endParaRPr lang="en-US" sz="1600" dirty="0"/>
          </a:p>
        </p:txBody>
      </p:sp>
      <p:sp>
        <p:nvSpPr>
          <p:cNvPr id="15" name="Shape 13"/>
          <p:cNvSpPr/>
          <p:nvPr/>
        </p:nvSpPr>
        <p:spPr>
          <a:xfrm>
            <a:off x="1708373" y="2603332"/>
            <a:ext cx="1317836" cy="1034865"/>
          </a:xfrm>
          <a:custGeom>
            <a:avLst/>
            <a:gdLst/>
            <a:ahLst/>
            <a:cxnLst/>
            <a:rect l="l" t="t" r="r" b="b"/>
            <a:pathLst>
              <a:path w="1317836" h="1034865">
                <a:moveTo>
                  <a:pt x="32340" y="0"/>
                </a:moveTo>
                <a:lnTo>
                  <a:pt x="1285496" y="0"/>
                </a:lnTo>
                <a:cubicBezTo>
                  <a:pt x="1303357" y="0"/>
                  <a:pt x="1317836" y="14479"/>
                  <a:pt x="1317836" y="32340"/>
                </a:cubicBezTo>
                <a:lnTo>
                  <a:pt x="1317836" y="937846"/>
                </a:lnTo>
                <a:cubicBezTo>
                  <a:pt x="1317836" y="991428"/>
                  <a:pt x="1274399" y="1034865"/>
                  <a:pt x="1220817" y="1034865"/>
                </a:cubicBezTo>
                <a:lnTo>
                  <a:pt x="97019" y="1034865"/>
                </a:lnTo>
                <a:cubicBezTo>
                  <a:pt x="43437" y="1034865"/>
                  <a:pt x="0" y="991428"/>
                  <a:pt x="0" y="937846"/>
                </a:cubicBezTo>
                <a:lnTo>
                  <a:pt x="0" y="32340"/>
                </a:lnTo>
                <a:cubicBezTo>
                  <a:pt x="0" y="14491"/>
                  <a:pt x="14491" y="0"/>
                  <a:pt x="32340" y="0"/>
                </a:cubicBezTo>
                <a:close/>
              </a:path>
            </a:pathLst>
          </a:custGeom>
          <a:solidFill>
            <a:srgbClr val="003087">
              <a:alpha val="10196"/>
            </a:srgbClr>
          </a:solidFill>
          <a:ln/>
        </p:spPr>
      </p:sp>
      <p:sp>
        <p:nvSpPr>
          <p:cNvPr id="16" name="Shape 14"/>
          <p:cNvSpPr/>
          <p:nvPr/>
        </p:nvSpPr>
        <p:spPr>
          <a:xfrm>
            <a:off x="1708373" y="2603332"/>
            <a:ext cx="1317836" cy="32340"/>
          </a:xfrm>
          <a:custGeom>
            <a:avLst/>
            <a:gdLst/>
            <a:ahLst/>
            <a:cxnLst/>
            <a:rect l="l" t="t" r="r" b="b"/>
            <a:pathLst>
              <a:path w="1317836" h="32340">
                <a:moveTo>
                  <a:pt x="32340" y="0"/>
                </a:moveTo>
                <a:lnTo>
                  <a:pt x="1285496" y="0"/>
                </a:lnTo>
                <a:cubicBezTo>
                  <a:pt x="1303357" y="0"/>
                  <a:pt x="1317836" y="14479"/>
                  <a:pt x="1317836" y="32340"/>
                </a:cubicBezTo>
                <a:lnTo>
                  <a:pt x="1317836" y="32340"/>
                </a:lnTo>
                <a:lnTo>
                  <a:pt x="0" y="32340"/>
                </a:lnTo>
                <a:lnTo>
                  <a:pt x="0" y="32340"/>
                </a:lnTo>
                <a:cubicBezTo>
                  <a:pt x="0" y="14491"/>
                  <a:pt x="14491" y="0"/>
                  <a:pt x="32340" y="0"/>
                </a:cubicBezTo>
                <a:close/>
              </a:path>
            </a:pathLst>
          </a:custGeom>
          <a:solidFill>
            <a:srgbClr val="003087"/>
          </a:solidFill>
          <a:ln/>
        </p:spPr>
      </p:sp>
      <p:sp>
        <p:nvSpPr>
          <p:cNvPr id="17" name="Shape 15"/>
          <p:cNvSpPr/>
          <p:nvPr/>
        </p:nvSpPr>
        <p:spPr>
          <a:xfrm>
            <a:off x="2206793" y="2716520"/>
            <a:ext cx="323395" cy="323395"/>
          </a:xfrm>
          <a:custGeom>
            <a:avLst/>
            <a:gdLst/>
            <a:ahLst/>
            <a:cxnLst/>
            <a:rect l="l" t="t" r="r" b="b"/>
            <a:pathLst>
              <a:path w="323395" h="323395">
                <a:moveTo>
                  <a:pt x="161698" y="0"/>
                </a:moveTo>
                <a:lnTo>
                  <a:pt x="161698" y="0"/>
                </a:lnTo>
                <a:cubicBezTo>
                  <a:pt x="250941" y="0"/>
                  <a:pt x="323395" y="72454"/>
                  <a:pt x="323395" y="161698"/>
                </a:cubicBezTo>
                <a:lnTo>
                  <a:pt x="323395" y="161698"/>
                </a:lnTo>
                <a:cubicBezTo>
                  <a:pt x="323395" y="250941"/>
                  <a:pt x="250941" y="323395"/>
                  <a:pt x="161698" y="323395"/>
                </a:cubicBezTo>
                <a:lnTo>
                  <a:pt x="161698" y="323395"/>
                </a:lnTo>
                <a:cubicBezTo>
                  <a:pt x="72454" y="323395"/>
                  <a:pt x="0" y="250941"/>
                  <a:pt x="0" y="161698"/>
                </a:cubicBezTo>
                <a:lnTo>
                  <a:pt x="0" y="161698"/>
                </a:lnTo>
                <a:cubicBezTo>
                  <a:pt x="0" y="72454"/>
                  <a:pt x="72454" y="0"/>
                  <a:pt x="161698" y="0"/>
                </a:cubicBezTo>
                <a:close/>
              </a:path>
            </a:pathLst>
          </a:custGeom>
          <a:solidFill>
            <a:srgbClr val="003087"/>
          </a:solidFill>
          <a:ln/>
        </p:spPr>
      </p:sp>
      <p:sp>
        <p:nvSpPr>
          <p:cNvPr id="18" name="Text 16"/>
          <p:cNvSpPr/>
          <p:nvPr/>
        </p:nvSpPr>
        <p:spPr>
          <a:xfrm>
            <a:off x="2170411" y="2716520"/>
            <a:ext cx="396159" cy="323395"/>
          </a:xfrm>
          <a:prstGeom prst="rect">
            <a:avLst/>
          </a:prstGeom>
          <a:noFill/>
          <a:ln/>
        </p:spPr>
        <p:txBody>
          <a:bodyPr wrap="square" lIns="0" tIns="0" rIns="0" bIns="0" rtlCol="0" anchor="ctr"/>
          <a:lstStyle/>
          <a:p>
            <a:pPr algn="ctr">
              <a:lnSpc>
                <a:spcPct val="130000"/>
              </a:lnSpc>
            </a:pPr>
            <a:r>
              <a:rPr lang="en-US" sz="1146" b="1" dirty="0">
                <a:solidFill>
                  <a:srgbClr val="FFFFFF"/>
                </a:solidFill>
                <a:latin typeface="Liter" pitchFamily="34" charset="0"/>
                <a:ea typeface="Liter" pitchFamily="34" charset="-122"/>
                <a:cs typeface="Liter" pitchFamily="34" charset="-120"/>
              </a:rPr>
              <a:t>D</a:t>
            </a:r>
            <a:endParaRPr lang="en-US" sz="1600" dirty="0"/>
          </a:p>
        </p:txBody>
      </p:sp>
      <p:sp>
        <p:nvSpPr>
          <p:cNvPr id="19" name="Text 17"/>
          <p:cNvSpPr/>
          <p:nvPr/>
        </p:nvSpPr>
        <p:spPr>
          <a:xfrm>
            <a:off x="1777095" y="3104594"/>
            <a:ext cx="1180393"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Liter" pitchFamily="34" charset="0"/>
                <a:ea typeface="Liter" pitchFamily="34" charset="-122"/>
                <a:cs typeface="Liter" pitchFamily="34" charset="-120"/>
              </a:rPr>
              <a:t>Desire</a:t>
            </a:r>
            <a:endParaRPr lang="en-US" sz="1600" dirty="0"/>
          </a:p>
        </p:txBody>
      </p:sp>
      <p:sp>
        <p:nvSpPr>
          <p:cNvPr id="20" name="Text 18"/>
          <p:cNvSpPr/>
          <p:nvPr/>
        </p:nvSpPr>
        <p:spPr>
          <a:xfrm>
            <a:off x="1781137" y="3298631"/>
            <a:ext cx="1172308" cy="242546"/>
          </a:xfrm>
          <a:prstGeom prst="rect">
            <a:avLst/>
          </a:prstGeom>
          <a:noFill/>
          <a:ln/>
        </p:spPr>
        <p:txBody>
          <a:bodyPr wrap="square" lIns="0" tIns="0" rIns="0" bIns="0" rtlCol="0" anchor="ctr"/>
          <a:lstStyle/>
          <a:p>
            <a:pPr algn="ctr">
              <a:lnSpc>
                <a:spcPct val="10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Engage and empower employees</a:t>
            </a:r>
            <a:endParaRPr lang="en-US" sz="1600" dirty="0"/>
          </a:p>
        </p:txBody>
      </p:sp>
      <p:sp>
        <p:nvSpPr>
          <p:cNvPr id="21" name="Shape 19"/>
          <p:cNvSpPr/>
          <p:nvPr/>
        </p:nvSpPr>
        <p:spPr>
          <a:xfrm>
            <a:off x="3093351" y="2603332"/>
            <a:ext cx="1317836" cy="1034865"/>
          </a:xfrm>
          <a:custGeom>
            <a:avLst/>
            <a:gdLst/>
            <a:ahLst/>
            <a:cxnLst/>
            <a:rect l="l" t="t" r="r" b="b"/>
            <a:pathLst>
              <a:path w="1317836" h="1034865">
                <a:moveTo>
                  <a:pt x="32340" y="0"/>
                </a:moveTo>
                <a:lnTo>
                  <a:pt x="1285496" y="0"/>
                </a:lnTo>
                <a:cubicBezTo>
                  <a:pt x="1303357" y="0"/>
                  <a:pt x="1317836" y="14479"/>
                  <a:pt x="1317836" y="32340"/>
                </a:cubicBezTo>
                <a:lnTo>
                  <a:pt x="1317836" y="937846"/>
                </a:lnTo>
                <a:cubicBezTo>
                  <a:pt x="1317836" y="991428"/>
                  <a:pt x="1274399" y="1034865"/>
                  <a:pt x="1220817" y="1034865"/>
                </a:cubicBezTo>
                <a:lnTo>
                  <a:pt x="97019" y="1034865"/>
                </a:lnTo>
                <a:cubicBezTo>
                  <a:pt x="43437" y="1034865"/>
                  <a:pt x="0" y="991428"/>
                  <a:pt x="0" y="937846"/>
                </a:cubicBezTo>
                <a:lnTo>
                  <a:pt x="0" y="32340"/>
                </a:lnTo>
                <a:cubicBezTo>
                  <a:pt x="0" y="14491"/>
                  <a:pt x="14491" y="0"/>
                  <a:pt x="32340" y="0"/>
                </a:cubicBezTo>
                <a:close/>
              </a:path>
            </a:pathLst>
          </a:custGeom>
          <a:solidFill>
            <a:srgbClr val="FF6B00">
              <a:alpha val="10196"/>
            </a:srgbClr>
          </a:solidFill>
          <a:ln/>
        </p:spPr>
      </p:sp>
      <p:sp>
        <p:nvSpPr>
          <p:cNvPr id="22" name="Shape 20"/>
          <p:cNvSpPr/>
          <p:nvPr/>
        </p:nvSpPr>
        <p:spPr>
          <a:xfrm>
            <a:off x="3093351" y="2603332"/>
            <a:ext cx="1317836" cy="32340"/>
          </a:xfrm>
          <a:custGeom>
            <a:avLst/>
            <a:gdLst/>
            <a:ahLst/>
            <a:cxnLst/>
            <a:rect l="l" t="t" r="r" b="b"/>
            <a:pathLst>
              <a:path w="1317836" h="32340">
                <a:moveTo>
                  <a:pt x="32340" y="0"/>
                </a:moveTo>
                <a:lnTo>
                  <a:pt x="1285496" y="0"/>
                </a:lnTo>
                <a:cubicBezTo>
                  <a:pt x="1303357" y="0"/>
                  <a:pt x="1317836" y="14479"/>
                  <a:pt x="1317836" y="32340"/>
                </a:cubicBezTo>
                <a:lnTo>
                  <a:pt x="1317836" y="32340"/>
                </a:lnTo>
                <a:lnTo>
                  <a:pt x="0" y="32340"/>
                </a:lnTo>
                <a:lnTo>
                  <a:pt x="0" y="32340"/>
                </a:lnTo>
                <a:cubicBezTo>
                  <a:pt x="0" y="14491"/>
                  <a:pt x="14491" y="0"/>
                  <a:pt x="32340" y="0"/>
                </a:cubicBezTo>
                <a:close/>
              </a:path>
            </a:pathLst>
          </a:custGeom>
          <a:solidFill>
            <a:srgbClr val="FF6B00"/>
          </a:solidFill>
          <a:ln/>
        </p:spPr>
      </p:sp>
      <p:sp>
        <p:nvSpPr>
          <p:cNvPr id="23" name="Shape 21"/>
          <p:cNvSpPr/>
          <p:nvPr/>
        </p:nvSpPr>
        <p:spPr>
          <a:xfrm>
            <a:off x="3591771" y="2716520"/>
            <a:ext cx="323395" cy="323395"/>
          </a:xfrm>
          <a:custGeom>
            <a:avLst/>
            <a:gdLst/>
            <a:ahLst/>
            <a:cxnLst/>
            <a:rect l="l" t="t" r="r" b="b"/>
            <a:pathLst>
              <a:path w="323395" h="323395">
                <a:moveTo>
                  <a:pt x="161698" y="0"/>
                </a:moveTo>
                <a:lnTo>
                  <a:pt x="161698" y="0"/>
                </a:lnTo>
                <a:cubicBezTo>
                  <a:pt x="250941" y="0"/>
                  <a:pt x="323395" y="72454"/>
                  <a:pt x="323395" y="161698"/>
                </a:cubicBezTo>
                <a:lnTo>
                  <a:pt x="323395" y="161698"/>
                </a:lnTo>
                <a:cubicBezTo>
                  <a:pt x="323395" y="250941"/>
                  <a:pt x="250941" y="323395"/>
                  <a:pt x="161698" y="323395"/>
                </a:cubicBezTo>
                <a:lnTo>
                  <a:pt x="161698" y="323395"/>
                </a:lnTo>
                <a:cubicBezTo>
                  <a:pt x="72454" y="323395"/>
                  <a:pt x="0" y="250941"/>
                  <a:pt x="0" y="161698"/>
                </a:cubicBezTo>
                <a:lnTo>
                  <a:pt x="0" y="161698"/>
                </a:lnTo>
                <a:cubicBezTo>
                  <a:pt x="0" y="72454"/>
                  <a:pt x="72454" y="0"/>
                  <a:pt x="161698" y="0"/>
                </a:cubicBezTo>
                <a:close/>
              </a:path>
            </a:pathLst>
          </a:custGeom>
          <a:solidFill>
            <a:srgbClr val="FF6B00"/>
          </a:solidFill>
          <a:ln/>
        </p:spPr>
      </p:sp>
      <p:sp>
        <p:nvSpPr>
          <p:cNvPr id="24" name="Text 22"/>
          <p:cNvSpPr/>
          <p:nvPr/>
        </p:nvSpPr>
        <p:spPr>
          <a:xfrm>
            <a:off x="3555389" y="2716520"/>
            <a:ext cx="396159" cy="323395"/>
          </a:xfrm>
          <a:prstGeom prst="rect">
            <a:avLst/>
          </a:prstGeom>
          <a:noFill/>
          <a:ln/>
        </p:spPr>
        <p:txBody>
          <a:bodyPr wrap="square" lIns="0" tIns="0" rIns="0" bIns="0" rtlCol="0" anchor="ctr"/>
          <a:lstStyle/>
          <a:p>
            <a:pPr algn="ctr">
              <a:lnSpc>
                <a:spcPct val="130000"/>
              </a:lnSpc>
            </a:pPr>
            <a:r>
              <a:rPr lang="en-US" sz="1146" b="1" dirty="0">
                <a:solidFill>
                  <a:srgbClr val="FFFFFF"/>
                </a:solidFill>
                <a:latin typeface="Liter" pitchFamily="34" charset="0"/>
                <a:ea typeface="Liter" pitchFamily="34" charset="-122"/>
                <a:cs typeface="Liter" pitchFamily="34" charset="-120"/>
              </a:rPr>
              <a:t>K</a:t>
            </a:r>
            <a:endParaRPr lang="en-US" sz="1600" dirty="0"/>
          </a:p>
        </p:txBody>
      </p:sp>
      <p:sp>
        <p:nvSpPr>
          <p:cNvPr id="25" name="Text 23"/>
          <p:cNvSpPr/>
          <p:nvPr/>
        </p:nvSpPr>
        <p:spPr>
          <a:xfrm>
            <a:off x="3162073" y="3104594"/>
            <a:ext cx="1180393"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Liter" pitchFamily="34" charset="0"/>
                <a:ea typeface="Liter" pitchFamily="34" charset="-122"/>
                <a:cs typeface="Liter" pitchFamily="34" charset="-120"/>
              </a:rPr>
              <a:t>Knowledge</a:t>
            </a:r>
            <a:endParaRPr lang="en-US" sz="1600" dirty="0"/>
          </a:p>
        </p:txBody>
      </p:sp>
      <p:sp>
        <p:nvSpPr>
          <p:cNvPr id="26" name="Text 24"/>
          <p:cNvSpPr/>
          <p:nvPr/>
        </p:nvSpPr>
        <p:spPr>
          <a:xfrm>
            <a:off x="3166115" y="3298631"/>
            <a:ext cx="1172308" cy="242546"/>
          </a:xfrm>
          <a:prstGeom prst="rect">
            <a:avLst/>
          </a:prstGeom>
          <a:noFill/>
          <a:ln/>
        </p:spPr>
        <p:txBody>
          <a:bodyPr wrap="square" lIns="0" tIns="0" rIns="0" bIns="0" rtlCol="0" anchor="ctr"/>
          <a:lstStyle/>
          <a:p>
            <a:pPr algn="ctr">
              <a:lnSpc>
                <a:spcPct val="10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Comprehensive training programs</a:t>
            </a:r>
            <a:endParaRPr lang="en-US" sz="1600" dirty="0"/>
          </a:p>
        </p:txBody>
      </p:sp>
      <p:sp>
        <p:nvSpPr>
          <p:cNvPr id="27" name="Shape 25"/>
          <p:cNvSpPr/>
          <p:nvPr/>
        </p:nvSpPr>
        <p:spPr>
          <a:xfrm>
            <a:off x="4478329" y="2603332"/>
            <a:ext cx="1317836" cy="1034865"/>
          </a:xfrm>
          <a:custGeom>
            <a:avLst/>
            <a:gdLst/>
            <a:ahLst/>
            <a:cxnLst/>
            <a:rect l="l" t="t" r="r" b="b"/>
            <a:pathLst>
              <a:path w="1317836" h="1034865">
                <a:moveTo>
                  <a:pt x="32340" y="0"/>
                </a:moveTo>
                <a:lnTo>
                  <a:pt x="1285496" y="0"/>
                </a:lnTo>
                <a:cubicBezTo>
                  <a:pt x="1303357" y="0"/>
                  <a:pt x="1317836" y="14479"/>
                  <a:pt x="1317836" y="32340"/>
                </a:cubicBezTo>
                <a:lnTo>
                  <a:pt x="1317836" y="937846"/>
                </a:lnTo>
                <a:cubicBezTo>
                  <a:pt x="1317836" y="991428"/>
                  <a:pt x="1274399" y="1034865"/>
                  <a:pt x="1220817" y="1034865"/>
                </a:cubicBezTo>
                <a:lnTo>
                  <a:pt x="97019" y="1034865"/>
                </a:lnTo>
                <a:cubicBezTo>
                  <a:pt x="43437" y="1034865"/>
                  <a:pt x="0" y="991428"/>
                  <a:pt x="0" y="937846"/>
                </a:cubicBezTo>
                <a:lnTo>
                  <a:pt x="0" y="32340"/>
                </a:lnTo>
                <a:cubicBezTo>
                  <a:pt x="0" y="14491"/>
                  <a:pt x="14491" y="0"/>
                  <a:pt x="32340" y="0"/>
                </a:cubicBezTo>
                <a:close/>
              </a:path>
            </a:pathLst>
          </a:custGeom>
          <a:solidFill>
            <a:srgbClr val="003087">
              <a:alpha val="10196"/>
            </a:srgbClr>
          </a:solidFill>
          <a:ln/>
        </p:spPr>
      </p:sp>
      <p:sp>
        <p:nvSpPr>
          <p:cNvPr id="28" name="Shape 26"/>
          <p:cNvSpPr/>
          <p:nvPr/>
        </p:nvSpPr>
        <p:spPr>
          <a:xfrm>
            <a:off x="4478329" y="2603332"/>
            <a:ext cx="1317836" cy="32340"/>
          </a:xfrm>
          <a:custGeom>
            <a:avLst/>
            <a:gdLst/>
            <a:ahLst/>
            <a:cxnLst/>
            <a:rect l="l" t="t" r="r" b="b"/>
            <a:pathLst>
              <a:path w="1317836" h="32340">
                <a:moveTo>
                  <a:pt x="32340" y="0"/>
                </a:moveTo>
                <a:lnTo>
                  <a:pt x="1285496" y="0"/>
                </a:lnTo>
                <a:cubicBezTo>
                  <a:pt x="1303357" y="0"/>
                  <a:pt x="1317836" y="14479"/>
                  <a:pt x="1317836" y="32340"/>
                </a:cubicBezTo>
                <a:lnTo>
                  <a:pt x="1317836" y="32340"/>
                </a:lnTo>
                <a:lnTo>
                  <a:pt x="0" y="32340"/>
                </a:lnTo>
                <a:lnTo>
                  <a:pt x="0" y="32340"/>
                </a:lnTo>
                <a:cubicBezTo>
                  <a:pt x="0" y="14491"/>
                  <a:pt x="14491" y="0"/>
                  <a:pt x="32340" y="0"/>
                </a:cubicBezTo>
                <a:close/>
              </a:path>
            </a:pathLst>
          </a:custGeom>
          <a:solidFill>
            <a:srgbClr val="003087"/>
          </a:solidFill>
          <a:ln/>
        </p:spPr>
      </p:sp>
      <p:sp>
        <p:nvSpPr>
          <p:cNvPr id="29" name="Shape 27"/>
          <p:cNvSpPr/>
          <p:nvPr/>
        </p:nvSpPr>
        <p:spPr>
          <a:xfrm>
            <a:off x="4976749" y="2716520"/>
            <a:ext cx="323395" cy="323395"/>
          </a:xfrm>
          <a:custGeom>
            <a:avLst/>
            <a:gdLst/>
            <a:ahLst/>
            <a:cxnLst/>
            <a:rect l="l" t="t" r="r" b="b"/>
            <a:pathLst>
              <a:path w="323395" h="323395">
                <a:moveTo>
                  <a:pt x="161698" y="0"/>
                </a:moveTo>
                <a:lnTo>
                  <a:pt x="161698" y="0"/>
                </a:lnTo>
                <a:cubicBezTo>
                  <a:pt x="250941" y="0"/>
                  <a:pt x="323395" y="72454"/>
                  <a:pt x="323395" y="161698"/>
                </a:cubicBezTo>
                <a:lnTo>
                  <a:pt x="323395" y="161698"/>
                </a:lnTo>
                <a:cubicBezTo>
                  <a:pt x="323395" y="250941"/>
                  <a:pt x="250941" y="323395"/>
                  <a:pt x="161698" y="323395"/>
                </a:cubicBezTo>
                <a:lnTo>
                  <a:pt x="161698" y="323395"/>
                </a:lnTo>
                <a:cubicBezTo>
                  <a:pt x="72454" y="323395"/>
                  <a:pt x="0" y="250941"/>
                  <a:pt x="0" y="161698"/>
                </a:cubicBezTo>
                <a:lnTo>
                  <a:pt x="0" y="161698"/>
                </a:lnTo>
                <a:cubicBezTo>
                  <a:pt x="0" y="72454"/>
                  <a:pt x="72454" y="0"/>
                  <a:pt x="161698" y="0"/>
                </a:cubicBezTo>
                <a:close/>
              </a:path>
            </a:pathLst>
          </a:custGeom>
          <a:solidFill>
            <a:srgbClr val="003087"/>
          </a:solidFill>
          <a:ln/>
        </p:spPr>
      </p:sp>
      <p:sp>
        <p:nvSpPr>
          <p:cNvPr id="30" name="Text 28"/>
          <p:cNvSpPr/>
          <p:nvPr/>
        </p:nvSpPr>
        <p:spPr>
          <a:xfrm>
            <a:off x="4940367" y="2716520"/>
            <a:ext cx="396159" cy="323395"/>
          </a:xfrm>
          <a:prstGeom prst="rect">
            <a:avLst/>
          </a:prstGeom>
          <a:noFill/>
          <a:ln/>
        </p:spPr>
        <p:txBody>
          <a:bodyPr wrap="square" lIns="0" tIns="0" rIns="0" bIns="0" rtlCol="0" anchor="ctr"/>
          <a:lstStyle/>
          <a:p>
            <a:pPr algn="ctr">
              <a:lnSpc>
                <a:spcPct val="130000"/>
              </a:lnSpc>
            </a:pPr>
            <a:r>
              <a:rPr lang="en-US" sz="1146" b="1" dirty="0">
                <a:solidFill>
                  <a:srgbClr val="FFFFFF"/>
                </a:solidFill>
                <a:latin typeface="Liter" pitchFamily="34" charset="0"/>
                <a:ea typeface="Liter" pitchFamily="34" charset="-122"/>
                <a:cs typeface="Liter" pitchFamily="34" charset="-120"/>
              </a:rPr>
              <a:t>A</a:t>
            </a:r>
            <a:endParaRPr lang="en-US" sz="1600" dirty="0"/>
          </a:p>
        </p:txBody>
      </p:sp>
      <p:sp>
        <p:nvSpPr>
          <p:cNvPr id="31" name="Text 29"/>
          <p:cNvSpPr/>
          <p:nvPr/>
        </p:nvSpPr>
        <p:spPr>
          <a:xfrm>
            <a:off x="4547051" y="3104594"/>
            <a:ext cx="1180393"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Liter" pitchFamily="34" charset="0"/>
                <a:ea typeface="Liter" pitchFamily="34" charset="-122"/>
                <a:cs typeface="Liter" pitchFamily="34" charset="-120"/>
              </a:rPr>
              <a:t>Ability</a:t>
            </a:r>
            <a:endParaRPr lang="en-US" sz="1600" dirty="0"/>
          </a:p>
        </p:txBody>
      </p:sp>
      <p:sp>
        <p:nvSpPr>
          <p:cNvPr id="32" name="Text 30"/>
          <p:cNvSpPr/>
          <p:nvPr/>
        </p:nvSpPr>
        <p:spPr>
          <a:xfrm>
            <a:off x="4551093" y="3298631"/>
            <a:ext cx="1172308" cy="242546"/>
          </a:xfrm>
          <a:prstGeom prst="rect">
            <a:avLst/>
          </a:prstGeom>
          <a:noFill/>
          <a:ln/>
        </p:spPr>
        <p:txBody>
          <a:bodyPr wrap="square" lIns="0" tIns="0" rIns="0" bIns="0" rtlCol="0" anchor="ctr"/>
          <a:lstStyle/>
          <a:p>
            <a:pPr algn="ctr">
              <a:lnSpc>
                <a:spcPct val="10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Hands-on practice and support</a:t>
            </a:r>
            <a:endParaRPr lang="en-US" sz="1600" dirty="0"/>
          </a:p>
        </p:txBody>
      </p:sp>
      <p:sp>
        <p:nvSpPr>
          <p:cNvPr id="33" name="Shape 31"/>
          <p:cNvSpPr/>
          <p:nvPr/>
        </p:nvSpPr>
        <p:spPr>
          <a:xfrm>
            <a:off x="5863307" y="2603332"/>
            <a:ext cx="1317836" cy="1034865"/>
          </a:xfrm>
          <a:custGeom>
            <a:avLst/>
            <a:gdLst/>
            <a:ahLst/>
            <a:cxnLst/>
            <a:rect l="l" t="t" r="r" b="b"/>
            <a:pathLst>
              <a:path w="1317836" h="1034865">
                <a:moveTo>
                  <a:pt x="32340" y="0"/>
                </a:moveTo>
                <a:lnTo>
                  <a:pt x="1285496" y="0"/>
                </a:lnTo>
                <a:cubicBezTo>
                  <a:pt x="1303357" y="0"/>
                  <a:pt x="1317836" y="14479"/>
                  <a:pt x="1317836" y="32340"/>
                </a:cubicBezTo>
                <a:lnTo>
                  <a:pt x="1317836" y="937846"/>
                </a:lnTo>
                <a:cubicBezTo>
                  <a:pt x="1317836" y="991428"/>
                  <a:pt x="1274399" y="1034865"/>
                  <a:pt x="1220817" y="1034865"/>
                </a:cubicBezTo>
                <a:lnTo>
                  <a:pt x="97019" y="1034865"/>
                </a:lnTo>
                <a:cubicBezTo>
                  <a:pt x="43437" y="1034865"/>
                  <a:pt x="0" y="991428"/>
                  <a:pt x="0" y="937846"/>
                </a:cubicBezTo>
                <a:lnTo>
                  <a:pt x="0" y="32340"/>
                </a:lnTo>
                <a:cubicBezTo>
                  <a:pt x="0" y="14491"/>
                  <a:pt x="14491" y="0"/>
                  <a:pt x="32340" y="0"/>
                </a:cubicBezTo>
                <a:close/>
              </a:path>
            </a:pathLst>
          </a:custGeom>
          <a:solidFill>
            <a:srgbClr val="FF6B00">
              <a:alpha val="10196"/>
            </a:srgbClr>
          </a:solidFill>
          <a:ln/>
        </p:spPr>
      </p:sp>
      <p:sp>
        <p:nvSpPr>
          <p:cNvPr id="34" name="Shape 32"/>
          <p:cNvSpPr/>
          <p:nvPr/>
        </p:nvSpPr>
        <p:spPr>
          <a:xfrm>
            <a:off x="5863307" y="2603332"/>
            <a:ext cx="1317836" cy="32340"/>
          </a:xfrm>
          <a:custGeom>
            <a:avLst/>
            <a:gdLst/>
            <a:ahLst/>
            <a:cxnLst/>
            <a:rect l="l" t="t" r="r" b="b"/>
            <a:pathLst>
              <a:path w="1317836" h="32340">
                <a:moveTo>
                  <a:pt x="32340" y="0"/>
                </a:moveTo>
                <a:lnTo>
                  <a:pt x="1285496" y="0"/>
                </a:lnTo>
                <a:cubicBezTo>
                  <a:pt x="1303357" y="0"/>
                  <a:pt x="1317836" y="14479"/>
                  <a:pt x="1317836" y="32340"/>
                </a:cubicBezTo>
                <a:lnTo>
                  <a:pt x="1317836" y="32340"/>
                </a:lnTo>
                <a:lnTo>
                  <a:pt x="0" y="32340"/>
                </a:lnTo>
                <a:lnTo>
                  <a:pt x="0" y="32340"/>
                </a:lnTo>
                <a:cubicBezTo>
                  <a:pt x="0" y="14491"/>
                  <a:pt x="14491" y="0"/>
                  <a:pt x="32340" y="0"/>
                </a:cubicBezTo>
                <a:close/>
              </a:path>
            </a:pathLst>
          </a:custGeom>
          <a:solidFill>
            <a:srgbClr val="FF6B00"/>
          </a:solidFill>
          <a:ln/>
        </p:spPr>
      </p:sp>
      <p:sp>
        <p:nvSpPr>
          <p:cNvPr id="35" name="Shape 33"/>
          <p:cNvSpPr/>
          <p:nvPr/>
        </p:nvSpPr>
        <p:spPr>
          <a:xfrm>
            <a:off x="6361727" y="2716520"/>
            <a:ext cx="323395" cy="323395"/>
          </a:xfrm>
          <a:custGeom>
            <a:avLst/>
            <a:gdLst/>
            <a:ahLst/>
            <a:cxnLst/>
            <a:rect l="l" t="t" r="r" b="b"/>
            <a:pathLst>
              <a:path w="323395" h="323395">
                <a:moveTo>
                  <a:pt x="161698" y="0"/>
                </a:moveTo>
                <a:lnTo>
                  <a:pt x="161698" y="0"/>
                </a:lnTo>
                <a:cubicBezTo>
                  <a:pt x="250941" y="0"/>
                  <a:pt x="323395" y="72454"/>
                  <a:pt x="323395" y="161698"/>
                </a:cubicBezTo>
                <a:lnTo>
                  <a:pt x="323395" y="161698"/>
                </a:lnTo>
                <a:cubicBezTo>
                  <a:pt x="323395" y="250941"/>
                  <a:pt x="250941" y="323395"/>
                  <a:pt x="161698" y="323395"/>
                </a:cubicBezTo>
                <a:lnTo>
                  <a:pt x="161698" y="323395"/>
                </a:lnTo>
                <a:cubicBezTo>
                  <a:pt x="72454" y="323395"/>
                  <a:pt x="0" y="250941"/>
                  <a:pt x="0" y="161698"/>
                </a:cubicBezTo>
                <a:lnTo>
                  <a:pt x="0" y="161698"/>
                </a:lnTo>
                <a:cubicBezTo>
                  <a:pt x="0" y="72454"/>
                  <a:pt x="72454" y="0"/>
                  <a:pt x="161698" y="0"/>
                </a:cubicBezTo>
                <a:close/>
              </a:path>
            </a:pathLst>
          </a:custGeom>
          <a:solidFill>
            <a:srgbClr val="FF6B00"/>
          </a:solidFill>
          <a:ln/>
        </p:spPr>
      </p:sp>
      <p:sp>
        <p:nvSpPr>
          <p:cNvPr id="36" name="Text 34"/>
          <p:cNvSpPr/>
          <p:nvPr/>
        </p:nvSpPr>
        <p:spPr>
          <a:xfrm>
            <a:off x="6325345" y="2716520"/>
            <a:ext cx="396159" cy="323395"/>
          </a:xfrm>
          <a:prstGeom prst="rect">
            <a:avLst/>
          </a:prstGeom>
          <a:noFill/>
          <a:ln/>
        </p:spPr>
        <p:txBody>
          <a:bodyPr wrap="square" lIns="0" tIns="0" rIns="0" bIns="0" rtlCol="0" anchor="ctr"/>
          <a:lstStyle/>
          <a:p>
            <a:pPr algn="ctr">
              <a:lnSpc>
                <a:spcPct val="130000"/>
              </a:lnSpc>
            </a:pPr>
            <a:r>
              <a:rPr lang="en-US" sz="1146" b="1" dirty="0">
                <a:solidFill>
                  <a:srgbClr val="FFFFFF"/>
                </a:solidFill>
                <a:latin typeface="Liter" pitchFamily="34" charset="0"/>
                <a:ea typeface="Liter" pitchFamily="34" charset="-122"/>
                <a:cs typeface="Liter" pitchFamily="34" charset="-120"/>
              </a:rPr>
              <a:t>R</a:t>
            </a:r>
            <a:endParaRPr lang="en-US" sz="1600" dirty="0"/>
          </a:p>
        </p:txBody>
      </p:sp>
      <p:sp>
        <p:nvSpPr>
          <p:cNvPr id="37" name="Text 35"/>
          <p:cNvSpPr/>
          <p:nvPr/>
        </p:nvSpPr>
        <p:spPr>
          <a:xfrm>
            <a:off x="5932029" y="3104594"/>
            <a:ext cx="1180393"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Liter" pitchFamily="34" charset="0"/>
                <a:ea typeface="Liter" pitchFamily="34" charset="-122"/>
                <a:cs typeface="Liter" pitchFamily="34" charset="-120"/>
              </a:rPr>
              <a:t>Reinforcement</a:t>
            </a:r>
            <a:endParaRPr lang="en-US" sz="1600" dirty="0"/>
          </a:p>
        </p:txBody>
      </p:sp>
      <p:sp>
        <p:nvSpPr>
          <p:cNvPr id="38" name="Text 36"/>
          <p:cNvSpPr/>
          <p:nvPr/>
        </p:nvSpPr>
        <p:spPr>
          <a:xfrm>
            <a:off x="5936071" y="3298631"/>
            <a:ext cx="1172308" cy="242546"/>
          </a:xfrm>
          <a:prstGeom prst="rect">
            <a:avLst/>
          </a:prstGeom>
          <a:noFill/>
          <a:ln/>
        </p:spPr>
        <p:txBody>
          <a:bodyPr wrap="square" lIns="0" tIns="0" rIns="0" bIns="0" rtlCol="0" anchor="ctr"/>
          <a:lstStyle/>
          <a:p>
            <a:pPr algn="ctr">
              <a:lnSpc>
                <a:spcPct val="10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Recognition and continuous improvement</a:t>
            </a:r>
            <a:endParaRPr lang="en-US" sz="1600" dirty="0"/>
          </a:p>
        </p:txBody>
      </p:sp>
      <p:sp>
        <p:nvSpPr>
          <p:cNvPr id="39" name="Shape 37"/>
          <p:cNvSpPr/>
          <p:nvPr/>
        </p:nvSpPr>
        <p:spPr>
          <a:xfrm>
            <a:off x="323395" y="3767554"/>
            <a:ext cx="6864064" cy="1681655"/>
          </a:xfrm>
          <a:custGeom>
            <a:avLst/>
            <a:gdLst/>
            <a:ahLst/>
            <a:cxnLst/>
            <a:rect l="l" t="t" r="r" b="b"/>
            <a:pathLst>
              <a:path w="6864064" h="1681655">
                <a:moveTo>
                  <a:pt x="97015" y="0"/>
                </a:moveTo>
                <a:lnTo>
                  <a:pt x="6767049" y="0"/>
                </a:lnTo>
                <a:cubicBezTo>
                  <a:pt x="6820629" y="0"/>
                  <a:pt x="6864064" y="43435"/>
                  <a:pt x="6864064" y="97015"/>
                </a:cubicBezTo>
                <a:lnTo>
                  <a:pt x="6864064" y="1584640"/>
                </a:lnTo>
                <a:cubicBezTo>
                  <a:pt x="6864064" y="1638220"/>
                  <a:pt x="6820629" y="1681655"/>
                  <a:pt x="6767049" y="1681655"/>
                </a:cubicBezTo>
                <a:lnTo>
                  <a:pt x="97015" y="1681655"/>
                </a:lnTo>
                <a:cubicBezTo>
                  <a:pt x="43435" y="1681655"/>
                  <a:pt x="0" y="1638220"/>
                  <a:pt x="0" y="1584640"/>
                </a:cubicBezTo>
                <a:lnTo>
                  <a:pt x="0" y="97015"/>
                </a:lnTo>
                <a:cubicBezTo>
                  <a:pt x="0" y="43435"/>
                  <a:pt x="43435" y="0"/>
                  <a:pt x="97015" y="0"/>
                </a:cubicBezTo>
                <a:close/>
              </a:path>
            </a:pathLst>
          </a:custGeom>
          <a:solidFill>
            <a:srgbClr val="F9FAFB"/>
          </a:solidFill>
          <a:ln/>
        </p:spPr>
      </p:sp>
      <p:sp>
        <p:nvSpPr>
          <p:cNvPr id="40" name="Text 38"/>
          <p:cNvSpPr/>
          <p:nvPr/>
        </p:nvSpPr>
        <p:spPr>
          <a:xfrm>
            <a:off x="485093" y="3929252"/>
            <a:ext cx="6613432" cy="226377"/>
          </a:xfrm>
          <a:prstGeom prst="rect">
            <a:avLst/>
          </a:prstGeom>
          <a:noFill/>
          <a:ln/>
        </p:spPr>
        <p:txBody>
          <a:bodyPr wrap="square" lIns="0" tIns="0" rIns="0" bIns="0" rtlCol="0" anchor="ctr"/>
          <a:lstStyle/>
          <a:p>
            <a:pPr>
              <a:lnSpc>
                <a:spcPct val="130000"/>
              </a:lnSpc>
            </a:pPr>
            <a:r>
              <a:rPr lang="en-US" sz="1146" b="1" dirty="0">
                <a:solidFill>
                  <a:srgbClr val="003087"/>
                </a:solidFill>
                <a:latin typeface="Liter" pitchFamily="34" charset="0"/>
                <a:ea typeface="Liter" pitchFamily="34" charset="-122"/>
                <a:cs typeface="Liter" pitchFamily="34" charset="-120"/>
              </a:rPr>
              <a:t>Communication Strategy</a:t>
            </a:r>
            <a:endParaRPr lang="en-US" sz="1600" dirty="0"/>
          </a:p>
        </p:txBody>
      </p:sp>
      <p:sp>
        <p:nvSpPr>
          <p:cNvPr id="41" name="Shape 39"/>
          <p:cNvSpPr/>
          <p:nvPr/>
        </p:nvSpPr>
        <p:spPr>
          <a:xfrm>
            <a:off x="485093" y="4252647"/>
            <a:ext cx="3217782" cy="1034865"/>
          </a:xfrm>
          <a:custGeom>
            <a:avLst/>
            <a:gdLst/>
            <a:ahLst/>
            <a:cxnLst/>
            <a:rect l="l" t="t" r="r" b="b"/>
            <a:pathLst>
              <a:path w="3217782" h="1034865">
                <a:moveTo>
                  <a:pt x="64679" y="0"/>
                </a:moveTo>
                <a:lnTo>
                  <a:pt x="3153103" y="0"/>
                </a:lnTo>
                <a:cubicBezTo>
                  <a:pt x="3188825" y="0"/>
                  <a:pt x="3217782" y="28958"/>
                  <a:pt x="3217782" y="64679"/>
                </a:cubicBezTo>
                <a:lnTo>
                  <a:pt x="3217782" y="970186"/>
                </a:lnTo>
                <a:cubicBezTo>
                  <a:pt x="3217782" y="1005907"/>
                  <a:pt x="3188825" y="1034865"/>
                  <a:pt x="3153103" y="1034865"/>
                </a:cubicBezTo>
                <a:lnTo>
                  <a:pt x="64679" y="1034865"/>
                </a:lnTo>
                <a:cubicBezTo>
                  <a:pt x="28958" y="1034865"/>
                  <a:pt x="0" y="1005907"/>
                  <a:pt x="0" y="970186"/>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42" name="Shape 40"/>
          <p:cNvSpPr/>
          <p:nvPr/>
        </p:nvSpPr>
        <p:spPr>
          <a:xfrm>
            <a:off x="598281" y="4365836"/>
            <a:ext cx="129358" cy="129358"/>
          </a:xfrm>
          <a:custGeom>
            <a:avLst/>
            <a:gdLst/>
            <a:ahLst/>
            <a:cxnLst/>
            <a:rect l="l" t="t" r="r" b="b"/>
            <a:pathLst>
              <a:path w="129358" h="129358">
                <a:moveTo>
                  <a:pt x="116523" y="4775"/>
                </a:moveTo>
                <a:cubicBezTo>
                  <a:pt x="119429" y="6064"/>
                  <a:pt x="121273" y="8944"/>
                  <a:pt x="121273" y="12127"/>
                </a:cubicBezTo>
                <a:lnTo>
                  <a:pt x="121273" y="117231"/>
                </a:lnTo>
                <a:cubicBezTo>
                  <a:pt x="121273" y="120414"/>
                  <a:pt x="119429" y="123294"/>
                  <a:pt x="116523" y="124583"/>
                </a:cubicBezTo>
                <a:cubicBezTo>
                  <a:pt x="113618" y="125871"/>
                  <a:pt x="110258" y="125391"/>
                  <a:pt x="107857" y="123294"/>
                </a:cubicBezTo>
                <a:lnTo>
                  <a:pt x="96084" y="113011"/>
                </a:lnTo>
                <a:cubicBezTo>
                  <a:pt x="85068" y="103385"/>
                  <a:pt x="71147" y="97777"/>
                  <a:pt x="56569" y="97094"/>
                </a:cubicBezTo>
                <a:lnTo>
                  <a:pt x="56569" y="121273"/>
                </a:lnTo>
                <a:cubicBezTo>
                  <a:pt x="56569" y="125745"/>
                  <a:pt x="52956" y="129358"/>
                  <a:pt x="48484" y="129358"/>
                </a:cubicBezTo>
                <a:lnTo>
                  <a:pt x="40399" y="129358"/>
                </a:lnTo>
                <a:cubicBezTo>
                  <a:pt x="35927" y="129358"/>
                  <a:pt x="32314" y="125745"/>
                  <a:pt x="32314" y="121273"/>
                </a:cubicBezTo>
                <a:lnTo>
                  <a:pt x="32314" y="97019"/>
                </a:lnTo>
                <a:cubicBezTo>
                  <a:pt x="14477" y="97019"/>
                  <a:pt x="0" y="82542"/>
                  <a:pt x="0" y="64679"/>
                </a:cubicBezTo>
                <a:cubicBezTo>
                  <a:pt x="0" y="46817"/>
                  <a:pt x="14477" y="32340"/>
                  <a:pt x="32340" y="32340"/>
                </a:cubicBezTo>
                <a:lnTo>
                  <a:pt x="53689" y="32340"/>
                </a:lnTo>
                <a:cubicBezTo>
                  <a:pt x="69303" y="32289"/>
                  <a:pt x="84361" y="26604"/>
                  <a:pt x="96109" y="16347"/>
                </a:cubicBezTo>
                <a:lnTo>
                  <a:pt x="107883" y="6064"/>
                </a:lnTo>
                <a:cubicBezTo>
                  <a:pt x="110258" y="3967"/>
                  <a:pt x="113668" y="3487"/>
                  <a:pt x="116549" y="4775"/>
                </a:cubicBezTo>
                <a:close/>
                <a:moveTo>
                  <a:pt x="56594" y="80849"/>
                </a:moveTo>
                <a:lnTo>
                  <a:pt x="56594" y="80899"/>
                </a:lnTo>
                <a:cubicBezTo>
                  <a:pt x="74356" y="81581"/>
                  <a:pt x="91410" y="88100"/>
                  <a:pt x="105103" y="99444"/>
                </a:cubicBezTo>
                <a:lnTo>
                  <a:pt x="105103" y="29889"/>
                </a:lnTo>
                <a:cubicBezTo>
                  <a:pt x="91410" y="41233"/>
                  <a:pt x="74356" y="47751"/>
                  <a:pt x="56594" y="48433"/>
                </a:cubicBezTo>
                <a:lnTo>
                  <a:pt x="56594" y="80849"/>
                </a:lnTo>
                <a:close/>
              </a:path>
            </a:pathLst>
          </a:custGeom>
          <a:solidFill>
            <a:srgbClr val="FF6B00"/>
          </a:solidFill>
          <a:ln/>
        </p:spPr>
      </p:sp>
      <p:sp>
        <p:nvSpPr>
          <p:cNvPr id="43" name="Text 41"/>
          <p:cNvSpPr/>
          <p:nvPr/>
        </p:nvSpPr>
        <p:spPr>
          <a:xfrm>
            <a:off x="808488" y="4349666"/>
            <a:ext cx="1261241"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Multi-Channel Approach</a:t>
            </a:r>
            <a:endParaRPr lang="en-US" sz="1600" dirty="0"/>
          </a:p>
        </p:txBody>
      </p:sp>
      <p:sp>
        <p:nvSpPr>
          <p:cNvPr id="44" name="Text 42"/>
          <p:cNvSpPr/>
          <p:nvPr/>
        </p:nvSpPr>
        <p:spPr>
          <a:xfrm>
            <a:off x="582111" y="4576042"/>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Email communications</a:t>
            </a:r>
            <a:endParaRPr lang="en-US" sz="1600" dirty="0"/>
          </a:p>
        </p:txBody>
      </p:sp>
      <p:sp>
        <p:nvSpPr>
          <p:cNvPr id="45" name="Text 43"/>
          <p:cNvSpPr/>
          <p:nvPr/>
        </p:nvSpPr>
        <p:spPr>
          <a:xfrm>
            <a:off x="582111" y="4737740"/>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Intranet portal updates</a:t>
            </a:r>
            <a:endParaRPr lang="en-US" sz="1600" dirty="0"/>
          </a:p>
        </p:txBody>
      </p:sp>
      <p:sp>
        <p:nvSpPr>
          <p:cNvPr id="46" name="Text 44"/>
          <p:cNvSpPr/>
          <p:nvPr/>
        </p:nvSpPr>
        <p:spPr>
          <a:xfrm>
            <a:off x="582111" y="4899438"/>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Workshop sessions</a:t>
            </a:r>
            <a:endParaRPr lang="en-US" sz="1600" dirty="0"/>
          </a:p>
        </p:txBody>
      </p:sp>
      <p:sp>
        <p:nvSpPr>
          <p:cNvPr id="47" name="Text 45"/>
          <p:cNvSpPr/>
          <p:nvPr/>
        </p:nvSpPr>
        <p:spPr>
          <a:xfrm>
            <a:off x="582111" y="5061135"/>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One-on-one discussions</a:t>
            </a:r>
            <a:endParaRPr lang="en-US" sz="1600" dirty="0"/>
          </a:p>
        </p:txBody>
      </p:sp>
      <p:sp>
        <p:nvSpPr>
          <p:cNvPr id="48" name="Shape 46"/>
          <p:cNvSpPr/>
          <p:nvPr/>
        </p:nvSpPr>
        <p:spPr>
          <a:xfrm>
            <a:off x="3802041" y="4252647"/>
            <a:ext cx="3217782" cy="1034865"/>
          </a:xfrm>
          <a:custGeom>
            <a:avLst/>
            <a:gdLst/>
            <a:ahLst/>
            <a:cxnLst/>
            <a:rect l="l" t="t" r="r" b="b"/>
            <a:pathLst>
              <a:path w="3217782" h="1034865">
                <a:moveTo>
                  <a:pt x="64679" y="0"/>
                </a:moveTo>
                <a:lnTo>
                  <a:pt x="3153103" y="0"/>
                </a:lnTo>
                <a:cubicBezTo>
                  <a:pt x="3188825" y="0"/>
                  <a:pt x="3217782" y="28958"/>
                  <a:pt x="3217782" y="64679"/>
                </a:cubicBezTo>
                <a:lnTo>
                  <a:pt x="3217782" y="970186"/>
                </a:lnTo>
                <a:cubicBezTo>
                  <a:pt x="3217782" y="1005907"/>
                  <a:pt x="3188825" y="1034865"/>
                  <a:pt x="3153103" y="1034865"/>
                </a:cubicBezTo>
                <a:lnTo>
                  <a:pt x="64679" y="1034865"/>
                </a:lnTo>
                <a:cubicBezTo>
                  <a:pt x="28958" y="1034865"/>
                  <a:pt x="0" y="1005907"/>
                  <a:pt x="0" y="970186"/>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49" name="Shape 47"/>
          <p:cNvSpPr/>
          <p:nvPr/>
        </p:nvSpPr>
        <p:spPr>
          <a:xfrm>
            <a:off x="3907145" y="4365836"/>
            <a:ext cx="145528" cy="129358"/>
          </a:xfrm>
          <a:custGeom>
            <a:avLst/>
            <a:gdLst/>
            <a:ahLst/>
            <a:cxnLst/>
            <a:rect l="l" t="t" r="r" b="b"/>
            <a:pathLst>
              <a:path w="145528" h="129358">
                <a:moveTo>
                  <a:pt x="97019" y="36382"/>
                </a:moveTo>
                <a:cubicBezTo>
                  <a:pt x="97019" y="60940"/>
                  <a:pt x="75290" y="80849"/>
                  <a:pt x="48509" y="80849"/>
                </a:cubicBezTo>
                <a:cubicBezTo>
                  <a:pt x="41763" y="80849"/>
                  <a:pt x="35346" y="79586"/>
                  <a:pt x="29510" y="77312"/>
                </a:cubicBezTo>
                <a:lnTo>
                  <a:pt x="8893" y="88226"/>
                </a:lnTo>
                <a:cubicBezTo>
                  <a:pt x="6544" y="89464"/>
                  <a:pt x="3663" y="89035"/>
                  <a:pt x="1769" y="87165"/>
                </a:cubicBezTo>
                <a:cubicBezTo>
                  <a:pt x="-126" y="85295"/>
                  <a:pt x="-556" y="82390"/>
                  <a:pt x="707" y="80040"/>
                </a:cubicBezTo>
                <a:lnTo>
                  <a:pt x="9702" y="63062"/>
                </a:lnTo>
                <a:cubicBezTo>
                  <a:pt x="3613" y="55634"/>
                  <a:pt x="0" y="46387"/>
                  <a:pt x="0" y="36382"/>
                </a:cubicBezTo>
                <a:cubicBezTo>
                  <a:pt x="0" y="11824"/>
                  <a:pt x="21728" y="-8085"/>
                  <a:pt x="48509" y="-8085"/>
                </a:cubicBezTo>
                <a:cubicBezTo>
                  <a:pt x="75290" y="-8085"/>
                  <a:pt x="97019" y="11824"/>
                  <a:pt x="97019" y="36382"/>
                </a:cubicBezTo>
                <a:close/>
                <a:moveTo>
                  <a:pt x="97019" y="129358"/>
                </a:moveTo>
                <a:cubicBezTo>
                  <a:pt x="73244" y="129358"/>
                  <a:pt x="53461" y="113668"/>
                  <a:pt x="49318" y="92976"/>
                </a:cubicBezTo>
                <a:cubicBezTo>
                  <a:pt x="79636" y="92597"/>
                  <a:pt x="105988" y="71021"/>
                  <a:pt x="108893" y="41763"/>
                </a:cubicBezTo>
                <a:cubicBezTo>
                  <a:pt x="129939" y="46614"/>
                  <a:pt x="145528" y="64073"/>
                  <a:pt x="145528" y="84891"/>
                </a:cubicBezTo>
                <a:cubicBezTo>
                  <a:pt x="145528" y="94896"/>
                  <a:pt x="141915" y="104143"/>
                  <a:pt x="135826" y="111571"/>
                </a:cubicBezTo>
                <a:lnTo>
                  <a:pt x="144820" y="128550"/>
                </a:lnTo>
                <a:cubicBezTo>
                  <a:pt x="146058" y="130899"/>
                  <a:pt x="145629" y="133780"/>
                  <a:pt x="143759" y="135674"/>
                </a:cubicBezTo>
                <a:cubicBezTo>
                  <a:pt x="141890" y="137569"/>
                  <a:pt x="138984" y="137999"/>
                  <a:pt x="136634" y="136736"/>
                </a:cubicBezTo>
                <a:lnTo>
                  <a:pt x="116018" y="125821"/>
                </a:lnTo>
                <a:cubicBezTo>
                  <a:pt x="110182" y="128095"/>
                  <a:pt x="103764" y="129358"/>
                  <a:pt x="97019" y="129358"/>
                </a:cubicBezTo>
                <a:close/>
              </a:path>
            </a:pathLst>
          </a:custGeom>
          <a:solidFill>
            <a:srgbClr val="003087"/>
          </a:solidFill>
          <a:ln/>
        </p:spPr>
      </p:sp>
      <p:sp>
        <p:nvSpPr>
          <p:cNvPr id="50" name="Text 48"/>
          <p:cNvSpPr/>
          <p:nvPr/>
        </p:nvSpPr>
        <p:spPr>
          <a:xfrm>
            <a:off x="4125437" y="4349666"/>
            <a:ext cx="1164223"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Feedback Mechanisms</a:t>
            </a:r>
            <a:endParaRPr lang="en-US" sz="1600" dirty="0"/>
          </a:p>
        </p:txBody>
      </p:sp>
      <p:sp>
        <p:nvSpPr>
          <p:cNvPr id="51" name="Text 49"/>
          <p:cNvSpPr/>
          <p:nvPr/>
        </p:nvSpPr>
        <p:spPr>
          <a:xfrm>
            <a:off x="3899060" y="4576042"/>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Regular surveys</a:t>
            </a:r>
            <a:endParaRPr lang="en-US" sz="1600" dirty="0"/>
          </a:p>
        </p:txBody>
      </p:sp>
      <p:sp>
        <p:nvSpPr>
          <p:cNvPr id="52" name="Text 50"/>
          <p:cNvSpPr/>
          <p:nvPr/>
        </p:nvSpPr>
        <p:spPr>
          <a:xfrm>
            <a:off x="3899060" y="4737740"/>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Focus group sessions</a:t>
            </a:r>
            <a:endParaRPr lang="en-US" sz="1600" dirty="0"/>
          </a:p>
        </p:txBody>
      </p:sp>
      <p:sp>
        <p:nvSpPr>
          <p:cNvPr id="53" name="Text 51"/>
          <p:cNvSpPr/>
          <p:nvPr/>
        </p:nvSpPr>
        <p:spPr>
          <a:xfrm>
            <a:off x="3899060" y="4899438"/>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Suggestion boxes</a:t>
            </a:r>
            <a:endParaRPr lang="en-US" sz="1600" dirty="0"/>
          </a:p>
        </p:txBody>
      </p:sp>
      <p:sp>
        <p:nvSpPr>
          <p:cNvPr id="54" name="Text 52"/>
          <p:cNvSpPr/>
          <p:nvPr/>
        </p:nvSpPr>
        <p:spPr>
          <a:xfrm>
            <a:off x="3899060" y="5061135"/>
            <a:ext cx="3072255" cy="129358"/>
          </a:xfrm>
          <a:prstGeom prst="rect">
            <a:avLst/>
          </a:prstGeom>
          <a:noFill/>
          <a:ln/>
        </p:spPr>
        <p:txBody>
          <a:bodyPr wrap="square" lIns="0" tIns="0" rIns="0" bIns="0" rtlCol="0" anchor="ctr"/>
          <a:lstStyle/>
          <a:p>
            <a:pP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 Open door policy</a:t>
            </a:r>
            <a:endParaRPr lang="en-US" sz="1600" dirty="0"/>
          </a:p>
        </p:txBody>
      </p:sp>
      <p:sp>
        <p:nvSpPr>
          <p:cNvPr id="55" name="Shape 53"/>
          <p:cNvSpPr/>
          <p:nvPr/>
        </p:nvSpPr>
        <p:spPr>
          <a:xfrm>
            <a:off x="7361536" y="1164223"/>
            <a:ext cx="4503279" cy="3007576"/>
          </a:xfrm>
          <a:custGeom>
            <a:avLst/>
            <a:gdLst/>
            <a:ahLst/>
            <a:cxnLst/>
            <a:rect l="l" t="t" r="r" b="b"/>
            <a:pathLst>
              <a:path w="4503279" h="3007576">
                <a:moveTo>
                  <a:pt x="32340" y="0"/>
                </a:moveTo>
                <a:lnTo>
                  <a:pt x="4406254" y="0"/>
                </a:lnTo>
                <a:cubicBezTo>
                  <a:pt x="4459839" y="0"/>
                  <a:pt x="4503279" y="43439"/>
                  <a:pt x="4503279" y="97024"/>
                </a:cubicBezTo>
                <a:lnTo>
                  <a:pt x="4503279" y="2910551"/>
                </a:lnTo>
                <a:cubicBezTo>
                  <a:pt x="4503279" y="2964136"/>
                  <a:pt x="4459839" y="3007576"/>
                  <a:pt x="4406254" y="3007576"/>
                </a:cubicBezTo>
                <a:lnTo>
                  <a:pt x="32340" y="3007576"/>
                </a:lnTo>
                <a:cubicBezTo>
                  <a:pt x="14479" y="3007576"/>
                  <a:pt x="0" y="2993097"/>
                  <a:pt x="0" y="2975236"/>
                </a:cubicBezTo>
                <a:lnTo>
                  <a:pt x="0" y="32340"/>
                </a:lnTo>
                <a:cubicBezTo>
                  <a:pt x="0" y="14491"/>
                  <a:pt x="14491" y="0"/>
                  <a:pt x="32340" y="0"/>
                </a:cubicBezTo>
                <a:close/>
              </a:path>
            </a:pathLst>
          </a:custGeom>
          <a:solidFill>
            <a:srgbClr val="FF6B00">
              <a:alpha val="10196"/>
            </a:srgbClr>
          </a:solidFill>
          <a:ln/>
        </p:spPr>
      </p:sp>
      <p:sp>
        <p:nvSpPr>
          <p:cNvPr id="56" name="Shape 54"/>
          <p:cNvSpPr/>
          <p:nvPr/>
        </p:nvSpPr>
        <p:spPr>
          <a:xfrm>
            <a:off x="7361536" y="1164223"/>
            <a:ext cx="32340" cy="3007576"/>
          </a:xfrm>
          <a:custGeom>
            <a:avLst/>
            <a:gdLst/>
            <a:ahLst/>
            <a:cxnLst/>
            <a:rect l="l" t="t" r="r" b="b"/>
            <a:pathLst>
              <a:path w="32340" h="3007576">
                <a:moveTo>
                  <a:pt x="32340" y="0"/>
                </a:moveTo>
                <a:lnTo>
                  <a:pt x="32340" y="0"/>
                </a:lnTo>
                <a:lnTo>
                  <a:pt x="32340" y="3007576"/>
                </a:lnTo>
                <a:lnTo>
                  <a:pt x="32340" y="3007576"/>
                </a:lnTo>
                <a:cubicBezTo>
                  <a:pt x="14479" y="3007576"/>
                  <a:pt x="0" y="2993097"/>
                  <a:pt x="0" y="2975236"/>
                </a:cubicBezTo>
                <a:lnTo>
                  <a:pt x="0" y="32340"/>
                </a:lnTo>
                <a:cubicBezTo>
                  <a:pt x="0" y="14491"/>
                  <a:pt x="14491" y="0"/>
                  <a:pt x="32340" y="0"/>
                </a:cubicBezTo>
                <a:close/>
              </a:path>
            </a:pathLst>
          </a:custGeom>
          <a:solidFill>
            <a:srgbClr val="FF6B00"/>
          </a:solidFill>
          <a:ln/>
        </p:spPr>
      </p:sp>
      <p:sp>
        <p:nvSpPr>
          <p:cNvPr id="57" name="Text 55"/>
          <p:cNvSpPr/>
          <p:nvPr/>
        </p:nvSpPr>
        <p:spPr>
          <a:xfrm>
            <a:off x="7539404" y="1325920"/>
            <a:ext cx="4236477" cy="226377"/>
          </a:xfrm>
          <a:prstGeom prst="rect">
            <a:avLst/>
          </a:prstGeom>
          <a:noFill/>
          <a:ln/>
        </p:spPr>
        <p:txBody>
          <a:bodyPr wrap="square" lIns="0" tIns="0" rIns="0" bIns="0" rtlCol="0" anchor="ctr"/>
          <a:lstStyle/>
          <a:p>
            <a:pPr>
              <a:lnSpc>
                <a:spcPct val="130000"/>
              </a:lnSpc>
            </a:pPr>
            <a:r>
              <a:rPr lang="en-US" sz="1146" b="1" dirty="0">
                <a:solidFill>
                  <a:srgbClr val="003087"/>
                </a:solidFill>
                <a:latin typeface="Liter" pitchFamily="34" charset="0"/>
                <a:ea typeface="Liter" pitchFamily="34" charset="-122"/>
                <a:cs typeface="Liter" pitchFamily="34" charset="-120"/>
              </a:rPr>
              <a:t>Training Curriculum</a:t>
            </a:r>
            <a:endParaRPr lang="en-US" sz="1600" dirty="0"/>
          </a:p>
        </p:txBody>
      </p:sp>
      <p:sp>
        <p:nvSpPr>
          <p:cNvPr id="58" name="Shape 56"/>
          <p:cNvSpPr/>
          <p:nvPr/>
        </p:nvSpPr>
        <p:spPr>
          <a:xfrm>
            <a:off x="7539404" y="1649316"/>
            <a:ext cx="4163714" cy="517432"/>
          </a:xfrm>
          <a:custGeom>
            <a:avLst/>
            <a:gdLst/>
            <a:ahLst/>
            <a:cxnLst/>
            <a:rect l="l" t="t" r="r" b="b"/>
            <a:pathLst>
              <a:path w="4163714" h="517432">
                <a:moveTo>
                  <a:pt x="64679" y="0"/>
                </a:moveTo>
                <a:lnTo>
                  <a:pt x="4099034" y="0"/>
                </a:lnTo>
                <a:cubicBezTo>
                  <a:pt x="4134756" y="0"/>
                  <a:pt x="4163714" y="28958"/>
                  <a:pt x="4163714" y="64679"/>
                </a:cubicBezTo>
                <a:lnTo>
                  <a:pt x="4163714" y="452753"/>
                </a:lnTo>
                <a:cubicBezTo>
                  <a:pt x="4163714" y="488475"/>
                  <a:pt x="4134756" y="517432"/>
                  <a:pt x="409903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59" name="Text 57"/>
          <p:cNvSpPr/>
          <p:nvPr/>
        </p:nvSpPr>
        <p:spPr>
          <a:xfrm>
            <a:off x="7636422" y="1746334"/>
            <a:ext cx="4026271"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Leadership Training</a:t>
            </a:r>
            <a:endParaRPr lang="en-US" sz="1600" dirty="0"/>
          </a:p>
        </p:txBody>
      </p:sp>
      <p:sp>
        <p:nvSpPr>
          <p:cNvPr id="60" name="Text 58"/>
          <p:cNvSpPr/>
          <p:nvPr/>
        </p:nvSpPr>
        <p:spPr>
          <a:xfrm>
            <a:off x="7636422" y="1940371"/>
            <a:ext cx="4018186" cy="129358"/>
          </a:xfrm>
          <a:prstGeom prst="rect">
            <a:avLst/>
          </a:prstGeom>
          <a:noFill/>
          <a:ln/>
        </p:spPr>
        <p:txBody>
          <a:bodyPr wrap="square" lIns="0" tIns="0" rIns="0" bIns="0" rtlCol="0" anchor="ctr"/>
          <a:lstStyle/>
          <a:p>
            <a:pPr>
              <a:lnSpc>
                <a:spcPct val="11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Change management, sponsorship, communication</a:t>
            </a:r>
            <a:endParaRPr lang="en-US" sz="1600" dirty="0"/>
          </a:p>
        </p:txBody>
      </p:sp>
      <p:sp>
        <p:nvSpPr>
          <p:cNvPr id="61" name="Shape 59"/>
          <p:cNvSpPr/>
          <p:nvPr/>
        </p:nvSpPr>
        <p:spPr>
          <a:xfrm>
            <a:off x="7539404" y="2263767"/>
            <a:ext cx="4163714" cy="517432"/>
          </a:xfrm>
          <a:custGeom>
            <a:avLst/>
            <a:gdLst/>
            <a:ahLst/>
            <a:cxnLst/>
            <a:rect l="l" t="t" r="r" b="b"/>
            <a:pathLst>
              <a:path w="4163714" h="517432">
                <a:moveTo>
                  <a:pt x="64679" y="0"/>
                </a:moveTo>
                <a:lnTo>
                  <a:pt x="4099034" y="0"/>
                </a:lnTo>
                <a:cubicBezTo>
                  <a:pt x="4134756" y="0"/>
                  <a:pt x="4163714" y="28958"/>
                  <a:pt x="4163714" y="64679"/>
                </a:cubicBezTo>
                <a:lnTo>
                  <a:pt x="4163714" y="452753"/>
                </a:lnTo>
                <a:cubicBezTo>
                  <a:pt x="4163714" y="488475"/>
                  <a:pt x="4134756" y="517432"/>
                  <a:pt x="409903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62" name="Text 60"/>
          <p:cNvSpPr/>
          <p:nvPr/>
        </p:nvSpPr>
        <p:spPr>
          <a:xfrm>
            <a:off x="7636422" y="2360785"/>
            <a:ext cx="4026271"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Technical Training</a:t>
            </a:r>
            <a:endParaRPr lang="en-US" sz="1600" dirty="0"/>
          </a:p>
        </p:txBody>
      </p:sp>
      <p:sp>
        <p:nvSpPr>
          <p:cNvPr id="63" name="Text 61"/>
          <p:cNvSpPr/>
          <p:nvPr/>
        </p:nvSpPr>
        <p:spPr>
          <a:xfrm>
            <a:off x="7636422" y="2554822"/>
            <a:ext cx="4018186" cy="129358"/>
          </a:xfrm>
          <a:prstGeom prst="rect">
            <a:avLst/>
          </a:prstGeom>
          <a:noFill/>
          <a:ln/>
        </p:spPr>
        <p:txBody>
          <a:bodyPr wrap="square" lIns="0" tIns="0" rIns="0" bIns="0" rtlCol="0" anchor="ctr"/>
          <a:lstStyle/>
          <a:p>
            <a:pPr>
              <a:lnSpc>
                <a:spcPct val="11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RPA tools, analytics platforms, new systems</a:t>
            </a:r>
            <a:endParaRPr lang="en-US" sz="1600" dirty="0"/>
          </a:p>
        </p:txBody>
      </p:sp>
      <p:sp>
        <p:nvSpPr>
          <p:cNvPr id="64" name="Shape 62"/>
          <p:cNvSpPr/>
          <p:nvPr/>
        </p:nvSpPr>
        <p:spPr>
          <a:xfrm>
            <a:off x="7539404" y="2878218"/>
            <a:ext cx="4163714" cy="517432"/>
          </a:xfrm>
          <a:custGeom>
            <a:avLst/>
            <a:gdLst/>
            <a:ahLst/>
            <a:cxnLst/>
            <a:rect l="l" t="t" r="r" b="b"/>
            <a:pathLst>
              <a:path w="4163714" h="517432">
                <a:moveTo>
                  <a:pt x="64679" y="0"/>
                </a:moveTo>
                <a:lnTo>
                  <a:pt x="4099034" y="0"/>
                </a:lnTo>
                <a:cubicBezTo>
                  <a:pt x="4134756" y="0"/>
                  <a:pt x="4163714" y="28958"/>
                  <a:pt x="4163714" y="64679"/>
                </a:cubicBezTo>
                <a:lnTo>
                  <a:pt x="4163714" y="452753"/>
                </a:lnTo>
                <a:cubicBezTo>
                  <a:pt x="4163714" y="488475"/>
                  <a:pt x="4134756" y="517432"/>
                  <a:pt x="409903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65" name="Text 63"/>
          <p:cNvSpPr/>
          <p:nvPr/>
        </p:nvSpPr>
        <p:spPr>
          <a:xfrm>
            <a:off x="7636422" y="2975236"/>
            <a:ext cx="4026271"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End-User Training</a:t>
            </a:r>
            <a:endParaRPr lang="en-US" sz="1600" dirty="0"/>
          </a:p>
        </p:txBody>
      </p:sp>
      <p:sp>
        <p:nvSpPr>
          <p:cNvPr id="66" name="Text 64"/>
          <p:cNvSpPr/>
          <p:nvPr/>
        </p:nvSpPr>
        <p:spPr>
          <a:xfrm>
            <a:off x="7636422" y="3169273"/>
            <a:ext cx="4018186" cy="129358"/>
          </a:xfrm>
          <a:prstGeom prst="rect">
            <a:avLst/>
          </a:prstGeom>
          <a:noFill/>
          <a:ln/>
        </p:spPr>
        <p:txBody>
          <a:bodyPr wrap="square" lIns="0" tIns="0" rIns="0" bIns="0" rtlCol="0" anchor="ctr"/>
          <a:lstStyle/>
          <a:p>
            <a:pPr>
              <a:lnSpc>
                <a:spcPct val="11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System navigation, process changes, best practices</a:t>
            </a:r>
            <a:endParaRPr lang="en-US" sz="1600" dirty="0"/>
          </a:p>
        </p:txBody>
      </p:sp>
      <p:sp>
        <p:nvSpPr>
          <p:cNvPr id="67" name="Shape 65"/>
          <p:cNvSpPr/>
          <p:nvPr/>
        </p:nvSpPr>
        <p:spPr>
          <a:xfrm>
            <a:off x="7539404" y="3492668"/>
            <a:ext cx="4163714" cy="517432"/>
          </a:xfrm>
          <a:custGeom>
            <a:avLst/>
            <a:gdLst/>
            <a:ahLst/>
            <a:cxnLst/>
            <a:rect l="l" t="t" r="r" b="b"/>
            <a:pathLst>
              <a:path w="4163714" h="517432">
                <a:moveTo>
                  <a:pt x="64679" y="0"/>
                </a:moveTo>
                <a:lnTo>
                  <a:pt x="4099034" y="0"/>
                </a:lnTo>
                <a:cubicBezTo>
                  <a:pt x="4134756" y="0"/>
                  <a:pt x="4163714" y="28958"/>
                  <a:pt x="4163714" y="64679"/>
                </a:cubicBezTo>
                <a:lnTo>
                  <a:pt x="4163714" y="452753"/>
                </a:lnTo>
                <a:cubicBezTo>
                  <a:pt x="4163714" y="488475"/>
                  <a:pt x="4134756" y="517432"/>
                  <a:pt x="409903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solidFill>
          <a:ln/>
          <a:effectLst>
            <a:outerShdw blurRad="24255" dist="8085" dir="5400000" algn="bl" rotWithShape="0">
              <a:srgbClr val="000000">
                <a:alpha val="10196"/>
              </a:srgbClr>
            </a:outerShdw>
          </a:effectLst>
        </p:spPr>
      </p:sp>
      <p:sp>
        <p:nvSpPr>
          <p:cNvPr id="68" name="Text 66"/>
          <p:cNvSpPr/>
          <p:nvPr/>
        </p:nvSpPr>
        <p:spPr>
          <a:xfrm>
            <a:off x="7636422" y="3589687"/>
            <a:ext cx="4026271" cy="161698"/>
          </a:xfrm>
          <a:prstGeom prst="rect">
            <a:avLst/>
          </a:prstGeom>
          <a:noFill/>
          <a:ln/>
        </p:spPr>
        <p:txBody>
          <a:bodyPr wrap="square" lIns="0" tIns="0" rIns="0" bIns="0" rtlCol="0" anchor="ctr"/>
          <a:lstStyle/>
          <a:p>
            <a:pP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Continuous Learning</a:t>
            </a:r>
            <a:endParaRPr lang="en-US" sz="1600" dirty="0"/>
          </a:p>
        </p:txBody>
      </p:sp>
      <p:sp>
        <p:nvSpPr>
          <p:cNvPr id="69" name="Text 67"/>
          <p:cNvSpPr/>
          <p:nvPr/>
        </p:nvSpPr>
        <p:spPr>
          <a:xfrm>
            <a:off x="7636422" y="3783724"/>
            <a:ext cx="4018186" cy="129358"/>
          </a:xfrm>
          <a:prstGeom prst="rect">
            <a:avLst/>
          </a:prstGeom>
          <a:noFill/>
          <a:ln/>
        </p:spPr>
        <p:txBody>
          <a:bodyPr wrap="square" lIns="0" tIns="0" rIns="0" bIns="0" rtlCol="0" anchor="ctr"/>
          <a:lstStyle/>
          <a:p>
            <a:pPr>
              <a:lnSpc>
                <a:spcPct val="110000"/>
              </a:lnSpc>
            </a:pPr>
            <a:r>
              <a:rPr lang="en-US" sz="764" dirty="0">
                <a:solidFill>
                  <a:srgbClr val="1A1A1A">
                    <a:alpha val="70000"/>
                  </a:srgbClr>
                </a:solidFill>
                <a:latin typeface="Quattrocento Sans" pitchFamily="34" charset="0"/>
                <a:ea typeface="Quattrocento Sans" pitchFamily="34" charset="-122"/>
                <a:cs typeface="Quattrocento Sans" pitchFamily="34" charset="-120"/>
              </a:rPr>
              <a:t>E-learning modules, refresher courses, certifications</a:t>
            </a:r>
            <a:endParaRPr lang="en-US" sz="1600" dirty="0"/>
          </a:p>
        </p:txBody>
      </p:sp>
      <p:sp>
        <p:nvSpPr>
          <p:cNvPr id="70" name="Shape 68"/>
          <p:cNvSpPr/>
          <p:nvPr/>
        </p:nvSpPr>
        <p:spPr>
          <a:xfrm>
            <a:off x="7345367" y="4301156"/>
            <a:ext cx="4519448" cy="1455279"/>
          </a:xfrm>
          <a:custGeom>
            <a:avLst/>
            <a:gdLst/>
            <a:ahLst/>
            <a:cxnLst/>
            <a:rect l="l" t="t" r="r" b="b"/>
            <a:pathLst>
              <a:path w="4519448" h="1455279">
                <a:moveTo>
                  <a:pt x="97023" y="0"/>
                </a:moveTo>
                <a:lnTo>
                  <a:pt x="4422425" y="0"/>
                </a:lnTo>
                <a:cubicBezTo>
                  <a:pt x="4476009" y="0"/>
                  <a:pt x="4519448" y="43439"/>
                  <a:pt x="4519448" y="97023"/>
                </a:cubicBezTo>
                <a:lnTo>
                  <a:pt x="4519448" y="1358255"/>
                </a:lnTo>
                <a:cubicBezTo>
                  <a:pt x="4519448" y="1411840"/>
                  <a:pt x="4476009" y="1455279"/>
                  <a:pt x="4422425" y="1455279"/>
                </a:cubicBezTo>
                <a:lnTo>
                  <a:pt x="97023" y="1455279"/>
                </a:lnTo>
                <a:cubicBezTo>
                  <a:pt x="43439" y="1455279"/>
                  <a:pt x="0" y="1411840"/>
                  <a:pt x="0" y="1358255"/>
                </a:cubicBezTo>
                <a:lnTo>
                  <a:pt x="0" y="97023"/>
                </a:lnTo>
                <a:cubicBezTo>
                  <a:pt x="0" y="43475"/>
                  <a:pt x="43475" y="0"/>
                  <a:pt x="97023" y="0"/>
                </a:cubicBezTo>
                <a:close/>
              </a:path>
            </a:pathLst>
          </a:custGeom>
          <a:solidFill>
            <a:srgbClr val="F9FAFB"/>
          </a:solidFill>
          <a:ln/>
        </p:spPr>
      </p:sp>
      <p:sp>
        <p:nvSpPr>
          <p:cNvPr id="71" name="Text 69"/>
          <p:cNvSpPr/>
          <p:nvPr/>
        </p:nvSpPr>
        <p:spPr>
          <a:xfrm>
            <a:off x="7507064" y="4462854"/>
            <a:ext cx="4260732" cy="194037"/>
          </a:xfrm>
          <a:prstGeom prst="rect">
            <a:avLst/>
          </a:prstGeom>
          <a:noFill/>
          <a:ln/>
        </p:spPr>
        <p:txBody>
          <a:bodyPr wrap="square" lIns="0" tIns="0" rIns="0" bIns="0" rtlCol="0" anchor="ctr"/>
          <a:lstStyle/>
          <a:p>
            <a:pPr>
              <a:lnSpc>
                <a:spcPct val="130000"/>
              </a:lnSpc>
            </a:pPr>
            <a:r>
              <a:rPr lang="en-US" sz="1019" b="1" dirty="0">
                <a:solidFill>
                  <a:srgbClr val="003087"/>
                </a:solidFill>
                <a:latin typeface="Liter" pitchFamily="34" charset="0"/>
                <a:ea typeface="Liter" pitchFamily="34" charset="-122"/>
                <a:cs typeface="Liter" pitchFamily="34" charset="-120"/>
              </a:rPr>
              <a:t>Resistance Management</a:t>
            </a:r>
            <a:endParaRPr lang="en-US" sz="1600" dirty="0"/>
          </a:p>
        </p:txBody>
      </p:sp>
      <p:sp>
        <p:nvSpPr>
          <p:cNvPr id="72" name="Shape 70"/>
          <p:cNvSpPr/>
          <p:nvPr/>
        </p:nvSpPr>
        <p:spPr>
          <a:xfrm>
            <a:off x="7523234" y="4786249"/>
            <a:ext cx="113188" cy="113188"/>
          </a:xfrm>
          <a:custGeom>
            <a:avLst/>
            <a:gdLst/>
            <a:ahLst/>
            <a:cxnLst/>
            <a:rect l="l" t="t" r="r" b="b"/>
            <a:pathLst>
              <a:path w="113188" h="113188">
                <a:moveTo>
                  <a:pt x="56594" y="113188"/>
                </a:moveTo>
                <a:cubicBezTo>
                  <a:pt x="87829" y="113188"/>
                  <a:pt x="113188" y="87829"/>
                  <a:pt x="113188" y="56594"/>
                </a:cubicBezTo>
                <a:cubicBezTo>
                  <a:pt x="113188" y="25359"/>
                  <a:pt x="87829" y="0"/>
                  <a:pt x="56594" y="0"/>
                </a:cubicBezTo>
                <a:cubicBezTo>
                  <a:pt x="25359" y="0"/>
                  <a:pt x="0" y="25359"/>
                  <a:pt x="0" y="56594"/>
                </a:cubicBezTo>
                <a:cubicBezTo>
                  <a:pt x="0" y="87829"/>
                  <a:pt x="25359" y="113188"/>
                  <a:pt x="56594" y="113188"/>
                </a:cubicBezTo>
                <a:close/>
                <a:moveTo>
                  <a:pt x="75253" y="47022"/>
                </a:moveTo>
                <a:lnTo>
                  <a:pt x="57567" y="75319"/>
                </a:lnTo>
                <a:cubicBezTo>
                  <a:pt x="56638" y="76800"/>
                  <a:pt x="55047" y="77729"/>
                  <a:pt x="53300" y="77817"/>
                </a:cubicBezTo>
                <a:cubicBezTo>
                  <a:pt x="51554" y="77905"/>
                  <a:pt x="49874" y="77110"/>
                  <a:pt x="48835" y="75695"/>
                </a:cubicBezTo>
                <a:lnTo>
                  <a:pt x="38223" y="61546"/>
                </a:lnTo>
                <a:cubicBezTo>
                  <a:pt x="36455" y="59203"/>
                  <a:pt x="36941" y="55887"/>
                  <a:pt x="39284" y="54118"/>
                </a:cubicBezTo>
                <a:cubicBezTo>
                  <a:pt x="41628" y="52350"/>
                  <a:pt x="44944" y="52836"/>
                  <a:pt x="46712" y="55179"/>
                </a:cubicBezTo>
                <a:lnTo>
                  <a:pt x="52681" y="63138"/>
                </a:lnTo>
                <a:lnTo>
                  <a:pt x="66255" y="41407"/>
                </a:lnTo>
                <a:cubicBezTo>
                  <a:pt x="67802" y="38931"/>
                  <a:pt x="71074" y="38157"/>
                  <a:pt x="73572" y="39726"/>
                </a:cubicBezTo>
                <a:cubicBezTo>
                  <a:pt x="76071" y="41296"/>
                  <a:pt x="76822" y="44546"/>
                  <a:pt x="75253" y="47044"/>
                </a:cubicBezTo>
                <a:close/>
              </a:path>
            </a:pathLst>
          </a:custGeom>
          <a:solidFill>
            <a:srgbClr val="FF6B00"/>
          </a:solidFill>
          <a:ln/>
        </p:spPr>
      </p:sp>
      <p:sp>
        <p:nvSpPr>
          <p:cNvPr id="73" name="Text 71"/>
          <p:cNvSpPr/>
          <p:nvPr/>
        </p:nvSpPr>
        <p:spPr>
          <a:xfrm>
            <a:off x="7713229" y="4753910"/>
            <a:ext cx="1560382" cy="161698"/>
          </a:xfrm>
          <a:prstGeom prst="rect">
            <a:avLst/>
          </a:prstGeom>
          <a:noFill/>
          <a:ln/>
        </p:spPr>
        <p:txBody>
          <a:bodyPr wrap="square" lIns="0" tIns="0" rIns="0" bIns="0" rtlCol="0" anchor="ctr"/>
          <a:lstStyle/>
          <a:p>
            <a:pPr>
              <a:lnSpc>
                <a:spcPct val="120000"/>
              </a:lnSpc>
            </a:pPr>
            <a:r>
              <a:rPr lang="en-US" sz="891" dirty="0">
                <a:solidFill>
                  <a:srgbClr val="1A1A1A">
                    <a:alpha val="80000"/>
                  </a:srgbClr>
                </a:solidFill>
                <a:latin typeface="Quattrocento Sans" pitchFamily="34" charset="0"/>
                <a:ea typeface="Quattrocento Sans" pitchFamily="34" charset="-122"/>
                <a:cs typeface="Quattrocento Sans" pitchFamily="34" charset="-120"/>
              </a:rPr>
              <a:t>Early identification of concerns</a:t>
            </a:r>
            <a:endParaRPr lang="en-US" sz="1600" dirty="0"/>
          </a:p>
        </p:txBody>
      </p:sp>
      <p:sp>
        <p:nvSpPr>
          <p:cNvPr id="74" name="Shape 72"/>
          <p:cNvSpPr/>
          <p:nvPr/>
        </p:nvSpPr>
        <p:spPr>
          <a:xfrm>
            <a:off x="7523234" y="5012626"/>
            <a:ext cx="113188" cy="113188"/>
          </a:xfrm>
          <a:custGeom>
            <a:avLst/>
            <a:gdLst/>
            <a:ahLst/>
            <a:cxnLst/>
            <a:rect l="l" t="t" r="r" b="b"/>
            <a:pathLst>
              <a:path w="113188" h="113188">
                <a:moveTo>
                  <a:pt x="56594" y="113188"/>
                </a:moveTo>
                <a:cubicBezTo>
                  <a:pt x="87829" y="113188"/>
                  <a:pt x="113188" y="87829"/>
                  <a:pt x="113188" y="56594"/>
                </a:cubicBezTo>
                <a:cubicBezTo>
                  <a:pt x="113188" y="25359"/>
                  <a:pt x="87829" y="0"/>
                  <a:pt x="56594" y="0"/>
                </a:cubicBezTo>
                <a:cubicBezTo>
                  <a:pt x="25359" y="0"/>
                  <a:pt x="0" y="25359"/>
                  <a:pt x="0" y="56594"/>
                </a:cubicBezTo>
                <a:cubicBezTo>
                  <a:pt x="0" y="87829"/>
                  <a:pt x="25359" y="113188"/>
                  <a:pt x="56594" y="113188"/>
                </a:cubicBezTo>
                <a:close/>
                <a:moveTo>
                  <a:pt x="75253" y="47022"/>
                </a:moveTo>
                <a:lnTo>
                  <a:pt x="57567" y="75319"/>
                </a:lnTo>
                <a:cubicBezTo>
                  <a:pt x="56638" y="76800"/>
                  <a:pt x="55047" y="77729"/>
                  <a:pt x="53300" y="77817"/>
                </a:cubicBezTo>
                <a:cubicBezTo>
                  <a:pt x="51554" y="77905"/>
                  <a:pt x="49874" y="77110"/>
                  <a:pt x="48835" y="75695"/>
                </a:cubicBezTo>
                <a:lnTo>
                  <a:pt x="38223" y="61546"/>
                </a:lnTo>
                <a:cubicBezTo>
                  <a:pt x="36455" y="59203"/>
                  <a:pt x="36941" y="55887"/>
                  <a:pt x="39284" y="54118"/>
                </a:cubicBezTo>
                <a:cubicBezTo>
                  <a:pt x="41628" y="52350"/>
                  <a:pt x="44944" y="52836"/>
                  <a:pt x="46712" y="55179"/>
                </a:cubicBezTo>
                <a:lnTo>
                  <a:pt x="52681" y="63138"/>
                </a:lnTo>
                <a:lnTo>
                  <a:pt x="66255" y="41407"/>
                </a:lnTo>
                <a:cubicBezTo>
                  <a:pt x="67802" y="38931"/>
                  <a:pt x="71074" y="38157"/>
                  <a:pt x="73572" y="39726"/>
                </a:cubicBezTo>
                <a:cubicBezTo>
                  <a:pt x="76071" y="41296"/>
                  <a:pt x="76822" y="44546"/>
                  <a:pt x="75253" y="47044"/>
                </a:cubicBezTo>
                <a:close/>
              </a:path>
            </a:pathLst>
          </a:custGeom>
          <a:solidFill>
            <a:srgbClr val="FF6B00"/>
          </a:solidFill>
          <a:ln/>
        </p:spPr>
      </p:sp>
      <p:sp>
        <p:nvSpPr>
          <p:cNvPr id="75" name="Text 73"/>
          <p:cNvSpPr/>
          <p:nvPr/>
        </p:nvSpPr>
        <p:spPr>
          <a:xfrm>
            <a:off x="7713229" y="4980286"/>
            <a:ext cx="1301666" cy="161698"/>
          </a:xfrm>
          <a:prstGeom prst="rect">
            <a:avLst/>
          </a:prstGeom>
          <a:noFill/>
          <a:ln/>
        </p:spPr>
        <p:txBody>
          <a:bodyPr wrap="square" lIns="0" tIns="0" rIns="0" bIns="0" rtlCol="0" anchor="ctr"/>
          <a:lstStyle/>
          <a:p>
            <a:pPr>
              <a:lnSpc>
                <a:spcPct val="120000"/>
              </a:lnSpc>
            </a:pPr>
            <a:r>
              <a:rPr lang="en-US" sz="891" dirty="0">
                <a:solidFill>
                  <a:srgbClr val="1A1A1A">
                    <a:alpha val="80000"/>
                  </a:srgbClr>
                </a:solidFill>
                <a:latin typeface="Quattrocento Sans" pitchFamily="34" charset="0"/>
                <a:ea typeface="Quattrocento Sans" pitchFamily="34" charset="-122"/>
                <a:cs typeface="Quattrocento Sans" pitchFamily="34" charset="-120"/>
              </a:rPr>
              <a:t>Proactive communication</a:t>
            </a:r>
            <a:endParaRPr lang="en-US" sz="1600" dirty="0"/>
          </a:p>
        </p:txBody>
      </p:sp>
      <p:sp>
        <p:nvSpPr>
          <p:cNvPr id="76" name="Shape 74"/>
          <p:cNvSpPr/>
          <p:nvPr/>
        </p:nvSpPr>
        <p:spPr>
          <a:xfrm>
            <a:off x="7523234" y="5239003"/>
            <a:ext cx="113188" cy="113188"/>
          </a:xfrm>
          <a:custGeom>
            <a:avLst/>
            <a:gdLst/>
            <a:ahLst/>
            <a:cxnLst/>
            <a:rect l="l" t="t" r="r" b="b"/>
            <a:pathLst>
              <a:path w="113188" h="113188">
                <a:moveTo>
                  <a:pt x="56594" y="113188"/>
                </a:moveTo>
                <a:cubicBezTo>
                  <a:pt x="87829" y="113188"/>
                  <a:pt x="113188" y="87829"/>
                  <a:pt x="113188" y="56594"/>
                </a:cubicBezTo>
                <a:cubicBezTo>
                  <a:pt x="113188" y="25359"/>
                  <a:pt x="87829" y="0"/>
                  <a:pt x="56594" y="0"/>
                </a:cubicBezTo>
                <a:cubicBezTo>
                  <a:pt x="25359" y="0"/>
                  <a:pt x="0" y="25359"/>
                  <a:pt x="0" y="56594"/>
                </a:cubicBezTo>
                <a:cubicBezTo>
                  <a:pt x="0" y="87829"/>
                  <a:pt x="25359" y="113188"/>
                  <a:pt x="56594" y="113188"/>
                </a:cubicBezTo>
                <a:close/>
                <a:moveTo>
                  <a:pt x="75253" y="47022"/>
                </a:moveTo>
                <a:lnTo>
                  <a:pt x="57567" y="75319"/>
                </a:lnTo>
                <a:cubicBezTo>
                  <a:pt x="56638" y="76800"/>
                  <a:pt x="55047" y="77729"/>
                  <a:pt x="53300" y="77817"/>
                </a:cubicBezTo>
                <a:cubicBezTo>
                  <a:pt x="51554" y="77905"/>
                  <a:pt x="49874" y="77110"/>
                  <a:pt x="48835" y="75695"/>
                </a:cubicBezTo>
                <a:lnTo>
                  <a:pt x="38223" y="61546"/>
                </a:lnTo>
                <a:cubicBezTo>
                  <a:pt x="36455" y="59203"/>
                  <a:pt x="36941" y="55887"/>
                  <a:pt x="39284" y="54118"/>
                </a:cubicBezTo>
                <a:cubicBezTo>
                  <a:pt x="41628" y="52350"/>
                  <a:pt x="44944" y="52836"/>
                  <a:pt x="46712" y="55179"/>
                </a:cubicBezTo>
                <a:lnTo>
                  <a:pt x="52681" y="63138"/>
                </a:lnTo>
                <a:lnTo>
                  <a:pt x="66255" y="41407"/>
                </a:lnTo>
                <a:cubicBezTo>
                  <a:pt x="67802" y="38931"/>
                  <a:pt x="71074" y="38157"/>
                  <a:pt x="73572" y="39726"/>
                </a:cubicBezTo>
                <a:cubicBezTo>
                  <a:pt x="76071" y="41296"/>
                  <a:pt x="76822" y="44546"/>
                  <a:pt x="75253" y="47044"/>
                </a:cubicBezTo>
                <a:close/>
              </a:path>
            </a:pathLst>
          </a:custGeom>
          <a:solidFill>
            <a:srgbClr val="FF6B00"/>
          </a:solidFill>
          <a:ln/>
        </p:spPr>
      </p:sp>
      <p:sp>
        <p:nvSpPr>
          <p:cNvPr id="77" name="Text 75"/>
          <p:cNvSpPr/>
          <p:nvPr/>
        </p:nvSpPr>
        <p:spPr>
          <a:xfrm>
            <a:off x="7713229" y="5206663"/>
            <a:ext cx="1673570" cy="161698"/>
          </a:xfrm>
          <a:prstGeom prst="rect">
            <a:avLst/>
          </a:prstGeom>
          <a:noFill/>
          <a:ln/>
        </p:spPr>
        <p:txBody>
          <a:bodyPr wrap="square" lIns="0" tIns="0" rIns="0" bIns="0" rtlCol="0" anchor="ctr"/>
          <a:lstStyle/>
          <a:p>
            <a:pPr>
              <a:lnSpc>
                <a:spcPct val="120000"/>
              </a:lnSpc>
            </a:pPr>
            <a:r>
              <a:rPr lang="en-US" sz="891" dirty="0">
                <a:solidFill>
                  <a:srgbClr val="1A1A1A">
                    <a:alpha val="80000"/>
                  </a:srgbClr>
                </a:solidFill>
                <a:latin typeface="Quattrocento Sans" pitchFamily="34" charset="0"/>
                <a:ea typeface="Quattrocento Sans" pitchFamily="34" charset="-122"/>
                <a:cs typeface="Quattrocento Sans" pitchFamily="34" charset="-120"/>
              </a:rPr>
              <a:t>Champion network development</a:t>
            </a:r>
            <a:endParaRPr lang="en-US" sz="1600" dirty="0"/>
          </a:p>
        </p:txBody>
      </p:sp>
      <p:sp>
        <p:nvSpPr>
          <p:cNvPr id="78" name="Shape 76"/>
          <p:cNvSpPr/>
          <p:nvPr/>
        </p:nvSpPr>
        <p:spPr>
          <a:xfrm>
            <a:off x="7523234" y="5465379"/>
            <a:ext cx="113188" cy="113188"/>
          </a:xfrm>
          <a:custGeom>
            <a:avLst/>
            <a:gdLst/>
            <a:ahLst/>
            <a:cxnLst/>
            <a:rect l="l" t="t" r="r" b="b"/>
            <a:pathLst>
              <a:path w="113188" h="113188">
                <a:moveTo>
                  <a:pt x="56594" y="113188"/>
                </a:moveTo>
                <a:cubicBezTo>
                  <a:pt x="87829" y="113188"/>
                  <a:pt x="113188" y="87829"/>
                  <a:pt x="113188" y="56594"/>
                </a:cubicBezTo>
                <a:cubicBezTo>
                  <a:pt x="113188" y="25359"/>
                  <a:pt x="87829" y="0"/>
                  <a:pt x="56594" y="0"/>
                </a:cubicBezTo>
                <a:cubicBezTo>
                  <a:pt x="25359" y="0"/>
                  <a:pt x="0" y="25359"/>
                  <a:pt x="0" y="56594"/>
                </a:cubicBezTo>
                <a:cubicBezTo>
                  <a:pt x="0" y="87829"/>
                  <a:pt x="25359" y="113188"/>
                  <a:pt x="56594" y="113188"/>
                </a:cubicBezTo>
                <a:close/>
                <a:moveTo>
                  <a:pt x="75253" y="47022"/>
                </a:moveTo>
                <a:lnTo>
                  <a:pt x="57567" y="75319"/>
                </a:lnTo>
                <a:cubicBezTo>
                  <a:pt x="56638" y="76800"/>
                  <a:pt x="55047" y="77729"/>
                  <a:pt x="53300" y="77817"/>
                </a:cubicBezTo>
                <a:cubicBezTo>
                  <a:pt x="51554" y="77905"/>
                  <a:pt x="49874" y="77110"/>
                  <a:pt x="48835" y="75695"/>
                </a:cubicBezTo>
                <a:lnTo>
                  <a:pt x="38223" y="61546"/>
                </a:lnTo>
                <a:cubicBezTo>
                  <a:pt x="36455" y="59203"/>
                  <a:pt x="36941" y="55887"/>
                  <a:pt x="39284" y="54118"/>
                </a:cubicBezTo>
                <a:cubicBezTo>
                  <a:pt x="41628" y="52350"/>
                  <a:pt x="44944" y="52836"/>
                  <a:pt x="46712" y="55179"/>
                </a:cubicBezTo>
                <a:lnTo>
                  <a:pt x="52681" y="63138"/>
                </a:lnTo>
                <a:lnTo>
                  <a:pt x="66255" y="41407"/>
                </a:lnTo>
                <a:cubicBezTo>
                  <a:pt x="67802" y="38931"/>
                  <a:pt x="71074" y="38157"/>
                  <a:pt x="73572" y="39726"/>
                </a:cubicBezTo>
                <a:cubicBezTo>
                  <a:pt x="76071" y="41296"/>
                  <a:pt x="76822" y="44546"/>
                  <a:pt x="75253" y="47044"/>
                </a:cubicBezTo>
                <a:close/>
              </a:path>
            </a:pathLst>
          </a:custGeom>
          <a:solidFill>
            <a:srgbClr val="FF6B00"/>
          </a:solidFill>
          <a:ln/>
        </p:spPr>
      </p:sp>
      <p:sp>
        <p:nvSpPr>
          <p:cNvPr id="79" name="Text 77"/>
          <p:cNvSpPr/>
          <p:nvPr/>
        </p:nvSpPr>
        <p:spPr>
          <a:xfrm>
            <a:off x="7713229" y="5433040"/>
            <a:ext cx="1010610" cy="161698"/>
          </a:xfrm>
          <a:prstGeom prst="rect">
            <a:avLst/>
          </a:prstGeom>
          <a:noFill/>
          <a:ln/>
        </p:spPr>
        <p:txBody>
          <a:bodyPr wrap="square" lIns="0" tIns="0" rIns="0" bIns="0" rtlCol="0" anchor="ctr"/>
          <a:lstStyle/>
          <a:p>
            <a:pPr>
              <a:lnSpc>
                <a:spcPct val="120000"/>
              </a:lnSpc>
            </a:pPr>
            <a:r>
              <a:rPr lang="en-US" sz="891" dirty="0">
                <a:solidFill>
                  <a:srgbClr val="1A1A1A">
                    <a:alpha val="80000"/>
                  </a:srgbClr>
                </a:solidFill>
                <a:latin typeface="Quattrocento Sans" pitchFamily="34" charset="0"/>
                <a:ea typeface="Quattrocento Sans" pitchFamily="34" charset="-122"/>
                <a:cs typeface="Quattrocento Sans" pitchFamily="34" charset="-120"/>
              </a:rPr>
              <a:t>Incentive alignment</a:t>
            </a:r>
            <a:endParaRPr lang="en-US" sz="1600" dirty="0"/>
          </a:p>
        </p:txBody>
      </p:sp>
      <p:sp>
        <p:nvSpPr>
          <p:cNvPr id="80" name="Shape 78"/>
          <p:cNvSpPr/>
          <p:nvPr/>
        </p:nvSpPr>
        <p:spPr>
          <a:xfrm>
            <a:off x="7353452" y="5893878"/>
            <a:ext cx="4503279" cy="954016"/>
          </a:xfrm>
          <a:custGeom>
            <a:avLst/>
            <a:gdLst/>
            <a:ahLst/>
            <a:cxnLst/>
            <a:rect l="l" t="t" r="r" b="b"/>
            <a:pathLst>
              <a:path w="4503279" h="954016">
                <a:moveTo>
                  <a:pt x="97014" y="0"/>
                </a:moveTo>
                <a:lnTo>
                  <a:pt x="4406265" y="0"/>
                </a:lnTo>
                <a:cubicBezTo>
                  <a:pt x="4459844" y="0"/>
                  <a:pt x="4503279" y="43435"/>
                  <a:pt x="4503279" y="97014"/>
                </a:cubicBezTo>
                <a:lnTo>
                  <a:pt x="4503279" y="857002"/>
                </a:lnTo>
                <a:cubicBezTo>
                  <a:pt x="4503279" y="910581"/>
                  <a:pt x="4459844" y="954016"/>
                  <a:pt x="4406265" y="954016"/>
                </a:cubicBezTo>
                <a:lnTo>
                  <a:pt x="97014" y="954016"/>
                </a:lnTo>
                <a:cubicBezTo>
                  <a:pt x="43435" y="954016"/>
                  <a:pt x="0" y="910581"/>
                  <a:pt x="0" y="857002"/>
                </a:cubicBezTo>
                <a:lnTo>
                  <a:pt x="0" y="97014"/>
                </a:lnTo>
                <a:cubicBezTo>
                  <a:pt x="0" y="43435"/>
                  <a:pt x="43435" y="0"/>
                  <a:pt x="97014" y="0"/>
                </a:cubicBezTo>
                <a:close/>
              </a:path>
            </a:pathLst>
          </a:custGeom>
          <a:solidFill>
            <a:srgbClr val="D4AF37">
              <a:alpha val="10196"/>
            </a:srgbClr>
          </a:solidFill>
          <a:ln w="25400">
            <a:solidFill>
              <a:srgbClr val="D4AF37"/>
            </a:solidFill>
            <a:prstDash val="solid"/>
          </a:ln>
        </p:spPr>
      </p:sp>
      <p:sp>
        <p:nvSpPr>
          <p:cNvPr id="81" name="Text 79"/>
          <p:cNvSpPr/>
          <p:nvPr/>
        </p:nvSpPr>
        <p:spPr>
          <a:xfrm>
            <a:off x="7490895" y="6031321"/>
            <a:ext cx="4293072" cy="194037"/>
          </a:xfrm>
          <a:prstGeom prst="rect">
            <a:avLst/>
          </a:prstGeom>
          <a:noFill/>
          <a:ln/>
        </p:spPr>
        <p:txBody>
          <a:bodyPr wrap="square" lIns="0" tIns="0" rIns="0" bIns="0" rtlCol="0" anchor="ctr"/>
          <a:lstStyle/>
          <a:p>
            <a:pPr>
              <a:lnSpc>
                <a:spcPct val="130000"/>
              </a:lnSpc>
            </a:pPr>
            <a:r>
              <a:rPr lang="en-US" sz="1019" b="1" dirty="0">
                <a:solidFill>
                  <a:srgbClr val="003087"/>
                </a:solidFill>
                <a:latin typeface="Liter" pitchFamily="34" charset="0"/>
                <a:ea typeface="Liter" pitchFamily="34" charset="-122"/>
                <a:cs typeface="Liter" pitchFamily="34" charset="-120"/>
              </a:rPr>
              <a:t>Success Metrics</a:t>
            </a:r>
            <a:endParaRPr lang="en-US" sz="1600" dirty="0"/>
          </a:p>
        </p:txBody>
      </p:sp>
      <p:sp>
        <p:nvSpPr>
          <p:cNvPr id="82" name="Shape 80"/>
          <p:cNvSpPr/>
          <p:nvPr/>
        </p:nvSpPr>
        <p:spPr>
          <a:xfrm>
            <a:off x="7490895" y="6290037"/>
            <a:ext cx="2085899" cy="420414"/>
          </a:xfrm>
          <a:custGeom>
            <a:avLst/>
            <a:gdLst/>
            <a:ahLst/>
            <a:cxnLst/>
            <a:rect l="l" t="t" r="r" b="b"/>
            <a:pathLst>
              <a:path w="2085899" h="420414">
                <a:moveTo>
                  <a:pt x="64681" y="0"/>
                </a:moveTo>
                <a:lnTo>
                  <a:pt x="2021219" y="0"/>
                </a:lnTo>
                <a:cubicBezTo>
                  <a:pt x="2056941" y="0"/>
                  <a:pt x="2085899" y="28959"/>
                  <a:pt x="2085899" y="64681"/>
                </a:cubicBezTo>
                <a:lnTo>
                  <a:pt x="2085899" y="355733"/>
                </a:lnTo>
                <a:cubicBezTo>
                  <a:pt x="2085899" y="391455"/>
                  <a:pt x="2056941" y="420414"/>
                  <a:pt x="2021219" y="420414"/>
                </a:cubicBezTo>
                <a:lnTo>
                  <a:pt x="64681" y="420414"/>
                </a:lnTo>
                <a:cubicBezTo>
                  <a:pt x="28959" y="420414"/>
                  <a:pt x="0" y="391455"/>
                  <a:pt x="0" y="355733"/>
                </a:cubicBezTo>
                <a:lnTo>
                  <a:pt x="0" y="64681"/>
                </a:lnTo>
                <a:cubicBezTo>
                  <a:pt x="0" y="28982"/>
                  <a:pt x="28982" y="0"/>
                  <a:pt x="64681" y="0"/>
                </a:cubicBezTo>
                <a:close/>
              </a:path>
            </a:pathLst>
          </a:custGeom>
          <a:solidFill>
            <a:srgbClr val="FFFFFF"/>
          </a:solidFill>
          <a:ln/>
        </p:spPr>
      </p:sp>
      <p:sp>
        <p:nvSpPr>
          <p:cNvPr id="83" name="Text 81"/>
          <p:cNvSpPr/>
          <p:nvPr/>
        </p:nvSpPr>
        <p:spPr>
          <a:xfrm>
            <a:off x="7527277" y="6354716"/>
            <a:ext cx="2013135" cy="161698"/>
          </a:xfrm>
          <a:prstGeom prst="rect">
            <a:avLst/>
          </a:prstGeom>
          <a:noFill/>
          <a:ln/>
        </p:spPr>
        <p:txBody>
          <a:bodyPr wrap="square" lIns="0" tIns="0" rIns="0" bIns="0" rtlCol="0" anchor="ctr"/>
          <a:lstStyle/>
          <a:p>
            <a:pPr algn="ctr">
              <a:lnSpc>
                <a:spcPct val="120000"/>
              </a:lnSpc>
            </a:pPr>
            <a:r>
              <a:rPr lang="en-US" sz="891" b="1" dirty="0">
                <a:solidFill>
                  <a:srgbClr val="003087"/>
                </a:solidFill>
                <a:latin typeface="Quattrocento Sans" pitchFamily="34" charset="0"/>
                <a:ea typeface="Quattrocento Sans" pitchFamily="34" charset="-122"/>
                <a:cs typeface="Quattrocento Sans" pitchFamily="34" charset="-120"/>
              </a:rPr>
              <a:t>90%+</a:t>
            </a:r>
            <a:endParaRPr lang="en-US" sz="1600" dirty="0"/>
          </a:p>
        </p:txBody>
      </p:sp>
      <p:sp>
        <p:nvSpPr>
          <p:cNvPr id="84" name="Text 82"/>
          <p:cNvSpPr/>
          <p:nvPr/>
        </p:nvSpPr>
        <p:spPr>
          <a:xfrm>
            <a:off x="7531319" y="6516414"/>
            <a:ext cx="2005050" cy="129358"/>
          </a:xfrm>
          <a:prstGeom prst="rect">
            <a:avLst/>
          </a:prstGeom>
          <a:noFill/>
          <a:ln/>
        </p:spPr>
        <p:txBody>
          <a:bodyPr wrap="square" lIns="0" tIns="0" rIns="0" bIns="0" rtlCol="0" anchor="ctr"/>
          <a:lstStyle/>
          <a:p>
            <a:pPr algn="ct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Training completion</a:t>
            </a:r>
            <a:endParaRPr lang="en-US" sz="1600" dirty="0"/>
          </a:p>
        </p:txBody>
      </p:sp>
      <p:sp>
        <p:nvSpPr>
          <p:cNvPr id="85" name="Shape 83"/>
          <p:cNvSpPr/>
          <p:nvPr/>
        </p:nvSpPr>
        <p:spPr>
          <a:xfrm>
            <a:off x="9637494" y="6290037"/>
            <a:ext cx="2085899" cy="420414"/>
          </a:xfrm>
          <a:custGeom>
            <a:avLst/>
            <a:gdLst/>
            <a:ahLst/>
            <a:cxnLst/>
            <a:rect l="l" t="t" r="r" b="b"/>
            <a:pathLst>
              <a:path w="2085899" h="420414">
                <a:moveTo>
                  <a:pt x="64681" y="0"/>
                </a:moveTo>
                <a:lnTo>
                  <a:pt x="2021219" y="0"/>
                </a:lnTo>
                <a:cubicBezTo>
                  <a:pt x="2056941" y="0"/>
                  <a:pt x="2085899" y="28959"/>
                  <a:pt x="2085899" y="64681"/>
                </a:cubicBezTo>
                <a:lnTo>
                  <a:pt x="2085899" y="355733"/>
                </a:lnTo>
                <a:cubicBezTo>
                  <a:pt x="2085899" y="391455"/>
                  <a:pt x="2056941" y="420414"/>
                  <a:pt x="2021219" y="420414"/>
                </a:cubicBezTo>
                <a:lnTo>
                  <a:pt x="64681" y="420414"/>
                </a:lnTo>
                <a:cubicBezTo>
                  <a:pt x="28959" y="420414"/>
                  <a:pt x="0" y="391455"/>
                  <a:pt x="0" y="355733"/>
                </a:cubicBezTo>
                <a:lnTo>
                  <a:pt x="0" y="64681"/>
                </a:lnTo>
                <a:cubicBezTo>
                  <a:pt x="0" y="28982"/>
                  <a:pt x="28982" y="0"/>
                  <a:pt x="64681" y="0"/>
                </a:cubicBezTo>
                <a:close/>
              </a:path>
            </a:pathLst>
          </a:custGeom>
          <a:solidFill>
            <a:srgbClr val="FFFFFF"/>
          </a:solidFill>
          <a:ln/>
        </p:spPr>
      </p:sp>
      <p:sp>
        <p:nvSpPr>
          <p:cNvPr id="86" name="Text 84"/>
          <p:cNvSpPr/>
          <p:nvPr/>
        </p:nvSpPr>
        <p:spPr>
          <a:xfrm>
            <a:off x="9673875" y="6354716"/>
            <a:ext cx="2013135" cy="161698"/>
          </a:xfrm>
          <a:prstGeom prst="rect">
            <a:avLst/>
          </a:prstGeom>
          <a:noFill/>
          <a:ln/>
        </p:spPr>
        <p:txBody>
          <a:bodyPr wrap="square" lIns="0" tIns="0" rIns="0" bIns="0" rtlCol="0" anchor="ctr"/>
          <a:lstStyle/>
          <a:p>
            <a:pPr algn="ctr">
              <a:lnSpc>
                <a:spcPct val="120000"/>
              </a:lnSpc>
            </a:pPr>
            <a:r>
              <a:rPr lang="en-US" sz="891" b="1" dirty="0">
                <a:solidFill>
                  <a:srgbClr val="FF6B00"/>
                </a:solidFill>
                <a:latin typeface="Quattrocento Sans" pitchFamily="34" charset="0"/>
                <a:ea typeface="Quattrocento Sans" pitchFamily="34" charset="-122"/>
                <a:cs typeface="Quattrocento Sans" pitchFamily="34" charset="-120"/>
              </a:rPr>
              <a:t>80%+</a:t>
            </a:r>
            <a:endParaRPr lang="en-US" sz="1600" dirty="0"/>
          </a:p>
        </p:txBody>
      </p:sp>
      <p:sp>
        <p:nvSpPr>
          <p:cNvPr id="87" name="Text 85"/>
          <p:cNvSpPr/>
          <p:nvPr/>
        </p:nvSpPr>
        <p:spPr>
          <a:xfrm>
            <a:off x="9677918" y="6516414"/>
            <a:ext cx="2005050" cy="129358"/>
          </a:xfrm>
          <a:prstGeom prst="rect">
            <a:avLst/>
          </a:prstGeom>
          <a:noFill/>
          <a:ln/>
        </p:spPr>
        <p:txBody>
          <a:bodyPr wrap="square" lIns="0" tIns="0" rIns="0" bIns="0" rtlCol="0" anchor="ctr"/>
          <a:lstStyle/>
          <a:p>
            <a:pPr algn="ctr">
              <a:lnSpc>
                <a:spcPct val="110000"/>
              </a:lnSpc>
            </a:pPr>
            <a:r>
              <a:rPr lang="en-US" sz="764" dirty="0">
                <a:solidFill>
                  <a:srgbClr val="1A1A1A">
                    <a:alpha val="80000"/>
                  </a:srgbClr>
                </a:solidFill>
                <a:latin typeface="Quattrocento Sans" pitchFamily="34" charset="0"/>
                <a:ea typeface="Quattrocento Sans" pitchFamily="34" charset="-122"/>
                <a:cs typeface="Quattrocento Sans" pitchFamily="34" charset="-120"/>
              </a:rPr>
              <a:t>User adoption</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5382" y="345382"/>
            <a:ext cx="11561677" cy="172691"/>
          </a:xfrm>
          <a:prstGeom prst="rect">
            <a:avLst/>
          </a:prstGeom>
          <a:noFill/>
          <a:ln/>
        </p:spPr>
        <p:txBody>
          <a:bodyPr wrap="square" lIns="0" tIns="0" rIns="0" bIns="0" rtlCol="0" anchor="ctr"/>
          <a:lstStyle/>
          <a:p>
            <a:pPr>
              <a:lnSpc>
                <a:spcPct val="120000"/>
              </a:lnSpc>
            </a:pPr>
            <a:r>
              <a:rPr lang="en-US" sz="952" b="1" kern="0" spc="48" dirty="0">
                <a:solidFill>
                  <a:srgbClr val="FF6B00"/>
                </a:solidFill>
                <a:latin typeface="Liter" pitchFamily="34" charset="0"/>
                <a:ea typeface="Liter" pitchFamily="34" charset="-122"/>
                <a:cs typeface="Liter" pitchFamily="34" charset="-120"/>
              </a:rPr>
              <a:t>RISK MANAGEMENT</a:t>
            </a:r>
            <a:endParaRPr lang="en-US" sz="1600" dirty="0"/>
          </a:p>
        </p:txBody>
      </p:sp>
      <p:sp>
        <p:nvSpPr>
          <p:cNvPr id="3" name="Text 1"/>
          <p:cNvSpPr/>
          <p:nvPr/>
        </p:nvSpPr>
        <p:spPr>
          <a:xfrm>
            <a:off x="345382" y="587150"/>
            <a:ext cx="11656657" cy="345382"/>
          </a:xfrm>
          <a:prstGeom prst="rect">
            <a:avLst/>
          </a:prstGeom>
          <a:noFill/>
          <a:ln/>
        </p:spPr>
        <p:txBody>
          <a:bodyPr wrap="square" lIns="0" tIns="0" rIns="0" bIns="0" rtlCol="0" anchor="ctr"/>
          <a:lstStyle/>
          <a:p>
            <a:pPr>
              <a:lnSpc>
                <a:spcPct val="90000"/>
              </a:lnSpc>
            </a:pPr>
            <a:r>
              <a:rPr lang="en-US" sz="2448" b="1" dirty="0">
                <a:solidFill>
                  <a:srgbClr val="003087"/>
                </a:solidFill>
                <a:latin typeface="Liter" pitchFamily="34" charset="0"/>
                <a:ea typeface="Liter" pitchFamily="34" charset="-122"/>
                <a:cs typeface="Liter" pitchFamily="34" charset="-120"/>
              </a:rPr>
              <a:t>Risk Assessment &amp; Mitigation</a:t>
            </a:r>
            <a:endParaRPr lang="en-US" sz="1600" dirty="0"/>
          </a:p>
        </p:txBody>
      </p:sp>
      <p:sp>
        <p:nvSpPr>
          <p:cNvPr id="4" name="Shape 2"/>
          <p:cNvSpPr/>
          <p:nvPr/>
        </p:nvSpPr>
        <p:spPr>
          <a:xfrm>
            <a:off x="345382" y="1036147"/>
            <a:ext cx="828918" cy="34538"/>
          </a:xfrm>
          <a:custGeom>
            <a:avLst/>
            <a:gdLst/>
            <a:ahLst/>
            <a:cxnLst/>
            <a:rect l="l" t="t" r="r" b="b"/>
            <a:pathLst>
              <a:path w="828918" h="34538">
                <a:moveTo>
                  <a:pt x="0" y="0"/>
                </a:moveTo>
                <a:lnTo>
                  <a:pt x="828918" y="0"/>
                </a:lnTo>
                <a:lnTo>
                  <a:pt x="828918" y="34538"/>
                </a:lnTo>
                <a:lnTo>
                  <a:pt x="0" y="34538"/>
                </a:lnTo>
                <a:lnTo>
                  <a:pt x="0" y="0"/>
                </a:lnTo>
                <a:close/>
              </a:path>
            </a:pathLst>
          </a:custGeom>
          <a:solidFill>
            <a:srgbClr val="FF6B00"/>
          </a:solidFill>
          <a:ln/>
        </p:spPr>
      </p:sp>
      <p:sp>
        <p:nvSpPr>
          <p:cNvPr id="5" name="Shape 3"/>
          <p:cNvSpPr/>
          <p:nvPr/>
        </p:nvSpPr>
        <p:spPr>
          <a:xfrm>
            <a:off x="345382" y="1243377"/>
            <a:ext cx="7546606" cy="5612465"/>
          </a:xfrm>
          <a:custGeom>
            <a:avLst/>
            <a:gdLst/>
            <a:ahLst/>
            <a:cxnLst/>
            <a:rect l="l" t="t" r="r" b="b"/>
            <a:pathLst>
              <a:path w="7546606" h="5612465">
                <a:moveTo>
                  <a:pt x="103606" y="0"/>
                </a:moveTo>
                <a:lnTo>
                  <a:pt x="7443000" y="0"/>
                </a:lnTo>
                <a:cubicBezTo>
                  <a:pt x="7500220" y="0"/>
                  <a:pt x="7546606" y="46386"/>
                  <a:pt x="7546606" y="103606"/>
                </a:cubicBezTo>
                <a:lnTo>
                  <a:pt x="7546606" y="5508858"/>
                </a:lnTo>
                <a:cubicBezTo>
                  <a:pt x="7546606" y="5566079"/>
                  <a:pt x="7500220" y="5612465"/>
                  <a:pt x="7443000" y="5612465"/>
                </a:cubicBezTo>
                <a:lnTo>
                  <a:pt x="103606" y="5612465"/>
                </a:lnTo>
                <a:cubicBezTo>
                  <a:pt x="46386" y="5612465"/>
                  <a:pt x="0" y="5566079"/>
                  <a:pt x="0" y="5508858"/>
                </a:cubicBezTo>
                <a:lnTo>
                  <a:pt x="0" y="103606"/>
                </a:lnTo>
                <a:cubicBezTo>
                  <a:pt x="0" y="46424"/>
                  <a:pt x="46424" y="0"/>
                  <a:pt x="103606" y="0"/>
                </a:cubicBezTo>
                <a:close/>
              </a:path>
            </a:pathLst>
          </a:custGeom>
          <a:solidFill>
            <a:srgbClr val="F9FAFB"/>
          </a:solidFill>
          <a:ln/>
        </p:spPr>
      </p:sp>
      <p:sp>
        <p:nvSpPr>
          <p:cNvPr id="6" name="Text 4"/>
          <p:cNvSpPr/>
          <p:nvPr/>
        </p:nvSpPr>
        <p:spPr>
          <a:xfrm>
            <a:off x="518074" y="1416068"/>
            <a:ext cx="7287569" cy="241768"/>
          </a:xfrm>
          <a:prstGeom prst="rect">
            <a:avLst/>
          </a:prstGeom>
          <a:noFill/>
          <a:ln/>
        </p:spPr>
        <p:txBody>
          <a:bodyPr wrap="square" lIns="0" tIns="0" rIns="0" bIns="0" rtlCol="0" anchor="ctr"/>
          <a:lstStyle/>
          <a:p>
            <a:pPr>
              <a:lnSpc>
                <a:spcPct val="120000"/>
              </a:lnSpc>
            </a:pPr>
            <a:r>
              <a:rPr lang="en-US" sz="1360" b="1" dirty="0">
                <a:solidFill>
                  <a:srgbClr val="003087"/>
                </a:solidFill>
                <a:latin typeface="Liter" pitchFamily="34" charset="0"/>
                <a:ea typeface="Liter" pitchFamily="34" charset="-122"/>
                <a:cs typeface="Liter" pitchFamily="34" charset="-120"/>
              </a:rPr>
              <a:t>Risk Matrix &amp; Mitigation Strategies</a:t>
            </a:r>
            <a:endParaRPr lang="en-US" sz="1600" dirty="0"/>
          </a:p>
        </p:txBody>
      </p:sp>
      <p:pic>
        <p:nvPicPr>
          <p:cNvPr id="7" name="Image 0" descr="https://kimi-img.moonshot.cn/pub/slides/26-03-07-03:54:51-d6lj22q0ar87bmtgcqf0.png"/>
          <p:cNvPicPr>
            <a:picLocks noChangeAspect="1"/>
          </p:cNvPicPr>
          <p:nvPr/>
        </p:nvPicPr>
        <p:blipFill>
          <a:blip r:embed="rId3"/>
          <a:srcRect/>
          <a:stretch/>
        </p:blipFill>
        <p:spPr>
          <a:xfrm>
            <a:off x="518074" y="1795989"/>
            <a:ext cx="6450017" cy="3626516"/>
          </a:xfrm>
          <a:prstGeom prst="roundRect">
            <a:avLst>
              <a:gd name="adj" fmla="val 0"/>
            </a:avLst>
          </a:prstGeom>
        </p:spPr>
      </p:pic>
      <p:sp>
        <p:nvSpPr>
          <p:cNvPr id="8" name="Shape 5"/>
          <p:cNvSpPr/>
          <p:nvPr/>
        </p:nvSpPr>
        <p:spPr>
          <a:xfrm>
            <a:off x="8067850" y="1243377"/>
            <a:ext cx="3773303" cy="3108442"/>
          </a:xfrm>
          <a:custGeom>
            <a:avLst/>
            <a:gdLst/>
            <a:ahLst/>
            <a:cxnLst/>
            <a:rect l="l" t="t" r="r" b="b"/>
            <a:pathLst>
              <a:path w="3773303" h="3108442">
                <a:moveTo>
                  <a:pt x="103604" y="0"/>
                </a:moveTo>
                <a:lnTo>
                  <a:pt x="3669699" y="0"/>
                </a:lnTo>
                <a:cubicBezTo>
                  <a:pt x="3726918" y="0"/>
                  <a:pt x="3773303" y="46385"/>
                  <a:pt x="3773303" y="103604"/>
                </a:cubicBezTo>
                <a:lnTo>
                  <a:pt x="3773303" y="3004838"/>
                </a:lnTo>
                <a:cubicBezTo>
                  <a:pt x="3773303" y="3062057"/>
                  <a:pt x="3726918" y="3108442"/>
                  <a:pt x="3669699" y="3108442"/>
                </a:cubicBezTo>
                <a:lnTo>
                  <a:pt x="103604" y="3108442"/>
                </a:lnTo>
                <a:cubicBezTo>
                  <a:pt x="46385" y="3108442"/>
                  <a:pt x="0" y="3062057"/>
                  <a:pt x="0" y="3004838"/>
                </a:cubicBezTo>
                <a:lnTo>
                  <a:pt x="0" y="103604"/>
                </a:lnTo>
                <a:cubicBezTo>
                  <a:pt x="0" y="46385"/>
                  <a:pt x="46385" y="0"/>
                  <a:pt x="103604" y="0"/>
                </a:cubicBezTo>
                <a:close/>
              </a:path>
            </a:pathLst>
          </a:custGeom>
          <a:gradFill flip="none" rotWithShape="1">
            <a:gsLst>
              <a:gs pos="0">
                <a:srgbClr val="FF6B00"/>
              </a:gs>
              <a:gs pos="100000">
                <a:srgbClr val="FF6B00">
                  <a:alpha val="80000"/>
                </a:srgbClr>
              </a:gs>
            </a:gsLst>
            <a:lin ang="2700000" scaled="1"/>
          </a:gradFill>
          <a:ln/>
        </p:spPr>
      </p:sp>
      <p:sp>
        <p:nvSpPr>
          <p:cNvPr id="9" name="Text 6"/>
          <p:cNvSpPr/>
          <p:nvPr/>
        </p:nvSpPr>
        <p:spPr>
          <a:xfrm>
            <a:off x="8240542" y="1416068"/>
            <a:ext cx="3505632" cy="241768"/>
          </a:xfrm>
          <a:prstGeom prst="rect">
            <a:avLst/>
          </a:prstGeom>
          <a:noFill/>
          <a:ln/>
        </p:spPr>
        <p:txBody>
          <a:bodyPr wrap="square" lIns="0" tIns="0" rIns="0" bIns="0" rtlCol="0" anchor="ctr"/>
          <a:lstStyle/>
          <a:p>
            <a:pPr>
              <a:lnSpc>
                <a:spcPct val="130000"/>
              </a:lnSpc>
            </a:pPr>
            <a:r>
              <a:rPr lang="en-US" sz="1224" b="1" dirty="0">
                <a:solidFill>
                  <a:srgbClr val="FFFFFF"/>
                </a:solidFill>
                <a:latin typeface="Liter" pitchFamily="34" charset="0"/>
                <a:ea typeface="Liter" pitchFamily="34" charset="-122"/>
                <a:cs typeface="Liter" pitchFamily="34" charset="-120"/>
              </a:rPr>
              <a:t>Key Risk Categories</a:t>
            </a:r>
            <a:endParaRPr lang="en-US" sz="1600" dirty="0"/>
          </a:p>
        </p:txBody>
      </p:sp>
      <p:sp>
        <p:nvSpPr>
          <p:cNvPr id="10" name="Shape 7"/>
          <p:cNvSpPr/>
          <p:nvPr/>
        </p:nvSpPr>
        <p:spPr>
          <a:xfrm>
            <a:off x="8240542" y="1761450"/>
            <a:ext cx="3427921" cy="552612"/>
          </a:xfrm>
          <a:custGeom>
            <a:avLst/>
            <a:gdLst/>
            <a:ahLst/>
            <a:cxnLst/>
            <a:rect l="l" t="t" r="r" b="b"/>
            <a:pathLst>
              <a:path w="3427921" h="552612">
                <a:moveTo>
                  <a:pt x="69076" y="0"/>
                </a:moveTo>
                <a:lnTo>
                  <a:pt x="3358844" y="0"/>
                </a:lnTo>
                <a:cubicBezTo>
                  <a:pt x="3396994" y="0"/>
                  <a:pt x="3427921" y="30927"/>
                  <a:pt x="3427921" y="69076"/>
                </a:cubicBezTo>
                <a:lnTo>
                  <a:pt x="3427921" y="483535"/>
                </a:lnTo>
                <a:cubicBezTo>
                  <a:pt x="3427921" y="521685"/>
                  <a:pt x="3396994" y="552612"/>
                  <a:pt x="3358844" y="552612"/>
                </a:cubicBezTo>
                <a:lnTo>
                  <a:pt x="69076" y="552612"/>
                </a:lnTo>
                <a:cubicBezTo>
                  <a:pt x="30927" y="552612"/>
                  <a:pt x="0" y="521685"/>
                  <a:pt x="0" y="483535"/>
                </a:cubicBezTo>
                <a:lnTo>
                  <a:pt x="0" y="69076"/>
                </a:lnTo>
                <a:cubicBezTo>
                  <a:pt x="0" y="30952"/>
                  <a:pt x="30952" y="0"/>
                  <a:pt x="69076" y="0"/>
                </a:cubicBezTo>
                <a:close/>
              </a:path>
            </a:pathLst>
          </a:custGeom>
          <a:solidFill>
            <a:srgbClr val="FFFFFF">
              <a:alpha val="10196"/>
            </a:srgbClr>
          </a:solidFill>
          <a:ln/>
        </p:spPr>
      </p:sp>
      <p:sp>
        <p:nvSpPr>
          <p:cNvPr id="11" name="Text 8"/>
          <p:cNvSpPr/>
          <p:nvPr/>
        </p:nvSpPr>
        <p:spPr>
          <a:xfrm>
            <a:off x="8344156" y="1865065"/>
            <a:ext cx="3281133" cy="172691"/>
          </a:xfrm>
          <a:prstGeom prst="rect">
            <a:avLst/>
          </a:prstGeom>
          <a:noFill/>
          <a:ln/>
        </p:spPr>
        <p:txBody>
          <a:bodyPr wrap="square" lIns="0" tIns="0" rIns="0" bIns="0" rtlCol="0" anchor="ctr"/>
          <a:lstStyle/>
          <a:p>
            <a:pPr>
              <a:lnSpc>
                <a:spcPct val="120000"/>
              </a:lnSpc>
            </a:pPr>
            <a:r>
              <a:rPr lang="en-US" sz="952" b="1" dirty="0">
                <a:solidFill>
                  <a:srgbClr val="FFFFFF"/>
                </a:solidFill>
                <a:latin typeface="Quattrocento Sans" pitchFamily="34" charset="0"/>
                <a:ea typeface="Quattrocento Sans" pitchFamily="34" charset="-122"/>
                <a:cs typeface="Quattrocento Sans" pitchFamily="34" charset="-120"/>
              </a:rPr>
              <a:t>Technology Integration</a:t>
            </a:r>
            <a:endParaRPr lang="en-US" sz="1600" dirty="0"/>
          </a:p>
        </p:txBody>
      </p:sp>
      <p:sp>
        <p:nvSpPr>
          <p:cNvPr id="12" name="Text 9"/>
          <p:cNvSpPr/>
          <p:nvPr/>
        </p:nvSpPr>
        <p:spPr>
          <a:xfrm>
            <a:off x="8344156" y="2072295"/>
            <a:ext cx="3272499" cy="138153"/>
          </a:xfrm>
          <a:prstGeom prst="rect">
            <a:avLst/>
          </a:prstGeom>
          <a:noFill/>
          <a:ln/>
        </p:spPr>
        <p:txBody>
          <a:bodyPr wrap="square" lIns="0" tIns="0" rIns="0" bIns="0" rtlCol="0" anchor="ctr"/>
          <a:lstStyle/>
          <a:p>
            <a:pPr>
              <a:lnSpc>
                <a:spcPct val="110000"/>
              </a:lnSpc>
            </a:pPr>
            <a:r>
              <a:rPr lang="en-US" sz="816" dirty="0">
                <a:solidFill>
                  <a:srgbClr val="FFFFFF">
                    <a:alpha val="80000"/>
                  </a:srgbClr>
                </a:solidFill>
                <a:latin typeface="Quattrocento Sans" pitchFamily="34" charset="0"/>
                <a:ea typeface="Quattrocento Sans" pitchFamily="34" charset="-122"/>
                <a:cs typeface="Quattrocento Sans" pitchFamily="34" charset="-120"/>
              </a:rPr>
              <a:t>Legacy system compatibility, data migration</a:t>
            </a:r>
            <a:endParaRPr lang="en-US" sz="1600" dirty="0"/>
          </a:p>
        </p:txBody>
      </p:sp>
      <p:sp>
        <p:nvSpPr>
          <p:cNvPr id="13" name="Shape 10"/>
          <p:cNvSpPr/>
          <p:nvPr/>
        </p:nvSpPr>
        <p:spPr>
          <a:xfrm>
            <a:off x="8240542" y="2383139"/>
            <a:ext cx="3427921" cy="552612"/>
          </a:xfrm>
          <a:custGeom>
            <a:avLst/>
            <a:gdLst/>
            <a:ahLst/>
            <a:cxnLst/>
            <a:rect l="l" t="t" r="r" b="b"/>
            <a:pathLst>
              <a:path w="3427921" h="552612">
                <a:moveTo>
                  <a:pt x="69076" y="0"/>
                </a:moveTo>
                <a:lnTo>
                  <a:pt x="3358844" y="0"/>
                </a:lnTo>
                <a:cubicBezTo>
                  <a:pt x="3396994" y="0"/>
                  <a:pt x="3427921" y="30927"/>
                  <a:pt x="3427921" y="69076"/>
                </a:cubicBezTo>
                <a:lnTo>
                  <a:pt x="3427921" y="483535"/>
                </a:lnTo>
                <a:cubicBezTo>
                  <a:pt x="3427921" y="521685"/>
                  <a:pt x="3396994" y="552612"/>
                  <a:pt x="3358844" y="552612"/>
                </a:cubicBezTo>
                <a:lnTo>
                  <a:pt x="69076" y="552612"/>
                </a:lnTo>
                <a:cubicBezTo>
                  <a:pt x="30927" y="552612"/>
                  <a:pt x="0" y="521685"/>
                  <a:pt x="0" y="483535"/>
                </a:cubicBezTo>
                <a:lnTo>
                  <a:pt x="0" y="69076"/>
                </a:lnTo>
                <a:cubicBezTo>
                  <a:pt x="0" y="30952"/>
                  <a:pt x="30952" y="0"/>
                  <a:pt x="69076" y="0"/>
                </a:cubicBezTo>
                <a:close/>
              </a:path>
            </a:pathLst>
          </a:custGeom>
          <a:solidFill>
            <a:srgbClr val="FFFFFF">
              <a:alpha val="10196"/>
            </a:srgbClr>
          </a:solidFill>
          <a:ln/>
        </p:spPr>
      </p:sp>
      <p:sp>
        <p:nvSpPr>
          <p:cNvPr id="14" name="Text 11"/>
          <p:cNvSpPr/>
          <p:nvPr/>
        </p:nvSpPr>
        <p:spPr>
          <a:xfrm>
            <a:off x="8344156" y="2486754"/>
            <a:ext cx="3281133" cy="172691"/>
          </a:xfrm>
          <a:prstGeom prst="rect">
            <a:avLst/>
          </a:prstGeom>
          <a:noFill/>
          <a:ln/>
        </p:spPr>
        <p:txBody>
          <a:bodyPr wrap="square" lIns="0" tIns="0" rIns="0" bIns="0" rtlCol="0" anchor="ctr"/>
          <a:lstStyle/>
          <a:p>
            <a:pPr>
              <a:lnSpc>
                <a:spcPct val="120000"/>
              </a:lnSpc>
            </a:pPr>
            <a:r>
              <a:rPr lang="en-US" sz="952" b="1" dirty="0">
                <a:solidFill>
                  <a:srgbClr val="FFFFFF"/>
                </a:solidFill>
                <a:latin typeface="Quattrocento Sans" pitchFamily="34" charset="0"/>
                <a:ea typeface="Quattrocento Sans" pitchFamily="34" charset="-122"/>
                <a:cs typeface="Quattrocento Sans" pitchFamily="34" charset="-120"/>
              </a:rPr>
              <a:t>Data Security</a:t>
            </a:r>
            <a:endParaRPr lang="en-US" sz="1600" dirty="0"/>
          </a:p>
        </p:txBody>
      </p:sp>
      <p:sp>
        <p:nvSpPr>
          <p:cNvPr id="15" name="Text 12"/>
          <p:cNvSpPr/>
          <p:nvPr/>
        </p:nvSpPr>
        <p:spPr>
          <a:xfrm>
            <a:off x="8344156" y="2693983"/>
            <a:ext cx="3272499" cy="138153"/>
          </a:xfrm>
          <a:prstGeom prst="rect">
            <a:avLst/>
          </a:prstGeom>
          <a:noFill/>
          <a:ln/>
        </p:spPr>
        <p:txBody>
          <a:bodyPr wrap="square" lIns="0" tIns="0" rIns="0" bIns="0" rtlCol="0" anchor="ctr"/>
          <a:lstStyle/>
          <a:p>
            <a:pPr>
              <a:lnSpc>
                <a:spcPct val="110000"/>
              </a:lnSpc>
            </a:pPr>
            <a:r>
              <a:rPr lang="en-US" sz="816" dirty="0">
                <a:solidFill>
                  <a:srgbClr val="FFFFFF">
                    <a:alpha val="80000"/>
                  </a:srgbClr>
                </a:solidFill>
                <a:latin typeface="Quattrocento Sans" pitchFamily="34" charset="0"/>
                <a:ea typeface="Quattrocento Sans" pitchFamily="34" charset="-122"/>
                <a:cs typeface="Quattrocento Sans" pitchFamily="34" charset="-120"/>
              </a:rPr>
              <a:t>Cyber threats, data breaches, privacy</a:t>
            </a:r>
            <a:endParaRPr lang="en-US" sz="1600" dirty="0"/>
          </a:p>
        </p:txBody>
      </p:sp>
      <p:sp>
        <p:nvSpPr>
          <p:cNvPr id="16" name="Shape 13"/>
          <p:cNvSpPr/>
          <p:nvPr/>
        </p:nvSpPr>
        <p:spPr>
          <a:xfrm>
            <a:off x="8240542" y="3004827"/>
            <a:ext cx="3427921" cy="552612"/>
          </a:xfrm>
          <a:custGeom>
            <a:avLst/>
            <a:gdLst/>
            <a:ahLst/>
            <a:cxnLst/>
            <a:rect l="l" t="t" r="r" b="b"/>
            <a:pathLst>
              <a:path w="3427921" h="552612">
                <a:moveTo>
                  <a:pt x="69076" y="0"/>
                </a:moveTo>
                <a:lnTo>
                  <a:pt x="3358844" y="0"/>
                </a:lnTo>
                <a:cubicBezTo>
                  <a:pt x="3396994" y="0"/>
                  <a:pt x="3427921" y="30927"/>
                  <a:pt x="3427921" y="69076"/>
                </a:cubicBezTo>
                <a:lnTo>
                  <a:pt x="3427921" y="483535"/>
                </a:lnTo>
                <a:cubicBezTo>
                  <a:pt x="3427921" y="521685"/>
                  <a:pt x="3396994" y="552612"/>
                  <a:pt x="3358844" y="552612"/>
                </a:cubicBezTo>
                <a:lnTo>
                  <a:pt x="69076" y="552612"/>
                </a:lnTo>
                <a:cubicBezTo>
                  <a:pt x="30927" y="552612"/>
                  <a:pt x="0" y="521685"/>
                  <a:pt x="0" y="483535"/>
                </a:cubicBezTo>
                <a:lnTo>
                  <a:pt x="0" y="69076"/>
                </a:lnTo>
                <a:cubicBezTo>
                  <a:pt x="0" y="30952"/>
                  <a:pt x="30952" y="0"/>
                  <a:pt x="69076" y="0"/>
                </a:cubicBezTo>
                <a:close/>
              </a:path>
            </a:pathLst>
          </a:custGeom>
          <a:solidFill>
            <a:srgbClr val="FFFFFF">
              <a:alpha val="10196"/>
            </a:srgbClr>
          </a:solidFill>
          <a:ln/>
        </p:spPr>
      </p:sp>
      <p:sp>
        <p:nvSpPr>
          <p:cNvPr id="17" name="Text 14"/>
          <p:cNvSpPr/>
          <p:nvPr/>
        </p:nvSpPr>
        <p:spPr>
          <a:xfrm>
            <a:off x="8344156" y="3108442"/>
            <a:ext cx="3281133" cy="172691"/>
          </a:xfrm>
          <a:prstGeom prst="rect">
            <a:avLst/>
          </a:prstGeom>
          <a:noFill/>
          <a:ln/>
        </p:spPr>
        <p:txBody>
          <a:bodyPr wrap="square" lIns="0" tIns="0" rIns="0" bIns="0" rtlCol="0" anchor="ctr"/>
          <a:lstStyle/>
          <a:p>
            <a:pPr>
              <a:lnSpc>
                <a:spcPct val="120000"/>
              </a:lnSpc>
            </a:pPr>
            <a:r>
              <a:rPr lang="en-US" sz="952" b="1" dirty="0">
                <a:solidFill>
                  <a:srgbClr val="FFFFFF"/>
                </a:solidFill>
                <a:latin typeface="Quattrocento Sans" pitchFamily="34" charset="0"/>
                <a:ea typeface="Quattrocento Sans" pitchFamily="34" charset="-122"/>
                <a:cs typeface="Quattrocento Sans" pitchFamily="34" charset="-120"/>
              </a:rPr>
              <a:t>Regulatory Compliance</a:t>
            </a:r>
            <a:endParaRPr lang="en-US" sz="1600" dirty="0"/>
          </a:p>
        </p:txBody>
      </p:sp>
      <p:sp>
        <p:nvSpPr>
          <p:cNvPr id="18" name="Text 15"/>
          <p:cNvSpPr/>
          <p:nvPr/>
        </p:nvSpPr>
        <p:spPr>
          <a:xfrm>
            <a:off x="8344156" y="3315671"/>
            <a:ext cx="3272499" cy="138153"/>
          </a:xfrm>
          <a:prstGeom prst="rect">
            <a:avLst/>
          </a:prstGeom>
          <a:noFill/>
          <a:ln/>
        </p:spPr>
        <p:txBody>
          <a:bodyPr wrap="square" lIns="0" tIns="0" rIns="0" bIns="0" rtlCol="0" anchor="ctr"/>
          <a:lstStyle/>
          <a:p>
            <a:pPr>
              <a:lnSpc>
                <a:spcPct val="110000"/>
              </a:lnSpc>
            </a:pPr>
            <a:r>
              <a:rPr lang="en-US" sz="816" dirty="0">
                <a:solidFill>
                  <a:srgbClr val="FFFFFF">
                    <a:alpha val="80000"/>
                  </a:srgbClr>
                </a:solidFill>
                <a:latin typeface="Quattrocento Sans" pitchFamily="34" charset="0"/>
                <a:ea typeface="Quattrocento Sans" pitchFamily="34" charset="-122"/>
                <a:cs typeface="Quattrocento Sans" pitchFamily="34" charset="-120"/>
              </a:rPr>
              <a:t>NDPA, CBN requirements, audit trails</a:t>
            </a:r>
            <a:endParaRPr lang="en-US" sz="1600" dirty="0"/>
          </a:p>
        </p:txBody>
      </p:sp>
      <p:sp>
        <p:nvSpPr>
          <p:cNvPr id="19" name="Shape 16"/>
          <p:cNvSpPr/>
          <p:nvPr/>
        </p:nvSpPr>
        <p:spPr>
          <a:xfrm>
            <a:off x="8240542" y="3626516"/>
            <a:ext cx="3427921" cy="552612"/>
          </a:xfrm>
          <a:custGeom>
            <a:avLst/>
            <a:gdLst/>
            <a:ahLst/>
            <a:cxnLst/>
            <a:rect l="l" t="t" r="r" b="b"/>
            <a:pathLst>
              <a:path w="3427921" h="552612">
                <a:moveTo>
                  <a:pt x="69076" y="0"/>
                </a:moveTo>
                <a:lnTo>
                  <a:pt x="3358844" y="0"/>
                </a:lnTo>
                <a:cubicBezTo>
                  <a:pt x="3396994" y="0"/>
                  <a:pt x="3427921" y="30927"/>
                  <a:pt x="3427921" y="69076"/>
                </a:cubicBezTo>
                <a:lnTo>
                  <a:pt x="3427921" y="483535"/>
                </a:lnTo>
                <a:cubicBezTo>
                  <a:pt x="3427921" y="521685"/>
                  <a:pt x="3396994" y="552612"/>
                  <a:pt x="3358844" y="552612"/>
                </a:cubicBezTo>
                <a:lnTo>
                  <a:pt x="69076" y="552612"/>
                </a:lnTo>
                <a:cubicBezTo>
                  <a:pt x="30927" y="552612"/>
                  <a:pt x="0" y="521685"/>
                  <a:pt x="0" y="483535"/>
                </a:cubicBezTo>
                <a:lnTo>
                  <a:pt x="0" y="69076"/>
                </a:lnTo>
                <a:cubicBezTo>
                  <a:pt x="0" y="30952"/>
                  <a:pt x="30952" y="0"/>
                  <a:pt x="69076" y="0"/>
                </a:cubicBezTo>
                <a:close/>
              </a:path>
            </a:pathLst>
          </a:custGeom>
          <a:solidFill>
            <a:srgbClr val="FFFFFF">
              <a:alpha val="10196"/>
            </a:srgbClr>
          </a:solidFill>
          <a:ln/>
        </p:spPr>
      </p:sp>
      <p:sp>
        <p:nvSpPr>
          <p:cNvPr id="20" name="Text 17"/>
          <p:cNvSpPr/>
          <p:nvPr/>
        </p:nvSpPr>
        <p:spPr>
          <a:xfrm>
            <a:off x="8344156" y="3730130"/>
            <a:ext cx="3281133" cy="172691"/>
          </a:xfrm>
          <a:prstGeom prst="rect">
            <a:avLst/>
          </a:prstGeom>
          <a:noFill/>
          <a:ln/>
        </p:spPr>
        <p:txBody>
          <a:bodyPr wrap="square" lIns="0" tIns="0" rIns="0" bIns="0" rtlCol="0" anchor="ctr"/>
          <a:lstStyle/>
          <a:p>
            <a:pPr>
              <a:lnSpc>
                <a:spcPct val="120000"/>
              </a:lnSpc>
            </a:pPr>
            <a:r>
              <a:rPr lang="en-US" sz="952" b="1" dirty="0">
                <a:solidFill>
                  <a:srgbClr val="FFFFFF"/>
                </a:solidFill>
                <a:latin typeface="Quattrocento Sans" pitchFamily="34" charset="0"/>
                <a:ea typeface="Quattrocento Sans" pitchFamily="34" charset="-122"/>
                <a:cs typeface="Quattrocento Sans" pitchFamily="34" charset="-120"/>
              </a:rPr>
              <a:t>Change Resistance</a:t>
            </a:r>
            <a:endParaRPr lang="en-US" sz="1600" dirty="0"/>
          </a:p>
        </p:txBody>
      </p:sp>
      <p:sp>
        <p:nvSpPr>
          <p:cNvPr id="21" name="Text 18"/>
          <p:cNvSpPr/>
          <p:nvPr/>
        </p:nvSpPr>
        <p:spPr>
          <a:xfrm>
            <a:off x="8344156" y="3937360"/>
            <a:ext cx="3272499" cy="138153"/>
          </a:xfrm>
          <a:prstGeom prst="rect">
            <a:avLst/>
          </a:prstGeom>
          <a:noFill/>
          <a:ln/>
        </p:spPr>
        <p:txBody>
          <a:bodyPr wrap="square" lIns="0" tIns="0" rIns="0" bIns="0" rtlCol="0" anchor="ctr"/>
          <a:lstStyle/>
          <a:p>
            <a:pPr>
              <a:lnSpc>
                <a:spcPct val="110000"/>
              </a:lnSpc>
            </a:pPr>
            <a:r>
              <a:rPr lang="en-US" sz="816" dirty="0">
                <a:solidFill>
                  <a:srgbClr val="FFFFFF">
                    <a:alpha val="80000"/>
                  </a:srgbClr>
                </a:solidFill>
                <a:latin typeface="Quattrocento Sans" pitchFamily="34" charset="0"/>
                <a:ea typeface="Quattrocento Sans" pitchFamily="34" charset="-122"/>
                <a:cs typeface="Quattrocento Sans" pitchFamily="34" charset="-120"/>
              </a:rPr>
              <a:t>Employee adoption, skill gaps</a:t>
            </a:r>
            <a:endParaRPr lang="en-US" sz="1600" dirty="0"/>
          </a:p>
        </p:txBody>
      </p:sp>
      <p:sp>
        <p:nvSpPr>
          <p:cNvPr id="22" name="Shape 19"/>
          <p:cNvSpPr/>
          <p:nvPr/>
        </p:nvSpPr>
        <p:spPr>
          <a:xfrm>
            <a:off x="8085120" y="4455433"/>
            <a:ext cx="3756034" cy="1346992"/>
          </a:xfrm>
          <a:custGeom>
            <a:avLst/>
            <a:gdLst/>
            <a:ahLst/>
            <a:cxnLst/>
            <a:rect l="l" t="t" r="r" b="b"/>
            <a:pathLst>
              <a:path w="3756034" h="1346992">
                <a:moveTo>
                  <a:pt x="34538" y="0"/>
                </a:moveTo>
                <a:lnTo>
                  <a:pt x="3652423" y="0"/>
                </a:lnTo>
                <a:cubicBezTo>
                  <a:pt x="3709646" y="0"/>
                  <a:pt x="3756034" y="46388"/>
                  <a:pt x="3756034" y="103611"/>
                </a:cubicBezTo>
                <a:lnTo>
                  <a:pt x="3756034" y="1243381"/>
                </a:lnTo>
                <a:cubicBezTo>
                  <a:pt x="3756034" y="1300603"/>
                  <a:pt x="3709646" y="1346992"/>
                  <a:pt x="3652423" y="1346992"/>
                </a:cubicBezTo>
                <a:lnTo>
                  <a:pt x="34538" y="1346992"/>
                </a:lnTo>
                <a:cubicBezTo>
                  <a:pt x="15463" y="1346992"/>
                  <a:pt x="0" y="1331528"/>
                  <a:pt x="0" y="1312453"/>
                </a:cubicBezTo>
                <a:lnTo>
                  <a:pt x="0" y="34538"/>
                </a:lnTo>
                <a:cubicBezTo>
                  <a:pt x="0" y="15476"/>
                  <a:pt x="15476" y="0"/>
                  <a:pt x="34538" y="0"/>
                </a:cubicBezTo>
                <a:close/>
              </a:path>
            </a:pathLst>
          </a:custGeom>
          <a:solidFill>
            <a:srgbClr val="003087">
              <a:alpha val="10196"/>
            </a:srgbClr>
          </a:solidFill>
          <a:ln/>
        </p:spPr>
      </p:sp>
      <p:sp>
        <p:nvSpPr>
          <p:cNvPr id="23" name="Shape 20"/>
          <p:cNvSpPr/>
          <p:nvPr/>
        </p:nvSpPr>
        <p:spPr>
          <a:xfrm>
            <a:off x="8085120" y="4455433"/>
            <a:ext cx="34538" cy="1346992"/>
          </a:xfrm>
          <a:custGeom>
            <a:avLst/>
            <a:gdLst/>
            <a:ahLst/>
            <a:cxnLst/>
            <a:rect l="l" t="t" r="r" b="b"/>
            <a:pathLst>
              <a:path w="34538" h="1346992">
                <a:moveTo>
                  <a:pt x="34538" y="0"/>
                </a:moveTo>
                <a:lnTo>
                  <a:pt x="34538" y="0"/>
                </a:lnTo>
                <a:lnTo>
                  <a:pt x="34538" y="1346992"/>
                </a:lnTo>
                <a:lnTo>
                  <a:pt x="34538" y="1346992"/>
                </a:lnTo>
                <a:cubicBezTo>
                  <a:pt x="15463" y="1346992"/>
                  <a:pt x="0" y="1331528"/>
                  <a:pt x="0" y="1312453"/>
                </a:cubicBezTo>
                <a:lnTo>
                  <a:pt x="0" y="34538"/>
                </a:lnTo>
                <a:cubicBezTo>
                  <a:pt x="0" y="15476"/>
                  <a:pt x="15476" y="0"/>
                  <a:pt x="34538" y="0"/>
                </a:cubicBezTo>
                <a:close/>
              </a:path>
            </a:pathLst>
          </a:custGeom>
          <a:solidFill>
            <a:srgbClr val="003087"/>
          </a:solidFill>
          <a:ln/>
        </p:spPr>
      </p:sp>
      <p:sp>
        <p:nvSpPr>
          <p:cNvPr id="24" name="Text 21"/>
          <p:cNvSpPr/>
          <p:nvPr/>
        </p:nvSpPr>
        <p:spPr>
          <a:xfrm>
            <a:off x="8240542" y="4593586"/>
            <a:ext cx="3531535" cy="207229"/>
          </a:xfrm>
          <a:prstGeom prst="rect">
            <a:avLst/>
          </a:prstGeom>
          <a:noFill/>
          <a:ln/>
        </p:spPr>
        <p:txBody>
          <a:bodyPr wrap="square" lIns="0" tIns="0" rIns="0" bIns="0" rtlCol="0" anchor="ctr"/>
          <a:lstStyle/>
          <a:p>
            <a:pPr>
              <a:lnSpc>
                <a:spcPct val="130000"/>
              </a:lnSpc>
            </a:pPr>
            <a:r>
              <a:rPr lang="en-US" sz="1088" b="1" dirty="0">
                <a:solidFill>
                  <a:srgbClr val="003087"/>
                </a:solidFill>
                <a:latin typeface="Liter" pitchFamily="34" charset="0"/>
                <a:ea typeface="Liter" pitchFamily="34" charset="-122"/>
                <a:cs typeface="Liter" pitchFamily="34" charset="-120"/>
              </a:rPr>
              <a:t>Risk Monitoring</a:t>
            </a:r>
            <a:endParaRPr lang="en-US" sz="1600" dirty="0"/>
          </a:p>
        </p:txBody>
      </p:sp>
      <p:sp>
        <p:nvSpPr>
          <p:cNvPr id="25" name="Shape 22"/>
          <p:cNvSpPr/>
          <p:nvPr/>
        </p:nvSpPr>
        <p:spPr>
          <a:xfrm>
            <a:off x="8257811" y="4904431"/>
            <a:ext cx="120884" cy="120884"/>
          </a:xfrm>
          <a:custGeom>
            <a:avLst/>
            <a:gdLst/>
            <a:ahLst/>
            <a:cxnLst/>
            <a:rect l="l" t="t" r="r" b="b"/>
            <a:pathLst>
              <a:path w="120884" h="120884">
                <a:moveTo>
                  <a:pt x="60442" y="120884"/>
                </a:moveTo>
                <a:cubicBezTo>
                  <a:pt x="93801" y="120884"/>
                  <a:pt x="120884" y="93801"/>
                  <a:pt x="120884" y="60442"/>
                </a:cubicBezTo>
                <a:cubicBezTo>
                  <a:pt x="120884" y="27083"/>
                  <a:pt x="93801" y="0"/>
                  <a:pt x="60442" y="0"/>
                </a:cubicBezTo>
                <a:cubicBezTo>
                  <a:pt x="27083" y="0"/>
                  <a:pt x="0" y="27083"/>
                  <a:pt x="0" y="60442"/>
                </a:cubicBezTo>
                <a:cubicBezTo>
                  <a:pt x="0" y="93801"/>
                  <a:pt x="27083" y="120884"/>
                  <a:pt x="60442" y="120884"/>
                </a:cubicBezTo>
                <a:close/>
                <a:moveTo>
                  <a:pt x="80369" y="50219"/>
                </a:moveTo>
                <a:lnTo>
                  <a:pt x="61481" y="80440"/>
                </a:lnTo>
                <a:cubicBezTo>
                  <a:pt x="60489" y="82022"/>
                  <a:pt x="58789" y="83013"/>
                  <a:pt x="56924" y="83108"/>
                </a:cubicBezTo>
                <a:cubicBezTo>
                  <a:pt x="55059" y="83202"/>
                  <a:pt x="53264" y="82352"/>
                  <a:pt x="52155" y="80841"/>
                </a:cubicBezTo>
                <a:lnTo>
                  <a:pt x="40822" y="65731"/>
                </a:lnTo>
                <a:cubicBezTo>
                  <a:pt x="38933" y="63228"/>
                  <a:pt x="39453" y="59686"/>
                  <a:pt x="41955" y="57798"/>
                </a:cubicBezTo>
                <a:cubicBezTo>
                  <a:pt x="44458" y="55909"/>
                  <a:pt x="47999" y="56428"/>
                  <a:pt x="49888" y="58931"/>
                </a:cubicBezTo>
                <a:lnTo>
                  <a:pt x="56263" y="67431"/>
                </a:lnTo>
                <a:lnTo>
                  <a:pt x="70760" y="44222"/>
                </a:lnTo>
                <a:cubicBezTo>
                  <a:pt x="72412" y="41577"/>
                  <a:pt x="75907" y="40751"/>
                  <a:pt x="78575" y="42427"/>
                </a:cubicBezTo>
                <a:cubicBezTo>
                  <a:pt x="81242" y="44104"/>
                  <a:pt x="82045" y="47574"/>
                  <a:pt x="80369" y="50242"/>
                </a:cubicBezTo>
                <a:close/>
              </a:path>
            </a:pathLst>
          </a:custGeom>
          <a:solidFill>
            <a:srgbClr val="FF6B00"/>
          </a:solidFill>
          <a:ln/>
        </p:spPr>
      </p:sp>
      <p:sp>
        <p:nvSpPr>
          <p:cNvPr id="26" name="Text 23"/>
          <p:cNvSpPr/>
          <p:nvPr/>
        </p:nvSpPr>
        <p:spPr>
          <a:xfrm>
            <a:off x="8460723" y="4869892"/>
            <a:ext cx="1113858" cy="172691"/>
          </a:xfrm>
          <a:prstGeom prst="rect">
            <a:avLst/>
          </a:prstGeom>
          <a:noFill/>
          <a:ln/>
        </p:spPr>
        <p:txBody>
          <a:bodyPr wrap="square" lIns="0" tIns="0" rIns="0" bIns="0" rtlCol="0" anchor="ctr"/>
          <a:lstStyle/>
          <a:p>
            <a:pPr>
              <a:lnSpc>
                <a:spcPct val="120000"/>
              </a:lnSpc>
            </a:pPr>
            <a:r>
              <a:rPr lang="en-US" sz="952" dirty="0">
                <a:solidFill>
                  <a:srgbClr val="1A1A1A">
                    <a:alpha val="80000"/>
                  </a:srgbClr>
                </a:solidFill>
                <a:latin typeface="Quattrocento Sans" pitchFamily="34" charset="0"/>
                <a:ea typeface="Quattrocento Sans" pitchFamily="34" charset="-122"/>
                <a:cs typeface="Quattrocento Sans" pitchFamily="34" charset="-120"/>
              </a:rPr>
              <a:t>Weekly risk reviews</a:t>
            </a:r>
            <a:endParaRPr lang="en-US" sz="1600" dirty="0"/>
          </a:p>
        </p:txBody>
      </p:sp>
      <p:sp>
        <p:nvSpPr>
          <p:cNvPr id="27" name="Shape 24"/>
          <p:cNvSpPr/>
          <p:nvPr/>
        </p:nvSpPr>
        <p:spPr>
          <a:xfrm>
            <a:off x="8257811" y="5111660"/>
            <a:ext cx="120884" cy="120884"/>
          </a:xfrm>
          <a:custGeom>
            <a:avLst/>
            <a:gdLst/>
            <a:ahLst/>
            <a:cxnLst/>
            <a:rect l="l" t="t" r="r" b="b"/>
            <a:pathLst>
              <a:path w="120884" h="120884">
                <a:moveTo>
                  <a:pt x="60442" y="120884"/>
                </a:moveTo>
                <a:cubicBezTo>
                  <a:pt x="93801" y="120884"/>
                  <a:pt x="120884" y="93801"/>
                  <a:pt x="120884" y="60442"/>
                </a:cubicBezTo>
                <a:cubicBezTo>
                  <a:pt x="120884" y="27083"/>
                  <a:pt x="93801" y="0"/>
                  <a:pt x="60442" y="0"/>
                </a:cubicBezTo>
                <a:cubicBezTo>
                  <a:pt x="27083" y="0"/>
                  <a:pt x="0" y="27083"/>
                  <a:pt x="0" y="60442"/>
                </a:cubicBezTo>
                <a:cubicBezTo>
                  <a:pt x="0" y="93801"/>
                  <a:pt x="27083" y="120884"/>
                  <a:pt x="60442" y="120884"/>
                </a:cubicBezTo>
                <a:close/>
                <a:moveTo>
                  <a:pt x="80369" y="50219"/>
                </a:moveTo>
                <a:lnTo>
                  <a:pt x="61481" y="80440"/>
                </a:lnTo>
                <a:cubicBezTo>
                  <a:pt x="60489" y="82022"/>
                  <a:pt x="58789" y="83013"/>
                  <a:pt x="56924" y="83108"/>
                </a:cubicBezTo>
                <a:cubicBezTo>
                  <a:pt x="55059" y="83202"/>
                  <a:pt x="53264" y="82352"/>
                  <a:pt x="52155" y="80841"/>
                </a:cubicBezTo>
                <a:lnTo>
                  <a:pt x="40822" y="65731"/>
                </a:lnTo>
                <a:cubicBezTo>
                  <a:pt x="38933" y="63228"/>
                  <a:pt x="39453" y="59686"/>
                  <a:pt x="41955" y="57798"/>
                </a:cubicBezTo>
                <a:cubicBezTo>
                  <a:pt x="44458" y="55909"/>
                  <a:pt x="47999" y="56428"/>
                  <a:pt x="49888" y="58931"/>
                </a:cubicBezTo>
                <a:lnTo>
                  <a:pt x="56263" y="67431"/>
                </a:lnTo>
                <a:lnTo>
                  <a:pt x="70760" y="44222"/>
                </a:lnTo>
                <a:cubicBezTo>
                  <a:pt x="72412" y="41577"/>
                  <a:pt x="75907" y="40751"/>
                  <a:pt x="78575" y="42427"/>
                </a:cubicBezTo>
                <a:cubicBezTo>
                  <a:pt x="81242" y="44104"/>
                  <a:pt x="82045" y="47574"/>
                  <a:pt x="80369" y="50242"/>
                </a:cubicBezTo>
                <a:close/>
              </a:path>
            </a:pathLst>
          </a:custGeom>
          <a:solidFill>
            <a:srgbClr val="FF6B00"/>
          </a:solidFill>
          <a:ln/>
        </p:spPr>
      </p:sp>
      <p:sp>
        <p:nvSpPr>
          <p:cNvPr id="28" name="Text 25"/>
          <p:cNvSpPr/>
          <p:nvPr/>
        </p:nvSpPr>
        <p:spPr>
          <a:xfrm>
            <a:off x="8460723" y="5077122"/>
            <a:ext cx="1139762" cy="172691"/>
          </a:xfrm>
          <a:prstGeom prst="rect">
            <a:avLst/>
          </a:prstGeom>
          <a:noFill/>
          <a:ln/>
        </p:spPr>
        <p:txBody>
          <a:bodyPr wrap="square" lIns="0" tIns="0" rIns="0" bIns="0" rtlCol="0" anchor="ctr"/>
          <a:lstStyle/>
          <a:p>
            <a:pPr>
              <a:lnSpc>
                <a:spcPct val="120000"/>
              </a:lnSpc>
            </a:pPr>
            <a:r>
              <a:rPr lang="en-US" sz="952" dirty="0">
                <a:solidFill>
                  <a:srgbClr val="1A1A1A">
                    <a:alpha val="80000"/>
                  </a:srgbClr>
                </a:solidFill>
                <a:latin typeface="Quattrocento Sans" pitchFamily="34" charset="0"/>
                <a:ea typeface="Quattrocento Sans" pitchFamily="34" charset="-122"/>
                <a:cs typeface="Quattrocento Sans" pitchFamily="34" charset="-120"/>
              </a:rPr>
              <a:t>Risk register updates</a:t>
            </a:r>
            <a:endParaRPr lang="en-US" sz="1600" dirty="0"/>
          </a:p>
        </p:txBody>
      </p:sp>
      <p:sp>
        <p:nvSpPr>
          <p:cNvPr id="29" name="Shape 26"/>
          <p:cNvSpPr/>
          <p:nvPr/>
        </p:nvSpPr>
        <p:spPr>
          <a:xfrm>
            <a:off x="8257811" y="5318890"/>
            <a:ext cx="120884" cy="120884"/>
          </a:xfrm>
          <a:custGeom>
            <a:avLst/>
            <a:gdLst/>
            <a:ahLst/>
            <a:cxnLst/>
            <a:rect l="l" t="t" r="r" b="b"/>
            <a:pathLst>
              <a:path w="120884" h="120884">
                <a:moveTo>
                  <a:pt x="60442" y="120884"/>
                </a:moveTo>
                <a:cubicBezTo>
                  <a:pt x="93801" y="120884"/>
                  <a:pt x="120884" y="93801"/>
                  <a:pt x="120884" y="60442"/>
                </a:cubicBezTo>
                <a:cubicBezTo>
                  <a:pt x="120884" y="27083"/>
                  <a:pt x="93801" y="0"/>
                  <a:pt x="60442" y="0"/>
                </a:cubicBezTo>
                <a:cubicBezTo>
                  <a:pt x="27083" y="0"/>
                  <a:pt x="0" y="27083"/>
                  <a:pt x="0" y="60442"/>
                </a:cubicBezTo>
                <a:cubicBezTo>
                  <a:pt x="0" y="93801"/>
                  <a:pt x="27083" y="120884"/>
                  <a:pt x="60442" y="120884"/>
                </a:cubicBezTo>
                <a:close/>
                <a:moveTo>
                  <a:pt x="80369" y="50219"/>
                </a:moveTo>
                <a:lnTo>
                  <a:pt x="61481" y="80440"/>
                </a:lnTo>
                <a:cubicBezTo>
                  <a:pt x="60489" y="82022"/>
                  <a:pt x="58789" y="83013"/>
                  <a:pt x="56924" y="83108"/>
                </a:cubicBezTo>
                <a:cubicBezTo>
                  <a:pt x="55059" y="83202"/>
                  <a:pt x="53264" y="82352"/>
                  <a:pt x="52155" y="80841"/>
                </a:cubicBezTo>
                <a:lnTo>
                  <a:pt x="40822" y="65731"/>
                </a:lnTo>
                <a:cubicBezTo>
                  <a:pt x="38933" y="63228"/>
                  <a:pt x="39453" y="59686"/>
                  <a:pt x="41955" y="57798"/>
                </a:cubicBezTo>
                <a:cubicBezTo>
                  <a:pt x="44458" y="55909"/>
                  <a:pt x="47999" y="56428"/>
                  <a:pt x="49888" y="58931"/>
                </a:cubicBezTo>
                <a:lnTo>
                  <a:pt x="56263" y="67431"/>
                </a:lnTo>
                <a:lnTo>
                  <a:pt x="70760" y="44222"/>
                </a:lnTo>
                <a:cubicBezTo>
                  <a:pt x="72412" y="41577"/>
                  <a:pt x="75907" y="40751"/>
                  <a:pt x="78575" y="42427"/>
                </a:cubicBezTo>
                <a:cubicBezTo>
                  <a:pt x="81242" y="44104"/>
                  <a:pt x="82045" y="47574"/>
                  <a:pt x="80369" y="50242"/>
                </a:cubicBezTo>
                <a:close/>
              </a:path>
            </a:pathLst>
          </a:custGeom>
          <a:solidFill>
            <a:srgbClr val="FF6B00"/>
          </a:solidFill>
          <a:ln/>
        </p:spPr>
      </p:sp>
      <p:sp>
        <p:nvSpPr>
          <p:cNvPr id="30" name="Text 27"/>
          <p:cNvSpPr/>
          <p:nvPr/>
        </p:nvSpPr>
        <p:spPr>
          <a:xfrm>
            <a:off x="8460723" y="5284351"/>
            <a:ext cx="1113858" cy="172691"/>
          </a:xfrm>
          <a:prstGeom prst="rect">
            <a:avLst/>
          </a:prstGeom>
          <a:noFill/>
          <a:ln/>
        </p:spPr>
        <p:txBody>
          <a:bodyPr wrap="square" lIns="0" tIns="0" rIns="0" bIns="0" rtlCol="0" anchor="ctr"/>
          <a:lstStyle/>
          <a:p>
            <a:pPr>
              <a:lnSpc>
                <a:spcPct val="120000"/>
              </a:lnSpc>
            </a:pPr>
            <a:r>
              <a:rPr lang="en-US" sz="952" dirty="0">
                <a:solidFill>
                  <a:srgbClr val="1A1A1A">
                    <a:alpha val="80000"/>
                  </a:srgbClr>
                </a:solidFill>
                <a:latin typeface="Quattrocento Sans" pitchFamily="34" charset="0"/>
                <a:ea typeface="Quattrocento Sans" pitchFamily="34" charset="-122"/>
                <a:cs typeface="Quattrocento Sans" pitchFamily="34" charset="-120"/>
              </a:rPr>
              <a:t>Escalation protocols</a:t>
            </a:r>
            <a:endParaRPr lang="en-US" sz="1600" dirty="0"/>
          </a:p>
        </p:txBody>
      </p:sp>
      <p:sp>
        <p:nvSpPr>
          <p:cNvPr id="31" name="Shape 28"/>
          <p:cNvSpPr/>
          <p:nvPr/>
        </p:nvSpPr>
        <p:spPr>
          <a:xfrm>
            <a:off x="8257811" y="5526119"/>
            <a:ext cx="120884" cy="120884"/>
          </a:xfrm>
          <a:custGeom>
            <a:avLst/>
            <a:gdLst/>
            <a:ahLst/>
            <a:cxnLst/>
            <a:rect l="l" t="t" r="r" b="b"/>
            <a:pathLst>
              <a:path w="120884" h="120884">
                <a:moveTo>
                  <a:pt x="60442" y="120884"/>
                </a:moveTo>
                <a:cubicBezTo>
                  <a:pt x="93801" y="120884"/>
                  <a:pt x="120884" y="93801"/>
                  <a:pt x="120884" y="60442"/>
                </a:cubicBezTo>
                <a:cubicBezTo>
                  <a:pt x="120884" y="27083"/>
                  <a:pt x="93801" y="0"/>
                  <a:pt x="60442" y="0"/>
                </a:cubicBezTo>
                <a:cubicBezTo>
                  <a:pt x="27083" y="0"/>
                  <a:pt x="0" y="27083"/>
                  <a:pt x="0" y="60442"/>
                </a:cubicBezTo>
                <a:cubicBezTo>
                  <a:pt x="0" y="93801"/>
                  <a:pt x="27083" y="120884"/>
                  <a:pt x="60442" y="120884"/>
                </a:cubicBezTo>
                <a:close/>
                <a:moveTo>
                  <a:pt x="80369" y="50219"/>
                </a:moveTo>
                <a:lnTo>
                  <a:pt x="61481" y="80440"/>
                </a:lnTo>
                <a:cubicBezTo>
                  <a:pt x="60489" y="82022"/>
                  <a:pt x="58789" y="83013"/>
                  <a:pt x="56924" y="83108"/>
                </a:cubicBezTo>
                <a:cubicBezTo>
                  <a:pt x="55059" y="83202"/>
                  <a:pt x="53264" y="82352"/>
                  <a:pt x="52155" y="80841"/>
                </a:cubicBezTo>
                <a:lnTo>
                  <a:pt x="40822" y="65731"/>
                </a:lnTo>
                <a:cubicBezTo>
                  <a:pt x="38933" y="63228"/>
                  <a:pt x="39453" y="59686"/>
                  <a:pt x="41955" y="57798"/>
                </a:cubicBezTo>
                <a:cubicBezTo>
                  <a:pt x="44458" y="55909"/>
                  <a:pt x="47999" y="56428"/>
                  <a:pt x="49888" y="58931"/>
                </a:cubicBezTo>
                <a:lnTo>
                  <a:pt x="56263" y="67431"/>
                </a:lnTo>
                <a:lnTo>
                  <a:pt x="70760" y="44222"/>
                </a:lnTo>
                <a:cubicBezTo>
                  <a:pt x="72412" y="41577"/>
                  <a:pt x="75907" y="40751"/>
                  <a:pt x="78575" y="42427"/>
                </a:cubicBezTo>
                <a:cubicBezTo>
                  <a:pt x="81242" y="44104"/>
                  <a:pt x="82045" y="47574"/>
                  <a:pt x="80369" y="50242"/>
                </a:cubicBezTo>
                <a:close/>
              </a:path>
            </a:pathLst>
          </a:custGeom>
          <a:solidFill>
            <a:srgbClr val="FF6B00"/>
          </a:solidFill>
          <a:ln/>
        </p:spPr>
      </p:sp>
      <p:sp>
        <p:nvSpPr>
          <p:cNvPr id="32" name="Text 29"/>
          <p:cNvSpPr/>
          <p:nvPr/>
        </p:nvSpPr>
        <p:spPr>
          <a:xfrm>
            <a:off x="8460723" y="5491581"/>
            <a:ext cx="1191569" cy="172691"/>
          </a:xfrm>
          <a:prstGeom prst="rect">
            <a:avLst/>
          </a:prstGeom>
          <a:noFill/>
          <a:ln/>
        </p:spPr>
        <p:txBody>
          <a:bodyPr wrap="square" lIns="0" tIns="0" rIns="0" bIns="0" rtlCol="0" anchor="ctr"/>
          <a:lstStyle/>
          <a:p>
            <a:pPr>
              <a:lnSpc>
                <a:spcPct val="120000"/>
              </a:lnSpc>
            </a:pPr>
            <a:r>
              <a:rPr lang="en-US" sz="952" dirty="0">
                <a:solidFill>
                  <a:srgbClr val="1A1A1A">
                    <a:alpha val="80000"/>
                  </a:srgbClr>
                </a:solidFill>
                <a:latin typeface="Quattrocento Sans" pitchFamily="34" charset="0"/>
                <a:ea typeface="Quattrocento Sans" pitchFamily="34" charset="-122"/>
                <a:cs typeface="Quattrocento Sans" pitchFamily="34" charset="-120"/>
              </a:rPr>
              <a:t>Contingency planning</a:t>
            </a:r>
            <a:endParaRPr lang="en-US" sz="1600" dirty="0"/>
          </a:p>
        </p:txBody>
      </p:sp>
      <p:sp>
        <p:nvSpPr>
          <p:cNvPr id="33" name="Shape 30"/>
          <p:cNvSpPr/>
          <p:nvPr/>
        </p:nvSpPr>
        <p:spPr>
          <a:xfrm>
            <a:off x="8067850" y="5906040"/>
            <a:ext cx="3773303" cy="949802"/>
          </a:xfrm>
          <a:custGeom>
            <a:avLst/>
            <a:gdLst/>
            <a:ahLst/>
            <a:cxnLst/>
            <a:rect l="l" t="t" r="r" b="b"/>
            <a:pathLst>
              <a:path w="3773303" h="949802">
                <a:moveTo>
                  <a:pt x="103614" y="0"/>
                </a:moveTo>
                <a:lnTo>
                  <a:pt x="3669689" y="0"/>
                </a:lnTo>
                <a:cubicBezTo>
                  <a:pt x="3726914" y="0"/>
                  <a:pt x="3773303" y="46390"/>
                  <a:pt x="3773303" y="103614"/>
                </a:cubicBezTo>
                <a:lnTo>
                  <a:pt x="3773303" y="846188"/>
                </a:lnTo>
                <a:cubicBezTo>
                  <a:pt x="3773303" y="903412"/>
                  <a:pt x="3726914" y="949802"/>
                  <a:pt x="3669689" y="949802"/>
                </a:cubicBezTo>
                <a:lnTo>
                  <a:pt x="103614" y="949802"/>
                </a:lnTo>
                <a:cubicBezTo>
                  <a:pt x="46390" y="949802"/>
                  <a:pt x="0" y="903412"/>
                  <a:pt x="0" y="846188"/>
                </a:cubicBezTo>
                <a:lnTo>
                  <a:pt x="0" y="103614"/>
                </a:lnTo>
                <a:cubicBezTo>
                  <a:pt x="0" y="46428"/>
                  <a:pt x="46428" y="0"/>
                  <a:pt x="103614" y="0"/>
                </a:cubicBezTo>
                <a:close/>
              </a:path>
            </a:pathLst>
          </a:custGeom>
          <a:solidFill>
            <a:srgbClr val="F9FAFB"/>
          </a:solidFill>
          <a:ln/>
        </p:spPr>
      </p:sp>
      <p:sp>
        <p:nvSpPr>
          <p:cNvPr id="34" name="Text 31"/>
          <p:cNvSpPr/>
          <p:nvPr/>
        </p:nvSpPr>
        <p:spPr>
          <a:xfrm>
            <a:off x="8206003" y="6044193"/>
            <a:ext cx="3566074" cy="207229"/>
          </a:xfrm>
          <a:prstGeom prst="rect">
            <a:avLst/>
          </a:prstGeom>
          <a:noFill/>
          <a:ln/>
        </p:spPr>
        <p:txBody>
          <a:bodyPr wrap="square" lIns="0" tIns="0" rIns="0" bIns="0" rtlCol="0" anchor="ctr"/>
          <a:lstStyle/>
          <a:p>
            <a:pPr>
              <a:lnSpc>
                <a:spcPct val="130000"/>
              </a:lnSpc>
            </a:pPr>
            <a:r>
              <a:rPr lang="en-US" sz="1088" b="1" dirty="0">
                <a:solidFill>
                  <a:srgbClr val="003087"/>
                </a:solidFill>
                <a:latin typeface="Liter" pitchFamily="34" charset="0"/>
                <a:ea typeface="Liter" pitchFamily="34" charset="-122"/>
                <a:cs typeface="Liter" pitchFamily="34" charset="-120"/>
              </a:rPr>
              <a:t>Regulatory Alignment</a:t>
            </a:r>
            <a:endParaRPr lang="en-US" sz="1600" dirty="0"/>
          </a:p>
        </p:txBody>
      </p:sp>
      <p:sp>
        <p:nvSpPr>
          <p:cNvPr id="35" name="Text 32"/>
          <p:cNvSpPr/>
          <p:nvPr/>
        </p:nvSpPr>
        <p:spPr>
          <a:xfrm>
            <a:off x="8206003" y="6320499"/>
            <a:ext cx="3557439" cy="397190"/>
          </a:xfrm>
          <a:prstGeom prst="rect">
            <a:avLst/>
          </a:prstGeom>
          <a:noFill/>
          <a:ln/>
        </p:spPr>
        <p:txBody>
          <a:bodyPr wrap="square" lIns="0" tIns="0" rIns="0" bIns="0" rtlCol="0" anchor="ctr"/>
          <a:lstStyle/>
          <a:p>
            <a:pPr>
              <a:lnSpc>
                <a:spcPct val="140000"/>
              </a:lnSpc>
            </a:pPr>
            <a:r>
              <a:rPr lang="en-US" sz="952" dirty="0">
                <a:solidFill>
                  <a:srgbClr val="1A1A1A">
                    <a:alpha val="80000"/>
                  </a:srgbClr>
                </a:solidFill>
                <a:latin typeface="Quattrocento Sans" pitchFamily="34" charset="0"/>
                <a:ea typeface="Quattrocento Sans" pitchFamily="34" charset="-122"/>
                <a:cs typeface="Quattrocento Sans" pitchFamily="34" charset="-120"/>
              </a:rPr>
              <a:t>All initiatives aligned with Access Bank's risk management framework and CBN regulatory requirements.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FF6B00"/>
                </a:solidFill>
                <a:latin typeface="Liter" pitchFamily="34" charset="0"/>
                <a:ea typeface="Liter" pitchFamily="34" charset="-122"/>
                <a:cs typeface="Liter" pitchFamily="34" charset="-120"/>
              </a:rPr>
              <a:t>BENEFITS REALIZATION</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003087"/>
                </a:solidFill>
                <a:latin typeface="Liter" pitchFamily="34" charset="0"/>
                <a:ea typeface="Liter" pitchFamily="34" charset="-122"/>
                <a:cs typeface="Liter" pitchFamily="34" charset="-120"/>
              </a:rPr>
              <a:t>Expected Benefits &amp; ROI Analysis</a:t>
            </a:r>
            <a:endParaRPr lang="en-US" sz="1600" dirty="0"/>
          </a:p>
        </p:txBody>
      </p:sp>
      <p:sp>
        <p:nvSpPr>
          <p:cNvPr id="4" name="Shape 2"/>
          <p:cNvSpPr/>
          <p:nvPr/>
        </p:nvSpPr>
        <p:spPr>
          <a:xfrm>
            <a:off x="317500" y="952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F6B00"/>
          </a:solidFill>
          <a:ln/>
        </p:spPr>
      </p:sp>
      <p:sp>
        <p:nvSpPr>
          <p:cNvPr id="5" name="Shape 3"/>
          <p:cNvSpPr/>
          <p:nvPr/>
        </p:nvSpPr>
        <p:spPr>
          <a:xfrm>
            <a:off x="317500" y="1143000"/>
            <a:ext cx="7651750" cy="3302000"/>
          </a:xfrm>
          <a:custGeom>
            <a:avLst/>
            <a:gdLst/>
            <a:ahLst/>
            <a:cxnLst/>
            <a:rect l="l" t="t" r="r" b="b"/>
            <a:pathLst>
              <a:path w="7651750" h="3302000">
                <a:moveTo>
                  <a:pt x="95263" y="0"/>
                </a:moveTo>
                <a:lnTo>
                  <a:pt x="7556487" y="0"/>
                </a:lnTo>
                <a:cubicBezTo>
                  <a:pt x="7609099" y="0"/>
                  <a:pt x="7651750" y="42651"/>
                  <a:pt x="7651750" y="95263"/>
                </a:cubicBezTo>
                <a:lnTo>
                  <a:pt x="7651750" y="3206737"/>
                </a:lnTo>
                <a:cubicBezTo>
                  <a:pt x="7651750" y="3259349"/>
                  <a:pt x="7609099" y="3302000"/>
                  <a:pt x="7556487" y="3302000"/>
                </a:cubicBezTo>
                <a:lnTo>
                  <a:pt x="95263" y="3302000"/>
                </a:lnTo>
                <a:cubicBezTo>
                  <a:pt x="42651" y="3302000"/>
                  <a:pt x="0" y="3259349"/>
                  <a:pt x="0" y="3206737"/>
                </a:cubicBezTo>
                <a:lnTo>
                  <a:pt x="0" y="95263"/>
                </a:lnTo>
                <a:cubicBezTo>
                  <a:pt x="0" y="42651"/>
                  <a:pt x="42651" y="0"/>
                  <a:pt x="95263" y="0"/>
                </a:cubicBezTo>
                <a:close/>
              </a:path>
            </a:pathLst>
          </a:custGeom>
          <a:gradFill flip="none" rotWithShape="1">
            <a:gsLst>
              <a:gs pos="0">
                <a:srgbClr val="003087"/>
              </a:gs>
              <a:gs pos="100000">
                <a:srgbClr val="003087">
                  <a:alpha val="90000"/>
                </a:srgbClr>
              </a:gs>
            </a:gsLst>
            <a:lin ang="2700000" scaled="1"/>
          </a:gradFill>
          <a:ln/>
        </p:spPr>
      </p:sp>
      <p:sp>
        <p:nvSpPr>
          <p:cNvPr id="6" name="Shape 4"/>
          <p:cNvSpPr/>
          <p:nvPr/>
        </p:nvSpPr>
        <p:spPr>
          <a:xfrm>
            <a:off x="517922" y="1365250"/>
            <a:ext cx="178594" cy="158750"/>
          </a:xfrm>
          <a:custGeom>
            <a:avLst/>
            <a:gdLst/>
            <a:ahLst/>
            <a:cxnLst/>
            <a:rect l="l" t="t" r="r" b="b"/>
            <a:pathLst>
              <a:path w="178594" h="158750">
                <a:moveTo>
                  <a:pt x="158874" y="74414"/>
                </a:moveTo>
                <a:lnTo>
                  <a:pt x="104304" y="74414"/>
                </a:lnTo>
                <a:cubicBezTo>
                  <a:pt x="98816" y="74414"/>
                  <a:pt x="94382" y="69980"/>
                  <a:pt x="94382" y="64492"/>
                </a:cubicBezTo>
                <a:lnTo>
                  <a:pt x="94382" y="9922"/>
                </a:lnTo>
                <a:cubicBezTo>
                  <a:pt x="94382" y="4434"/>
                  <a:pt x="98847" y="-62"/>
                  <a:pt x="104273" y="651"/>
                </a:cubicBezTo>
                <a:cubicBezTo>
                  <a:pt x="137449" y="5054"/>
                  <a:pt x="163742" y="31347"/>
                  <a:pt x="168145" y="64523"/>
                </a:cubicBezTo>
                <a:cubicBezTo>
                  <a:pt x="168858" y="69949"/>
                  <a:pt x="164362" y="74414"/>
                  <a:pt x="158874" y="74414"/>
                </a:cubicBezTo>
                <a:close/>
                <a:moveTo>
                  <a:pt x="69019" y="11534"/>
                </a:moveTo>
                <a:cubicBezTo>
                  <a:pt x="74631" y="10356"/>
                  <a:pt x="79499" y="14945"/>
                  <a:pt x="79499" y="20681"/>
                </a:cubicBezTo>
                <a:lnTo>
                  <a:pt x="79499" y="81855"/>
                </a:lnTo>
                <a:cubicBezTo>
                  <a:pt x="79499" y="83592"/>
                  <a:pt x="80119" y="85266"/>
                  <a:pt x="81204" y="86599"/>
                </a:cubicBezTo>
                <a:lnTo>
                  <a:pt x="122163" y="136023"/>
                </a:lnTo>
                <a:cubicBezTo>
                  <a:pt x="125791" y="140395"/>
                  <a:pt x="125016" y="146999"/>
                  <a:pt x="120024" y="149696"/>
                </a:cubicBezTo>
                <a:cubicBezTo>
                  <a:pt x="109451" y="155463"/>
                  <a:pt x="97327" y="158750"/>
                  <a:pt x="84460" y="158750"/>
                </a:cubicBezTo>
                <a:cubicBezTo>
                  <a:pt x="43377" y="158750"/>
                  <a:pt x="10046" y="125419"/>
                  <a:pt x="10046" y="84336"/>
                </a:cubicBezTo>
                <a:cubicBezTo>
                  <a:pt x="10046" y="48524"/>
                  <a:pt x="35316" y="18635"/>
                  <a:pt x="69019" y="11534"/>
                </a:cubicBezTo>
                <a:close/>
                <a:moveTo>
                  <a:pt x="148146" y="89297"/>
                </a:moveTo>
                <a:lnTo>
                  <a:pt x="167990" y="89297"/>
                </a:lnTo>
                <a:cubicBezTo>
                  <a:pt x="173726" y="89297"/>
                  <a:pt x="178315" y="94165"/>
                  <a:pt x="177136" y="99777"/>
                </a:cubicBezTo>
                <a:cubicBezTo>
                  <a:pt x="173974" y="114784"/>
                  <a:pt x="166284" y="128116"/>
                  <a:pt x="155556" y="138286"/>
                </a:cubicBezTo>
                <a:cubicBezTo>
                  <a:pt x="151743" y="141914"/>
                  <a:pt x="145759" y="141139"/>
                  <a:pt x="142410" y="137077"/>
                </a:cubicBezTo>
                <a:lnTo>
                  <a:pt x="116241" y="105544"/>
                </a:lnTo>
                <a:cubicBezTo>
                  <a:pt x="110877" y="99064"/>
                  <a:pt x="115497" y="89297"/>
                  <a:pt x="123868" y="89297"/>
                </a:cubicBezTo>
                <a:lnTo>
                  <a:pt x="148115" y="89297"/>
                </a:lnTo>
                <a:close/>
              </a:path>
            </a:pathLst>
          </a:custGeom>
          <a:solidFill>
            <a:srgbClr val="FF6B00"/>
          </a:solidFill>
          <a:ln/>
        </p:spPr>
      </p:sp>
      <p:sp>
        <p:nvSpPr>
          <p:cNvPr id="7" name="Text 5"/>
          <p:cNvSpPr/>
          <p:nvPr/>
        </p:nvSpPr>
        <p:spPr>
          <a:xfrm>
            <a:off x="706438" y="1333500"/>
            <a:ext cx="715168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Benefits Realization Framework</a:t>
            </a:r>
            <a:endParaRPr lang="en-US" sz="1600" dirty="0"/>
          </a:p>
        </p:txBody>
      </p:sp>
      <p:sp>
        <p:nvSpPr>
          <p:cNvPr id="8" name="Shape 6"/>
          <p:cNvSpPr/>
          <p:nvPr/>
        </p:nvSpPr>
        <p:spPr>
          <a:xfrm>
            <a:off x="508000" y="1682750"/>
            <a:ext cx="3571875" cy="1238250"/>
          </a:xfrm>
          <a:custGeom>
            <a:avLst/>
            <a:gdLst/>
            <a:ahLst/>
            <a:cxnLst/>
            <a:rect l="l" t="t" r="r" b="b"/>
            <a:pathLst>
              <a:path w="3571875" h="1238250">
                <a:moveTo>
                  <a:pt x="63497" y="0"/>
                </a:moveTo>
                <a:lnTo>
                  <a:pt x="3508378" y="0"/>
                </a:lnTo>
                <a:cubicBezTo>
                  <a:pt x="3543446" y="0"/>
                  <a:pt x="3571875" y="28429"/>
                  <a:pt x="3571875" y="63497"/>
                </a:cubicBezTo>
                <a:lnTo>
                  <a:pt x="3571875" y="1174753"/>
                </a:lnTo>
                <a:cubicBezTo>
                  <a:pt x="3571875" y="1209821"/>
                  <a:pt x="3543446" y="1238250"/>
                  <a:pt x="3508378" y="1238250"/>
                </a:cubicBezTo>
                <a:lnTo>
                  <a:pt x="63497" y="1238250"/>
                </a:lnTo>
                <a:cubicBezTo>
                  <a:pt x="28429" y="1238250"/>
                  <a:pt x="0" y="1209821"/>
                  <a:pt x="0" y="1174753"/>
                </a:cubicBezTo>
                <a:lnTo>
                  <a:pt x="0" y="63497"/>
                </a:lnTo>
                <a:cubicBezTo>
                  <a:pt x="0" y="28452"/>
                  <a:pt x="28452" y="0"/>
                  <a:pt x="63497" y="0"/>
                </a:cubicBezTo>
                <a:close/>
              </a:path>
            </a:pathLst>
          </a:custGeom>
          <a:solidFill>
            <a:srgbClr val="FFFFFF">
              <a:alpha val="10196"/>
            </a:srgbClr>
          </a:solidFill>
          <a:ln/>
        </p:spPr>
      </p:sp>
      <p:sp>
        <p:nvSpPr>
          <p:cNvPr id="9" name="Shape 7"/>
          <p:cNvSpPr/>
          <p:nvPr/>
        </p:nvSpPr>
        <p:spPr>
          <a:xfrm>
            <a:off x="635000" y="1841500"/>
            <a:ext cx="158750" cy="127000"/>
          </a:xfrm>
          <a:custGeom>
            <a:avLst/>
            <a:gdLst/>
            <a:ahLst/>
            <a:cxnLst/>
            <a:rect l="l" t="t" r="r" b="b"/>
            <a:pathLst>
              <a:path w="158750" h="127000">
                <a:moveTo>
                  <a:pt x="103163" y="52214"/>
                </a:moveTo>
                <a:cubicBezTo>
                  <a:pt x="106189" y="51395"/>
                  <a:pt x="109364" y="52834"/>
                  <a:pt x="110728" y="55637"/>
                </a:cubicBezTo>
                <a:lnTo>
                  <a:pt x="115342" y="64963"/>
                </a:lnTo>
                <a:cubicBezTo>
                  <a:pt x="117897" y="65311"/>
                  <a:pt x="120402" y="66005"/>
                  <a:pt x="122758" y="66973"/>
                </a:cubicBezTo>
                <a:lnTo>
                  <a:pt x="131440" y="61193"/>
                </a:lnTo>
                <a:cubicBezTo>
                  <a:pt x="134045" y="59457"/>
                  <a:pt x="137492" y="59804"/>
                  <a:pt x="139700" y="62012"/>
                </a:cubicBezTo>
                <a:lnTo>
                  <a:pt x="144463" y="66774"/>
                </a:lnTo>
                <a:cubicBezTo>
                  <a:pt x="146670" y="68982"/>
                  <a:pt x="147017" y="72454"/>
                  <a:pt x="145281" y="75034"/>
                </a:cubicBezTo>
                <a:lnTo>
                  <a:pt x="139502" y="83691"/>
                </a:lnTo>
                <a:cubicBezTo>
                  <a:pt x="139973" y="84857"/>
                  <a:pt x="140395" y="86072"/>
                  <a:pt x="140742" y="87337"/>
                </a:cubicBezTo>
                <a:cubicBezTo>
                  <a:pt x="141089" y="88602"/>
                  <a:pt x="141312" y="89843"/>
                  <a:pt x="141486" y="91108"/>
                </a:cubicBezTo>
                <a:lnTo>
                  <a:pt x="150837" y="95721"/>
                </a:lnTo>
                <a:cubicBezTo>
                  <a:pt x="153640" y="97110"/>
                  <a:pt x="155079" y="100285"/>
                  <a:pt x="154260" y="103287"/>
                </a:cubicBezTo>
                <a:lnTo>
                  <a:pt x="152524" y="109786"/>
                </a:lnTo>
                <a:cubicBezTo>
                  <a:pt x="151705" y="112787"/>
                  <a:pt x="148903" y="114821"/>
                  <a:pt x="145777" y="114622"/>
                </a:cubicBezTo>
                <a:lnTo>
                  <a:pt x="135359" y="113953"/>
                </a:lnTo>
                <a:cubicBezTo>
                  <a:pt x="133796" y="115962"/>
                  <a:pt x="131986" y="117822"/>
                  <a:pt x="129927" y="119410"/>
                </a:cubicBezTo>
                <a:lnTo>
                  <a:pt x="130597" y="129803"/>
                </a:lnTo>
                <a:cubicBezTo>
                  <a:pt x="130795" y="132928"/>
                  <a:pt x="128761" y="135756"/>
                  <a:pt x="125760" y="136550"/>
                </a:cubicBezTo>
                <a:lnTo>
                  <a:pt x="119261" y="138286"/>
                </a:lnTo>
                <a:cubicBezTo>
                  <a:pt x="116235" y="139105"/>
                  <a:pt x="113085" y="137666"/>
                  <a:pt x="111696" y="134863"/>
                </a:cubicBezTo>
                <a:lnTo>
                  <a:pt x="107082" y="125537"/>
                </a:lnTo>
                <a:cubicBezTo>
                  <a:pt x="104527" y="125189"/>
                  <a:pt x="102022" y="124495"/>
                  <a:pt x="99665" y="123527"/>
                </a:cubicBezTo>
                <a:lnTo>
                  <a:pt x="90984" y="129307"/>
                </a:lnTo>
                <a:cubicBezTo>
                  <a:pt x="88379" y="131043"/>
                  <a:pt x="84931" y="130696"/>
                  <a:pt x="82724" y="128488"/>
                </a:cubicBezTo>
                <a:lnTo>
                  <a:pt x="77961" y="123726"/>
                </a:lnTo>
                <a:cubicBezTo>
                  <a:pt x="75754" y="121518"/>
                  <a:pt x="75406" y="118070"/>
                  <a:pt x="77143" y="115466"/>
                </a:cubicBezTo>
                <a:lnTo>
                  <a:pt x="82922" y="106784"/>
                </a:lnTo>
                <a:cubicBezTo>
                  <a:pt x="82451" y="105618"/>
                  <a:pt x="82029" y="104403"/>
                  <a:pt x="81682" y="103138"/>
                </a:cubicBezTo>
                <a:cubicBezTo>
                  <a:pt x="81335" y="101873"/>
                  <a:pt x="81111" y="100608"/>
                  <a:pt x="80938" y="99368"/>
                </a:cubicBezTo>
                <a:lnTo>
                  <a:pt x="71586" y="94754"/>
                </a:lnTo>
                <a:cubicBezTo>
                  <a:pt x="68783" y="93365"/>
                  <a:pt x="67370" y="90190"/>
                  <a:pt x="68163" y="87188"/>
                </a:cubicBezTo>
                <a:lnTo>
                  <a:pt x="69900" y="80690"/>
                </a:lnTo>
                <a:cubicBezTo>
                  <a:pt x="70718" y="77688"/>
                  <a:pt x="73521" y="75654"/>
                  <a:pt x="76646" y="75853"/>
                </a:cubicBezTo>
                <a:lnTo>
                  <a:pt x="87040" y="76522"/>
                </a:lnTo>
                <a:cubicBezTo>
                  <a:pt x="88602" y="74513"/>
                  <a:pt x="90413" y="72653"/>
                  <a:pt x="92472" y="71065"/>
                </a:cubicBezTo>
                <a:lnTo>
                  <a:pt x="91802" y="60697"/>
                </a:lnTo>
                <a:cubicBezTo>
                  <a:pt x="91604" y="57572"/>
                  <a:pt x="93638" y="54744"/>
                  <a:pt x="96639" y="53950"/>
                </a:cubicBezTo>
                <a:lnTo>
                  <a:pt x="103138" y="52214"/>
                </a:lnTo>
                <a:close/>
                <a:moveTo>
                  <a:pt x="111224" y="84336"/>
                </a:moveTo>
                <a:cubicBezTo>
                  <a:pt x="105201" y="84343"/>
                  <a:pt x="100316" y="89239"/>
                  <a:pt x="100323" y="95262"/>
                </a:cubicBezTo>
                <a:cubicBezTo>
                  <a:pt x="100329" y="101286"/>
                  <a:pt x="105225" y="106171"/>
                  <a:pt x="111249" y="106164"/>
                </a:cubicBezTo>
                <a:cubicBezTo>
                  <a:pt x="117273" y="106157"/>
                  <a:pt x="122158" y="101261"/>
                  <a:pt x="122151" y="95238"/>
                </a:cubicBezTo>
                <a:cubicBezTo>
                  <a:pt x="122144" y="89214"/>
                  <a:pt x="117248" y="84329"/>
                  <a:pt x="111224" y="84336"/>
                </a:cubicBezTo>
                <a:close/>
                <a:moveTo>
                  <a:pt x="55786" y="-11286"/>
                </a:moveTo>
                <a:lnTo>
                  <a:pt x="62285" y="-9550"/>
                </a:lnTo>
                <a:cubicBezTo>
                  <a:pt x="65286" y="-8731"/>
                  <a:pt x="67320" y="-5904"/>
                  <a:pt x="67121" y="-2803"/>
                </a:cubicBezTo>
                <a:lnTo>
                  <a:pt x="66452" y="7565"/>
                </a:lnTo>
                <a:cubicBezTo>
                  <a:pt x="68511" y="9153"/>
                  <a:pt x="70321" y="10988"/>
                  <a:pt x="71884" y="13022"/>
                </a:cubicBezTo>
                <a:lnTo>
                  <a:pt x="82302" y="12353"/>
                </a:lnTo>
                <a:cubicBezTo>
                  <a:pt x="85403" y="12154"/>
                  <a:pt x="88230" y="14188"/>
                  <a:pt x="89049" y="17190"/>
                </a:cubicBezTo>
                <a:lnTo>
                  <a:pt x="90785" y="23688"/>
                </a:lnTo>
                <a:cubicBezTo>
                  <a:pt x="91579" y="26690"/>
                  <a:pt x="90165" y="29865"/>
                  <a:pt x="87362" y="31254"/>
                </a:cubicBezTo>
                <a:lnTo>
                  <a:pt x="78011" y="35868"/>
                </a:lnTo>
                <a:cubicBezTo>
                  <a:pt x="77837" y="37133"/>
                  <a:pt x="77589" y="38398"/>
                  <a:pt x="77267" y="39638"/>
                </a:cubicBezTo>
                <a:cubicBezTo>
                  <a:pt x="76944" y="40878"/>
                  <a:pt x="76498" y="42118"/>
                  <a:pt x="76026" y="43284"/>
                </a:cubicBezTo>
                <a:lnTo>
                  <a:pt x="81806" y="51966"/>
                </a:lnTo>
                <a:cubicBezTo>
                  <a:pt x="83542" y="54570"/>
                  <a:pt x="83195" y="58018"/>
                  <a:pt x="80987" y="60226"/>
                </a:cubicBezTo>
                <a:lnTo>
                  <a:pt x="76225" y="64988"/>
                </a:lnTo>
                <a:cubicBezTo>
                  <a:pt x="74017" y="67196"/>
                  <a:pt x="70569" y="67543"/>
                  <a:pt x="67965" y="65807"/>
                </a:cubicBezTo>
                <a:lnTo>
                  <a:pt x="59283" y="60027"/>
                </a:lnTo>
                <a:cubicBezTo>
                  <a:pt x="56927" y="60995"/>
                  <a:pt x="54421" y="61689"/>
                  <a:pt x="51867" y="62037"/>
                </a:cubicBezTo>
                <a:lnTo>
                  <a:pt x="47253" y="71363"/>
                </a:lnTo>
                <a:cubicBezTo>
                  <a:pt x="45864" y="74166"/>
                  <a:pt x="42689" y="75580"/>
                  <a:pt x="39688" y="74786"/>
                </a:cubicBezTo>
                <a:lnTo>
                  <a:pt x="33189" y="73050"/>
                </a:lnTo>
                <a:cubicBezTo>
                  <a:pt x="30163" y="72231"/>
                  <a:pt x="28153" y="69404"/>
                  <a:pt x="28352" y="66303"/>
                </a:cubicBezTo>
                <a:lnTo>
                  <a:pt x="29021" y="55910"/>
                </a:lnTo>
                <a:cubicBezTo>
                  <a:pt x="26963" y="54322"/>
                  <a:pt x="25152" y="52487"/>
                  <a:pt x="23589" y="50453"/>
                </a:cubicBezTo>
                <a:lnTo>
                  <a:pt x="13171" y="51122"/>
                </a:lnTo>
                <a:cubicBezTo>
                  <a:pt x="10071" y="51321"/>
                  <a:pt x="7243" y="49287"/>
                  <a:pt x="6424" y="46286"/>
                </a:cubicBezTo>
                <a:lnTo>
                  <a:pt x="4688" y="39787"/>
                </a:lnTo>
                <a:cubicBezTo>
                  <a:pt x="3894" y="36785"/>
                  <a:pt x="5308" y="33610"/>
                  <a:pt x="8111" y="32221"/>
                </a:cubicBezTo>
                <a:lnTo>
                  <a:pt x="17463" y="27608"/>
                </a:lnTo>
                <a:cubicBezTo>
                  <a:pt x="17636" y="26343"/>
                  <a:pt x="17884" y="25102"/>
                  <a:pt x="18207" y="23837"/>
                </a:cubicBezTo>
                <a:cubicBezTo>
                  <a:pt x="18554" y="22572"/>
                  <a:pt x="18951" y="21357"/>
                  <a:pt x="19447" y="20191"/>
                </a:cubicBezTo>
                <a:lnTo>
                  <a:pt x="13667" y="11534"/>
                </a:lnTo>
                <a:cubicBezTo>
                  <a:pt x="11931" y="8930"/>
                  <a:pt x="12278" y="5482"/>
                  <a:pt x="14486" y="3274"/>
                </a:cubicBezTo>
                <a:lnTo>
                  <a:pt x="19248" y="-1488"/>
                </a:lnTo>
                <a:cubicBezTo>
                  <a:pt x="21456" y="-3696"/>
                  <a:pt x="24904" y="-4043"/>
                  <a:pt x="27508" y="-2307"/>
                </a:cubicBezTo>
                <a:lnTo>
                  <a:pt x="36190" y="3473"/>
                </a:lnTo>
                <a:cubicBezTo>
                  <a:pt x="38546" y="2505"/>
                  <a:pt x="41052" y="1811"/>
                  <a:pt x="43607" y="1463"/>
                </a:cubicBezTo>
                <a:lnTo>
                  <a:pt x="48220" y="-7863"/>
                </a:lnTo>
                <a:cubicBezTo>
                  <a:pt x="49609" y="-10666"/>
                  <a:pt x="52760" y="-12080"/>
                  <a:pt x="55786" y="-11286"/>
                </a:cubicBezTo>
                <a:close/>
                <a:moveTo>
                  <a:pt x="47724" y="20836"/>
                </a:moveTo>
                <a:cubicBezTo>
                  <a:pt x="41701" y="20836"/>
                  <a:pt x="36810" y="25726"/>
                  <a:pt x="36810" y="31750"/>
                </a:cubicBezTo>
                <a:cubicBezTo>
                  <a:pt x="36810" y="37774"/>
                  <a:pt x="41701" y="42664"/>
                  <a:pt x="47724" y="42664"/>
                </a:cubicBezTo>
                <a:cubicBezTo>
                  <a:pt x="53748" y="42664"/>
                  <a:pt x="58638" y="37774"/>
                  <a:pt x="58638" y="31750"/>
                </a:cubicBezTo>
                <a:cubicBezTo>
                  <a:pt x="58638" y="25726"/>
                  <a:pt x="53748" y="20836"/>
                  <a:pt x="47724" y="20836"/>
                </a:cubicBezTo>
                <a:close/>
              </a:path>
            </a:pathLst>
          </a:custGeom>
          <a:solidFill>
            <a:srgbClr val="FF6B00"/>
          </a:solidFill>
          <a:ln/>
        </p:spPr>
      </p:sp>
      <p:sp>
        <p:nvSpPr>
          <p:cNvPr id="10" name="Text 8"/>
          <p:cNvSpPr/>
          <p:nvPr/>
        </p:nvSpPr>
        <p:spPr>
          <a:xfrm>
            <a:off x="857250" y="1809750"/>
            <a:ext cx="1174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Operational Benefits</a:t>
            </a:r>
            <a:endParaRPr lang="en-US" sz="1600" dirty="0"/>
          </a:p>
        </p:txBody>
      </p:sp>
      <p:sp>
        <p:nvSpPr>
          <p:cNvPr id="11" name="Text 9"/>
          <p:cNvSpPr/>
          <p:nvPr/>
        </p:nvSpPr>
        <p:spPr>
          <a:xfrm>
            <a:off x="635000" y="2063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30-40% cost reduction</a:t>
            </a:r>
            <a:endParaRPr lang="en-US" sz="1600" dirty="0"/>
          </a:p>
        </p:txBody>
      </p:sp>
      <p:sp>
        <p:nvSpPr>
          <p:cNvPr id="12" name="Text 10"/>
          <p:cNvSpPr/>
          <p:nvPr/>
        </p:nvSpPr>
        <p:spPr>
          <a:xfrm>
            <a:off x="635000" y="2254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50-60% faster processing</a:t>
            </a:r>
            <a:endParaRPr lang="en-US" sz="1600" dirty="0"/>
          </a:p>
        </p:txBody>
      </p:sp>
      <p:sp>
        <p:nvSpPr>
          <p:cNvPr id="13" name="Text 11"/>
          <p:cNvSpPr/>
          <p:nvPr/>
        </p:nvSpPr>
        <p:spPr>
          <a:xfrm>
            <a:off x="635000" y="2444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60% error rate reduction</a:t>
            </a:r>
            <a:endParaRPr lang="en-US" sz="1600" dirty="0"/>
          </a:p>
        </p:txBody>
      </p:sp>
      <p:sp>
        <p:nvSpPr>
          <p:cNvPr id="14" name="Text 12"/>
          <p:cNvSpPr/>
          <p:nvPr/>
        </p:nvSpPr>
        <p:spPr>
          <a:xfrm>
            <a:off x="635000" y="2635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Improved CIR to 50-55%</a:t>
            </a:r>
            <a:endParaRPr lang="en-US" sz="1600" dirty="0"/>
          </a:p>
        </p:txBody>
      </p:sp>
      <p:sp>
        <p:nvSpPr>
          <p:cNvPr id="15" name="Shape 13"/>
          <p:cNvSpPr/>
          <p:nvPr/>
        </p:nvSpPr>
        <p:spPr>
          <a:xfrm>
            <a:off x="508000" y="3016250"/>
            <a:ext cx="3571875" cy="1238250"/>
          </a:xfrm>
          <a:custGeom>
            <a:avLst/>
            <a:gdLst/>
            <a:ahLst/>
            <a:cxnLst/>
            <a:rect l="l" t="t" r="r" b="b"/>
            <a:pathLst>
              <a:path w="3571875" h="1238250">
                <a:moveTo>
                  <a:pt x="63497" y="0"/>
                </a:moveTo>
                <a:lnTo>
                  <a:pt x="3508378" y="0"/>
                </a:lnTo>
                <a:cubicBezTo>
                  <a:pt x="3543446" y="0"/>
                  <a:pt x="3571875" y="28429"/>
                  <a:pt x="3571875" y="63497"/>
                </a:cubicBezTo>
                <a:lnTo>
                  <a:pt x="3571875" y="1174753"/>
                </a:lnTo>
                <a:cubicBezTo>
                  <a:pt x="3571875" y="1209821"/>
                  <a:pt x="3543446" y="1238250"/>
                  <a:pt x="3508378" y="1238250"/>
                </a:cubicBezTo>
                <a:lnTo>
                  <a:pt x="63497" y="1238250"/>
                </a:lnTo>
                <a:cubicBezTo>
                  <a:pt x="28429" y="1238250"/>
                  <a:pt x="0" y="1209821"/>
                  <a:pt x="0" y="1174753"/>
                </a:cubicBezTo>
                <a:lnTo>
                  <a:pt x="0" y="63497"/>
                </a:lnTo>
                <a:cubicBezTo>
                  <a:pt x="0" y="28452"/>
                  <a:pt x="28452" y="0"/>
                  <a:pt x="63497" y="0"/>
                </a:cubicBezTo>
                <a:close/>
              </a:path>
            </a:pathLst>
          </a:custGeom>
          <a:solidFill>
            <a:srgbClr val="FFFFFF">
              <a:alpha val="10196"/>
            </a:srgbClr>
          </a:solidFill>
          <a:ln/>
        </p:spPr>
      </p:sp>
      <p:sp>
        <p:nvSpPr>
          <p:cNvPr id="16" name="Shape 14"/>
          <p:cNvSpPr/>
          <p:nvPr/>
        </p:nvSpPr>
        <p:spPr>
          <a:xfrm>
            <a:off x="635000" y="3175000"/>
            <a:ext cx="158750" cy="127000"/>
          </a:xfrm>
          <a:custGeom>
            <a:avLst/>
            <a:gdLst/>
            <a:ahLst/>
            <a:cxnLst/>
            <a:rect l="l" t="t" r="r" b="b"/>
            <a:pathLst>
              <a:path w="158750" h="127000">
                <a:moveTo>
                  <a:pt x="79375" y="3969"/>
                </a:moveTo>
                <a:cubicBezTo>
                  <a:pt x="93613" y="3969"/>
                  <a:pt x="105172" y="15528"/>
                  <a:pt x="105172" y="29766"/>
                </a:cubicBezTo>
                <a:cubicBezTo>
                  <a:pt x="105172" y="44003"/>
                  <a:pt x="93613" y="55563"/>
                  <a:pt x="79375" y="55563"/>
                </a:cubicBezTo>
                <a:cubicBezTo>
                  <a:pt x="65137" y="55563"/>
                  <a:pt x="53578" y="44003"/>
                  <a:pt x="53578" y="29766"/>
                </a:cubicBezTo>
                <a:cubicBezTo>
                  <a:pt x="53578" y="15528"/>
                  <a:pt x="65137" y="3969"/>
                  <a:pt x="79375" y="3969"/>
                </a:cubicBezTo>
                <a:close/>
                <a:moveTo>
                  <a:pt x="23812" y="21828"/>
                </a:moveTo>
                <a:cubicBezTo>
                  <a:pt x="33669" y="21828"/>
                  <a:pt x="41672" y="29831"/>
                  <a:pt x="41672" y="39688"/>
                </a:cubicBezTo>
                <a:cubicBezTo>
                  <a:pt x="41672" y="49544"/>
                  <a:pt x="33669" y="57547"/>
                  <a:pt x="23812" y="57547"/>
                </a:cubicBezTo>
                <a:cubicBezTo>
                  <a:pt x="13956" y="57547"/>
                  <a:pt x="5953" y="49544"/>
                  <a:pt x="5953" y="39688"/>
                </a:cubicBezTo>
                <a:cubicBezTo>
                  <a:pt x="5953" y="29831"/>
                  <a:pt x="13956" y="21828"/>
                  <a:pt x="23812" y="21828"/>
                </a:cubicBezTo>
                <a:close/>
                <a:moveTo>
                  <a:pt x="0" y="103188"/>
                </a:moveTo>
                <a:cubicBezTo>
                  <a:pt x="0" y="85651"/>
                  <a:pt x="14213" y="71438"/>
                  <a:pt x="31750" y="71438"/>
                </a:cubicBezTo>
                <a:cubicBezTo>
                  <a:pt x="34925" y="71438"/>
                  <a:pt x="38001" y="71909"/>
                  <a:pt x="40903" y="72777"/>
                </a:cubicBezTo>
                <a:cubicBezTo>
                  <a:pt x="32742" y="81905"/>
                  <a:pt x="27781" y="93960"/>
                  <a:pt x="27781" y="107156"/>
                </a:cubicBezTo>
                <a:lnTo>
                  <a:pt x="27781" y="111125"/>
                </a:lnTo>
                <a:cubicBezTo>
                  <a:pt x="27781" y="113953"/>
                  <a:pt x="28377" y="116632"/>
                  <a:pt x="29443" y="119063"/>
                </a:cubicBezTo>
                <a:lnTo>
                  <a:pt x="7938" y="119063"/>
                </a:lnTo>
                <a:cubicBezTo>
                  <a:pt x="3547" y="119063"/>
                  <a:pt x="0" y="115515"/>
                  <a:pt x="0" y="111125"/>
                </a:cubicBezTo>
                <a:lnTo>
                  <a:pt x="0" y="103188"/>
                </a:lnTo>
                <a:close/>
                <a:moveTo>
                  <a:pt x="129307" y="119063"/>
                </a:moveTo>
                <a:cubicBezTo>
                  <a:pt x="130373" y="116632"/>
                  <a:pt x="130969" y="113953"/>
                  <a:pt x="130969" y="111125"/>
                </a:cubicBezTo>
                <a:lnTo>
                  <a:pt x="130969" y="107156"/>
                </a:lnTo>
                <a:cubicBezTo>
                  <a:pt x="130969" y="93960"/>
                  <a:pt x="126008" y="81905"/>
                  <a:pt x="117847" y="72777"/>
                </a:cubicBezTo>
                <a:cubicBezTo>
                  <a:pt x="120749" y="71909"/>
                  <a:pt x="123825" y="71438"/>
                  <a:pt x="127000" y="71438"/>
                </a:cubicBezTo>
                <a:cubicBezTo>
                  <a:pt x="144537" y="71438"/>
                  <a:pt x="158750" y="85651"/>
                  <a:pt x="158750" y="103188"/>
                </a:cubicBezTo>
                <a:lnTo>
                  <a:pt x="158750" y="111125"/>
                </a:lnTo>
                <a:cubicBezTo>
                  <a:pt x="158750" y="115515"/>
                  <a:pt x="155203" y="119063"/>
                  <a:pt x="150813" y="119063"/>
                </a:cubicBezTo>
                <a:lnTo>
                  <a:pt x="129307" y="119063"/>
                </a:lnTo>
                <a:close/>
                <a:moveTo>
                  <a:pt x="117078" y="39688"/>
                </a:moveTo>
                <a:cubicBezTo>
                  <a:pt x="117078" y="29831"/>
                  <a:pt x="125081" y="21828"/>
                  <a:pt x="134938" y="21828"/>
                </a:cubicBezTo>
                <a:cubicBezTo>
                  <a:pt x="144794" y="21828"/>
                  <a:pt x="152797" y="29831"/>
                  <a:pt x="152797" y="39687"/>
                </a:cubicBezTo>
                <a:cubicBezTo>
                  <a:pt x="152797" y="49544"/>
                  <a:pt x="144794" y="57547"/>
                  <a:pt x="134938" y="57547"/>
                </a:cubicBezTo>
                <a:cubicBezTo>
                  <a:pt x="125081" y="57547"/>
                  <a:pt x="117078" y="49544"/>
                  <a:pt x="117078" y="39688"/>
                </a:cubicBezTo>
                <a:close/>
                <a:moveTo>
                  <a:pt x="39688" y="107156"/>
                </a:moveTo>
                <a:cubicBezTo>
                  <a:pt x="39688" y="85229"/>
                  <a:pt x="57448" y="67469"/>
                  <a:pt x="79375" y="67469"/>
                </a:cubicBezTo>
                <a:cubicBezTo>
                  <a:pt x="101302" y="67469"/>
                  <a:pt x="119063" y="85229"/>
                  <a:pt x="119063" y="107156"/>
                </a:cubicBezTo>
                <a:lnTo>
                  <a:pt x="119063" y="111125"/>
                </a:lnTo>
                <a:cubicBezTo>
                  <a:pt x="119063" y="115515"/>
                  <a:pt x="115515" y="119063"/>
                  <a:pt x="111125" y="119063"/>
                </a:cubicBezTo>
                <a:lnTo>
                  <a:pt x="47625" y="119063"/>
                </a:lnTo>
                <a:cubicBezTo>
                  <a:pt x="43235" y="119063"/>
                  <a:pt x="39688" y="115515"/>
                  <a:pt x="39688" y="111125"/>
                </a:cubicBezTo>
                <a:lnTo>
                  <a:pt x="39688" y="107156"/>
                </a:lnTo>
                <a:close/>
              </a:path>
            </a:pathLst>
          </a:custGeom>
          <a:solidFill>
            <a:srgbClr val="FF6B00"/>
          </a:solidFill>
          <a:ln/>
        </p:spPr>
      </p:sp>
      <p:sp>
        <p:nvSpPr>
          <p:cNvPr id="17" name="Text 15"/>
          <p:cNvSpPr/>
          <p:nvPr/>
        </p:nvSpPr>
        <p:spPr>
          <a:xfrm>
            <a:off x="857250" y="3143250"/>
            <a:ext cx="1063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Customer Benefits</a:t>
            </a:r>
            <a:endParaRPr lang="en-US" sz="1600" dirty="0"/>
          </a:p>
        </p:txBody>
      </p:sp>
      <p:sp>
        <p:nvSpPr>
          <p:cNvPr id="18" name="Text 16"/>
          <p:cNvSpPr/>
          <p:nvPr/>
        </p:nvSpPr>
        <p:spPr>
          <a:xfrm>
            <a:off x="635000" y="3397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Faster service delivery</a:t>
            </a:r>
            <a:endParaRPr lang="en-US" sz="1600" dirty="0"/>
          </a:p>
        </p:txBody>
      </p:sp>
      <p:sp>
        <p:nvSpPr>
          <p:cNvPr id="19" name="Text 17"/>
          <p:cNvSpPr/>
          <p:nvPr/>
        </p:nvSpPr>
        <p:spPr>
          <a:xfrm>
            <a:off x="635000" y="3587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Enhanced experience</a:t>
            </a:r>
            <a:endParaRPr lang="en-US" sz="1600" dirty="0"/>
          </a:p>
        </p:txBody>
      </p:sp>
      <p:sp>
        <p:nvSpPr>
          <p:cNvPr id="20" name="Text 18"/>
          <p:cNvSpPr/>
          <p:nvPr/>
        </p:nvSpPr>
        <p:spPr>
          <a:xfrm>
            <a:off x="635000" y="3778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24/7 availability</a:t>
            </a:r>
            <a:endParaRPr lang="en-US" sz="1600" dirty="0"/>
          </a:p>
        </p:txBody>
      </p:sp>
      <p:sp>
        <p:nvSpPr>
          <p:cNvPr id="21" name="Text 19"/>
          <p:cNvSpPr/>
          <p:nvPr/>
        </p:nvSpPr>
        <p:spPr>
          <a:xfrm>
            <a:off x="635000" y="3968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NPS improvement</a:t>
            </a:r>
            <a:endParaRPr lang="en-US" sz="1600" dirty="0"/>
          </a:p>
        </p:txBody>
      </p:sp>
      <p:sp>
        <p:nvSpPr>
          <p:cNvPr id="22" name="Shape 20"/>
          <p:cNvSpPr/>
          <p:nvPr/>
        </p:nvSpPr>
        <p:spPr>
          <a:xfrm>
            <a:off x="4206875" y="1682750"/>
            <a:ext cx="3571875" cy="1238250"/>
          </a:xfrm>
          <a:custGeom>
            <a:avLst/>
            <a:gdLst/>
            <a:ahLst/>
            <a:cxnLst/>
            <a:rect l="l" t="t" r="r" b="b"/>
            <a:pathLst>
              <a:path w="3571875" h="1238250">
                <a:moveTo>
                  <a:pt x="63497" y="0"/>
                </a:moveTo>
                <a:lnTo>
                  <a:pt x="3508378" y="0"/>
                </a:lnTo>
                <a:cubicBezTo>
                  <a:pt x="3543446" y="0"/>
                  <a:pt x="3571875" y="28429"/>
                  <a:pt x="3571875" y="63497"/>
                </a:cubicBezTo>
                <a:lnTo>
                  <a:pt x="3571875" y="1174753"/>
                </a:lnTo>
                <a:cubicBezTo>
                  <a:pt x="3571875" y="1209821"/>
                  <a:pt x="3543446" y="1238250"/>
                  <a:pt x="3508378" y="1238250"/>
                </a:cubicBezTo>
                <a:lnTo>
                  <a:pt x="63497" y="1238250"/>
                </a:lnTo>
                <a:cubicBezTo>
                  <a:pt x="28429" y="1238250"/>
                  <a:pt x="0" y="1209821"/>
                  <a:pt x="0" y="1174753"/>
                </a:cubicBezTo>
                <a:lnTo>
                  <a:pt x="0" y="63497"/>
                </a:lnTo>
                <a:cubicBezTo>
                  <a:pt x="0" y="28452"/>
                  <a:pt x="28452" y="0"/>
                  <a:pt x="63497" y="0"/>
                </a:cubicBezTo>
                <a:close/>
              </a:path>
            </a:pathLst>
          </a:custGeom>
          <a:solidFill>
            <a:srgbClr val="FFFFFF">
              <a:alpha val="10196"/>
            </a:srgbClr>
          </a:solidFill>
          <a:ln/>
        </p:spPr>
      </p:sp>
      <p:sp>
        <p:nvSpPr>
          <p:cNvPr id="23" name="Shape 21"/>
          <p:cNvSpPr/>
          <p:nvPr/>
        </p:nvSpPr>
        <p:spPr>
          <a:xfrm>
            <a:off x="4349750" y="1841500"/>
            <a:ext cx="127000" cy="127000"/>
          </a:xfrm>
          <a:custGeom>
            <a:avLst/>
            <a:gdLst/>
            <a:ahLst/>
            <a:cxnLst/>
            <a:rect l="l" t="t" r="r" b="b"/>
            <a:pathLst>
              <a:path w="127000" h="127000">
                <a:moveTo>
                  <a:pt x="31750" y="79375"/>
                </a:moveTo>
                <a:lnTo>
                  <a:pt x="6077" y="79375"/>
                </a:lnTo>
                <a:cubicBezTo>
                  <a:pt x="-99" y="79375"/>
                  <a:pt x="-3894" y="72653"/>
                  <a:pt x="-719" y="67345"/>
                </a:cubicBezTo>
                <a:lnTo>
                  <a:pt x="12402" y="45467"/>
                </a:lnTo>
                <a:cubicBezTo>
                  <a:pt x="14560" y="41870"/>
                  <a:pt x="18430" y="39688"/>
                  <a:pt x="22622" y="39688"/>
                </a:cubicBezTo>
                <a:lnTo>
                  <a:pt x="46186" y="39688"/>
                </a:lnTo>
                <a:cubicBezTo>
                  <a:pt x="65063" y="7714"/>
                  <a:pt x="93216" y="6102"/>
                  <a:pt x="112043" y="8855"/>
                </a:cubicBezTo>
                <a:cubicBezTo>
                  <a:pt x="115218" y="9327"/>
                  <a:pt x="117698" y="11807"/>
                  <a:pt x="118145" y="14957"/>
                </a:cubicBezTo>
                <a:cubicBezTo>
                  <a:pt x="120898" y="33784"/>
                  <a:pt x="119286" y="61937"/>
                  <a:pt x="87313" y="80814"/>
                </a:cubicBezTo>
                <a:lnTo>
                  <a:pt x="87313" y="104378"/>
                </a:lnTo>
                <a:cubicBezTo>
                  <a:pt x="87313" y="108570"/>
                  <a:pt x="85130" y="112440"/>
                  <a:pt x="81533" y="114598"/>
                </a:cubicBezTo>
                <a:lnTo>
                  <a:pt x="59655" y="127719"/>
                </a:lnTo>
                <a:cubicBezTo>
                  <a:pt x="54372" y="130894"/>
                  <a:pt x="47625" y="127074"/>
                  <a:pt x="47625" y="120923"/>
                </a:cubicBezTo>
                <a:lnTo>
                  <a:pt x="47625" y="95250"/>
                </a:lnTo>
                <a:cubicBezTo>
                  <a:pt x="47625" y="86494"/>
                  <a:pt x="40506" y="79375"/>
                  <a:pt x="31750" y="79375"/>
                </a:cubicBezTo>
                <a:lnTo>
                  <a:pt x="31725" y="79375"/>
                </a:lnTo>
                <a:close/>
                <a:moveTo>
                  <a:pt x="99219" y="39688"/>
                </a:moveTo>
                <a:cubicBezTo>
                  <a:pt x="99219" y="33116"/>
                  <a:pt x="93884" y="27781"/>
                  <a:pt x="87313" y="27781"/>
                </a:cubicBezTo>
                <a:cubicBezTo>
                  <a:pt x="80741" y="27781"/>
                  <a:pt x="75406" y="33116"/>
                  <a:pt x="75406" y="39688"/>
                </a:cubicBezTo>
                <a:cubicBezTo>
                  <a:pt x="75406" y="46259"/>
                  <a:pt x="80741" y="51594"/>
                  <a:pt x="87313" y="51594"/>
                </a:cubicBezTo>
                <a:cubicBezTo>
                  <a:pt x="93884" y="51594"/>
                  <a:pt x="99219" y="46259"/>
                  <a:pt x="99219" y="39688"/>
                </a:cubicBezTo>
                <a:close/>
              </a:path>
            </a:pathLst>
          </a:custGeom>
          <a:solidFill>
            <a:srgbClr val="FF6B00"/>
          </a:solidFill>
          <a:ln/>
        </p:spPr>
      </p:sp>
      <p:sp>
        <p:nvSpPr>
          <p:cNvPr id="24" name="Text 22"/>
          <p:cNvSpPr/>
          <p:nvPr/>
        </p:nvSpPr>
        <p:spPr>
          <a:xfrm>
            <a:off x="4556125" y="1809750"/>
            <a:ext cx="100806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Strategic Benefits</a:t>
            </a:r>
            <a:endParaRPr lang="en-US" sz="1600" dirty="0"/>
          </a:p>
        </p:txBody>
      </p:sp>
      <p:sp>
        <p:nvSpPr>
          <p:cNvPr id="25" name="Text 23"/>
          <p:cNvSpPr/>
          <p:nvPr/>
        </p:nvSpPr>
        <p:spPr>
          <a:xfrm>
            <a:off x="4333875" y="2063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Competitive positioning</a:t>
            </a:r>
            <a:endParaRPr lang="en-US" sz="1600" dirty="0"/>
          </a:p>
        </p:txBody>
      </p:sp>
      <p:sp>
        <p:nvSpPr>
          <p:cNvPr id="26" name="Text 24"/>
          <p:cNvSpPr/>
          <p:nvPr/>
        </p:nvSpPr>
        <p:spPr>
          <a:xfrm>
            <a:off x="4333875" y="2254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Scalability for growth</a:t>
            </a:r>
            <a:endParaRPr lang="en-US" sz="1600" dirty="0"/>
          </a:p>
        </p:txBody>
      </p:sp>
      <p:sp>
        <p:nvSpPr>
          <p:cNvPr id="27" name="Text 25"/>
          <p:cNvSpPr/>
          <p:nvPr/>
        </p:nvSpPr>
        <p:spPr>
          <a:xfrm>
            <a:off x="4333875" y="2444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Innovation leadership</a:t>
            </a:r>
            <a:endParaRPr lang="en-US" sz="1600" dirty="0"/>
          </a:p>
        </p:txBody>
      </p:sp>
      <p:sp>
        <p:nvSpPr>
          <p:cNvPr id="28" name="Text 26"/>
          <p:cNvSpPr/>
          <p:nvPr/>
        </p:nvSpPr>
        <p:spPr>
          <a:xfrm>
            <a:off x="4333875" y="2635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Talent attraction</a:t>
            </a:r>
            <a:endParaRPr lang="en-US" sz="1600" dirty="0"/>
          </a:p>
        </p:txBody>
      </p:sp>
      <p:sp>
        <p:nvSpPr>
          <p:cNvPr id="29" name="Shape 27"/>
          <p:cNvSpPr/>
          <p:nvPr/>
        </p:nvSpPr>
        <p:spPr>
          <a:xfrm>
            <a:off x="4206875" y="3016250"/>
            <a:ext cx="3571875" cy="1238250"/>
          </a:xfrm>
          <a:custGeom>
            <a:avLst/>
            <a:gdLst/>
            <a:ahLst/>
            <a:cxnLst/>
            <a:rect l="l" t="t" r="r" b="b"/>
            <a:pathLst>
              <a:path w="3571875" h="1238250">
                <a:moveTo>
                  <a:pt x="63497" y="0"/>
                </a:moveTo>
                <a:lnTo>
                  <a:pt x="3508378" y="0"/>
                </a:lnTo>
                <a:cubicBezTo>
                  <a:pt x="3543446" y="0"/>
                  <a:pt x="3571875" y="28429"/>
                  <a:pt x="3571875" y="63497"/>
                </a:cubicBezTo>
                <a:lnTo>
                  <a:pt x="3571875" y="1174753"/>
                </a:lnTo>
                <a:cubicBezTo>
                  <a:pt x="3571875" y="1209821"/>
                  <a:pt x="3543446" y="1238250"/>
                  <a:pt x="3508378" y="1238250"/>
                </a:cubicBezTo>
                <a:lnTo>
                  <a:pt x="63497" y="1238250"/>
                </a:lnTo>
                <a:cubicBezTo>
                  <a:pt x="28429" y="1238250"/>
                  <a:pt x="0" y="1209821"/>
                  <a:pt x="0" y="1174753"/>
                </a:cubicBezTo>
                <a:lnTo>
                  <a:pt x="0" y="63497"/>
                </a:lnTo>
                <a:cubicBezTo>
                  <a:pt x="0" y="28452"/>
                  <a:pt x="28452" y="0"/>
                  <a:pt x="63497" y="0"/>
                </a:cubicBezTo>
                <a:close/>
              </a:path>
            </a:pathLst>
          </a:custGeom>
          <a:solidFill>
            <a:srgbClr val="FFFFFF">
              <a:alpha val="10196"/>
            </a:srgbClr>
          </a:solidFill>
          <a:ln/>
        </p:spPr>
      </p:sp>
      <p:sp>
        <p:nvSpPr>
          <p:cNvPr id="30" name="Shape 28"/>
          <p:cNvSpPr/>
          <p:nvPr/>
        </p:nvSpPr>
        <p:spPr>
          <a:xfrm>
            <a:off x="4349750" y="3175000"/>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FF6B00"/>
          </a:solidFill>
          <a:ln/>
        </p:spPr>
      </p:sp>
      <p:sp>
        <p:nvSpPr>
          <p:cNvPr id="31" name="Text 29"/>
          <p:cNvSpPr/>
          <p:nvPr/>
        </p:nvSpPr>
        <p:spPr>
          <a:xfrm>
            <a:off x="4556125" y="3143250"/>
            <a:ext cx="746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Risk Benefits</a:t>
            </a:r>
            <a:endParaRPr lang="en-US" sz="1600" dirty="0"/>
          </a:p>
        </p:txBody>
      </p:sp>
      <p:sp>
        <p:nvSpPr>
          <p:cNvPr id="32" name="Text 30"/>
          <p:cNvSpPr/>
          <p:nvPr/>
        </p:nvSpPr>
        <p:spPr>
          <a:xfrm>
            <a:off x="4333875" y="3397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Enhanced compliance</a:t>
            </a:r>
            <a:endParaRPr lang="en-US" sz="1600" dirty="0"/>
          </a:p>
        </p:txBody>
      </p:sp>
      <p:sp>
        <p:nvSpPr>
          <p:cNvPr id="33" name="Text 31"/>
          <p:cNvSpPr/>
          <p:nvPr/>
        </p:nvSpPr>
        <p:spPr>
          <a:xfrm>
            <a:off x="4333875" y="3587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Better fraud detection</a:t>
            </a:r>
            <a:endParaRPr lang="en-US" sz="1600" dirty="0"/>
          </a:p>
        </p:txBody>
      </p:sp>
      <p:sp>
        <p:nvSpPr>
          <p:cNvPr id="34" name="Text 32"/>
          <p:cNvSpPr/>
          <p:nvPr/>
        </p:nvSpPr>
        <p:spPr>
          <a:xfrm>
            <a:off x="4333875" y="37782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Improved audit trails</a:t>
            </a:r>
            <a:endParaRPr lang="en-US" sz="1600" dirty="0"/>
          </a:p>
        </p:txBody>
      </p:sp>
      <p:sp>
        <p:nvSpPr>
          <p:cNvPr id="35" name="Text 33"/>
          <p:cNvSpPr/>
          <p:nvPr/>
        </p:nvSpPr>
        <p:spPr>
          <a:xfrm>
            <a:off x="4333875" y="3968750"/>
            <a:ext cx="3373438"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Quattrocento Sans" pitchFamily="34" charset="0"/>
                <a:ea typeface="Quattrocento Sans" pitchFamily="34" charset="-122"/>
                <a:cs typeface="Quattrocento Sans" pitchFamily="34" charset="-120"/>
              </a:rPr>
              <a:t>• Reduced human error</a:t>
            </a:r>
            <a:endParaRPr lang="en-US" sz="1600" dirty="0"/>
          </a:p>
        </p:txBody>
      </p:sp>
      <p:sp>
        <p:nvSpPr>
          <p:cNvPr id="36" name="Shape 34"/>
          <p:cNvSpPr/>
          <p:nvPr/>
        </p:nvSpPr>
        <p:spPr>
          <a:xfrm>
            <a:off x="317500" y="4572000"/>
            <a:ext cx="7651750" cy="2063750"/>
          </a:xfrm>
          <a:custGeom>
            <a:avLst/>
            <a:gdLst/>
            <a:ahLst/>
            <a:cxnLst/>
            <a:rect l="l" t="t" r="r" b="b"/>
            <a:pathLst>
              <a:path w="7651750" h="2063750">
                <a:moveTo>
                  <a:pt x="95242" y="0"/>
                </a:moveTo>
                <a:lnTo>
                  <a:pt x="7556508" y="0"/>
                </a:lnTo>
                <a:cubicBezTo>
                  <a:pt x="7609109" y="0"/>
                  <a:pt x="7651750" y="42641"/>
                  <a:pt x="7651750" y="95242"/>
                </a:cubicBezTo>
                <a:lnTo>
                  <a:pt x="7651750" y="1968508"/>
                </a:lnTo>
                <a:cubicBezTo>
                  <a:pt x="7651750" y="2021109"/>
                  <a:pt x="7609109" y="2063750"/>
                  <a:pt x="7556508" y="2063750"/>
                </a:cubicBezTo>
                <a:lnTo>
                  <a:pt x="95242" y="2063750"/>
                </a:lnTo>
                <a:cubicBezTo>
                  <a:pt x="42641" y="2063750"/>
                  <a:pt x="0" y="2021109"/>
                  <a:pt x="0" y="1968508"/>
                </a:cubicBezTo>
                <a:lnTo>
                  <a:pt x="0" y="95242"/>
                </a:lnTo>
                <a:cubicBezTo>
                  <a:pt x="0" y="42677"/>
                  <a:pt x="42677" y="0"/>
                  <a:pt x="95242" y="0"/>
                </a:cubicBezTo>
                <a:close/>
              </a:path>
            </a:pathLst>
          </a:custGeom>
          <a:solidFill>
            <a:srgbClr val="F9FAFB"/>
          </a:solidFill>
          <a:ln/>
        </p:spPr>
      </p:sp>
      <p:sp>
        <p:nvSpPr>
          <p:cNvPr id="37" name="Text 35"/>
          <p:cNvSpPr/>
          <p:nvPr/>
        </p:nvSpPr>
        <p:spPr>
          <a:xfrm>
            <a:off x="476250" y="4730750"/>
            <a:ext cx="7405688"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Financial Analysis</a:t>
            </a:r>
            <a:endParaRPr lang="en-US" sz="1600" dirty="0"/>
          </a:p>
        </p:txBody>
      </p:sp>
      <p:pic>
        <p:nvPicPr>
          <p:cNvPr id="38" name="Image 0" descr="https://kimi-img.moonshot.cn/pub/slides/26-03-07-03:54:51-d6lj22tf439eb5fs3bug.png"/>
          <p:cNvPicPr>
            <a:picLocks noChangeAspect="1"/>
          </p:cNvPicPr>
          <p:nvPr/>
        </p:nvPicPr>
        <p:blipFill>
          <a:blip r:embed="rId3"/>
          <a:srcRect/>
          <a:stretch/>
        </p:blipFill>
        <p:spPr>
          <a:xfrm>
            <a:off x="476250" y="5048250"/>
            <a:ext cx="5976938" cy="1428750"/>
          </a:xfrm>
          <a:prstGeom prst="roundRect">
            <a:avLst>
              <a:gd name="adj" fmla="val 0"/>
            </a:avLst>
          </a:prstGeom>
        </p:spPr>
      </p:pic>
      <p:sp>
        <p:nvSpPr>
          <p:cNvPr id="39" name="Shape 36"/>
          <p:cNvSpPr/>
          <p:nvPr/>
        </p:nvSpPr>
        <p:spPr>
          <a:xfrm>
            <a:off x="8143875" y="1143000"/>
            <a:ext cx="3730625" cy="2571750"/>
          </a:xfrm>
          <a:custGeom>
            <a:avLst/>
            <a:gdLst/>
            <a:ahLst/>
            <a:cxnLst/>
            <a:rect l="l" t="t" r="r" b="b"/>
            <a:pathLst>
              <a:path w="3730625" h="2571750">
                <a:moveTo>
                  <a:pt x="31750" y="0"/>
                </a:moveTo>
                <a:lnTo>
                  <a:pt x="3635367" y="0"/>
                </a:lnTo>
                <a:cubicBezTo>
                  <a:pt x="3687977" y="0"/>
                  <a:pt x="3730625" y="42648"/>
                  <a:pt x="3730625" y="95258"/>
                </a:cubicBezTo>
                <a:lnTo>
                  <a:pt x="3730625" y="2476492"/>
                </a:lnTo>
                <a:cubicBezTo>
                  <a:pt x="3730625" y="2529102"/>
                  <a:pt x="3687977" y="2571750"/>
                  <a:pt x="3635367" y="2571750"/>
                </a:cubicBezTo>
                <a:lnTo>
                  <a:pt x="31750" y="2571750"/>
                </a:lnTo>
                <a:cubicBezTo>
                  <a:pt x="14227" y="2571750"/>
                  <a:pt x="0" y="2557523"/>
                  <a:pt x="0" y="2540000"/>
                </a:cubicBezTo>
                <a:lnTo>
                  <a:pt x="0" y="31750"/>
                </a:lnTo>
                <a:cubicBezTo>
                  <a:pt x="0" y="14227"/>
                  <a:pt x="14227" y="0"/>
                  <a:pt x="31750" y="0"/>
                </a:cubicBezTo>
                <a:close/>
              </a:path>
            </a:pathLst>
          </a:custGeom>
          <a:solidFill>
            <a:srgbClr val="FF6B00">
              <a:alpha val="10196"/>
            </a:srgbClr>
          </a:solidFill>
          <a:ln/>
        </p:spPr>
      </p:sp>
      <p:sp>
        <p:nvSpPr>
          <p:cNvPr id="40" name="Shape 37"/>
          <p:cNvSpPr/>
          <p:nvPr/>
        </p:nvSpPr>
        <p:spPr>
          <a:xfrm>
            <a:off x="8143875" y="1143000"/>
            <a:ext cx="31750" cy="2571750"/>
          </a:xfrm>
          <a:custGeom>
            <a:avLst/>
            <a:gdLst/>
            <a:ahLst/>
            <a:cxnLst/>
            <a:rect l="l" t="t" r="r" b="b"/>
            <a:pathLst>
              <a:path w="31750" h="2571750">
                <a:moveTo>
                  <a:pt x="31750" y="0"/>
                </a:moveTo>
                <a:lnTo>
                  <a:pt x="31750" y="0"/>
                </a:lnTo>
                <a:lnTo>
                  <a:pt x="31750" y="2571750"/>
                </a:lnTo>
                <a:lnTo>
                  <a:pt x="31750" y="2571750"/>
                </a:lnTo>
                <a:cubicBezTo>
                  <a:pt x="14227" y="2571750"/>
                  <a:pt x="0" y="2557523"/>
                  <a:pt x="0" y="2540000"/>
                </a:cubicBezTo>
                <a:lnTo>
                  <a:pt x="0" y="31750"/>
                </a:lnTo>
                <a:cubicBezTo>
                  <a:pt x="0" y="14227"/>
                  <a:pt x="14227" y="0"/>
                  <a:pt x="31750" y="0"/>
                </a:cubicBezTo>
                <a:close/>
              </a:path>
            </a:pathLst>
          </a:custGeom>
          <a:solidFill>
            <a:srgbClr val="FF6B00"/>
          </a:solidFill>
          <a:ln/>
        </p:spPr>
      </p:sp>
      <p:sp>
        <p:nvSpPr>
          <p:cNvPr id="41" name="Text 38"/>
          <p:cNvSpPr/>
          <p:nvPr/>
        </p:nvSpPr>
        <p:spPr>
          <a:xfrm>
            <a:off x="8318500" y="1301750"/>
            <a:ext cx="3468688"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Liter" pitchFamily="34" charset="0"/>
                <a:ea typeface="Liter" pitchFamily="34" charset="-122"/>
                <a:cs typeface="Liter" pitchFamily="34" charset="-120"/>
              </a:rPr>
              <a:t>Investment Summary</a:t>
            </a:r>
            <a:endParaRPr lang="en-US" sz="1600" dirty="0"/>
          </a:p>
        </p:txBody>
      </p:sp>
      <p:sp>
        <p:nvSpPr>
          <p:cNvPr id="42" name="Shape 39"/>
          <p:cNvSpPr/>
          <p:nvPr/>
        </p:nvSpPr>
        <p:spPr>
          <a:xfrm>
            <a:off x="8318500" y="1619250"/>
            <a:ext cx="3397250" cy="412750"/>
          </a:xfrm>
          <a:custGeom>
            <a:avLst/>
            <a:gdLst/>
            <a:ahLst/>
            <a:cxnLst/>
            <a:rect l="l" t="t" r="r" b="b"/>
            <a:pathLst>
              <a:path w="3397250" h="412750">
                <a:moveTo>
                  <a:pt x="63502" y="0"/>
                </a:moveTo>
                <a:lnTo>
                  <a:pt x="3333748" y="0"/>
                </a:lnTo>
                <a:cubicBezTo>
                  <a:pt x="3368819" y="0"/>
                  <a:pt x="3397250" y="28431"/>
                  <a:pt x="3397250" y="63502"/>
                </a:cubicBezTo>
                <a:lnTo>
                  <a:pt x="3397250" y="349248"/>
                </a:lnTo>
                <a:cubicBezTo>
                  <a:pt x="3397250" y="384319"/>
                  <a:pt x="3368819" y="412750"/>
                  <a:pt x="3333748" y="412750"/>
                </a:cubicBezTo>
                <a:lnTo>
                  <a:pt x="63502" y="412750"/>
                </a:lnTo>
                <a:cubicBezTo>
                  <a:pt x="28431" y="412750"/>
                  <a:pt x="0" y="384319"/>
                  <a:pt x="0" y="349248"/>
                </a:cubicBezTo>
                <a:lnTo>
                  <a:pt x="0" y="63502"/>
                </a:lnTo>
                <a:cubicBezTo>
                  <a:pt x="0" y="28454"/>
                  <a:pt x="28454" y="0"/>
                  <a:pt x="63502" y="0"/>
                </a:cubicBezTo>
                <a:close/>
              </a:path>
            </a:pathLst>
          </a:custGeom>
          <a:solidFill>
            <a:srgbClr val="FFFFFF"/>
          </a:solidFill>
          <a:ln/>
          <a:effectLst>
            <a:outerShdw blurRad="23813" dist="7938" dir="5400000" algn="bl" rotWithShape="0">
              <a:srgbClr val="000000">
                <a:alpha val="10196"/>
              </a:srgbClr>
            </a:outerShdw>
          </a:effectLst>
        </p:spPr>
      </p:sp>
      <p:sp>
        <p:nvSpPr>
          <p:cNvPr id="43" name="Text 40"/>
          <p:cNvSpPr/>
          <p:nvPr/>
        </p:nvSpPr>
        <p:spPr>
          <a:xfrm>
            <a:off x="8413750" y="1746250"/>
            <a:ext cx="857250"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Total Investment</a:t>
            </a:r>
            <a:endParaRPr lang="en-US" sz="1600" dirty="0"/>
          </a:p>
        </p:txBody>
      </p:sp>
      <p:sp>
        <p:nvSpPr>
          <p:cNvPr id="44" name="Text 41"/>
          <p:cNvSpPr/>
          <p:nvPr/>
        </p:nvSpPr>
        <p:spPr>
          <a:xfrm>
            <a:off x="10718912" y="1714500"/>
            <a:ext cx="976312"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Quattrocento Sans" pitchFamily="34" charset="0"/>
                <a:ea typeface="Quattrocento Sans" pitchFamily="34" charset="-122"/>
                <a:cs typeface="Quattrocento Sans" pitchFamily="34" charset="-120"/>
              </a:rPr>
              <a:t>$2.5M - $3.5M</a:t>
            </a:r>
            <a:endParaRPr lang="en-US" sz="1600" dirty="0"/>
          </a:p>
        </p:txBody>
      </p:sp>
      <p:sp>
        <p:nvSpPr>
          <p:cNvPr id="45" name="Shape 42"/>
          <p:cNvSpPr/>
          <p:nvPr/>
        </p:nvSpPr>
        <p:spPr>
          <a:xfrm>
            <a:off x="8318500" y="2127250"/>
            <a:ext cx="3397250" cy="412750"/>
          </a:xfrm>
          <a:custGeom>
            <a:avLst/>
            <a:gdLst/>
            <a:ahLst/>
            <a:cxnLst/>
            <a:rect l="l" t="t" r="r" b="b"/>
            <a:pathLst>
              <a:path w="3397250" h="412750">
                <a:moveTo>
                  <a:pt x="63502" y="0"/>
                </a:moveTo>
                <a:lnTo>
                  <a:pt x="3333748" y="0"/>
                </a:lnTo>
                <a:cubicBezTo>
                  <a:pt x="3368819" y="0"/>
                  <a:pt x="3397250" y="28431"/>
                  <a:pt x="3397250" y="63502"/>
                </a:cubicBezTo>
                <a:lnTo>
                  <a:pt x="3397250" y="349248"/>
                </a:lnTo>
                <a:cubicBezTo>
                  <a:pt x="3397250" y="384319"/>
                  <a:pt x="3368819" y="412750"/>
                  <a:pt x="3333748" y="412750"/>
                </a:cubicBezTo>
                <a:lnTo>
                  <a:pt x="63502" y="412750"/>
                </a:lnTo>
                <a:cubicBezTo>
                  <a:pt x="28431" y="412750"/>
                  <a:pt x="0" y="384319"/>
                  <a:pt x="0" y="349248"/>
                </a:cubicBezTo>
                <a:lnTo>
                  <a:pt x="0" y="63502"/>
                </a:lnTo>
                <a:cubicBezTo>
                  <a:pt x="0" y="28454"/>
                  <a:pt x="28454" y="0"/>
                  <a:pt x="63502" y="0"/>
                </a:cubicBezTo>
                <a:close/>
              </a:path>
            </a:pathLst>
          </a:custGeom>
          <a:solidFill>
            <a:srgbClr val="FFFFFF"/>
          </a:solidFill>
          <a:ln/>
          <a:effectLst>
            <a:outerShdw blurRad="23813" dist="7938" dir="5400000" algn="bl" rotWithShape="0">
              <a:srgbClr val="000000">
                <a:alpha val="10196"/>
              </a:srgbClr>
            </a:outerShdw>
          </a:effectLst>
        </p:spPr>
      </p:sp>
      <p:sp>
        <p:nvSpPr>
          <p:cNvPr id="46" name="Text 43"/>
          <p:cNvSpPr/>
          <p:nvPr/>
        </p:nvSpPr>
        <p:spPr>
          <a:xfrm>
            <a:off x="8413750" y="2254250"/>
            <a:ext cx="666750"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ROI Timeline</a:t>
            </a:r>
            <a:endParaRPr lang="en-US" sz="1600" dirty="0"/>
          </a:p>
        </p:txBody>
      </p:sp>
      <p:sp>
        <p:nvSpPr>
          <p:cNvPr id="47" name="Text 44"/>
          <p:cNvSpPr/>
          <p:nvPr/>
        </p:nvSpPr>
        <p:spPr>
          <a:xfrm>
            <a:off x="10779373" y="2222500"/>
            <a:ext cx="912813" cy="222250"/>
          </a:xfrm>
          <a:prstGeom prst="rect">
            <a:avLst/>
          </a:prstGeom>
          <a:noFill/>
          <a:ln/>
        </p:spPr>
        <p:txBody>
          <a:bodyPr wrap="square" lIns="0" tIns="0" rIns="0" bIns="0" rtlCol="0" anchor="ctr"/>
          <a:lstStyle/>
          <a:p>
            <a:pPr>
              <a:lnSpc>
                <a:spcPct val="130000"/>
              </a:lnSpc>
            </a:pPr>
            <a:r>
              <a:rPr lang="en-US" sz="1125" b="1" dirty="0">
                <a:solidFill>
                  <a:srgbClr val="FF6B00"/>
                </a:solidFill>
                <a:latin typeface="Quattrocento Sans" pitchFamily="34" charset="0"/>
                <a:ea typeface="Quattrocento Sans" pitchFamily="34" charset="-122"/>
                <a:cs typeface="Quattrocento Sans" pitchFamily="34" charset="-120"/>
              </a:rPr>
              <a:t>18-24 months</a:t>
            </a:r>
            <a:endParaRPr lang="en-US" sz="1600" dirty="0"/>
          </a:p>
        </p:txBody>
      </p:sp>
      <p:sp>
        <p:nvSpPr>
          <p:cNvPr id="48" name="Shape 45"/>
          <p:cNvSpPr/>
          <p:nvPr/>
        </p:nvSpPr>
        <p:spPr>
          <a:xfrm>
            <a:off x="8318500" y="2635250"/>
            <a:ext cx="3397250" cy="412750"/>
          </a:xfrm>
          <a:custGeom>
            <a:avLst/>
            <a:gdLst/>
            <a:ahLst/>
            <a:cxnLst/>
            <a:rect l="l" t="t" r="r" b="b"/>
            <a:pathLst>
              <a:path w="3397250" h="412750">
                <a:moveTo>
                  <a:pt x="63502" y="0"/>
                </a:moveTo>
                <a:lnTo>
                  <a:pt x="3333748" y="0"/>
                </a:lnTo>
                <a:cubicBezTo>
                  <a:pt x="3368819" y="0"/>
                  <a:pt x="3397250" y="28431"/>
                  <a:pt x="3397250" y="63502"/>
                </a:cubicBezTo>
                <a:lnTo>
                  <a:pt x="3397250" y="349248"/>
                </a:lnTo>
                <a:cubicBezTo>
                  <a:pt x="3397250" y="384319"/>
                  <a:pt x="3368819" y="412750"/>
                  <a:pt x="3333748" y="412750"/>
                </a:cubicBezTo>
                <a:lnTo>
                  <a:pt x="63502" y="412750"/>
                </a:lnTo>
                <a:cubicBezTo>
                  <a:pt x="28431" y="412750"/>
                  <a:pt x="0" y="384319"/>
                  <a:pt x="0" y="349248"/>
                </a:cubicBezTo>
                <a:lnTo>
                  <a:pt x="0" y="63502"/>
                </a:lnTo>
                <a:cubicBezTo>
                  <a:pt x="0" y="28454"/>
                  <a:pt x="28454" y="0"/>
                  <a:pt x="63502" y="0"/>
                </a:cubicBezTo>
                <a:close/>
              </a:path>
            </a:pathLst>
          </a:custGeom>
          <a:solidFill>
            <a:srgbClr val="FFFFFF"/>
          </a:solidFill>
          <a:ln/>
          <a:effectLst>
            <a:outerShdw blurRad="23813" dist="7938" dir="5400000" algn="bl" rotWithShape="0">
              <a:srgbClr val="000000">
                <a:alpha val="10196"/>
              </a:srgbClr>
            </a:outerShdw>
          </a:effectLst>
        </p:spPr>
      </p:sp>
      <p:sp>
        <p:nvSpPr>
          <p:cNvPr id="49" name="Text 46"/>
          <p:cNvSpPr/>
          <p:nvPr/>
        </p:nvSpPr>
        <p:spPr>
          <a:xfrm>
            <a:off x="8413750" y="2762250"/>
            <a:ext cx="1055688"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Annual Savings (Y2+)</a:t>
            </a:r>
            <a:endParaRPr lang="en-US" sz="1600" dirty="0"/>
          </a:p>
        </p:txBody>
      </p:sp>
      <p:sp>
        <p:nvSpPr>
          <p:cNvPr id="50" name="Text 47"/>
          <p:cNvSpPr/>
          <p:nvPr/>
        </p:nvSpPr>
        <p:spPr>
          <a:xfrm>
            <a:off x="10937689" y="2730500"/>
            <a:ext cx="754063" cy="222250"/>
          </a:xfrm>
          <a:prstGeom prst="rect">
            <a:avLst/>
          </a:prstGeom>
          <a:noFill/>
          <a:ln/>
        </p:spPr>
        <p:txBody>
          <a:bodyPr wrap="square" lIns="0" tIns="0" rIns="0" bIns="0" rtlCol="0" anchor="ctr"/>
          <a:lstStyle/>
          <a:p>
            <a:pPr>
              <a:lnSpc>
                <a:spcPct val="130000"/>
              </a:lnSpc>
            </a:pPr>
            <a:r>
              <a:rPr lang="en-US" sz="1125" b="1" dirty="0">
                <a:solidFill>
                  <a:srgbClr val="003087"/>
                </a:solidFill>
                <a:latin typeface="Quattrocento Sans" pitchFamily="34" charset="0"/>
                <a:ea typeface="Quattrocento Sans" pitchFamily="34" charset="-122"/>
                <a:cs typeface="Quattrocento Sans" pitchFamily="34" charset="-120"/>
              </a:rPr>
              <a:t>$4M - $6M</a:t>
            </a:r>
            <a:endParaRPr lang="en-US" sz="1600" dirty="0"/>
          </a:p>
        </p:txBody>
      </p:sp>
      <p:sp>
        <p:nvSpPr>
          <p:cNvPr id="51" name="Shape 48"/>
          <p:cNvSpPr/>
          <p:nvPr/>
        </p:nvSpPr>
        <p:spPr>
          <a:xfrm>
            <a:off x="8318500" y="3143250"/>
            <a:ext cx="3397250" cy="412750"/>
          </a:xfrm>
          <a:custGeom>
            <a:avLst/>
            <a:gdLst/>
            <a:ahLst/>
            <a:cxnLst/>
            <a:rect l="l" t="t" r="r" b="b"/>
            <a:pathLst>
              <a:path w="3397250" h="412750">
                <a:moveTo>
                  <a:pt x="63502" y="0"/>
                </a:moveTo>
                <a:lnTo>
                  <a:pt x="3333748" y="0"/>
                </a:lnTo>
                <a:cubicBezTo>
                  <a:pt x="3368819" y="0"/>
                  <a:pt x="3397250" y="28431"/>
                  <a:pt x="3397250" y="63502"/>
                </a:cubicBezTo>
                <a:lnTo>
                  <a:pt x="3397250" y="349248"/>
                </a:lnTo>
                <a:cubicBezTo>
                  <a:pt x="3397250" y="384319"/>
                  <a:pt x="3368819" y="412750"/>
                  <a:pt x="3333748" y="412750"/>
                </a:cubicBezTo>
                <a:lnTo>
                  <a:pt x="63502" y="412750"/>
                </a:lnTo>
                <a:cubicBezTo>
                  <a:pt x="28431" y="412750"/>
                  <a:pt x="0" y="384319"/>
                  <a:pt x="0" y="349248"/>
                </a:cubicBezTo>
                <a:lnTo>
                  <a:pt x="0" y="63502"/>
                </a:lnTo>
                <a:cubicBezTo>
                  <a:pt x="0" y="28454"/>
                  <a:pt x="28454" y="0"/>
                  <a:pt x="63502" y="0"/>
                </a:cubicBezTo>
                <a:close/>
              </a:path>
            </a:pathLst>
          </a:custGeom>
          <a:solidFill>
            <a:srgbClr val="FFFFFF"/>
          </a:solidFill>
          <a:ln/>
          <a:effectLst>
            <a:outerShdw blurRad="23813" dist="7938" dir="5400000" algn="bl" rotWithShape="0">
              <a:srgbClr val="000000">
                <a:alpha val="10196"/>
              </a:srgbClr>
            </a:outerShdw>
          </a:effectLst>
        </p:spPr>
      </p:sp>
      <p:sp>
        <p:nvSpPr>
          <p:cNvPr id="52" name="Text 49"/>
          <p:cNvSpPr/>
          <p:nvPr/>
        </p:nvSpPr>
        <p:spPr>
          <a:xfrm>
            <a:off x="8413750" y="3270250"/>
            <a:ext cx="619125"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5-Year NPV</a:t>
            </a:r>
            <a:endParaRPr lang="en-US" sz="1600" dirty="0"/>
          </a:p>
        </p:txBody>
      </p:sp>
      <p:sp>
        <p:nvSpPr>
          <p:cNvPr id="53" name="Text 50"/>
          <p:cNvSpPr/>
          <p:nvPr/>
        </p:nvSpPr>
        <p:spPr>
          <a:xfrm>
            <a:off x="10845974" y="3238500"/>
            <a:ext cx="849313" cy="222250"/>
          </a:xfrm>
          <a:prstGeom prst="rect">
            <a:avLst/>
          </a:prstGeom>
          <a:noFill/>
          <a:ln/>
        </p:spPr>
        <p:txBody>
          <a:bodyPr wrap="square" lIns="0" tIns="0" rIns="0" bIns="0" rtlCol="0" anchor="ctr"/>
          <a:lstStyle/>
          <a:p>
            <a:pPr>
              <a:lnSpc>
                <a:spcPct val="130000"/>
              </a:lnSpc>
            </a:pPr>
            <a:r>
              <a:rPr lang="en-US" sz="1125" b="1" dirty="0">
                <a:solidFill>
                  <a:srgbClr val="FF6B00"/>
                </a:solidFill>
                <a:latin typeface="Quattrocento Sans" pitchFamily="34" charset="0"/>
                <a:ea typeface="Quattrocento Sans" pitchFamily="34" charset="-122"/>
                <a:cs typeface="Quattrocento Sans" pitchFamily="34" charset="-120"/>
              </a:rPr>
              <a:t>$12M - $18M</a:t>
            </a:r>
            <a:endParaRPr lang="en-US" sz="1600" dirty="0"/>
          </a:p>
        </p:txBody>
      </p:sp>
      <p:sp>
        <p:nvSpPr>
          <p:cNvPr id="54" name="Shape 51"/>
          <p:cNvSpPr/>
          <p:nvPr/>
        </p:nvSpPr>
        <p:spPr>
          <a:xfrm>
            <a:off x="8128000" y="3841750"/>
            <a:ext cx="3746500" cy="2063750"/>
          </a:xfrm>
          <a:custGeom>
            <a:avLst/>
            <a:gdLst/>
            <a:ahLst/>
            <a:cxnLst/>
            <a:rect l="l" t="t" r="r" b="b"/>
            <a:pathLst>
              <a:path w="3746500" h="2063750">
                <a:moveTo>
                  <a:pt x="95242" y="0"/>
                </a:moveTo>
                <a:lnTo>
                  <a:pt x="3651258" y="0"/>
                </a:lnTo>
                <a:cubicBezTo>
                  <a:pt x="3703859" y="0"/>
                  <a:pt x="3746500" y="42641"/>
                  <a:pt x="3746500" y="95242"/>
                </a:cubicBezTo>
                <a:lnTo>
                  <a:pt x="3746500" y="1968508"/>
                </a:lnTo>
                <a:cubicBezTo>
                  <a:pt x="3746500" y="2021109"/>
                  <a:pt x="3703859" y="2063750"/>
                  <a:pt x="3651258" y="2063750"/>
                </a:cubicBezTo>
                <a:lnTo>
                  <a:pt x="95242" y="2063750"/>
                </a:lnTo>
                <a:cubicBezTo>
                  <a:pt x="42641" y="2063750"/>
                  <a:pt x="0" y="2021109"/>
                  <a:pt x="0" y="1968508"/>
                </a:cubicBezTo>
                <a:lnTo>
                  <a:pt x="0" y="95242"/>
                </a:lnTo>
                <a:cubicBezTo>
                  <a:pt x="0" y="42677"/>
                  <a:pt x="42677" y="0"/>
                  <a:pt x="95242" y="0"/>
                </a:cubicBezTo>
                <a:close/>
              </a:path>
            </a:pathLst>
          </a:custGeom>
          <a:solidFill>
            <a:srgbClr val="F9FAFB"/>
          </a:solidFill>
          <a:ln/>
        </p:spPr>
      </p:sp>
      <p:sp>
        <p:nvSpPr>
          <p:cNvPr id="55" name="Text 52"/>
          <p:cNvSpPr/>
          <p:nvPr/>
        </p:nvSpPr>
        <p:spPr>
          <a:xfrm>
            <a:off x="8286750" y="4000500"/>
            <a:ext cx="3492500" cy="190500"/>
          </a:xfrm>
          <a:prstGeom prst="rect">
            <a:avLst/>
          </a:prstGeom>
          <a:noFill/>
          <a:ln/>
        </p:spPr>
        <p:txBody>
          <a:bodyPr wrap="square" lIns="0" tIns="0" rIns="0" bIns="0" rtlCol="0" anchor="ctr"/>
          <a:lstStyle/>
          <a:p>
            <a:pPr>
              <a:lnSpc>
                <a:spcPct val="130000"/>
              </a:lnSpc>
            </a:pPr>
            <a:r>
              <a:rPr lang="en-US" sz="1000" b="1" dirty="0">
                <a:solidFill>
                  <a:srgbClr val="003087"/>
                </a:solidFill>
                <a:latin typeface="Liter" pitchFamily="34" charset="0"/>
                <a:ea typeface="Liter" pitchFamily="34" charset="-122"/>
                <a:cs typeface="Liter" pitchFamily="34" charset="-120"/>
              </a:rPr>
              <a:t>Sensitivity Analysis</a:t>
            </a:r>
            <a:endParaRPr lang="en-US" sz="1600" dirty="0"/>
          </a:p>
        </p:txBody>
      </p:sp>
      <p:sp>
        <p:nvSpPr>
          <p:cNvPr id="56" name="Shape 53"/>
          <p:cNvSpPr/>
          <p:nvPr/>
        </p:nvSpPr>
        <p:spPr>
          <a:xfrm>
            <a:off x="8286750" y="4286250"/>
            <a:ext cx="3429000" cy="444500"/>
          </a:xfrm>
          <a:custGeom>
            <a:avLst/>
            <a:gdLst/>
            <a:ahLst/>
            <a:cxnLst/>
            <a:rect l="l" t="t" r="r" b="b"/>
            <a:pathLst>
              <a:path w="3429000" h="444500">
                <a:moveTo>
                  <a:pt x="63501" y="0"/>
                </a:moveTo>
                <a:lnTo>
                  <a:pt x="3365499" y="0"/>
                </a:lnTo>
                <a:cubicBezTo>
                  <a:pt x="3400570" y="0"/>
                  <a:pt x="3429000" y="28430"/>
                  <a:pt x="3429000" y="63501"/>
                </a:cubicBezTo>
                <a:lnTo>
                  <a:pt x="3429000" y="380999"/>
                </a:lnTo>
                <a:cubicBezTo>
                  <a:pt x="3429000" y="416070"/>
                  <a:pt x="3400570" y="444500"/>
                  <a:pt x="3365499" y="444500"/>
                </a:cubicBezTo>
                <a:lnTo>
                  <a:pt x="63501" y="444500"/>
                </a:lnTo>
                <a:cubicBezTo>
                  <a:pt x="28454" y="444500"/>
                  <a:pt x="0" y="416046"/>
                  <a:pt x="0" y="380999"/>
                </a:cubicBezTo>
                <a:lnTo>
                  <a:pt x="0" y="63501"/>
                </a:lnTo>
                <a:cubicBezTo>
                  <a:pt x="0" y="28454"/>
                  <a:pt x="28454" y="0"/>
                  <a:pt x="63501" y="0"/>
                </a:cubicBezTo>
                <a:close/>
              </a:path>
            </a:pathLst>
          </a:custGeom>
          <a:solidFill>
            <a:srgbClr val="FFFFFF"/>
          </a:solidFill>
          <a:ln/>
          <a:effectLst>
            <a:outerShdw blurRad="23813" dist="7938" dir="5400000" algn="bl" rotWithShape="0">
              <a:srgbClr val="000000">
                <a:alpha val="10196"/>
              </a:srgbClr>
            </a:outerShdw>
          </a:effectLst>
        </p:spPr>
      </p:sp>
      <p:sp>
        <p:nvSpPr>
          <p:cNvPr id="57" name="Text 54"/>
          <p:cNvSpPr/>
          <p:nvPr/>
        </p:nvSpPr>
        <p:spPr>
          <a:xfrm>
            <a:off x="8382000" y="4381500"/>
            <a:ext cx="1404938"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Conservative (70% benefits)</a:t>
            </a:r>
            <a:endParaRPr lang="en-US" sz="1600" dirty="0"/>
          </a:p>
        </p:txBody>
      </p:sp>
      <p:sp>
        <p:nvSpPr>
          <p:cNvPr id="58" name="Text 55"/>
          <p:cNvSpPr/>
          <p:nvPr/>
        </p:nvSpPr>
        <p:spPr>
          <a:xfrm>
            <a:off x="11127879" y="4381500"/>
            <a:ext cx="547688" cy="158750"/>
          </a:xfrm>
          <a:prstGeom prst="rect">
            <a:avLst/>
          </a:prstGeom>
          <a:noFill/>
          <a:ln/>
        </p:spPr>
        <p:txBody>
          <a:bodyPr wrap="square" lIns="0" tIns="0" rIns="0" bIns="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ROI: 150%</a:t>
            </a:r>
            <a:endParaRPr lang="en-US" sz="1600" dirty="0"/>
          </a:p>
        </p:txBody>
      </p:sp>
      <p:sp>
        <p:nvSpPr>
          <p:cNvPr id="59" name="Shape 56"/>
          <p:cNvSpPr/>
          <p:nvPr/>
        </p:nvSpPr>
        <p:spPr>
          <a:xfrm>
            <a:off x="8382000" y="4572000"/>
            <a:ext cx="3238500" cy="63500"/>
          </a:xfrm>
          <a:custGeom>
            <a:avLst/>
            <a:gdLst/>
            <a:ahLst/>
            <a:cxnLst/>
            <a:rect l="l" t="t" r="r" b="b"/>
            <a:pathLst>
              <a:path w="3238500" h="63500">
                <a:moveTo>
                  <a:pt x="31750" y="0"/>
                </a:moveTo>
                <a:lnTo>
                  <a:pt x="3206750" y="0"/>
                </a:lnTo>
                <a:cubicBezTo>
                  <a:pt x="3224273" y="0"/>
                  <a:pt x="3238500" y="14227"/>
                  <a:pt x="3238500" y="31750"/>
                </a:cubicBezTo>
                <a:lnTo>
                  <a:pt x="3238500" y="31750"/>
                </a:lnTo>
                <a:cubicBezTo>
                  <a:pt x="3238500" y="49273"/>
                  <a:pt x="3224273" y="63500"/>
                  <a:pt x="3206750"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60" name="Shape 57"/>
          <p:cNvSpPr/>
          <p:nvPr/>
        </p:nvSpPr>
        <p:spPr>
          <a:xfrm>
            <a:off x="8382000" y="4572000"/>
            <a:ext cx="2270125" cy="63500"/>
          </a:xfrm>
          <a:custGeom>
            <a:avLst/>
            <a:gdLst/>
            <a:ahLst/>
            <a:cxnLst/>
            <a:rect l="l" t="t" r="r" b="b"/>
            <a:pathLst>
              <a:path w="2270125" h="63500">
                <a:moveTo>
                  <a:pt x="31750" y="0"/>
                </a:moveTo>
                <a:lnTo>
                  <a:pt x="2238375" y="0"/>
                </a:lnTo>
                <a:cubicBezTo>
                  <a:pt x="2255898" y="0"/>
                  <a:pt x="2270125" y="14227"/>
                  <a:pt x="2270125" y="31750"/>
                </a:cubicBezTo>
                <a:lnTo>
                  <a:pt x="2270125" y="31750"/>
                </a:lnTo>
                <a:cubicBezTo>
                  <a:pt x="2270125" y="49273"/>
                  <a:pt x="2255898" y="63500"/>
                  <a:pt x="2238375" y="63500"/>
                </a:cubicBezTo>
                <a:lnTo>
                  <a:pt x="31750" y="63500"/>
                </a:lnTo>
                <a:cubicBezTo>
                  <a:pt x="14227" y="63500"/>
                  <a:pt x="0" y="49273"/>
                  <a:pt x="0" y="31750"/>
                </a:cubicBezTo>
                <a:lnTo>
                  <a:pt x="0" y="31750"/>
                </a:lnTo>
                <a:cubicBezTo>
                  <a:pt x="0" y="14227"/>
                  <a:pt x="14227" y="0"/>
                  <a:pt x="31750" y="0"/>
                </a:cubicBezTo>
                <a:close/>
              </a:path>
            </a:pathLst>
          </a:custGeom>
          <a:solidFill>
            <a:srgbClr val="003087"/>
          </a:solidFill>
          <a:ln/>
        </p:spPr>
      </p:sp>
      <p:sp>
        <p:nvSpPr>
          <p:cNvPr id="61" name="Shape 58"/>
          <p:cNvSpPr/>
          <p:nvPr/>
        </p:nvSpPr>
        <p:spPr>
          <a:xfrm>
            <a:off x="8286750" y="4794250"/>
            <a:ext cx="3429000" cy="444500"/>
          </a:xfrm>
          <a:custGeom>
            <a:avLst/>
            <a:gdLst/>
            <a:ahLst/>
            <a:cxnLst/>
            <a:rect l="l" t="t" r="r" b="b"/>
            <a:pathLst>
              <a:path w="3429000" h="444500">
                <a:moveTo>
                  <a:pt x="63501" y="0"/>
                </a:moveTo>
                <a:lnTo>
                  <a:pt x="3365499" y="0"/>
                </a:lnTo>
                <a:cubicBezTo>
                  <a:pt x="3400570" y="0"/>
                  <a:pt x="3429000" y="28430"/>
                  <a:pt x="3429000" y="63501"/>
                </a:cubicBezTo>
                <a:lnTo>
                  <a:pt x="3429000" y="380999"/>
                </a:lnTo>
                <a:cubicBezTo>
                  <a:pt x="3429000" y="416070"/>
                  <a:pt x="3400570" y="444500"/>
                  <a:pt x="3365499" y="444500"/>
                </a:cubicBezTo>
                <a:lnTo>
                  <a:pt x="63501" y="444500"/>
                </a:lnTo>
                <a:cubicBezTo>
                  <a:pt x="28454" y="444500"/>
                  <a:pt x="0" y="416046"/>
                  <a:pt x="0" y="380999"/>
                </a:cubicBezTo>
                <a:lnTo>
                  <a:pt x="0" y="63501"/>
                </a:lnTo>
                <a:cubicBezTo>
                  <a:pt x="0" y="28454"/>
                  <a:pt x="28454" y="0"/>
                  <a:pt x="63501" y="0"/>
                </a:cubicBezTo>
                <a:close/>
              </a:path>
            </a:pathLst>
          </a:custGeom>
          <a:solidFill>
            <a:srgbClr val="FFFFFF"/>
          </a:solidFill>
          <a:ln/>
          <a:effectLst>
            <a:outerShdw blurRad="23813" dist="7938" dir="5400000" algn="bl" rotWithShape="0">
              <a:srgbClr val="000000">
                <a:alpha val="10196"/>
              </a:srgbClr>
            </a:outerShdw>
          </a:effectLst>
        </p:spPr>
      </p:sp>
      <p:sp>
        <p:nvSpPr>
          <p:cNvPr id="62" name="Text 59"/>
          <p:cNvSpPr/>
          <p:nvPr/>
        </p:nvSpPr>
        <p:spPr>
          <a:xfrm>
            <a:off x="8382000" y="4889500"/>
            <a:ext cx="1317625"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Base Case (100% benefits)</a:t>
            </a:r>
            <a:endParaRPr lang="en-US" sz="1600" dirty="0"/>
          </a:p>
        </p:txBody>
      </p:sp>
      <p:sp>
        <p:nvSpPr>
          <p:cNvPr id="63" name="Text 60"/>
          <p:cNvSpPr/>
          <p:nvPr/>
        </p:nvSpPr>
        <p:spPr>
          <a:xfrm>
            <a:off x="11109709" y="4889500"/>
            <a:ext cx="563563" cy="158750"/>
          </a:xfrm>
          <a:prstGeom prst="rect">
            <a:avLst/>
          </a:prstGeom>
          <a:noFill/>
          <a:ln/>
        </p:spPr>
        <p:txBody>
          <a:bodyPr wrap="square" lIns="0" tIns="0" rIns="0" bIns="0" rtlCol="0" anchor="ctr"/>
          <a:lstStyle/>
          <a:p>
            <a:pPr>
              <a:lnSpc>
                <a:spcPct val="120000"/>
              </a:lnSpc>
            </a:pPr>
            <a:r>
              <a:rPr lang="en-US" sz="875" b="1" dirty="0">
                <a:solidFill>
                  <a:srgbClr val="FF6B00"/>
                </a:solidFill>
                <a:latin typeface="Quattrocento Sans" pitchFamily="34" charset="0"/>
                <a:ea typeface="Quattrocento Sans" pitchFamily="34" charset="-122"/>
                <a:cs typeface="Quattrocento Sans" pitchFamily="34" charset="-120"/>
              </a:rPr>
              <a:t>ROI: 220%</a:t>
            </a:r>
            <a:endParaRPr lang="en-US" sz="1600" dirty="0"/>
          </a:p>
        </p:txBody>
      </p:sp>
      <p:sp>
        <p:nvSpPr>
          <p:cNvPr id="64" name="Shape 61"/>
          <p:cNvSpPr/>
          <p:nvPr/>
        </p:nvSpPr>
        <p:spPr>
          <a:xfrm>
            <a:off x="8382000" y="5080000"/>
            <a:ext cx="3238500" cy="63500"/>
          </a:xfrm>
          <a:custGeom>
            <a:avLst/>
            <a:gdLst/>
            <a:ahLst/>
            <a:cxnLst/>
            <a:rect l="l" t="t" r="r" b="b"/>
            <a:pathLst>
              <a:path w="3238500" h="63500">
                <a:moveTo>
                  <a:pt x="31750" y="0"/>
                </a:moveTo>
                <a:lnTo>
                  <a:pt x="3206750" y="0"/>
                </a:lnTo>
                <a:cubicBezTo>
                  <a:pt x="3224273" y="0"/>
                  <a:pt x="3238500" y="14227"/>
                  <a:pt x="3238500" y="31750"/>
                </a:cubicBezTo>
                <a:lnTo>
                  <a:pt x="3238500" y="31750"/>
                </a:lnTo>
                <a:cubicBezTo>
                  <a:pt x="3238500" y="49273"/>
                  <a:pt x="3224273" y="63500"/>
                  <a:pt x="3206750"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65" name="Shape 62"/>
          <p:cNvSpPr/>
          <p:nvPr/>
        </p:nvSpPr>
        <p:spPr>
          <a:xfrm>
            <a:off x="8382000" y="5080000"/>
            <a:ext cx="3238500" cy="63500"/>
          </a:xfrm>
          <a:custGeom>
            <a:avLst/>
            <a:gdLst/>
            <a:ahLst/>
            <a:cxnLst/>
            <a:rect l="l" t="t" r="r" b="b"/>
            <a:pathLst>
              <a:path w="3238500" h="63500">
                <a:moveTo>
                  <a:pt x="31750" y="0"/>
                </a:moveTo>
                <a:lnTo>
                  <a:pt x="3206750" y="0"/>
                </a:lnTo>
                <a:cubicBezTo>
                  <a:pt x="3224273" y="0"/>
                  <a:pt x="3238500" y="14227"/>
                  <a:pt x="3238500" y="31750"/>
                </a:cubicBezTo>
                <a:lnTo>
                  <a:pt x="3238500" y="31750"/>
                </a:lnTo>
                <a:cubicBezTo>
                  <a:pt x="3238500" y="49273"/>
                  <a:pt x="3224273" y="63500"/>
                  <a:pt x="3206750" y="63500"/>
                </a:cubicBezTo>
                <a:lnTo>
                  <a:pt x="31750" y="63500"/>
                </a:lnTo>
                <a:cubicBezTo>
                  <a:pt x="14227" y="63500"/>
                  <a:pt x="0" y="49273"/>
                  <a:pt x="0" y="31750"/>
                </a:cubicBezTo>
                <a:lnTo>
                  <a:pt x="0" y="31750"/>
                </a:lnTo>
                <a:cubicBezTo>
                  <a:pt x="0" y="14227"/>
                  <a:pt x="14227" y="0"/>
                  <a:pt x="31750" y="0"/>
                </a:cubicBezTo>
                <a:close/>
              </a:path>
            </a:pathLst>
          </a:custGeom>
          <a:solidFill>
            <a:srgbClr val="FF6B00"/>
          </a:solidFill>
          <a:ln/>
        </p:spPr>
      </p:sp>
      <p:sp>
        <p:nvSpPr>
          <p:cNvPr id="66" name="Shape 63"/>
          <p:cNvSpPr/>
          <p:nvPr/>
        </p:nvSpPr>
        <p:spPr>
          <a:xfrm>
            <a:off x="8286750" y="5302250"/>
            <a:ext cx="3429000" cy="444500"/>
          </a:xfrm>
          <a:custGeom>
            <a:avLst/>
            <a:gdLst/>
            <a:ahLst/>
            <a:cxnLst/>
            <a:rect l="l" t="t" r="r" b="b"/>
            <a:pathLst>
              <a:path w="3429000" h="444500">
                <a:moveTo>
                  <a:pt x="63501" y="0"/>
                </a:moveTo>
                <a:lnTo>
                  <a:pt x="3365499" y="0"/>
                </a:lnTo>
                <a:cubicBezTo>
                  <a:pt x="3400570" y="0"/>
                  <a:pt x="3429000" y="28430"/>
                  <a:pt x="3429000" y="63501"/>
                </a:cubicBezTo>
                <a:lnTo>
                  <a:pt x="3429000" y="380999"/>
                </a:lnTo>
                <a:cubicBezTo>
                  <a:pt x="3429000" y="416070"/>
                  <a:pt x="3400570" y="444500"/>
                  <a:pt x="3365499" y="444500"/>
                </a:cubicBezTo>
                <a:lnTo>
                  <a:pt x="63501" y="444500"/>
                </a:lnTo>
                <a:cubicBezTo>
                  <a:pt x="28454" y="444500"/>
                  <a:pt x="0" y="416046"/>
                  <a:pt x="0" y="380999"/>
                </a:cubicBezTo>
                <a:lnTo>
                  <a:pt x="0" y="63501"/>
                </a:lnTo>
                <a:cubicBezTo>
                  <a:pt x="0" y="28454"/>
                  <a:pt x="28454" y="0"/>
                  <a:pt x="63501" y="0"/>
                </a:cubicBezTo>
                <a:close/>
              </a:path>
            </a:pathLst>
          </a:custGeom>
          <a:solidFill>
            <a:srgbClr val="FFFFFF"/>
          </a:solidFill>
          <a:ln/>
          <a:effectLst>
            <a:outerShdw blurRad="23813" dist="7938" dir="5400000" algn="bl" rotWithShape="0">
              <a:srgbClr val="000000">
                <a:alpha val="10196"/>
              </a:srgbClr>
            </a:outerShdw>
          </a:effectLst>
        </p:spPr>
      </p:sp>
      <p:sp>
        <p:nvSpPr>
          <p:cNvPr id="67" name="Text 64"/>
          <p:cNvSpPr/>
          <p:nvPr/>
        </p:nvSpPr>
        <p:spPr>
          <a:xfrm>
            <a:off x="8382000" y="5397500"/>
            <a:ext cx="1309688" cy="158750"/>
          </a:xfrm>
          <a:prstGeom prst="rect">
            <a:avLst/>
          </a:prstGeom>
          <a:noFill/>
          <a:ln/>
        </p:spPr>
        <p:txBody>
          <a:bodyPr wrap="square" lIns="0" tIns="0" rIns="0" bIns="0" rtlCol="0" anchor="ctr"/>
          <a:lstStyle/>
          <a:p>
            <a:pPr>
              <a:lnSpc>
                <a:spcPct val="120000"/>
              </a:lnSpc>
            </a:pPr>
            <a:r>
              <a:rPr lang="en-US" sz="875" dirty="0">
                <a:solidFill>
                  <a:srgbClr val="1A1A1A">
                    <a:alpha val="70000"/>
                  </a:srgbClr>
                </a:solidFill>
                <a:latin typeface="Quattrocento Sans" pitchFamily="34" charset="0"/>
                <a:ea typeface="Quattrocento Sans" pitchFamily="34" charset="-122"/>
                <a:cs typeface="Quattrocento Sans" pitchFamily="34" charset="-120"/>
              </a:rPr>
              <a:t>Optimistic (130% benefits)</a:t>
            </a:r>
            <a:endParaRPr lang="en-US" sz="1600" dirty="0"/>
          </a:p>
        </p:txBody>
      </p:sp>
      <p:sp>
        <p:nvSpPr>
          <p:cNvPr id="68" name="Text 65"/>
          <p:cNvSpPr/>
          <p:nvPr/>
        </p:nvSpPr>
        <p:spPr>
          <a:xfrm>
            <a:off x="11104935" y="5397500"/>
            <a:ext cx="571500" cy="158750"/>
          </a:xfrm>
          <a:prstGeom prst="rect">
            <a:avLst/>
          </a:prstGeom>
          <a:noFill/>
          <a:ln/>
        </p:spPr>
        <p:txBody>
          <a:bodyPr wrap="square" lIns="0" tIns="0" rIns="0" bIns="0" rtlCol="0" anchor="ctr"/>
          <a:lstStyle/>
          <a:p>
            <a:pPr>
              <a:lnSpc>
                <a:spcPct val="120000"/>
              </a:lnSpc>
            </a:pPr>
            <a:r>
              <a:rPr lang="en-US" sz="875" b="1" dirty="0">
                <a:solidFill>
                  <a:srgbClr val="003087"/>
                </a:solidFill>
                <a:latin typeface="Quattrocento Sans" pitchFamily="34" charset="0"/>
                <a:ea typeface="Quattrocento Sans" pitchFamily="34" charset="-122"/>
                <a:cs typeface="Quattrocento Sans" pitchFamily="34" charset="-120"/>
              </a:rPr>
              <a:t>ROI: 290%</a:t>
            </a:r>
            <a:endParaRPr lang="en-US" sz="1600" dirty="0"/>
          </a:p>
        </p:txBody>
      </p:sp>
      <p:sp>
        <p:nvSpPr>
          <p:cNvPr id="69" name="Shape 66"/>
          <p:cNvSpPr/>
          <p:nvPr/>
        </p:nvSpPr>
        <p:spPr>
          <a:xfrm>
            <a:off x="8382000" y="5588000"/>
            <a:ext cx="3238500" cy="63500"/>
          </a:xfrm>
          <a:custGeom>
            <a:avLst/>
            <a:gdLst/>
            <a:ahLst/>
            <a:cxnLst/>
            <a:rect l="l" t="t" r="r" b="b"/>
            <a:pathLst>
              <a:path w="3238500" h="63500">
                <a:moveTo>
                  <a:pt x="31750" y="0"/>
                </a:moveTo>
                <a:lnTo>
                  <a:pt x="3206750" y="0"/>
                </a:lnTo>
                <a:cubicBezTo>
                  <a:pt x="3224273" y="0"/>
                  <a:pt x="3238500" y="14227"/>
                  <a:pt x="3238500" y="31750"/>
                </a:cubicBezTo>
                <a:lnTo>
                  <a:pt x="3238500" y="31750"/>
                </a:lnTo>
                <a:cubicBezTo>
                  <a:pt x="3238500" y="49273"/>
                  <a:pt x="3224273" y="63500"/>
                  <a:pt x="3206750" y="63500"/>
                </a:cubicBezTo>
                <a:lnTo>
                  <a:pt x="31750" y="63500"/>
                </a:lnTo>
                <a:cubicBezTo>
                  <a:pt x="14227" y="63500"/>
                  <a:pt x="0" y="49273"/>
                  <a:pt x="0" y="31750"/>
                </a:cubicBezTo>
                <a:lnTo>
                  <a:pt x="0" y="31750"/>
                </a:lnTo>
                <a:cubicBezTo>
                  <a:pt x="0" y="14227"/>
                  <a:pt x="14227" y="0"/>
                  <a:pt x="31750" y="0"/>
                </a:cubicBezTo>
                <a:close/>
              </a:path>
            </a:pathLst>
          </a:custGeom>
          <a:solidFill>
            <a:srgbClr val="E5E7EB"/>
          </a:solidFill>
          <a:ln/>
        </p:spPr>
      </p:sp>
      <p:sp>
        <p:nvSpPr>
          <p:cNvPr id="70" name="Shape 67"/>
          <p:cNvSpPr/>
          <p:nvPr/>
        </p:nvSpPr>
        <p:spPr>
          <a:xfrm>
            <a:off x="8382000" y="5588000"/>
            <a:ext cx="3238500" cy="63500"/>
          </a:xfrm>
          <a:custGeom>
            <a:avLst/>
            <a:gdLst/>
            <a:ahLst/>
            <a:cxnLst/>
            <a:rect l="l" t="t" r="r" b="b"/>
            <a:pathLst>
              <a:path w="3238500" h="63500">
                <a:moveTo>
                  <a:pt x="31750" y="0"/>
                </a:moveTo>
                <a:lnTo>
                  <a:pt x="3206750" y="0"/>
                </a:lnTo>
                <a:cubicBezTo>
                  <a:pt x="3224273" y="0"/>
                  <a:pt x="3238500" y="14227"/>
                  <a:pt x="3238500" y="31750"/>
                </a:cubicBezTo>
                <a:lnTo>
                  <a:pt x="3238500" y="31750"/>
                </a:lnTo>
                <a:cubicBezTo>
                  <a:pt x="3238500" y="49273"/>
                  <a:pt x="3224273" y="63500"/>
                  <a:pt x="3206750" y="63500"/>
                </a:cubicBezTo>
                <a:lnTo>
                  <a:pt x="31750" y="63500"/>
                </a:lnTo>
                <a:cubicBezTo>
                  <a:pt x="14227" y="63500"/>
                  <a:pt x="0" y="49273"/>
                  <a:pt x="0" y="31750"/>
                </a:cubicBezTo>
                <a:lnTo>
                  <a:pt x="0" y="31750"/>
                </a:lnTo>
                <a:cubicBezTo>
                  <a:pt x="0" y="14227"/>
                  <a:pt x="14227" y="0"/>
                  <a:pt x="31750" y="0"/>
                </a:cubicBezTo>
                <a:close/>
              </a:path>
            </a:pathLst>
          </a:custGeom>
          <a:solidFill>
            <a:srgbClr val="003087"/>
          </a:solidFill>
          <a:ln/>
        </p:spPr>
      </p:sp>
      <p:sp>
        <p:nvSpPr>
          <p:cNvPr id="71" name="Shape 68"/>
          <p:cNvSpPr/>
          <p:nvPr/>
        </p:nvSpPr>
        <p:spPr>
          <a:xfrm>
            <a:off x="8117772" y="5873750"/>
            <a:ext cx="3730625" cy="889000"/>
          </a:xfrm>
          <a:custGeom>
            <a:avLst/>
            <a:gdLst/>
            <a:ahLst/>
            <a:cxnLst/>
            <a:rect l="l" t="t" r="r" b="b"/>
            <a:pathLst>
              <a:path w="3730625" h="889000">
                <a:moveTo>
                  <a:pt x="95247" y="0"/>
                </a:moveTo>
                <a:lnTo>
                  <a:pt x="3635378" y="0"/>
                </a:lnTo>
                <a:cubicBezTo>
                  <a:pt x="3687981" y="0"/>
                  <a:pt x="3730625" y="42644"/>
                  <a:pt x="3730625" y="95247"/>
                </a:cubicBezTo>
                <a:lnTo>
                  <a:pt x="3730625" y="793753"/>
                </a:lnTo>
                <a:cubicBezTo>
                  <a:pt x="3730625" y="846356"/>
                  <a:pt x="3687981" y="889000"/>
                  <a:pt x="3635378" y="889000"/>
                </a:cubicBezTo>
                <a:lnTo>
                  <a:pt x="95247" y="889000"/>
                </a:lnTo>
                <a:cubicBezTo>
                  <a:pt x="42644" y="889000"/>
                  <a:pt x="0" y="846356"/>
                  <a:pt x="0" y="793753"/>
                </a:cubicBezTo>
                <a:lnTo>
                  <a:pt x="0" y="95247"/>
                </a:lnTo>
                <a:cubicBezTo>
                  <a:pt x="0" y="42679"/>
                  <a:pt x="42679" y="0"/>
                  <a:pt x="95247" y="0"/>
                </a:cubicBezTo>
                <a:close/>
              </a:path>
            </a:pathLst>
          </a:custGeom>
          <a:solidFill>
            <a:srgbClr val="D4AF37">
              <a:alpha val="10196"/>
            </a:srgbClr>
          </a:solidFill>
          <a:ln w="25400">
            <a:solidFill>
              <a:srgbClr val="D4AF37"/>
            </a:solidFill>
            <a:prstDash val="solid"/>
          </a:ln>
        </p:spPr>
      </p:sp>
      <p:sp>
        <p:nvSpPr>
          <p:cNvPr id="72" name="Text 69"/>
          <p:cNvSpPr/>
          <p:nvPr/>
        </p:nvSpPr>
        <p:spPr>
          <a:xfrm>
            <a:off x="8239125" y="5976937"/>
            <a:ext cx="3524250" cy="190500"/>
          </a:xfrm>
          <a:prstGeom prst="rect">
            <a:avLst/>
          </a:prstGeom>
          <a:noFill/>
          <a:ln/>
        </p:spPr>
        <p:txBody>
          <a:bodyPr wrap="square" lIns="0" tIns="0" rIns="0" bIns="0" rtlCol="0" anchor="ctr"/>
          <a:lstStyle/>
          <a:p>
            <a:pPr>
              <a:lnSpc>
                <a:spcPct val="130000"/>
              </a:lnSpc>
            </a:pPr>
            <a:r>
              <a:rPr lang="en-US" sz="1000" b="1" dirty="0">
                <a:solidFill>
                  <a:srgbClr val="003087"/>
                </a:solidFill>
                <a:latin typeface="Liter" pitchFamily="34" charset="0"/>
                <a:ea typeface="Liter" pitchFamily="34" charset="-122"/>
                <a:cs typeface="Liter" pitchFamily="34" charset="-120"/>
              </a:rPr>
              <a:t>Value Creation</a:t>
            </a:r>
            <a:endParaRPr lang="en-US" sz="1600" dirty="0"/>
          </a:p>
        </p:txBody>
      </p:sp>
      <p:sp>
        <p:nvSpPr>
          <p:cNvPr id="73" name="Text 70"/>
          <p:cNvSpPr/>
          <p:nvPr/>
        </p:nvSpPr>
        <p:spPr>
          <a:xfrm>
            <a:off x="8224927" y="6294437"/>
            <a:ext cx="3516313" cy="365125"/>
          </a:xfrm>
          <a:prstGeom prst="rect">
            <a:avLst/>
          </a:prstGeom>
          <a:noFill/>
          <a:ln/>
        </p:spPr>
        <p:txBody>
          <a:bodyPr wrap="square" lIns="0" tIns="0" rIns="0" bIns="0" rtlCol="0" anchor="ctr"/>
          <a:lstStyle/>
          <a:p>
            <a:pPr>
              <a:lnSpc>
                <a:spcPct val="140000"/>
              </a:lnSpc>
            </a:pPr>
            <a:r>
              <a:rPr lang="en-US" sz="875" dirty="0">
                <a:solidFill>
                  <a:srgbClr val="1A1A1A">
                    <a:alpha val="80000"/>
                  </a:srgbClr>
                </a:solidFill>
                <a:latin typeface="Quattrocento Sans" pitchFamily="34" charset="0"/>
                <a:ea typeface="Quattrocento Sans" pitchFamily="34" charset="-122"/>
                <a:cs typeface="Quattrocento Sans" pitchFamily="34" charset="-120"/>
              </a:rPr>
              <a:t>Initiative directly supports Access Bank's shareholder value creation goals and 2025-2027 consolidation strategy.</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087"/>
        </a:solidFill>
        <a:effectLst/>
      </p:bgPr>
    </p:bg>
    <p:spTree>
      <p:nvGrpSpPr>
        <p:cNvPr id="1" name=""/>
        <p:cNvGrpSpPr/>
        <p:nvPr/>
      </p:nvGrpSpPr>
      <p:grpSpPr>
        <a:xfrm>
          <a:off x="0" y="0"/>
          <a:ext cx="0" cy="0"/>
          <a:chOff x="0" y="0"/>
          <a:chExt cx="0" cy="0"/>
        </a:xfrm>
      </p:grpSpPr>
      <p:pic>
        <p:nvPicPr>
          <p:cNvPr id="40" name="Picture 39" descr="A circular logo with a circular design&#10;&#10;AI-generated content may be incorrect.">
            <a:extLst>
              <a:ext uri="{FF2B5EF4-FFF2-40B4-BE49-F238E27FC236}">
                <a16:creationId xmlns:a16="http://schemas.microsoft.com/office/drawing/2014/main" id="{3B91D2C6-210B-5243-A0CA-C226F49F42EF}"/>
              </a:ext>
            </a:extLst>
          </p:cNvPr>
          <p:cNvPicPr>
            <a:picLocks noChangeAspect="1"/>
          </p:cNvPicPr>
          <p:nvPr/>
        </p:nvPicPr>
        <p:blipFill>
          <a:blip r:embed="rId3"/>
          <a:stretch>
            <a:fillRect/>
          </a:stretch>
        </p:blipFill>
        <p:spPr>
          <a:xfrm>
            <a:off x="8930712" y="3125788"/>
            <a:ext cx="1704794" cy="1704794"/>
          </a:xfrm>
          <a:prstGeom prst="rect">
            <a:avLst/>
          </a:prstGeom>
        </p:spPr>
      </p:pic>
      <p:pic>
        <p:nvPicPr>
          <p:cNvPr id="38" name="Picture 37" descr="A close-up of a logo&#10;&#10;AI-generated content may be incorrect.">
            <a:extLst>
              <a:ext uri="{FF2B5EF4-FFF2-40B4-BE49-F238E27FC236}">
                <a16:creationId xmlns:a16="http://schemas.microsoft.com/office/drawing/2014/main" id="{4D0E5031-40E6-CFFD-A171-011A11ED161D}"/>
              </a:ext>
            </a:extLst>
          </p:cNvPr>
          <p:cNvPicPr>
            <a:picLocks noChangeAspect="1"/>
          </p:cNvPicPr>
          <p:nvPr/>
        </p:nvPicPr>
        <p:blipFill>
          <a:blip r:embed="rId4"/>
          <a:stretch>
            <a:fillRect/>
          </a:stretch>
        </p:blipFill>
        <p:spPr>
          <a:xfrm>
            <a:off x="8930712" y="1265910"/>
            <a:ext cx="2374659" cy="1611555"/>
          </a:xfrm>
          <a:prstGeom prst="rect">
            <a:avLst/>
          </a:prstGeom>
        </p:spPr>
      </p:pic>
      <p:pic>
        <p:nvPicPr>
          <p:cNvPr id="2" name="Image 0" descr="https://kimi-web-img.moonshot.cn/img/www.thestrategyinstitute.org/e9cfabb2ae02971dfaed14c5702141b4857d318a.jpg"/>
          <p:cNvPicPr>
            <a:picLocks noChangeAspect="1"/>
          </p:cNvPicPr>
          <p:nvPr/>
        </p:nvPicPr>
        <p:blipFill>
          <a:blip r:embed="rId5">
            <a:alphaModFix amt="15000"/>
          </a:blip>
          <a:srcRect l="7778" r="7778"/>
          <a:stretch/>
        </p:blipFill>
        <p:spPr>
          <a:xfrm>
            <a:off x="0" y="0"/>
            <a:ext cx="12192000" cy="6858000"/>
          </a:xfrm>
          <a:prstGeom prst="roundRect">
            <a:avLst>
              <a:gd name="adj" fmla="val 0"/>
            </a:avLst>
          </a:prstGeom>
        </p:spPr>
      </p:pic>
      <p:sp>
        <p:nvSpPr>
          <p:cNvPr id="3" name="Shape 0"/>
          <p:cNvSpPr/>
          <p:nvPr/>
        </p:nvSpPr>
        <p:spPr>
          <a:xfrm>
            <a:off x="5908"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003087">
                  <a:alpha val="95000"/>
                </a:srgbClr>
              </a:gs>
              <a:gs pos="50000">
                <a:srgbClr val="003087">
                  <a:alpha val="90000"/>
                </a:srgbClr>
              </a:gs>
              <a:gs pos="100000">
                <a:srgbClr val="FF6B00">
                  <a:alpha val="70000"/>
                </a:srgbClr>
              </a:gs>
            </a:gsLst>
            <a:lin ang="2700000" scaled="1"/>
          </a:gradFill>
          <a:ln/>
        </p:spPr>
        <p:txBody>
          <a:bodyPr/>
          <a:lstStyle/>
          <a:p>
            <a:endParaRPr lang="en-US" dirty="0"/>
          </a:p>
        </p:txBody>
      </p:sp>
      <p:sp>
        <p:nvSpPr>
          <p:cNvPr id="4" name="Text 1"/>
          <p:cNvSpPr/>
          <p:nvPr/>
        </p:nvSpPr>
        <p:spPr>
          <a:xfrm>
            <a:off x="10635506" y="317500"/>
            <a:ext cx="1238250" cy="158750"/>
          </a:xfrm>
          <a:prstGeom prst="rect">
            <a:avLst/>
          </a:prstGeom>
          <a:noFill/>
          <a:ln/>
        </p:spPr>
        <p:txBody>
          <a:bodyPr wrap="square" lIns="0" tIns="0" rIns="0" bIns="0" rtlCol="0" anchor="ctr"/>
          <a:lstStyle/>
          <a:p>
            <a:pPr algn="r">
              <a:lnSpc>
                <a:spcPct val="120000"/>
              </a:lnSpc>
            </a:pPr>
            <a:r>
              <a:rPr lang="en-US" sz="875" b="1" kern="0" spc="44" dirty="0">
                <a:solidFill>
                  <a:srgbClr val="D4AF37"/>
                </a:solidFill>
                <a:latin typeface="Liter" pitchFamily="34" charset="0"/>
                <a:ea typeface="Liter" pitchFamily="34" charset="-122"/>
                <a:cs typeface="Liter" pitchFamily="34" charset="-120"/>
              </a:rPr>
              <a:t>07 | CONCLUSION</a:t>
            </a:r>
            <a:endParaRPr lang="en-US" sz="1600" dirty="0"/>
          </a:p>
        </p:txBody>
      </p:sp>
      <p:sp>
        <p:nvSpPr>
          <p:cNvPr id="5" name="Text 2"/>
          <p:cNvSpPr/>
          <p:nvPr/>
        </p:nvSpPr>
        <p:spPr>
          <a:xfrm>
            <a:off x="10643443" y="508000"/>
            <a:ext cx="1230313" cy="127000"/>
          </a:xfrm>
          <a:prstGeom prst="rect">
            <a:avLst/>
          </a:prstGeom>
          <a:noFill/>
          <a:ln/>
        </p:spPr>
        <p:txBody>
          <a:bodyPr wrap="square" lIns="0" tIns="0" rIns="0" bIns="0" rtlCol="0" anchor="ctr"/>
          <a:lstStyle/>
          <a:p>
            <a:pPr algn="r">
              <a:lnSpc>
                <a:spcPct val="110000"/>
              </a:lnSpc>
            </a:pPr>
            <a:r>
              <a:rPr lang="en-US" sz="750" dirty="0">
                <a:solidFill>
                  <a:srgbClr val="FFFFFF">
                    <a:alpha val="70000"/>
                  </a:srgbClr>
                </a:solidFill>
                <a:latin typeface="Quattrocento Sans" pitchFamily="34" charset="0"/>
                <a:ea typeface="Quattrocento Sans" pitchFamily="34" charset="-122"/>
                <a:cs typeface="Quattrocento Sans" pitchFamily="34" charset="-120"/>
              </a:rPr>
              <a:t>Strategic Intervention Report</a:t>
            </a:r>
            <a:endParaRPr lang="en-US" sz="1600" dirty="0"/>
          </a:p>
        </p:txBody>
      </p:sp>
      <p:sp>
        <p:nvSpPr>
          <p:cNvPr id="6" name="Text 3"/>
          <p:cNvSpPr/>
          <p:nvPr/>
        </p:nvSpPr>
        <p:spPr>
          <a:xfrm>
            <a:off x="309060" y="924719"/>
            <a:ext cx="8318500" cy="476250"/>
          </a:xfrm>
          <a:prstGeom prst="rect">
            <a:avLst/>
          </a:prstGeom>
          <a:noFill/>
          <a:ln/>
        </p:spPr>
        <p:txBody>
          <a:bodyPr wrap="square" lIns="0" tIns="0" rIns="0" bIns="0" rtlCol="0" anchor="ctr"/>
          <a:lstStyle/>
          <a:p>
            <a:pPr>
              <a:lnSpc>
                <a:spcPct val="100000"/>
              </a:lnSpc>
            </a:pPr>
            <a:r>
              <a:rPr lang="en-US" sz="3000" b="1" dirty="0">
                <a:solidFill>
                  <a:srgbClr val="FFFFFF"/>
                </a:solidFill>
                <a:latin typeface="Liter" pitchFamily="34" charset="0"/>
                <a:ea typeface="Liter" pitchFamily="34" charset="-122"/>
                <a:cs typeface="Liter" pitchFamily="34" charset="-120"/>
              </a:rPr>
              <a:t>Management Recommendations</a:t>
            </a:r>
            <a:endParaRPr lang="en-US" sz="1600" dirty="0"/>
          </a:p>
        </p:txBody>
      </p:sp>
      <p:sp>
        <p:nvSpPr>
          <p:cNvPr id="7" name="Shape 4"/>
          <p:cNvSpPr/>
          <p:nvPr/>
        </p:nvSpPr>
        <p:spPr>
          <a:xfrm>
            <a:off x="321469" y="1623219"/>
            <a:ext cx="8120063" cy="1023938"/>
          </a:xfrm>
          <a:custGeom>
            <a:avLst/>
            <a:gdLst/>
            <a:ahLst/>
            <a:cxnLst/>
            <a:rect l="l" t="t" r="r" b="b"/>
            <a:pathLst>
              <a:path w="8120063" h="1023938">
                <a:moveTo>
                  <a:pt x="95247" y="0"/>
                </a:moveTo>
                <a:lnTo>
                  <a:pt x="8024816" y="0"/>
                </a:lnTo>
                <a:cubicBezTo>
                  <a:pt x="8077419" y="0"/>
                  <a:pt x="8120063" y="42643"/>
                  <a:pt x="8120063" y="95247"/>
                </a:cubicBezTo>
                <a:lnTo>
                  <a:pt x="8120063" y="928691"/>
                </a:lnTo>
                <a:cubicBezTo>
                  <a:pt x="8120063" y="981294"/>
                  <a:pt x="8077419" y="1023938"/>
                  <a:pt x="8024816" y="1023938"/>
                </a:cubicBezTo>
                <a:lnTo>
                  <a:pt x="95247" y="1023938"/>
                </a:lnTo>
                <a:cubicBezTo>
                  <a:pt x="42643" y="1023938"/>
                  <a:pt x="0" y="981294"/>
                  <a:pt x="0" y="928691"/>
                </a:cubicBezTo>
                <a:lnTo>
                  <a:pt x="0" y="95247"/>
                </a:lnTo>
                <a:cubicBezTo>
                  <a:pt x="0" y="42679"/>
                  <a:pt x="42679" y="0"/>
                  <a:pt x="95247" y="0"/>
                </a:cubicBezTo>
                <a:close/>
              </a:path>
            </a:pathLst>
          </a:custGeom>
          <a:solidFill>
            <a:srgbClr val="FFFFFF">
              <a:alpha val="10196"/>
            </a:srgbClr>
          </a:solidFill>
          <a:ln w="12700">
            <a:solidFill>
              <a:srgbClr val="FFFFFF">
                <a:alpha val="20000"/>
              </a:srgbClr>
            </a:solidFill>
            <a:prstDash val="solid"/>
          </a:ln>
        </p:spPr>
      </p:sp>
      <p:sp>
        <p:nvSpPr>
          <p:cNvPr id="8" name="Shape 5"/>
          <p:cNvSpPr/>
          <p:nvPr/>
        </p:nvSpPr>
        <p:spPr>
          <a:xfrm>
            <a:off x="484187" y="178593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FF6B00"/>
          </a:solidFill>
          <a:ln/>
        </p:spPr>
      </p:sp>
      <p:sp>
        <p:nvSpPr>
          <p:cNvPr id="9" name="Text 6"/>
          <p:cNvSpPr/>
          <p:nvPr/>
        </p:nvSpPr>
        <p:spPr>
          <a:xfrm>
            <a:off x="436563" y="1785938"/>
            <a:ext cx="539750" cy="4445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Liter" pitchFamily="34" charset="0"/>
                <a:ea typeface="Liter" pitchFamily="34" charset="-122"/>
                <a:cs typeface="Liter" pitchFamily="34" charset="-120"/>
              </a:rPr>
              <a:t>1</a:t>
            </a:r>
            <a:endParaRPr lang="en-US" sz="1600" dirty="0"/>
          </a:p>
        </p:txBody>
      </p:sp>
      <p:sp>
        <p:nvSpPr>
          <p:cNvPr id="10" name="Text 7"/>
          <p:cNvSpPr/>
          <p:nvPr/>
        </p:nvSpPr>
        <p:spPr>
          <a:xfrm>
            <a:off x="1087438" y="1785938"/>
            <a:ext cx="7270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Approve Phase 1 Pilot Implementation</a:t>
            </a:r>
            <a:endParaRPr lang="en-US" sz="1600" dirty="0"/>
          </a:p>
        </p:txBody>
      </p:sp>
      <p:sp>
        <p:nvSpPr>
          <p:cNvPr id="11" name="Text 8"/>
          <p:cNvSpPr/>
          <p:nvPr/>
        </p:nvSpPr>
        <p:spPr>
          <a:xfrm>
            <a:off x="1087438" y="2071688"/>
            <a:ext cx="7254875" cy="412750"/>
          </a:xfrm>
          <a:prstGeom prst="rect">
            <a:avLst/>
          </a:prstGeom>
          <a:noFill/>
          <a:ln/>
        </p:spPr>
        <p:txBody>
          <a:bodyPr wrap="square" lIns="0" tIns="0" rIns="0" bIns="0" rtlCol="0" anchor="ctr"/>
          <a:lstStyle/>
          <a:p>
            <a:pPr>
              <a:lnSpc>
                <a:spcPct val="14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Allocate dedicated budget ($800K - $1M) and resources (8-10 FTEs) to launch the foundation phase. Establish executive steering committee with MD/CEO sponsorship to ensure organizational commitment and rapid decision-making.</a:t>
            </a:r>
            <a:endParaRPr lang="en-US" sz="1600" dirty="0"/>
          </a:p>
        </p:txBody>
      </p:sp>
      <p:sp>
        <p:nvSpPr>
          <p:cNvPr id="12" name="Shape 9"/>
          <p:cNvSpPr/>
          <p:nvPr/>
        </p:nvSpPr>
        <p:spPr>
          <a:xfrm>
            <a:off x="321469" y="2782094"/>
            <a:ext cx="8120063" cy="1023938"/>
          </a:xfrm>
          <a:custGeom>
            <a:avLst/>
            <a:gdLst/>
            <a:ahLst/>
            <a:cxnLst/>
            <a:rect l="l" t="t" r="r" b="b"/>
            <a:pathLst>
              <a:path w="8120063" h="1023938">
                <a:moveTo>
                  <a:pt x="95247" y="0"/>
                </a:moveTo>
                <a:lnTo>
                  <a:pt x="8024816" y="0"/>
                </a:lnTo>
                <a:cubicBezTo>
                  <a:pt x="8077419" y="0"/>
                  <a:pt x="8120063" y="42643"/>
                  <a:pt x="8120063" y="95247"/>
                </a:cubicBezTo>
                <a:lnTo>
                  <a:pt x="8120063" y="928691"/>
                </a:lnTo>
                <a:cubicBezTo>
                  <a:pt x="8120063" y="981294"/>
                  <a:pt x="8077419" y="1023938"/>
                  <a:pt x="8024816" y="1023938"/>
                </a:cubicBezTo>
                <a:lnTo>
                  <a:pt x="95247" y="1023938"/>
                </a:lnTo>
                <a:cubicBezTo>
                  <a:pt x="42643" y="1023938"/>
                  <a:pt x="0" y="981294"/>
                  <a:pt x="0" y="928691"/>
                </a:cubicBezTo>
                <a:lnTo>
                  <a:pt x="0" y="95247"/>
                </a:lnTo>
                <a:cubicBezTo>
                  <a:pt x="0" y="42679"/>
                  <a:pt x="42679" y="0"/>
                  <a:pt x="95247" y="0"/>
                </a:cubicBezTo>
                <a:close/>
              </a:path>
            </a:pathLst>
          </a:custGeom>
          <a:solidFill>
            <a:srgbClr val="FFFFFF">
              <a:alpha val="10196"/>
            </a:srgbClr>
          </a:solidFill>
          <a:ln w="12700">
            <a:solidFill>
              <a:srgbClr val="FFFFFF">
                <a:alpha val="20000"/>
              </a:srgbClr>
            </a:solidFill>
            <a:prstDash val="solid"/>
          </a:ln>
        </p:spPr>
      </p:sp>
      <p:sp>
        <p:nvSpPr>
          <p:cNvPr id="13" name="Shape 10"/>
          <p:cNvSpPr/>
          <p:nvPr/>
        </p:nvSpPr>
        <p:spPr>
          <a:xfrm>
            <a:off x="484187" y="2944813"/>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FF6B00"/>
          </a:solidFill>
          <a:ln/>
        </p:spPr>
      </p:sp>
      <p:sp>
        <p:nvSpPr>
          <p:cNvPr id="14" name="Text 11"/>
          <p:cNvSpPr/>
          <p:nvPr/>
        </p:nvSpPr>
        <p:spPr>
          <a:xfrm>
            <a:off x="436563" y="2944813"/>
            <a:ext cx="539750" cy="4445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Liter" pitchFamily="34" charset="0"/>
                <a:ea typeface="Liter" pitchFamily="34" charset="-122"/>
                <a:cs typeface="Liter" pitchFamily="34" charset="-120"/>
              </a:rPr>
              <a:t>2</a:t>
            </a:r>
            <a:endParaRPr lang="en-US" sz="1600" dirty="0"/>
          </a:p>
        </p:txBody>
      </p:sp>
      <p:sp>
        <p:nvSpPr>
          <p:cNvPr id="15" name="Text 12"/>
          <p:cNvSpPr/>
          <p:nvPr/>
        </p:nvSpPr>
        <p:spPr>
          <a:xfrm>
            <a:off x="1087438" y="2944813"/>
            <a:ext cx="7270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Establish Cross-Functional Governance</a:t>
            </a:r>
            <a:endParaRPr lang="en-US" sz="1600" dirty="0"/>
          </a:p>
        </p:txBody>
      </p:sp>
      <p:sp>
        <p:nvSpPr>
          <p:cNvPr id="16" name="Text 13"/>
          <p:cNvSpPr/>
          <p:nvPr/>
        </p:nvSpPr>
        <p:spPr>
          <a:xfrm>
            <a:off x="1087438" y="3230563"/>
            <a:ext cx="7254875" cy="412750"/>
          </a:xfrm>
          <a:prstGeom prst="rect">
            <a:avLst/>
          </a:prstGeom>
          <a:noFill/>
          <a:ln/>
        </p:spPr>
        <p:txBody>
          <a:bodyPr wrap="square" lIns="0" tIns="0" rIns="0" bIns="0" rtlCol="0" anchor="ctr"/>
          <a:lstStyle/>
          <a:p>
            <a:pPr>
              <a:lnSpc>
                <a:spcPct val="14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Form integrated project team spanning Operations, IT, Compliance, and HR with clear roles, responsibilities, and decision-making authority. Implement structured governance with monthly steering committee reviews and weekly working group sessions.</a:t>
            </a:r>
            <a:endParaRPr lang="en-US" sz="1600" dirty="0"/>
          </a:p>
        </p:txBody>
      </p:sp>
      <p:sp>
        <p:nvSpPr>
          <p:cNvPr id="17" name="Shape 14"/>
          <p:cNvSpPr/>
          <p:nvPr/>
        </p:nvSpPr>
        <p:spPr>
          <a:xfrm>
            <a:off x="321469" y="3940969"/>
            <a:ext cx="8120063" cy="1023938"/>
          </a:xfrm>
          <a:custGeom>
            <a:avLst/>
            <a:gdLst/>
            <a:ahLst/>
            <a:cxnLst/>
            <a:rect l="l" t="t" r="r" b="b"/>
            <a:pathLst>
              <a:path w="8120063" h="1023938">
                <a:moveTo>
                  <a:pt x="95247" y="0"/>
                </a:moveTo>
                <a:lnTo>
                  <a:pt x="8024816" y="0"/>
                </a:lnTo>
                <a:cubicBezTo>
                  <a:pt x="8077419" y="0"/>
                  <a:pt x="8120063" y="42643"/>
                  <a:pt x="8120063" y="95247"/>
                </a:cubicBezTo>
                <a:lnTo>
                  <a:pt x="8120063" y="928691"/>
                </a:lnTo>
                <a:cubicBezTo>
                  <a:pt x="8120063" y="981294"/>
                  <a:pt x="8077419" y="1023938"/>
                  <a:pt x="8024816" y="1023938"/>
                </a:cubicBezTo>
                <a:lnTo>
                  <a:pt x="95247" y="1023938"/>
                </a:lnTo>
                <a:cubicBezTo>
                  <a:pt x="42643" y="1023938"/>
                  <a:pt x="0" y="981294"/>
                  <a:pt x="0" y="928691"/>
                </a:cubicBezTo>
                <a:lnTo>
                  <a:pt x="0" y="95247"/>
                </a:lnTo>
                <a:cubicBezTo>
                  <a:pt x="0" y="42679"/>
                  <a:pt x="42679" y="0"/>
                  <a:pt x="95247" y="0"/>
                </a:cubicBezTo>
                <a:close/>
              </a:path>
            </a:pathLst>
          </a:custGeom>
          <a:solidFill>
            <a:srgbClr val="FFFFFF">
              <a:alpha val="10196"/>
            </a:srgbClr>
          </a:solidFill>
          <a:ln w="12700">
            <a:solidFill>
              <a:srgbClr val="FFFFFF">
                <a:alpha val="20000"/>
              </a:srgbClr>
            </a:solidFill>
            <a:prstDash val="solid"/>
          </a:ln>
        </p:spPr>
      </p:sp>
      <p:sp>
        <p:nvSpPr>
          <p:cNvPr id="18" name="Shape 15"/>
          <p:cNvSpPr/>
          <p:nvPr/>
        </p:nvSpPr>
        <p:spPr>
          <a:xfrm>
            <a:off x="484187" y="410368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FF6B00"/>
          </a:solidFill>
          <a:ln/>
        </p:spPr>
      </p:sp>
      <p:sp>
        <p:nvSpPr>
          <p:cNvPr id="19" name="Text 16"/>
          <p:cNvSpPr/>
          <p:nvPr/>
        </p:nvSpPr>
        <p:spPr>
          <a:xfrm>
            <a:off x="436563" y="4103688"/>
            <a:ext cx="539750" cy="4445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Liter" pitchFamily="34" charset="0"/>
                <a:ea typeface="Liter" pitchFamily="34" charset="-122"/>
                <a:cs typeface="Liter" pitchFamily="34" charset="-120"/>
              </a:rPr>
              <a:t>3</a:t>
            </a:r>
            <a:endParaRPr lang="en-US" sz="1600" dirty="0"/>
          </a:p>
        </p:txBody>
      </p:sp>
      <p:sp>
        <p:nvSpPr>
          <p:cNvPr id="20" name="Text 17"/>
          <p:cNvSpPr/>
          <p:nvPr/>
        </p:nvSpPr>
        <p:spPr>
          <a:xfrm>
            <a:off x="1087438" y="4103688"/>
            <a:ext cx="7270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Integrate into Digital Transformation Roadmap</a:t>
            </a:r>
            <a:endParaRPr lang="en-US" sz="1600" dirty="0"/>
          </a:p>
        </p:txBody>
      </p:sp>
      <p:sp>
        <p:nvSpPr>
          <p:cNvPr id="21" name="Text 18"/>
          <p:cNvSpPr/>
          <p:nvPr/>
        </p:nvSpPr>
        <p:spPr>
          <a:xfrm>
            <a:off x="1087438" y="4389438"/>
            <a:ext cx="7254875" cy="412750"/>
          </a:xfrm>
          <a:prstGeom prst="rect">
            <a:avLst/>
          </a:prstGeom>
          <a:noFill/>
          <a:ln/>
        </p:spPr>
        <p:txBody>
          <a:bodyPr wrap="square" lIns="0" tIns="0" rIns="0" bIns="0" rtlCol="0" anchor="ctr"/>
          <a:lstStyle/>
          <a:p>
            <a:pPr>
              <a:lnSpc>
                <a:spcPct val="14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Align this initiative with Access Bank's broader 2025-2027 consolidation strategy and technology investment priorities. Ensure coordination with existing digital platforms (Access More, PrimusPlus) to maximize synergies and avoid duplication.</a:t>
            </a:r>
            <a:endParaRPr lang="en-US" sz="1600" dirty="0"/>
          </a:p>
        </p:txBody>
      </p:sp>
      <p:sp>
        <p:nvSpPr>
          <p:cNvPr id="22" name="Shape 19"/>
          <p:cNvSpPr/>
          <p:nvPr/>
        </p:nvSpPr>
        <p:spPr>
          <a:xfrm>
            <a:off x="309060" y="4978089"/>
            <a:ext cx="2627313" cy="762000"/>
          </a:xfrm>
          <a:custGeom>
            <a:avLst/>
            <a:gdLst/>
            <a:ahLst/>
            <a:cxnLst/>
            <a:rect l="l" t="t" r="r" b="b"/>
            <a:pathLst>
              <a:path w="2627313" h="762000">
                <a:moveTo>
                  <a:pt x="95250" y="0"/>
                </a:moveTo>
                <a:lnTo>
                  <a:pt x="2532063" y="0"/>
                </a:lnTo>
                <a:cubicBezTo>
                  <a:pt x="2584632" y="0"/>
                  <a:pt x="2627313" y="42680"/>
                  <a:pt x="2627313" y="95250"/>
                </a:cubicBezTo>
                <a:lnTo>
                  <a:pt x="2627313" y="666750"/>
                </a:lnTo>
                <a:cubicBezTo>
                  <a:pt x="2627313" y="719320"/>
                  <a:pt x="2584632" y="762000"/>
                  <a:pt x="2532063" y="762000"/>
                </a:cubicBezTo>
                <a:lnTo>
                  <a:pt x="95250" y="762000"/>
                </a:lnTo>
                <a:cubicBezTo>
                  <a:pt x="42680" y="762000"/>
                  <a:pt x="0" y="719320"/>
                  <a:pt x="0" y="666750"/>
                </a:cubicBezTo>
                <a:lnTo>
                  <a:pt x="0" y="95250"/>
                </a:lnTo>
                <a:cubicBezTo>
                  <a:pt x="0" y="42680"/>
                  <a:pt x="42680" y="0"/>
                  <a:pt x="95250" y="0"/>
                </a:cubicBezTo>
                <a:close/>
              </a:path>
            </a:pathLst>
          </a:custGeom>
          <a:solidFill>
            <a:srgbClr val="FF6B00"/>
          </a:solidFill>
          <a:ln/>
        </p:spPr>
      </p:sp>
      <p:sp>
        <p:nvSpPr>
          <p:cNvPr id="23" name="Text 20"/>
          <p:cNvSpPr/>
          <p:nvPr/>
        </p:nvSpPr>
        <p:spPr>
          <a:xfrm>
            <a:off x="364622" y="5027945"/>
            <a:ext cx="2516188" cy="317500"/>
          </a:xfrm>
          <a:prstGeom prst="rect">
            <a:avLst/>
          </a:prstGeom>
          <a:noFill/>
          <a:ln/>
        </p:spPr>
        <p:txBody>
          <a:bodyPr wrap="square" lIns="0" tIns="0" rIns="0" bIns="0" rtlCol="0" anchor="ctr"/>
          <a:lstStyle/>
          <a:p>
            <a:pPr algn="ctr">
              <a:lnSpc>
                <a:spcPct val="90000"/>
              </a:lnSpc>
            </a:pPr>
            <a:r>
              <a:rPr lang="en-US" sz="2250" b="1" dirty="0">
                <a:solidFill>
                  <a:srgbClr val="FFFFFF"/>
                </a:solidFill>
                <a:latin typeface="Quattrocento Sans" pitchFamily="34" charset="0"/>
                <a:ea typeface="Quattrocento Sans" pitchFamily="34" charset="-122"/>
                <a:cs typeface="Quattrocento Sans" pitchFamily="34" charset="-120"/>
              </a:rPr>
              <a:t>18-24</a:t>
            </a:r>
            <a:endParaRPr lang="en-US" sz="1600" dirty="0"/>
          </a:p>
        </p:txBody>
      </p:sp>
      <p:sp>
        <p:nvSpPr>
          <p:cNvPr id="24" name="Text 21"/>
          <p:cNvSpPr/>
          <p:nvPr/>
        </p:nvSpPr>
        <p:spPr>
          <a:xfrm>
            <a:off x="408278" y="5349875"/>
            <a:ext cx="2428875" cy="158750"/>
          </a:xfrm>
          <a:prstGeom prst="rect">
            <a:avLst/>
          </a:prstGeom>
          <a:noFill/>
          <a:ln/>
        </p:spPr>
        <p:txBody>
          <a:bodyPr wrap="square" lIns="0" tIns="0" rIns="0" bIns="0" rtlCol="0" anchor="ctr"/>
          <a:lstStyle/>
          <a:p>
            <a:pPr algn="ct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Months to ROI</a:t>
            </a:r>
            <a:endParaRPr lang="en-US" sz="1600" dirty="0"/>
          </a:p>
        </p:txBody>
      </p:sp>
      <p:sp>
        <p:nvSpPr>
          <p:cNvPr id="25" name="Shape 22"/>
          <p:cNvSpPr/>
          <p:nvPr/>
        </p:nvSpPr>
        <p:spPr>
          <a:xfrm>
            <a:off x="3035591" y="4980782"/>
            <a:ext cx="2627313" cy="762000"/>
          </a:xfrm>
          <a:custGeom>
            <a:avLst/>
            <a:gdLst/>
            <a:ahLst/>
            <a:cxnLst/>
            <a:rect l="l" t="t" r="r" b="b"/>
            <a:pathLst>
              <a:path w="2627313" h="762000">
                <a:moveTo>
                  <a:pt x="95250" y="0"/>
                </a:moveTo>
                <a:lnTo>
                  <a:pt x="2532063" y="0"/>
                </a:lnTo>
                <a:cubicBezTo>
                  <a:pt x="2584632" y="0"/>
                  <a:pt x="2627313" y="42680"/>
                  <a:pt x="2627313" y="95250"/>
                </a:cubicBezTo>
                <a:lnTo>
                  <a:pt x="2627313" y="666750"/>
                </a:lnTo>
                <a:cubicBezTo>
                  <a:pt x="2627313" y="719320"/>
                  <a:pt x="2584632" y="762000"/>
                  <a:pt x="2532063" y="762000"/>
                </a:cubicBezTo>
                <a:lnTo>
                  <a:pt x="95250" y="762000"/>
                </a:lnTo>
                <a:cubicBezTo>
                  <a:pt x="42680" y="762000"/>
                  <a:pt x="0" y="719320"/>
                  <a:pt x="0" y="666750"/>
                </a:cubicBezTo>
                <a:lnTo>
                  <a:pt x="0" y="95250"/>
                </a:lnTo>
                <a:cubicBezTo>
                  <a:pt x="0" y="42680"/>
                  <a:pt x="42680" y="0"/>
                  <a:pt x="95250" y="0"/>
                </a:cubicBezTo>
                <a:close/>
              </a:path>
            </a:pathLst>
          </a:custGeom>
          <a:solidFill>
            <a:srgbClr val="FF6B00"/>
          </a:solidFill>
          <a:ln/>
        </p:spPr>
      </p:sp>
      <p:sp>
        <p:nvSpPr>
          <p:cNvPr id="26" name="Text 23"/>
          <p:cNvSpPr/>
          <p:nvPr/>
        </p:nvSpPr>
        <p:spPr>
          <a:xfrm>
            <a:off x="3104362" y="5068556"/>
            <a:ext cx="2516188" cy="317500"/>
          </a:xfrm>
          <a:prstGeom prst="rect">
            <a:avLst/>
          </a:prstGeom>
          <a:noFill/>
          <a:ln/>
        </p:spPr>
        <p:txBody>
          <a:bodyPr wrap="square" lIns="0" tIns="0" rIns="0" bIns="0" rtlCol="0" anchor="ctr"/>
          <a:lstStyle/>
          <a:p>
            <a:pPr algn="ctr">
              <a:lnSpc>
                <a:spcPct val="90000"/>
              </a:lnSpc>
            </a:pPr>
            <a:r>
              <a:rPr lang="en-US" sz="2250" b="1" dirty="0">
                <a:solidFill>
                  <a:srgbClr val="FFFFFF"/>
                </a:solidFill>
                <a:latin typeface="Quattrocento Sans" pitchFamily="34" charset="0"/>
                <a:ea typeface="Quattrocento Sans" pitchFamily="34" charset="-122"/>
                <a:cs typeface="Quattrocento Sans" pitchFamily="34" charset="-120"/>
              </a:rPr>
              <a:t>$4-6M</a:t>
            </a:r>
            <a:endParaRPr lang="en-US" sz="1600" dirty="0"/>
          </a:p>
        </p:txBody>
      </p:sp>
      <p:sp>
        <p:nvSpPr>
          <p:cNvPr id="27" name="Text 24"/>
          <p:cNvSpPr/>
          <p:nvPr/>
        </p:nvSpPr>
        <p:spPr>
          <a:xfrm>
            <a:off x="3148018" y="5375903"/>
            <a:ext cx="2428875" cy="158750"/>
          </a:xfrm>
          <a:prstGeom prst="rect">
            <a:avLst/>
          </a:prstGeom>
          <a:noFill/>
          <a:ln/>
        </p:spPr>
        <p:txBody>
          <a:bodyPr wrap="square" lIns="0" tIns="0" rIns="0" bIns="0" rtlCol="0" anchor="ctr"/>
          <a:lstStyle/>
          <a:p>
            <a:pPr algn="ct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Annual Savings</a:t>
            </a:r>
            <a:endParaRPr lang="en-US" sz="1600" dirty="0"/>
          </a:p>
        </p:txBody>
      </p:sp>
      <p:sp>
        <p:nvSpPr>
          <p:cNvPr id="28" name="Shape 25"/>
          <p:cNvSpPr/>
          <p:nvPr/>
        </p:nvSpPr>
        <p:spPr>
          <a:xfrm>
            <a:off x="5715000" y="4994903"/>
            <a:ext cx="2627313" cy="762000"/>
          </a:xfrm>
          <a:custGeom>
            <a:avLst/>
            <a:gdLst/>
            <a:ahLst/>
            <a:cxnLst/>
            <a:rect l="l" t="t" r="r" b="b"/>
            <a:pathLst>
              <a:path w="2627313" h="762000">
                <a:moveTo>
                  <a:pt x="95250" y="0"/>
                </a:moveTo>
                <a:lnTo>
                  <a:pt x="2532063" y="0"/>
                </a:lnTo>
                <a:cubicBezTo>
                  <a:pt x="2584632" y="0"/>
                  <a:pt x="2627313" y="42680"/>
                  <a:pt x="2627313" y="95250"/>
                </a:cubicBezTo>
                <a:lnTo>
                  <a:pt x="2627313" y="666750"/>
                </a:lnTo>
                <a:cubicBezTo>
                  <a:pt x="2627313" y="719320"/>
                  <a:pt x="2584632" y="762000"/>
                  <a:pt x="2532063" y="762000"/>
                </a:cubicBezTo>
                <a:lnTo>
                  <a:pt x="95250" y="762000"/>
                </a:lnTo>
                <a:cubicBezTo>
                  <a:pt x="42680" y="762000"/>
                  <a:pt x="0" y="719320"/>
                  <a:pt x="0" y="666750"/>
                </a:cubicBezTo>
                <a:lnTo>
                  <a:pt x="0" y="95250"/>
                </a:lnTo>
                <a:cubicBezTo>
                  <a:pt x="0" y="42680"/>
                  <a:pt x="42680" y="0"/>
                  <a:pt x="95250" y="0"/>
                </a:cubicBezTo>
                <a:close/>
              </a:path>
            </a:pathLst>
          </a:custGeom>
          <a:solidFill>
            <a:srgbClr val="FF6B00"/>
          </a:solidFill>
          <a:ln/>
        </p:spPr>
      </p:sp>
      <p:sp>
        <p:nvSpPr>
          <p:cNvPr id="29" name="Text 26"/>
          <p:cNvSpPr/>
          <p:nvPr/>
        </p:nvSpPr>
        <p:spPr>
          <a:xfrm>
            <a:off x="5775331" y="5068556"/>
            <a:ext cx="2516188" cy="317500"/>
          </a:xfrm>
          <a:prstGeom prst="rect">
            <a:avLst/>
          </a:prstGeom>
          <a:noFill/>
          <a:ln/>
        </p:spPr>
        <p:txBody>
          <a:bodyPr wrap="square" lIns="0" tIns="0" rIns="0" bIns="0" rtlCol="0" anchor="ctr"/>
          <a:lstStyle/>
          <a:p>
            <a:pPr algn="ctr">
              <a:lnSpc>
                <a:spcPct val="90000"/>
              </a:lnSpc>
            </a:pPr>
            <a:r>
              <a:rPr lang="en-US" sz="2250" b="1" dirty="0">
                <a:solidFill>
                  <a:srgbClr val="FFFFFF"/>
                </a:solidFill>
                <a:latin typeface="Quattrocento Sans" pitchFamily="34" charset="0"/>
                <a:ea typeface="Quattrocento Sans" pitchFamily="34" charset="-122"/>
                <a:cs typeface="Quattrocento Sans" pitchFamily="34" charset="-120"/>
              </a:rPr>
              <a:t>30-40%</a:t>
            </a:r>
            <a:endParaRPr lang="en-US" sz="1600" dirty="0"/>
          </a:p>
        </p:txBody>
      </p:sp>
      <p:sp>
        <p:nvSpPr>
          <p:cNvPr id="30" name="Text 27"/>
          <p:cNvSpPr/>
          <p:nvPr/>
        </p:nvSpPr>
        <p:spPr>
          <a:xfrm>
            <a:off x="5814218" y="5359382"/>
            <a:ext cx="2428875" cy="158750"/>
          </a:xfrm>
          <a:prstGeom prst="rect">
            <a:avLst/>
          </a:prstGeom>
          <a:noFill/>
          <a:ln/>
        </p:spPr>
        <p:txBody>
          <a:bodyPr wrap="square" lIns="0" tIns="0" rIns="0" bIns="0" rtlCol="0" anchor="ctr"/>
          <a:lstStyle/>
          <a:p>
            <a:pPr algn="ct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Cost Reduction</a:t>
            </a:r>
            <a:endParaRPr lang="en-US" sz="1600" dirty="0"/>
          </a:p>
        </p:txBody>
      </p:sp>
      <p:sp>
        <p:nvSpPr>
          <p:cNvPr id="31" name="Shape 28"/>
          <p:cNvSpPr>
            <a:spLocks/>
          </p:cNvSpPr>
          <p:nvPr/>
        </p:nvSpPr>
        <p:spPr>
          <a:xfrm>
            <a:off x="97234" y="5798153"/>
            <a:ext cx="11541125" cy="1000125"/>
          </a:xfrm>
          <a:custGeom>
            <a:avLst/>
            <a:gdLst/>
            <a:ahLst/>
            <a:cxnLst/>
            <a:rect l="l" t="t" r="r" b="b"/>
            <a:pathLst>
              <a:path w="11541125" h="1000125">
                <a:moveTo>
                  <a:pt x="95252" y="0"/>
                </a:moveTo>
                <a:lnTo>
                  <a:pt x="11445873" y="0"/>
                </a:lnTo>
                <a:cubicBezTo>
                  <a:pt x="11498479" y="0"/>
                  <a:pt x="11541125" y="42646"/>
                  <a:pt x="11541125" y="95252"/>
                </a:cubicBezTo>
                <a:lnTo>
                  <a:pt x="11541125" y="904873"/>
                </a:lnTo>
                <a:cubicBezTo>
                  <a:pt x="11541125" y="957479"/>
                  <a:pt x="11498479" y="1000125"/>
                  <a:pt x="11445873" y="1000125"/>
                </a:cubicBezTo>
                <a:lnTo>
                  <a:pt x="95252" y="1000125"/>
                </a:lnTo>
                <a:cubicBezTo>
                  <a:pt x="42646" y="1000125"/>
                  <a:pt x="0" y="957479"/>
                  <a:pt x="0" y="904873"/>
                </a:cubicBezTo>
                <a:lnTo>
                  <a:pt x="0" y="95252"/>
                </a:lnTo>
                <a:cubicBezTo>
                  <a:pt x="0" y="42646"/>
                  <a:pt x="42646" y="0"/>
                  <a:pt x="95252" y="0"/>
                </a:cubicBezTo>
                <a:close/>
              </a:path>
            </a:pathLst>
          </a:custGeom>
          <a:solidFill>
            <a:srgbClr val="D4AF37">
              <a:alpha val="20000"/>
            </a:srgbClr>
          </a:solidFill>
          <a:ln w="25400">
            <a:solidFill>
              <a:srgbClr val="D4AF37"/>
            </a:solidFill>
            <a:prstDash val="solid"/>
          </a:ln>
        </p:spPr>
      </p:sp>
      <p:sp>
        <p:nvSpPr>
          <p:cNvPr id="32" name="Shape 29"/>
          <p:cNvSpPr/>
          <p:nvPr/>
        </p:nvSpPr>
        <p:spPr>
          <a:xfrm>
            <a:off x="484187" y="6103746"/>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D4AF37"/>
          </a:solidFill>
          <a:ln/>
        </p:spPr>
      </p:sp>
      <p:sp>
        <p:nvSpPr>
          <p:cNvPr id="33" name="Text 30"/>
          <p:cNvSpPr/>
          <p:nvPr/>
        </p:nvSpPr>
        <p:spPr>
          <a:xfrm>
            <a:off x="732235" y="5842000"/>
            <a:ext cx="1086643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Call to Action</a:t>
            </a:r>
            <a:endParaRPr lang="en-US" sz="1600" dirty="0"/>
          </a:p>
        </p:txBody>
      </p:sp>
      <p:sp>
        <p:nvSpPr>
          <p:cNvPr id="34" name="Text 31"/>
          <p:cNvSpPr/>
          <p:nvPr/>
        </p:nvSpPr>
        <p:spPr>
          <a:xfrm>
            <a:off x="732235" y="6081402"/>
            <a:ext cx="10850563" cy="412750"/>
          </a:xfrm>
          <a:prstGeom prst="rect">
            <a:avLst/>
          </a:prstGeom>
          <a:noFill/>
          <a:ln/>
        </p:spPr>
        <p:txBody>
          <a:bodyPr wrap="square" lIns="0" tIns="0" rIns="0" bIns="0" rtlCol="0" anchor="ctr"/>
          <a:lstStyle/>
          <a:p>
            <a:pPr>
              <a:lnSpc>
                <a:spcPct val="14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The window of opportunity is now. Competitors are rapidly adopting automation and AI. Delaying this initiative risks losing competitive advantage and operational efficiency gains. </a:t>
            </a:r>
            <a:r>
              <a:rPr lang="en-US" sz="1000" b="1" dirty="0">
                <a:solidFill>
                  <a:srgbClr val="FF6B00"/>
                </a:solidFill>
                <a:latin typeface="Quattrocento Sans" pitchFamily="34" charset="0"/>
                <a:ea typeface="Quattrocento Sans" pitchFamily="34" charset="-122"/>
                <a:cs typeface="Quattrocento Sans" pitchFamily="34" charset="-120"/>
              </a:rPr>
              <a:t>Approve Phase 1 commencement within 30 days</a:t>
            </a:r>
            <a:r>
              <a:rPr lang="en-US" sz="1000" dirty="0">
                <a:solidFill>
                  <a:srgbClr val="FFFFFF">
                    <a:alpha val="90000"/>
                  </a:srgbClr>
                </a:solidFill>
                <a:latin typeface="Quattrocento Sans" pitchFamily="34" charset="0"/>
                <a:ea typeface="Quattrocento Sans" pitchFamily="34" charset="-122"/>
                <a:cs typeface="Quattrocento Sans" pitchFamily="34" charset="-120"/>
              </a:rPr>
              <a:t> to maintain Access Bank's leadership position as Africa's Gateway to the World.</a:t>
            </a:r>
            <a:endParaRPr lang="en-US" sz="1600" dirty="0"/>
          </a:p>
        </p:txBody>
      </p:sp>
      <p:sp>
        <p:nvSpPr>
          <p:cNvPr id="35" name="Text 32"/>
          <p:cNvSpPr/>
          <p:nvPr/>
        </p:nvSpPr>
        <p:spPr>
          <a:xfrm>
            <a:off x="317500" y="7318375"/>
            <a:ext cx="3635375"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Quattrocento Sans" pitchFamily="34" charset="0"/>
                <a:ea typeface="Quattrocento Sans" pitchFamily="34" charset="-122"/>
                <a:cs typeface="Quattrocento Sans" pitchFamily="34" charset="-120"/>
              </a:rPr>
              <a:t>Prepared by: Chukwuebuka Benjamin Obieli | Assistant Head of Operations</a:t>
            </a:r>
            <a:endParaRPr lang="en-US" sz="1600" dirty="0"/>
          </a:p>
        </p:txBody>
      </p:sp>
      <p:sp>
        <p:nvSpPr>
          <p:cNvPr id="36" name="Text 33"/>
          <p:cNvSpPr/>
          <p:nvPr/>
        </p:nvSpPr>
        <p:spPr>
          <a:xfrm>
            <a:off x="8500380" y="7318375"/>
            <a:ext cx="3429000"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Quattrocento Sans" pitchFamily="34" charset="0"/>
                <a:ea typeface="Quattrocento Sans" pitchFamily="34" charset="-122"/>
                <a:cs typeface="Quattrocento Sans" pitchFamily="34" charset="-120"/>
              </a:rPr>
              <a:t>Rome Business School - Master's in Project Management | March 2026</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2564</Words>
  <Application>Microsoft Macintosh PowerPoint</Application>
  <PresentationFormat>Widescreen</PresentationFormat>
  <Paragraphs>529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Quattrocento Sans</vt:lpstr>
      <vt:lpstr>Hedvig Letters Sans</vt:lpstr>
      <vt:lpstr>Arial</vt:lpstr>
      <vt:lpstr>Liter</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Intervention Report: Digital Operations Transformation</dc:title>
  <dc:subject>Strategic Intervention Report: Digital Operations Transformation</dc:subject>
  <dc:creator>Kimi</dc:creator>
  <cp:lastModifiedBy>Chukwuebuka Obieli</cp:lastModifiedBy>
  <cp:revision>2</cp:revision>
  <dcterms:created xsi:type="dcterms:W3CDTF">2026-03-06T19:57:07Z</dcterms:created>
  <dcterms:modified xsi:type="dcterms:W3CDTF">2026-03-06T20:12:13Z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{"Label":"Strategic Intervention Report: Digital Operations Transformation","ContentProducer":"001191110108MACG2KBH8F10000","ProduceID":"19cc4b33-eb82-8b77-8000-000078f574e2","ReservedCode1":"","ContentPropagator":"001191110108MACG2KBH8F20000","PropagateID":"19cc4b33-eb82-8b77-8000-000078f574e2","ReservedCode2":""}</vt:lpwstr>
  </property>
</Properties>
</file>